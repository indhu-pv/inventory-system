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9144000" cy="5143500" type="screen16x9"/>
  <p:notesSz cx="9144000" cy="51435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3" d="100"/>
          <a:sy n="103" d="100"/>
        </p:scale>
        <p:origin x="874" y="77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1594485"/>
            <a:ext cx="7772400" cy="10801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600" b="1" i="0">
                <a:solidFill>
                  <a:srgbClr val="0D1B2A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600" b="1" i="0">
                <a:solidFill>
                  <a:srgbClr val="0D1B2A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600" b="1" i="0">
                <a:solidFill>
                  <a:srgbClr val="0D1B2A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3/26/2026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600" b="1" i="0">
                <a:solidFill>
                  <a:srgbClr val="0D1B2A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3/26/2026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3/26/2026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4000" y="0"/>
                </a:moveTo>
                <a:lnTo>
                  <a:pt x="0" y="0"/>
                </a:lnTo>
                <a:lnTo>
                  <a:pt x="0" y="5143500"/>
                </a:lnTo>
                <a:lnTo>
                  <a:pt x="9144000" y="5143500"/>
                </a:lnTo>
                <a:lnTo>
                  <a:pt x="9144000" y="0"/>
                </a:lnTo>
                <a:close/>
              </a:path>
            </a:pathLst>
          </a:custGeom>
          <a:solidFill>
            <a:srgbClr val="EFF4F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0" y="0"/>
            <a:ext cx="9144000" cy="73660"/>
          </a:xfrm>
          <a:custGeom>
            <a:avLst/>
            <a:gdLst/>
            <a:ahLst/>
            <a:cxnLst/>
            <a:rect l="l" t="t" r="r" b="b"/>
            <a:pathLst>
              <a:path w="9144000" h="73660">
                <a:moveTo>
                  <a:pt x="9144000" y="0"/>
                </a:moveTo>
                <a:lnTo>
                  <a:pt x="0" y="0"/>
                </a:lnTo>
                <a:lnTo>
                  <a:pt x="0" y="73151"/>
                </a:lnTo>
                <a:lnTo>
                  <a:pt x="9144000" y="73151"/>
                </a:lnTo>
                <a:lnTo>
                  <a:pt x="9144000" y="0"/>
                </a:lnTo>
                <a:close/>
              </a:path>
            </a:pathLst>
          </a:custGeom>
          <a:solidFill>
            <a:srgbClr val="0891B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0" y="0"/>
            <a:ext cx="9144000" cy="73660"/>
          </a:xfrm>
          <a:custGeom>
            <a:avLst/>
            <a:gdLst/>
            <a:ahLst/>
            <a:cxnLst/>
            <a:rect l="l" t="t" r="r" b="b"/>
            <a:pathLst>
              <a:path w="9144000" h="73660">
                <a:moveTo>
                  <a:pt x="0" y="73151"/>
                </a:moveTo>
                <a:lnTo>
                  <a:pt x="9144000" y="73151"/>
                </a:lnTo>
                <a:lnTo>
                  <a:pt x="9144000" y="0"/>
                </a:lnTo>
                <a:lnTo>
                  <a:pt x="0" y="0"/>
                </a:lnTo>
                <a:lnTo>
                  <a:pt x="0" y="73151"/>
                </a:lnTo>
                <a:close/>
              </a:path>
            </a:pathLst>
          </a:custGeom>
          <a:ln w="12700">
            <a:solidFill>
              <a:srgbClr val="0891B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44500" y="193294"/>
            <a:ext cx="3559810" cy="4222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600" b="1" i="0">
                <a:solidFill>
                  <a:srgbClr val="0D1B2A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74319" y="1005839"/>
            <a:ext cx="8595360" cy="190195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13" Type="http://schemas.openxmlformats.org/officeDocument/2006/relationships/image" Target="../media/image33.png"/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12" Type="http://schemas.openxmlformats.org/officeDocument/2006/relationships/image" Target="../media/image32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11" Type="http://schemas.openxmlformats.org/officeDocument/2006/relationships/image" Target="../media/image31.png"/><Relationship Id="rId5" Type="http://schemas.openxmlformats.org/officeDocument/2006/relationships/image" Target="../media/image25.png"/><Relationship Id="rId10" Type="http://schemas.openxmlformats.org/officeDocument/2006/relationships/image" Target="../media/image30.png"/><Relationship Id="rId4" Type="http://schemas.openxmlformats.org/officeDocument/2006/relationships/image" Target="../media/image24.png"/><Relationship Id="rId9" Type="http://schemas.openxmlformats.org/officeDocument/2006/relationships/image" Target="../media/image29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3" Type="http://schemas.openxmlformats.org/officeDocument/2006/relationships/image" Target="../media/image35.png"/><Relationship Id="rId7" Type="http://schemas.openxmlformats.org/officeDocument/2006/relationships/image" Target="../media/image39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6350" y="-6350"/>
            <a:ext cx="9156700" cy="5156200"/>
            <a:chOff x="-6350" y="-6350"/>
            <a:chExt cx="9156700" cy="5156200"/>
          </a:xfrm>
        </p:grpSpPr>
        <p:sp>
          <p:nvSpPr>
            <p:cNvPr id="3" name="object 3"/>
            <p:cNvSpPr/>
            <p:nvPr/>
          </p:nvSpPr>
          <p:spPr>
            <a:xfrm>
              <a:off x="0" y="0"/>
              <a:ext cx="9144000" cy="4331970"/>
            </a:xfrm>
            <a:custGeom>
              <a:avLst/>
              <a:gdLst/>
              <a:ahLst/>
              <a:cxnLst/>
              <a:rect l="l" t="t" r="r" b="b"/>
              <a:pathLst>
                <a:path w="9144000" h="4331970">
                  <a:moveTo>
                    <a:pt x="0" y="4331970"/>
                  </a:moveTo>
                  <a:lnTo>
                    <a:pt x="9144000" y="4331970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4331970"/>
                  </a:lnTo>
                  <a:close/>
                </a:path>
              </a:pathLst>
            </a:custGeom>
            <a:solidFill>
              <a:srgbClr val="0D1B2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4331969"/>
              <a:ext cx="9144000" cy="811530"/>
            </a:xfrm>
            <a:custGeom>
              <a:avLst/>
              <a:gdLst/>
              <a:ahLst/>
              <a:cxnLst/>
              <a:rect l="l" t="t" r="r" b="b"/>
              <a:pathLst>
                <a:path w="9144000" h="811529">
                  <a:moveTo>
                    <a:pt x="9144000" y="0"/>
                  </a:moveTo>
                  <a:lnTo>
                    <a:pt x="0" y="0"/>
                  </a:lnTo>
                  <a:lnTo>
                    <a:pt x="0" y="811529"/>
                  </a:lnTo>
                  <a:lnTo>
                    <a:pt x="9144000" y="811529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09151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4331969"/>
              <a:ext cx="9144000" cy="811530"/>
            </a:xfrm>
            <a:custGeom>
              <a:avLst/>
              <a:gdLst/>
              <a:ahLst/>
              <a:cxnLst/>
              <a:rect l="l" t="t" r="r" b="b"/>
              <a:pathLst>
                <a:path w="9144000" h="811529">
                  <a:moveTo>
                    <a:pt x="0" y="811529"/>
                  </a:moveTo>
                  <a:lnTo>
                    <a:pt x="9144000" y="811529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811529"/>
                  </a:lnTo>
                  <a:close/>
                </a:path>
              </a:pathLst>
            </a:custGeom>
            <a:ln w="12699">
              <a:solidFill>
                <a:srgbClr val="09151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068190" y="0"/>
              <a:ext cx="45720" cy="4331970"/>
            </a:xfrm>
            <a:custGeom>
              <a:avLst/>
              <a:gdLst/>
              <a:ahLst/>
              <a:cxnLst/>
              <a:rect l="l" t="t" r="r" b="b"/>
              <a:pathLst>
                <a:path w="45720" h="4331970">
                  <a:moveTo>
                    <a:pt x="45718" y="0"/>
                  </a:moveTo>
                  <a:lnTo>
                    <a:pt x="0" y="0"/>
                  </a:lnTo>
                  <a:lnTo>
                    <a:pt x="0" y="4331970"/>
                  </a:lnTo>
                  <a:lnTo>
                    <a:pt x="45718" y="4331970"/>
                  </a:lnTo>
                  <a:lnTo>
                    <a:pt x="45718" y="0"/>
                  </a:lnTo>
                  <a:close/>
                </a:path>
              </a:pathLst>
            </a:custGeom>
            <a:solidFill>
              <a:srgbClr val="0891B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068190" y="0"/>
              <a:ext cx="45720" cy="4331970"/>
            </a:xfrm>
            <a:custGeom>
              <a:avLst/>
              <a:gdLst/>
              <a:ahLst/>
              <a:cxnLst/>
              <a:rect l="l" t="t" r="r" b="b"/>
              <a:pathLst>
                <a:path w="45720" h="4331970">
                  <a:moveTo>
                    <a:pt x="0" y="4331970"/>
                  </a:moveTo>
                  <a:lnTo>
                    <a:pt x="45718" y="4331970"/>
                  </a:lnTo>
                  <a:lnTo>
                    <a:pt x="45718" y="0"/>
                  </a:lnTo>
                  <a:lnTo>
                    <a:pt x="0" y="0"/>
                  </a:lnTo>
                  <a:lnTo>
                    <a:pt x="0" y="4331970"/>
                  </a:lnTo>
                  <a:close/>
                </a:path>
              </a:pathLst>
            </a:custGeom>
            <a:ln w="12700">
              <a:solidFill>
                <a:srgbClr val="0891B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6323075" y="45719"/>
              <a:ext cx="2743200" cy="2743200"/>
            </a:xfrm>
            <a:custGeom>
              <a:avLst/>
              <a:gdLst/>
              <a:ahLst/>
              <a:cxnLst/>
              <a:rect l="l" t="t" r="r" b="b"/>
              <a:pathLst>
                <a:path w="2743200" h="2743200">
                  <a:moveTo>
                    <a:pt x="1371600" y="0"/>
                  </a:moveTo>
                  <a:lnTo>
                    <a:pt x="1323444" y="829"/>
                  </a:lnTo>
                  <a:lnTo>
                    <a:pt x="1275706" y="3299"/>
                  </a:lnTo>
                  <a:lnTo>
                    <a:pt x="1228412" y="7382"/>
                  </a:lnTo>
                  <a:lnTo>
                    <a:pt x="1181590" y="13052"/>
                  </a:lnTo>
                  <a:lnTo>
                    <a:pt x="1135266" y="20281"/>
                  </a:lnTo>
                  <a:lnTo>
                    <a:pt x="1089467" y="29042"/>
                  </a:lnTo>
                  <a:lnTo>
                    <a:pt x="1044222" y="39307"/>
                  </a:lnTo>
                  <a:lnTo>
                    <a:pt x="999557" y="51050"/>
                  </a:lnTo>
                  <a:lnTo>
                    <a:pt x="955499" y="64243"/>
                  </a:lnTo>
                  <a:lnTo>
                    <a:pt x="912076" y="78860"/>
                  </a:lnTo>
                  <a:lnTo>
                    <a:pt x="869314" y="94872"/>
                  </a:lnTo>
                  <a:lnTo>
                    <a:pt x="827241" y="112253"/>
                  </a:lnTo>
                  <a:lnTo>
                    <a:pt x="785885" y="130975"/>
                  </a:lnTo>
                  <a:lnTo>
                    <a:pt x="745272" y="151012"/>
                  </a:lnTo>
                  <a:lnTo>
                    <a:pt x="705429" y="172336"/>
                  </a:lnTo>
                  <a:lnTo>
                    <a:pt x="666384" y="194920"/>
                  </a:lnTo>
                  <a:lnTo>
                    <a:pt x="628163" y="218737"/>
                  </a:lnTo>
                  <a:lnTo>
                    <a:pt x="590795" y="243759"/>
                  </a:lnTo>
                  <a:lnTo>
                    <a:pt x="554306" y="269960"/>
                  </a:lnTo>
                  <a:lnTo>
                    <a:pt x="518724" y="297312"/>
                  </a:lnTo>
                  <a:lnTo>
                    <a:pt x="484075" y="325788"/>
                  </a:lnTo>
                  <a:lnTo>
                    <a:pt x="450387" y="355360"/>
                  </a:lnTo>
                  <a:lnTo>
                    <a:pt x="417687" y="386003"/>
                  </a:lnTo>
                  <a:lnTo>
                    <a:pt x="386003" y="417687"/>
                  </a:lnTo>
                  <a:lnTo>
                    <a:pt x="355360" y="450387"/>
                  </a:lnTo>
                  <a:lnTo>
                    <a:pt x="325788" y="484075"/>
                  </a:lnTo>
                  <a:lnTo>
                    <a:pt x="297312" y="518724"/>
                  </a:lnTo>
                  <a:lnTo>
                    <a:pt x="269960" y="554306"/>
                  </a:lnTo>
                  <a:lnTo>
                    <a:pt x="243759" y="590795"/>
                  </a:lnTo>
                  <a:lnTo>
                    <a:pt x="218737" y="628163"/>
                  </a:lnTo>
                  <a:lnTo>
                    <a:pt x="194920" y="666384"/>
                  </a:lnTo>
                  <a:lnTo>
                    <a:pt x="172336" y="705429"/>
                  </a:lnTo>
                  <a:lnTo>
                    <a:pt x="151012" y="745272"/>
                  </a:lnTo>
                  <a:lnTo>
                    <a:pt x="130975" y="785885"/>
                  </a:lnTo>
                  <a:lnTo>
                    <a:pt x="112253" y="827241"/>
                  </a:lnTo>
                  <a:lnTo>
                    <a:pt x="94872" y="869314"/>
                  </a:lnTo>
                  <a:lnTo>
                    <a:pt x="78860" y="912076"/>
                  </a:lnTo>
                  <a:lnTo>
                    <a:pt x="64243" y="955499"/>
                  </a:lnTo>
                  <a:lnTo>
                    <a:pt x="51050" y="999557"/>
                  </a:lnTo>
                  <a:lnTo>
                    <a:pt x="39307" y="1044222"/>
                  </a:lnTo>
                  <a:lnTo>
                    <a:pt x="29042" y="1089467"/>
                  </a:lnTo>
                  <a:lnTo>
                    <a:pt x="20281" y="1135266"/>
                  </a:lnTo>
                  <a:lnTo>
                    <a:pt x="13052" y="1181590"/>
                  </a:lnTo>
                  <a:lnTo>
                    <a:pt x="7382" y="1228412"/>
                  </a:lnTo>
                  <a:lnTo>
                    <a:pt x="3299" y="1275706"/>
                  </a:lnTo>
                  <a:lnTo>
                    <a:pt x="829" y="1323444"/>
                  </a:lnTo>
                  <a:lnTo>
                    <a:pt x="0" y="1371600"/>
                  </a:lnTo>
                  <a:lnTo>
                    <a:pt x="829" y="1419755"/>
                  </a:lnTo>
                  <a:lnTo>
                    <a:pt x="3299" y="1467493"/>
                  </a:lnTo>
                  <a:lnTo>
                    <a:pt x="7382" y="1514787"/>
                  </a:lnTo>
                  <a:lnTo>
                    <a:pt x="13052" y="1561609"/>
                  </a:lnTo>
                  <a:lnTo>
                    <a:pt x="20281" y="1607933"/>
                  </a:lnTo>
                  <a:lnTo>
                    <a:pt x="29042" y="1653732"/>
                  </a:lnTo>
                  <a:lnTo>
                    <a:pt x="39307" y="1698977"/>
                  </a:lnTo>
                  <a:lnTo>
                    <a:pt x="51050" y="1743642"/>
                  </a:lnTo>
                  <a:lnTo>
                    <a:pt x="64243" y="1787700"/>
                  </a:lnTo>
                  <a:lnTo>
                    <a:pt x="78860" y="1831123"/>
                  </a:lnTo>
                  <a:lnTo>
                    <a:pt x="94872" y="1873885"/>
                  </a:lnTo>
                  <a:lnTo>
                    <a:pt x="112253" y="1915958"/>
                  </a:lnTo>
                  <a:lnTo>
                    <a:pt x="130975" y="1957314"/>
                  </a:lnTo>
                  <a:lnTo>
                    <a:pt x="151012" y="1997927"/>
                  </a:lnTo>
                  <a:lnTo>
                    <a:pt x="172336" y="2037770"/>
                  </a:lnTo>
                  <a:lnTo>
                    <a:pt x="194920" y="2076815"/>
                  </a:lnTo>
                  <a:lnTo>
                    <a:pt x="218737" y="2115036"/>
                  </a:lnTo>
                  <a:lnTo>
                    <a:pt x="243759" y="2152404"/>
                  </a:lnTo>
                  <a:lnTo>
                    <a:pt x="269960" y="2188893"/>
                  </a:lnTo>
                  <a:lnTo>
                    <a:pt x="297312" y="2224475"/>
                  </a:lnTo>
                  <a:lnTo>
                    <a:pt x="325788" y="2259124"/>
                  </a:lnTo>
                  <a:lnTo>
                    <a:pt x="355360" y="2292812"/>
                  </a:lnTo>
                  <a:lnTo>
                    <a:pt x="386003" y="2325512"/>
                  </a:lnTo>
                  <a:lnTo>
                    <a:pt x="417687" y="2357196"/>
                  </a:lnTo>
                  <a:lnTo>
                    <a:pt x="450387" y="2387839"/>
                  </a:lnTo>
                  <a:lnTo>
                    <a:pt x="484075" y="2417411"/>
                  </a:lnTo>
                  <a:lnTo>
                    <a:pt x="518724" y="2445887"/>
                  </a:lnTo>
                  <a:lnTo>
                    <a:pt x="554306" y="2473239"/>
                  </a:lnTo>
                  <a:lnTo>
                    <a:pt x="590795" y="2499440"/>
                  </a:lnTo>
                  <a:lnTo>
                    <a:pt x="628163" y="2524462"/>
                  </a:lnTo>
                  <a:lnTo>
                    <a:pt x="666384" y="2548279"/>
                  </a:lnTo>
                  <a:lnTo>
                    <a:pt x="705429" y="2570863"/>
                  </a:lnTo>
                  <a:lnTo>
                    <a:pt x="745272" y="2592187"/>
                  </a:lnTo>
                  <a:lnTo>
                    <a:pt x="785885" y="2612224"/>
                  </a:lnTo>
                  <a:lnTo>
                    <a:pt x="827241" y="2630946"/>
                  </a:lnTo>
                  <a:lnTo>
                    <a:pt x="869314" y="2648327"/>
                  </a:lnTo>
                  <a:lnTo>
                    <a:pt x="912076" y="2664339"/>
                  </a:lnTo>
                  <a:lnTo>
                    <a:pt x="955499" y="2678956"/>
                  </a:lnTo>
                  <a:lnTo>
                    <a:pt x="999557" y="2692149"/>
                  </a:lnTo>
                  <a:lnTo>
                    <a:pt x="1044222" y="2703892"/>
                  </a:lnTo>
                  <a:lnTo>
                    <a:pt x="1089467" y="2714157"/>
                  </a:lnTo>
                  <a:lnTo>
                    <a:pt x="1135266" y="2722918"/>
                  </a:lnTo>
                  <a:lnTo>
                    <a:pt x="1181590" y="2730147"/>
                  </a:lnTo>
                  <a:lnTo>
                    <a:pt x="1228412" y="2735817"/>
                  </a:lnTo>
                  <a:lnTo>
                    <a:pt x="1275706" y="2739900"/>
                  </a:lnTo>
                  <a:lnTo>
                    <a:pt x="1323444" y="2742370"/>
                  </a:lnTo>
                  <a:lnTo>
                    <a:pt x="1371600" y="2743199"/>
                  </a:lnTo>
                  <a:lnTo>
                    <a:pt x="1419747" y="2742370"/>
                  </a:lnTo>
                  <a:lnTo>
                    <a:pt x="1467478" y="2739900"/>
                  </a:lnTo>
                  <a:lnTo>
                    <a:pt x="1514765" y="2735817"/>
                  </a:lnTo>
                  <a:lnTo>
                    <a:pt x="1561582" y="2730147"/>
                  </a:lnTo>
                  <a:lnTo>
                    <a:pt x="1607901" y="2722918"/>
                  </a:lnTo>
                  <a:lnTo>
                    <a:pt x="1653695" y="2714157"/>
                  </a:lnTo>
                  <a:lnTo>
                    <a:pt x="1698936" y="2703892"/>
                  </a:lnTo>
                  <a:lnTo>
                    <a:pt x="1743598" y="2692149"/>
                  </a:lnTo>
                  <a:lnTo>
                    <a:pt x="1787652" y="2678956"/>
                  </a:lnTo>
                  <a:lnTo>
                    <a:pt x="1831073" y="2664339"/>
                  </a:lnTo>
                  <a:lnTo>
                    <a:pt x="1873833" y="2648327"/>
                  </a:lnTo>
                  <a:lnTo>
                    <a:pt x="1915904" y="2630946"/>
                  </a:lnTo>
                  <a:lnTo>
                    <a:pt x="1957259" y="2612224"/>
                  </a:lnTo>
                  <a:lnTo>
                    <a:pt x="1997872" y="2592187"/>
                  </a:lnTo>
                  <a:lnTo>
                    <a:pt x="2037714" y="2570863"/>
                  </a:lnTo>
                  <a:lnTo>
                    <a:pt x="2076759" y="2548279"/>
                  </a:lnTo>
                  <a:lnTo>
                    <a:pt x="2114979" y="2524462"/>
                  </a:lnTo>
                  <a:lnTo>
                    <a:pt x="2152348" y="2499440"/>
                  </a:lnTo>
                  <a:lnTo>
                    <a:pt x="2188838" y="2473239"/>
                  </a:lnTo>
                  <a:lnTo>
                    <a:pt x="2224422" y="2445887"/>
                  </a:lnTo>
                  <a:lnTo>
                    <a:pt x="2259072" y="2417411"/>
                  </a:lnTo>
                  <a:lnTo>
                    <a:pt x="2292761" y="2387839"/>
                  </a:lnTo>
                  <a:lnTo>
                    <a:pt x="2325463" y="2357196"/>
                  </a:lnTo>
                  <a:lnTo>
                    <a:pt x="2357150" y="2325512"/>
                  </a:lnTo>
                  <a:lnTo>
                    <a:pt x="2387794" y="2292812"/>
                  </a:lnTo>
                  <a:lnTo>
                    <a:pt x="2417369" y="2259124"/>
                  </a:lnTo>
                  <a:lnTo>
                    <a:pt x="2445848" y="2224475"/>
                  </a:lnTo>
                  <a:lnTo>
                    <a:pt x="2473202" y="2188893"/>
                  </a:lnTo>
                  <a:lnTo>
                    <a:pt x="2499405" y="2152404"/>
                  </a:lnTo>
                  <a:lnTo>
                    <a:pt x="2524430" y="2115036"/>
                  </a:lnTo>
                  <a:lnTo>
                    <a:pt x="2548250" y="2076815"/>
                  </a:lnTo>
                  <a:lnTo>
                    <a:pt x="2570836" y="2037770"/>
                  </a:lnTo>
                  <a:lnTo>
                    <a:pt x="2592163" y="1997927"/>
                  </a:lnTo>
                  <a:lnTo>
                    <a:pt x="2612202" y="1957314"/>
                  </a:lnTo>
                  <a:lnTo>
                    <a:pt x="2630928" y="1915958"/>
                  </a:lnTo>
                  <a:lnTo>
                    <a:pt x="2648311" y="1873885"/>
                  </a:lnTo>
                  <a:lnTo>
                    <a:pt x="2664326" y="1831123"/>
                  </a:lnTo>
                  <a:lnTo>
                    <a:pt x="2678944" y="1787700"/>
                  </a:lnTo>
                  <a:lnTo>
                    <a:pt x="2692140" y="1743642"/>
                  </a:lnTo>
                  <a:lnTo>
                    <a:pt x="2703885" y="1698977"/>
                  </a:lnTo>
                  <a:lnTo>
                    <a:pt x="2714152" y="1653732"/>
                  </a:lnTo>
                  <a:lnTo>
                    <a:pt x="2722914" y="1607933"/>
                  </a:lnTo>
                  <a:lnTo>
                    <a:pt x="2730144" y="1561609"/>
                  </a:lnTo>
                  <a:lnTo>
                    <a:pt x="2735815" y="1514787"/>
                  </a:lnTo>
                  <a:lnTo>
                    <a:pt x="2739899" y="1467493"/>
                  </a:lnTo>
                  <a:lnTo>
                    <a:pt x="2742370" y="1419755"/>
                  </a:lnTo>
                  <a:lnTo>
                    <a:pt x="2743200" y="1371600"/>
                  </a:lnTo>
                  <a:lnTo>
                    <a:pt x="2742370" y="1323444"/>
                  </a:lnTo>
                  <a:lnTo>
                    <a:pt x="2739899" y="1275706"/>
                  </a:lnTo>
                  <a:lnTo>
                    <a:pt x="2735815" y="1228412"/>
                  </a:lnTo>
                  <a:lnTo>
                    <a:pt x="2730144" y="1181590"/>
                  </a:lnTo>
                  <a:lnTo>
                    <a:pt x="2722914" y="1135266"/>
                  </a:lnTo>
                  <a:lnTo>
                    <a:pt x="2714152" y="1089467"/>
                  </a:lnTo>
                  <a:lnTo>
                    <a:pt x="2703885" y="1044222"/>
                  </a:lnTo>
                  <a:lnTo>
                    <a:pt x="2692140" y="999557"/>
                  </a:lnTo>
                  <a:lnTo>
                    <a:pt x="2678944" y="955499"/>
                  </a:lnTo>
                  <a:lnTo>
                    <a:pt x="2664326" y="912076"/>
                  </a:lnTo>
                  <a:lnTo>
                    <a:pt x="2648311" y="869314"/>
                  </a:lnTo>
                  <a:lnTo>
                    <a:pt x="2630928" y="827241"/>
                  </a:lnTo>
                  <a:lnTo>
                    <a:pt x="2612202" y="785885"/>
                  </a:lnTo>
                  <a:lnTo>
                    <a:pt x="2592163" y="745272"/>
                  </a:lnTo>
                  <a:lnTo>
                    <a:pt x="2570836" y="705429"/>
                  </a:lnTo>
                  <a:lnTo>
                    <a:pt x="2548250" y="666384"/>
                  </a:lnTo>
                  <a:lnTo>
                    <a:pt x="2524430" y="628163"/>
                  </a:lnTo>
                  <a:lnTo>
                    <a:pt x="2499405" y="590795"/>
                  </a:lnTo>
                  <a:lnTo>
                    <a:pt x="2473202" y="554306"/>
                  </a:lnTo>
                  <a:lnTo>
                    <a:pt x="2445848" y="518724"/>
                  </a:lnTo>
                  <a:lnTo>
                    <a:pt x="2417369" y="484075"/>
                  </a:lnTo>
                  <a:lnTo>
                    <a:pt x="2387794" y="450387"/>
                  </a:lnTo>
                  <a:lnTo>
                    <a:pt x="2357150" y="417687"/>
                  </a:lnTo>
                  <a:lnTo>
                    <a:pt x="2325463" y="386003"/>
                  </a:lnTo>
                  <a:lnTo>
                    <a:pt x="2292761" y="355360"/>
                  </a:lnTo>
                  <a:lnTo>
                    <a:pt x="2259072" y="325788"/>
                  </a:lnTo>
                  <a:lnTo>
                    <a:pt x="2224422" y="297312"/>
                  </a:lnTo>
                  <a:lnTo>
                    <a:pt x="2188838" y="269960"/>
                  </a:lnTo>
                  <a:lnTo>
                    <a:pt x="2152348" y="243759"/>
                  </a:lnTo>
                  <a:lnTo>
                    <a:pt x="2114979" y="218737"/>
                  </a:lnTo>
                  <a:lnTo>
                    <a:pt x="2076759" y="194920"/>
                  </a:lnTo>
                  <a:lnTo>
                    <a:pt x="2037714" y="172336"/>
                  </a:lnTo>
                  <a:lnTo>
                    <a:pt x="1997872" y="151012"/>
                  </a:lnTo>
                  <a:lnTo>
                    <a:pt x="1957259" y="130975"/>
                  </a:lnTo>
                  <a:lnTo>
                    <a:pt x="1915904" y="112253"/>
                  </a:lnTo>
                  <a:lnTo>
                    <a:pt x="1873833" y="94872"/>
                  </a:lnTo>
                  <a:lnTo>
                    <a:pt x="1831073" y="78860"/>
                  </a:lnTo>
                  <a:lnTo>
                    <a:pt x="1787652" y="64243"/>
                  </a:lnTo>
                  <a:lnTo>
                    <a:pt x="1743598" y="51050"/>
                  </a:lnTo>
                  <a:lnTo>
                    <a:pt x="1698936" y="39307"/>
                  </a:lnTo>
                  <a:lnTo>
                    <a:pt x="1653695" y="29042"/>
                  </a:lnTo>
                  <a:lnTo>
                    <a:pt x="1607901" y="20281"/>
                  </a:lnTo>
                  <a:lnTo>
                    <a:pt x="1561582" y="13052"/>
                  </a:lnTo>
                  <a:lnTo>
                    <a:pt x="1514765" y="7382"/>
                  </a:lnTo>
                  <a:lnTo>
                    <a:pt x="1467478" y="3299"/>
                  </a:lnTo>
                  <a:lnTo>
                    <a:pt x="1419747" y="829"/>
                  </a:lnTo>
                  <a:lnTo>
                    <a:pt x="1371600" y="0"/>
                  </a:lnTo>
                  <a:close/>
                </a:path>
              </a:pathLst>
            </a:custGeom>
            <a:solidFill>
              <a:srgbClr val="0D7490">
                <a:alpha val="14901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323075" y="45719"/>
              <a:ext cx="2743200" cy="2743200"/>
            </a:xfrm>
            <a:custGeom>
              <a:avLst/>
              <a:gdLst/>
              <a:ahLst/>
              <a:cxnLst/>
              <a:rect l="l" t="t" r="r" b="b"/>
              <a:pathLst>
                <a:path w="2743200" h="2743200">
                  <a:moveTo>
                    <a:pt x="0" y="1371600"/>
                  </a:moveTo>
                  <a:lnTo>
                    <a:pt x="829" y="1323444"/>
                  </a:lnTo>
                  <a:lnTo>
                    <a:pt x="3299" y="1275706"/>
                  </a:lnTo>
                  <a:lnTo>
                    <a:pt x="7382" y="1228412"/>
                  </a:lnTo>
                  <a:lnTo>
                    <a:pt x="13052" y="1181590"/>
                  </a:lnTo>
                  <a:lnTo>
                    <a:pt x="20281" y="1135266"/>
                  </a:lnTo>
                  <a:lnTo>
                    <a:pt x="29042" y="1089467"/>
                  </a:lnTo>
                  <a:lnTo>
                    <a:pt x="39307" y="1044222"/>
                  </a:lnTo>
                  <a:lnTo>
                    <a:pt x="51050" y="999557"/>
                  </a:lnTo>
                  <a:lnTo>
                    <a:pt x="64243" y="955499"/>
                  </a:lnTo>
                  <a:lnTo>
                    <a:pt x="78860" y="912076"/>
                  </a:lnTo>
                  <a:lnTo>
                    <a:pt x="94872" y="869314"/>
                  </a:lnTo>
                  <a:lnTo>
                    <a:pt x="112253" y="827241"/>
                  </a:lnTo>
                  <a:lnTo>
                    <a:pt x="130975" y="785885"/>
                  </a:lnTo>
                  <a:lnTo>
                    <a:pt x="151012" y="745272"/>
                  </a:lnTo>
                  <a:lnTo>
                    <a:pt x="172336" y="705429"/>
                  </a:lnTo>
                  <a:lnTo>
                    <a:pt x="194920" y="666384"/>
                  </a:lnTo>
                  <a:lnTo>
                    <a:pt x="218737" y="628163"/>
                  </a:lnTo>
                  <a:lnTo>
                    <a:pt x="243759" y="590795"/>
                  </a:lnTo>
                  <a:lnTo>
                    <a:pt x="269960" y="554306"/>
                  </a:lnTo>
                  <a:lnTo>
                    <a:pt x="297312" y="518724"/>
                  </a:lnTo>
                  <a:lnTo>
                    <a:pt x="325788" y="484075"/>
                  </a:lnTo>
                  <a:lnTo>
                    <a:pt x="355360" y="450387"/>
                  </a:lnTo>
                  <a:lnTo>
                    <a:pt x="386003" y="417687"/>
                  </a:lnTo>
                  <a:lnTo>
                    <a:pt x="417687" y="386003"/>
                  </a:lnTo>
                  <a:lnTo>
                    <a:pt x="450387" y="355360"/>
                  </a:lnTo>
                  <a:lnTo>
                    <a:pt x="484075" y="325788"/>
                  </a:lnTo>
                  <a:lnTo>
                    <a:pt x="518724" y="297312"/>
                  </a:lnTo>
                  <a:lnTo>
                    <a:pt x="554306" y="269960"/>
                  </a:lnTo>
                  <a:lnTo>
                    <a:pt x="590795" y="243759"/>
                  </a:lnTo>
                  <a:lnTo>
                    <a:pt x="628163" y="218737"/>
                  </a:lnTo>
                  <a:lnTo>
                    <a:pt x="666384" y="194920"/>
                  </a:lnTo>
                  <a:lnTo>
                    <a:pt x="705429" y="172336"/>
                  </a:lnTo>
                  <a:lnTo>
                    <a:pt x="745272" y="151012"/>
                  </a:lnTo>
                  <a:lnTo>
                    <a:pt x="785885" y="130975"/>
                  </a:lnTo>
                  <a:lnTo>
                    <a:pt x="827241" y="112253"/>
                  </a:lnTo>
                  <a:lnTo>
                    <a:pt x="869314" y="94872"/>
                  </a:lnTo>
                  <a:lnTo>
                    <a:pt x="912076" y="78860"/>
                  </a:lnTo>
                  <a:lnTo>
                    <a:pt x="955499" y="64243"/>
                  </a:lnTo>
                  <a:lnTo>
                    <a:pt x="999557" y="51050"/>
                  </a:lnTo>
                  <a:lnTo>
                    <a:pt x="1044222" y="39307"/>
                  </a:lnTo>
                  <a:lnTo>
                    <a:pt x="1089467" y="29042"/>
                  </a:lnTo>
                  <a:lnTo>
                    <a:pt x="1135266" y="20281"/>
                  </a:lnTo>
                  <a:lnTo>
                    <a:pt x="1181590" y="13052"/>
                  </a:lnTo>
                  <a:lnTo>
                    <a:pt x="1228412" y="7382"/>
                  </a:lnTo>
                  <a:lnTo>
                    <a:pt x="1275706" y="3299"/>
                  </a:lnTo>
                  <a:lnTo>
                    <a:pt x="1323444" y="829"/>
                  </a:lnTo>
                  <a:lnTo>
                    <a:pt x="1371600" y="0"/>
                  </a:lnTo>
                  <a:lnTo>
                    <a:pt x="1419747" y="829"/>
                  </a:lnTo>
                  <a:lnTo>
                    <a:pt x="1467478" y="3299"/>
                  </a:lnTo>
                  <a:lnTo>
                    <a:pt x="1514765" y="7382"/>
                  </a:lnTo>
                  <a:lnTo>
                    <a:pt x="1561582" y="13052"/>
                  </a:lnTo>
                  <a:lnTo>
                    <a:pt x="1607901" y="20281"/>
                  </a:lnTo>
                  <a:lnTo>
                    <a:pt x="1653695" y="29042"/>
                  </a:lnTo>
                  <a:lnTo>
                    <a:pt x="1698936" y="39307"/>
                  </a:lnTo>
                  <a:lnTo>
                    <a:pt x="1743598" y="51050"/>
                  </a:lnTo>
                  <a:lnTo>
                    <a:pt x="1787652" y="64243"/>
                  </a:lnTo>
                  <a:lnTo>
                    <a:pt x="1831073" y="78860"/>
                  </a:lnTo>
                  <a:lnTo>
                    <a:pt x="1873833" y="94872"/>
                  </a:lnTo>
                  <a:lnTo>
                    <a:pt x="1915904" y="112253"/>
                  </a:lnTo>
                  <a:lnTo>
                    <a:pt x="1957259" y="130975"/>
                  </a:lnTo>
                  <a:lnTo>
                    <a:pt x="1997872" y="151012"/>
                  </a:lnTo>
                  <a:lnTo>
                    <a:pt x="2037714" y="172336"/>
                  </a:lnTo>
                  <a:lnTo>
                    <a:pt x="2076759" y="194920"/>
                  </a:lnTo>
                  <a:lnTo>
                    <a:pt x="2114979" y="218737"/>
                  </a:lnTo>
                  <a:lnTo>
                    <a:pt x="2152348" y="243759"/>
                  </a:lnTo>
                  <a:lnTo>
                    <a:pt x="2188838" y="269960"/>
                  </a:lnTo>
                  <a:lnTo>
                    <a:pt x="2224422" y="297312"/>
                  </a:lnTo>
                  <a:lnTo>
                    <a:pt x="2259072" y="325788"/>
                  </a:lnTo>
                  <a:lnTo>
                    <a:pt x="2292761" y="355360"/>
                  </a:lnTo>
                  <a:lnTo>
                    <a:pt x="2325463" y="386003"/>
                  </a:lnTo>
                  <a:lnTo>
                    <a:pt x="2357150" y="417687"/>
                  </a:lnTo>
                  <a:lnTo>
                    <a:pt x="2387794" y="450387"/>
                  </a:lnTo>
                  <a:lnTo>
                    <a:pt x="2417369" y="484075"/>
                  </a:lnTo>
                  <a:lnTo>
                    <a:pt x="2445848" y="518724"/>
                  </a:lnTo>
                  <a:lnTo>
                    <a:pt x="2473202" y="554306"/>
                  </a:lnTo>
                  <a:lnTo>
                    <a:pt x="2499405" y="590795"/>
                  </a:lnTo>
                  <a:lnTo>
                    <a:pt x="2524430" y="628163"/>
                  </a:lnTo>
                  <a:lnTo>
                    <a:pt x="2548250" y="666384"/>
                  </a:lnTo>
                  <a:lnTo>
                    <a:pt x="2570836" y="705429"/>
                  </a:lnTo>
                  <a:lnTo>
                    <a:pt x="2592163" y="745272"/>
                  </a:lnTo>
                  <a:lnTo>
                    <a:pt x="2612202" y="785885"/>
                  </a:lnTo>
                  <a:lnTo>
                    <a:pt x="2630928" y="827241"/>
                  </a:lnTo>
                  <a:lnTo>
                    <a:pt x="2648311" y="869314"/>
                  </a:lnTo>
                  <a:lnTo>
                    <a:pt x="2664326" y="912076"/>
                  </a:lnTo>
                  <a:lnTo>
                    <a:pt x="2678944" y="955499"/>
                  </a:lnTo>
                  <a:lnTo>
                    <a:pt x="2692140" y="999557"/>
                  </a:lnTo>
                  <a:lnTo>
                    <a:pt x="2703885" y="1044222"/>
                  </a:lnTo>
                  <a:lnTo>
                    <a:pt x="2714152" y="1089467"/>
                  </a:lnTo>
                  <a:lnTo>
                    <a:pt x="2722914" y="1135266"/>
                  </a:lnTo>
                  <a:lnTo>
                    <a:pt x="2730144" y="1181590"/>
                  </a:lnTo>
                  <a:lnTo>
                    <a:pt x="2735815" y="1228412"/>
                  </a:lnTo>
                  <a:lnTo>
                    <a:pt x="2739899" y="1275706"/>
                  </a:lnTo>
                  <a:lnTo>
                    <a:pt x="2742370" y="1323444"/>
                  </a:lnTo>
                  <a:lnTo>
                    <a:pt x="2743200" y="1371600"/>
                  </a:lnTo>
                  <a:lnTo>
                    <a:pt x="2742370" y="1419755"/>
                  </a:lnTo>
                  <a:lnTo>
                    <a:pt x="2739899" y="1467493"/>
                  </a:lnTo>
                  <a:lnTo>
                    <a:pt x="2735815" y="1514787"/>
                  </a:lnTo>
                  <a:lnTo>
                    <a:pt x="2730144" y="1561609"/>
                  </a:lnTo>
                  <a:lnTo>
                    <a:pt x="2722914" y="1607933"/>
                  </a:lnTo>
                  <a:lnTo>
                    <a:pt x="2714152" y="1653732"/>
                  </a:lnTo>
                  <a:lnTo>
                    <a:pt x="2703885" y="1698977"/>
                  </a:lnTo>
                  <a:lnTo>
                    <a:pt x="2692140" y="1743642"/>
                  </a:lnTo>
                  <a:lnTo>
                    <a:pt x="2678944" y="1787700"/>
                  </a:lnTo>
                  <a:lnTo>
                    <a:pt x="2664326" y="1831123"/>
                  </a:lnTo>
                  <a:lnTo>
                    <a:pt x="2648311" y="1873885"/>
                  </a:lnTo>
                  <a:lnTo>
                    <a:pt x="2630928" y="1915958"/>
                  </a:lnTo>
                  <a:lnTo>
                    <a:pt x="2612202" y="1957314"/>
                  </a:lnTo>
                  <a:lnTo>
                    <a:pt x="2592163" y="1997927"/>
                  </a:lnTo>
                  <a:lnTo>
                    <a:pt x="2570836" y="2037770"/>
                  </a:lnTo>
                  <a:lnTo>
                    <a:pt x="2548250" y="2076815"/>
                  </a:lnTo>
                  <a:lnTo>
                    <a:pt x="2524430" y="2115036"/>
                  </a:lnTo>
                  <a:lnTo>
                    <a:pt x="2499405" y="2152404"/>
                  </a:lnTo>
                  <a:lnTo>
                    <a:pt x="2473202" y="2188893"/>
                  </a:lnTo>
                  <a:lnTo>
                    <a:pt x="2445848" y="2224475"/>
                  </a:lnTo>
                  <a:lnTo>
                    <a:pt x="2417369" y="2259124"/>
                  </a:lnTo>
                  <a:lnTo>
                    <a:pt x="2387794" y="2292812"/>
                  </a:lnTo>
                  <a:lnTo>
                    <a:pt x="2357150" y="2325512"/>
                  </a:lnTo>
                  <a:lnTo>
                    <a:pt x="2325463" y="2357196"/>
                  </a:lnTo>
                  <a:lnTo>
                    <a:pt x="2292761" y="2387839"/>
                  </a:lnTo>
                  <a:lnTo>
                    <a:pt x="2259072" y="2417411"/>
                  </a:lnTo>
                  <a:lnTo>
                    <a:pt x="2224422" y="2445887"/>
                  </a:lnTo>
                  <a:lnTo>
                    <a:pt x="2188838" y="2473239"/>
                  </a:lnTo>
                  <a:lnTo>
                    <a:pt x="2152348" y="2499440"/>
                  </a:lnTo>
                  <a:lnTo>
                    <a:pt x="2114979" y="2524462"/>
                  </a:lnTo>
                  <a:lnTo>
                    <a:pt x="2076759" y="2548279"/>
                  </a:lnTo>
                  <a:lnTo>
                    <a:pt x="2037714" y="2570863"/>
                  </a:lnTo>
                  <a:lnTo>
                    <a:pt x="1997872" y="2592187"/>
                  </a:lnTo>
                  <a:lnTo>
                    <a:pt x="1957259" y="2612224"/>
                  </a:lnTo>
                  <a:lnTo>
                    <a:pt x="1915904" y="2630946"/>
                  </a:lnTo>
                  <a:lnTo>
                    <a:pt x="1873833" y="2648327"/>
                  </a:lnTo>
                  <a:lnTo>
                    <a:pt x="1831073" y="2664339"/>
                  </a:lnTo>
                  <a:lnTo>
                    <a:pt x="1787652" y="2678956"/>
                  </a:lnTo>
                  <a:lnTo>
                    <a:pt x="1743598" y="2692149"/>
                  </a:lnTo>
                  <a:lnTo>
                    <a:pt x="1698936" y="2703892"/>
                  </a:lnTo>
                  <a:lnTo>
                    <a:pt x="1653695" y="2714157"/>
                  </a:lnTo>
                  <a:lnTo>
                    <a:pt x="1607901" y="2722918"/>
                  </a:lnTo>
                  <a:lnTo>
                    <a:pt x="1561582" y="2730147"/>
                  </a:lnTo>
                  <a:lnTo>
                    <a:pt x="1514765" y="2735817"/>
                  </a:lnTo>
                  <a:lnTo>
                    <a:pt x="1467478" y="2739900"/>
                  </a:lnTo>
                  <a:lnTo>
                    <a:pt x="1419747" y="2742370"/>
                  </a:lnTo>
                  <a:lnTo>
                    <a:pt x="1371600" y="2743199"/>
                  </a:lnTo>
                  <a:lnTo>
                    <a:pt x="1323444" y="2742370"/>
                  </a:lnTo>
                  <a:lnTo>
                    <a:pt x="1275706" y="2739900"/>
                  </a:lnTo>
                  <a:lnTo>
                    <a:pt x="1228412" y="2735817"/>
                  </a:lnTo>
                  <a:lnTo>
                    <a:pt x="1181590" y="2730147"/>
                  </a:lnTo>
                  <a:lnTo>
                    <a:pt x="1135266" y="2722918"/>
                  </a:lnTo>
                  <a:lnTo>
                    <a:pt x="1089467" y="2714157"/>
                  </a:lnTo>
                  <a:lnTo>
                    <a:pt x="1044222" y="2703892"/>
                  </a:lnTo>
                  <a:lnTo>
                    <a:pt x="999557" y="2692149"/>
                  </a:lnTo>
                  <a:lnTo>
                    <a:pt x="955499" y="2678956"/>
                  </a:lnTo>
                  <a:lnTo>
                    <a:pt x="912076" y="2664339"/>
                  </a:lnTo>
                  <a:lnTo>
                    <a:pt x="869314" y="2648327"/>
                  </a:lnTo>
                  <a:lnTo>
                    <a:pt x="827241" y="2630946"/>
                  </a:lnTo>
                  <a:lnTo>
                    <a:pt x="785885" y="2612224"/>
                  </a:lnTo>
                  <a:lnTo>
                    <a:pt x="745272" y="2592187"/>
                  </a:lnTo>
                  <a:lnTo>
                    <a:pt x="705429" y="2570863"/>
                  </a:lnTo>
                  <a:lnTo>
                    <a:pt x="666384" y="2548279"/>
                  </a:lnTo>
                  <a:lnTo>
                    <a:pt x="628163" y="2524462"/>
                  </a:lnTo>
                  <a:lnTo>
                    <a:pt x="590795" y="2499440"/>
                  </a:lnTo>
                  <a:lnTo>
                    <a:pt x="554306" y="2473239"/>
                  </a:lnTo>
                  <a:lnTo>
                    <a:pt x="518724" y="2445887"/>
                  </a:lnTo>
                  <a:lnTo>
                    <a:pt x="484075" y="2417411"/>
                  </a:lnTo>
                  <a:lnTo>
                    <a:pt x="450387" y="2387839"/>
                  </a:lnTo>
                  <a:lnTo>
                    <a:pt x="417687" y="2357196"/>
                  </a:lnTo>
                  <a:lnTo>
                    <a:pt x="386003" y="2325512"/>
                  </a:lnTo>
                  <a:lnTo>
                    <a:pt x="355360" y="2292812"/>
                  </a:lnTo>
                  <a:lnTo>
                    <a:pt x="325788" y="2259124"/>
                  </a:lnTo>
                  <a:lnTo>
                    <a:pt x="297312" y="2224475"/>
                  </a:lnTo>
                  <a:lnTo>
                    <a:pt x="269960" y="2188893"/>
                  </a:lnTo>
                  <a:lnTo>
                    <a:pt x="243759" y="2152404"/>
                  </a:lnTo>
                  <a:lnTo>
                    <a:pt x="218737" y="2115036"/>
                  </a:lnTo>
                  <a:lnTo>
                    <a:pt x="194920" y="2076815"/>
                  </a:lnTo>
                  <a:lnTo>
                    <a:pt x="172336" y="2037770"/>
                  </a:lnTo>
                  <a:lnTo>
                    <a:pt x="151012" y="1997927"/>
                  </a:lnTo>
                  <a:lnTo>
                    <a:pt x="130975" y="1957314"/>
                  </a:lnTo>
                  <a:lnTo>
                    <a:pt x="112253" y="1915958"/>
                  </a:lnTo>
                  <a:lnTo>
                    <a:pt x="94872" y="1873885"/>
                  </a:lnTo>
                  <a:lnTo>
                    <a:pt x="78860" y="1831123"/>
                  </a:lnTo>
                  <a:lnTo>
                    <a:pt x="64243" y="1787700"/>
                  </a:lnTo>
                  <a:lnTo>
                    <a:pt x="51050" y="1743642"/>
                  </a:lnTo>
                  <a:lnTo>
                    <a:pt x="39307" y="1698977"/>
                  </a:lnTo>
                  <a:lnTo>
                    <a:pt x="29042" y="1653732"/>
                  </a:lnTo>
                  <a:lnTo>
                    <a:pt x="20281" y="1607933"/>
                  </a:lnTo>
                  <a:lnTo>
                    <a:pt x="13052" y="1561609"/>
                  </a:lnTo>
                  <a:lnTo>
                    <a:pt x="7382" y="1514787"/>
                  </a:lnTo>
                  <a:lnTo>
                    <a:pt x="3299" y="1467493"/>
                  </a:lnTo>
                  <a:lnTo>
                    <a:pt x="829" y="1419755"/>
                  </a:lnTo>
                  <a:lnTo>
                    <a:pt x="0" y="1371600"/>
                  </a:lnTo>
                  <a:close/>
                </a:path>
              </a:pathLst>
            </a:custGeom>
            <a:ln w="12700">
              <a:solidFill>
                <a:srgbClr val="0D749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7539100" y="2766060"/>
              <a:ext cx="1371600" cy="1371600"/>
            </a:xfrm>
            <a:custGeom>
              <a:avLst/>
              <a:gdLst/>
              <a:ahLst/>
              <a:cxnLst/>
              <a:rect l="l" t="t" r="r" b="b"/>
              <a:pathLst>
                <a:path w="1371600" h="1371600">
                  <a:moveTo>
                    <a:pt x="685800" y="0"/>
                  </a:moveTo>
                  <a:lnTo>
                    <a:pt x="636828" y="1722"/>
                  </a:lnTo>
                  <a:lnTo>
                    <a:pt x="588784" y="6811"/>
                  </a:lnTo>
                  <a:lnTo>
                    <a:pt x="541785" y="15151"/>
                  </a:lnTo>
                  <a:lnTo>
                    <a:pt x="495947" y="26625"/>
                  </a:lnTo>
                  <a:lnTo>
                    <a:pt x="451386" y="41118"/>
                  </a:lnTo>
                  <a:lnTo>
                    <a:pt x="408218" y="58514"/>
                  </a:lnTo>
                  <a:lnTo>
                    <a:pt x="366559" y="78696"/>
                  </a:lnTo>
                  <a:lnTo>
                    <a:pt x="326525" y="101548"/>
                  </a:lnTo>
                  <a:lnTo>
                    <a:pt x="288233" y="126954"/>
                  </a:lnTo>
                  <a:lnTo>
                    <a:pt x="251798" y="154798"/>
                  </a:lnTo>
                  <a:lnTo>
                    <a:pt x="217336" y="184964"/>
                  </a:lnTo>
                  <a:lnTo>
                    <a:pt x="184964" y="217336"/>
                  </a:lnTo>
                  <a:lnTo>
                    <a:pt x="154798" y="251798"/>
                  </a:lnTo>
                  <a:lnTo>
                    <a:pt x="126954" y="288233"/>
                  </a:lnTo>
                  <a:lnTo>
                    <a:pt x="101548" y="326525"/>
                  </a:lnTo>
                  <a:lnTo>
                    <a:pt x="78696" y="366559"/>
                  </a:lnTo>
                  <a:lnTo>
                    <a:pt x="58514" y="408218"/>
                  </a:lnTo>
                  <a:lnTo>
                    <a:pt x="41118" y="451386"/>
                  </a:lnTo>
                  <a:lnTo>
                    <a:pt x="26625" y="495947"/>
                  </a:lnTo>
                  <a:lnTo>
                    <a:pt x="15151" y="541785"/>
                  </a:lnTo>
                  <a:lnTo>
                    <a:pt x="6811" y="588784"/>
                  </a:lnTo>
                  <a:lnTo>
                    <a:pt x="1722" y="636828"/>
                  </a:lnTo>
                  <a:lnTo>
                    <a:pt x="0" y="685800"/>
                  </a:lnTo>
                  <a:lnTo>
                    <a:pt x="1722" y="734771"/>
                  </a:lnTo>
                  <a:lnTo>
                    <a:pt x="6811" y="782815"/>
                  </a:lnTo>
                  <a:lnTo>
                    <a:pt x="15151" y="829814"/>
                  </a:lnTo>
                  <a:lnTo>
                    <a:pt x="26625" y="875652"/>
                  </a:lnTo>
                  <a:lnTo>
                    <a:pt x="41118" y="920213"/>
                  </a:lnTo>
                  <a:lnTo>
                    <a:pt x="58514" y="963381"/>
                  </a:lnTo>
                  <a:lnTo>
                    <a:pt x="78696" y="1005040"/>
                  </a:lnTo>
                  <a:lnTo>
                    <a:pt x="101548" y="1045074"/>
                  </a:lnTo>
                  <a:lnTo>
                    <a:pt x="126954" y="1083366"/>
                  </a:lnTo>
                  <a:lnTo>
                    <a:pt x="154798" y="1119801"/>
                  </a:lnTo>
                  <a:lnTo>
                    <a:pt x="184964" y="1154263"/>
                  </a:lnTo>
                  <a:lnTo>
                    <a:pt x="217336" y="1186635"/>
                  </a:lnTo>
                  <a:lnTo>
                    <a:pt x="251798" y="1216801"/>
                  </a:lnTo>
                  <a:lnTo>
                    <a:pt x="288233" y="1244645"/>
                  </a:lnTo>
                  <a:lnTo>
                    <a:pt x="326525" y="1270051"/>
                  </a:lnTo>
                  <a:lnTo>
                    <a:pt x="366559" y="1292903"/>
                  </a:lnTo>
                  <a:lnTo>
                    <a:pt x="408218" y="1313085"/>
                  </a:lnTo>
                  <a:lnTo>
                    <a:pt x="451386" y="1330481"/>
                  </a:lnTo>
                  <a:lnTo>
                    <a:pt x="495947" y="1344974"/>
                  </a:lnTo>
                  <a:lnTo>
                    <a:pt x="541785" y="1356448"/>
                  </a:lnTo>
                  <a:lnTo>
                    <a:pt x="588784" y="1364788"/>
                  </a:lnTo>
                  <a:lnTo>
                    <a:pt x="636828" y="1369877"/>
                  </a:lnTo>
                  <a:lnTo>
                    <a:pt x="685800" y="1371599"/>
                  </a:lnTo>
                  <a:lnTo>
                    <a:pt x="734787" y="1369877"/>
                  </a:lnTo>
                  <a:lnTo>
                    <a:pt x="782842" y="1364788"/>
                  </a:lnTo>
                  <a:lnTo>
                    <a:pt x="829851" y="1356448"/>
                  </a:lnTo>
                  <a:lnTo>
                    <a:pt x="875697" y="1344974"/>
                  </a:lnTo>
                  <a:lnTo>
                    <a:pt x="920263" y="1330481"/>
                  </a:lnTo>
                  <a:lnTo>
                    <a:pt x="963435" y="1313085"/>
                  </a:lnTo>
                  <a:lnTo>
                    <a:pt x="1005096" y="1292903"/>
                  </a:lnTo>
                  <a:lnTo>
                    <a:pt x="1045130" y="1270051"/>
                  </a:lnTo>
                  <a:lnTo>
                    <a:pt x="1083421" y="1244645"/>
                  </a:lnTo>
                  <a:lnTo>
                    <a:pt x="1119854" y="1216801"/>
                  </a:lnTo>
                  <a:lnTo>
                    <a:pt x="1154312" y="1186635"/>
                  </a:lnTo>
                  <a:lnTo>
                    <a:pt x="1186680" y="1154263"/>
                  </a:lnTo>
                  <a:lnTo>
                    <a:pt x="1216842" y="1119801"/>
                  </a:lnTo>
                  <a:lnTo>
                    <a:pt x="1244681" y="1083366"/>
                  </a:lnTo>
                  <a:lnTo>
                    <a:pt x="1270081" y="1045074"/>
                  </a:lnTo>
                  <a:lnTo>
                    <a:pt x="1292928" y="1005040"/>
                  </a:lnTo>
                  <a:lnTo>
                    <a:pt x="1313104" y="963381"/>
                  </a:lnTo>
                  <a:lnTo>
                    <a:pt x="1330495" y="920213"/>
                  </a:lnTo>
                  <a:lnTo>
                    <a:pt x="1344983" y="875652"/>
                  </a:lnTo>
                  <a:lnTo>
                    <a:pt x="1356454" y="829814"/>
                  </a:lnTo>
                  <a:lnTo>
                    <a:pt x="1364791" y="782815"/>
                  </a:lnTo>
                  <a:lnTo>
                    <a:pt x="1369878" y="734771"/>
                  </a:lnTo>
                  <a:lnTo>
                    <a:pt x="1371600" y="685800"/>
                  </a:lnTo>
                  <a:lnTo>
                    <a:pt x="1369878" y="636828"/>
                  </a:lnTo>
                  <a:lnTo>
                    <a:pt x="1364791" y="588784"/>
                  </a:lnTo>
                  <a:lnTo>
                    <a:pt x="1356454" y="541785"/>
                  </a:lnTo>
                  <a:lnTo>
                    <a:pt x="1344983" y="495947"/>
                  </a:lnTo>
                  <a:lnTo>
                    <a:pt x="1330495" y="451386"/>
                  </a:lnTo>
                  <a:lnTo>
                    <a:pt x="1313104" y="408218"/>
                  </a:lnTo>
                  <a:lnTo>
                    <a:pt x="1292928" y="366559"/>
                  </a:lnTo>
                  <a:lnTo>
                    <a:pt x="1270081" y="326525"/>
                  </a:lnTo>
                  <a:lnTo>
                    <a:pt x="1244681" y="288233"/>
                  </a:lnTo>
                  <a:lnTo>
                    <a:pt x="1216842" y="251798"/>
                  </a:lnTo>
                  <a:lnTo>
                    <a:pt x="1186680" y="217336"/>
                  </a:lnTo>
                  <a:lnTo>
                    <a:pt x="1154312" y="184964"/>
                  </a:lnTo>
                  <a:lnTo>
                    <a:pt x="1119854" y="154798"/>
                  </a:lnTo>
                  <a:lnTo>
                    <a:pt x="1083421" y="126954"/>
                  </a:lnTo>
                  <a:lnTo>
                    <a:pt x="1045130" y="101548"/>
                  </a:lnTo>
                  <a:lnTo>
                    <a:pt x="1005096" y="78696"/>
                  </a:lnTo>
                  <a:lnTo>
                    <a:pt x="963435" y="58514"/>
                  </a:lnTo>
                  <a:lnTo>
                    <a:pt x="920263" y="41118"/>
                  </a:lnTo>
                  <a:lnTo>
                    <a:pt x="875697" y="26625"/>
                  </a:lnTo>
                  <a:lnTo>
                    <a:pt x="829851" y="15151"/>
                  </a:lnTo>
                  <a:lnTo>
                    <a:pt x="782842" y="6811"/>
                  </a:lnTo>
                  <a:lnTo>
                    <a:pt x="734787" y="1722"/>
                  </a:lnTo>
                  <a:lnTo>
                    <a:pt x="685800" y="0"/>
                  </a:lnTo>
                  <a:close/>
                </a:path>
              </a:pathLst>
            </a:custGeom>
            <a:solidFill>
              <a:srgbClr val="0891B1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7539100" y="2766060"/>
              <a:ext cx="1371600" cy="1371600"/>
            </a:xfrm>
            <a:custGeom>
              <a:avLst/>
              <a:gdLst/>
              <a:ahLst/>
              <a:cxnLst/>
              <a:rect l="l" t="t" r="r" b="b"/>
              <a:pathLst>
                <a:path w="1371600" h="1371600">
                  <a:moveTo>
                    <a:pt x="0" y="685800"/>
                  </a:moveTo>
                  <a:lnTo>
                    <a:pt x="1722" y="636828"/>
                  </a:lnTo>
                  <a:lnTo>
                    <a:pt x="6811" y="588784"/>
                  </a:lnTo>
                  <a:lnTo>
                    <a:pt x="15151" y="541785"/>
                  </a:lnTo>
                  <a:lnTo>
                    <a:pt x="26625" y="495947"/>
                  </a:lnTo>
                  <a:lnTo>
                    <a:pt x="41118" y="451386"/>
                  </a:lnTo>
                  <a:lnTo>
                    <a:pt x="58514" y="408218"/>
                  </a:lnTo>
                  <a:lnTo>
                    <a:pt x="78696" y="366559"/>
                  </a:lnTo>
                  <a:lnTo>
                    <a:pt x="101548" y="326525"/>
                  </a:lnTo>
                  <a:lnTo>
                    <a:pt x="126954" y="288233"/>
                  </a:lnTo>
                  <a:lnTo>
                    <a:pt x="154798" y="251798"/>
                  </a:lnTo>
                  <a:lnTo>
                    <a:pt x="184964" y="217336"/>
                  </a:lnTo>
                  <a:lnTo>
                    <a:pt x="217336" y="184964"/>
                  </a:lnTo>
                  <a:lnTo>
                    <a:pt x="251798" y="154798"/>
                  </a:lnTo>
                  <a:lnTo>
                    <a:pt x="288233" y="126954"/>
                  </a:lnTo>
                  <a:lnTo>
                    <a:pt x="326525" y="101548"/>
                  </a:lnTo>
                  <a:lnTo>
                    <a:pt x="366559" y="78696"/>
                  </a:lnTo>
                  <a:lnTo>
                    <a:pt x="408218" y="58514"/>
                  </a:lnTo>
                  <a:lnTo>
                    <a:pt x="451386" y="41118"/>
                  </a:lnTo>
                  <a:lnTo>
                    <a:pt x="495947" y="26625"/>
                  </a:lnTo>
                  <a:lnTo>
                    <a:pt x="541785" y="15151"/>
                  </a:lnTo>
                  <a:lnTo>
                    <a:pt x="588784" y="6811"/>
                  </a:lnTo>
                  <a:lnTo>
                    <a:pt x="636828" y="1722"/>
                  </a:lnTo>
                  <a:lnTo>
                    <a:pt x="685800" y="0"/>
                  </a:lnTo>
                  <a:lnTo>
                    <a:pt x="734787" y="1722"/>
                  </a:lnTo>
                  <a:lnTo>
                    <a:pt x="782842" y="6811"/>
                  </a:lnTo>
                  <a:lnTo>
                    <a:pt x="829851" y="15151"/>
                  </a:lnTo>
                  <a:lnTo>
                    <a:pt x="875697" y="26625"/>
                  </a:lnTo>
                  <a:lnTo>
                    <a:pt x="920263" y="41118"/>
                  </a:lnTo>
                  <a:lnTo>
                    <a:pt x="963435" y="58514"/>
                  </a:lnTo>
                  <a:lnTo>
                    <a:pt x="1005096" y="78696"/>
                  </a:lnTo>
                  <a:lnTo>
                    <a:pt x="1045130" y="101548"/>
                  </a:lnTo>
                  <a:lnTo>
                    <a:pt x="1083421" y="126954"/>
                  </a:lnTo>
                  <a:lnTo>
                    <a:pt x="1119854" y="154798"/>
                  </a:lnTo>
                  <a:lnTo>
                    <a:pt x="1154312" y="184964"/>
                  </a:lnTo>
                  <a:lnTo>
                    <a:pt x="1186680" y="217336"/>
                  </a:lnTo>
                  <a:lnTo>
                    <a:pt x="1216842" y="251798"/>
                  </a:lnTo>
                  <a:lnTo>
                    <a:pt x="1244681" y="288233"/>
                  </a:lnTo>
                  <a:lnTo>
                    <a:pt x="1270081" y="326525"/>
                  </a:lnTo>
                  <a:lnTo>
                    <a:pt x="1292928" y="366559"/>
                  </a:lnTo>
                  <a:lnTo>
                    <a:pt x="1313104" y="408218"/>
                  </a:lnTo>
                  <a:lnTo>
                    <a:pt x="1330495" y="451386"/>
                  </a:lnTo>
                  <a:lnTo>
                    <a:pt x="1344983" y="495947"/>
                  </a:lnTo>
                  <a:lnTo>
                    <a:pt x="1356454" y="541785"/>
                  </a:lnTo>
                  <a:lnTo>
                    <a:pt x="1364791" y="588784"/>
                  </a:lnTo>
                  <a:lnTo>
                    <a:pt x="1369878" y="636828"/>
                  </a:lnTo>
                  <a:lnTo>
                    <a:pt x="1371600" y="685800"/>
                  </a:lnTo>
                  <a:lnTo>
                    <a:pt x="1369878" y="734771"/>
                  </a:lnTo>
                  <a:lnTo>
                    <a:pt x="1364791" y="782815"/>
                  </a:lnTo>
                  <a:lnTo>
                    <a:pt x="1356454" y="829814"/>
                  </a:lnTo>
                  <a:lnTo>
                    <a:pt x="1344983" y="875652"/>
                  </a:lnTo>
                  <a:lnTo>
                    <a:pt x="1330495" y="920213"/>
                  </a:lnTo>
                  <a:lnTo>
                    <a:pt x="1313104" y="963381"/>
                  </a:lnTo>
                  <a:lnTo>
                    <a:pt x="1292928" y="1005040"/>
                  </a:lnTo>
                  <a:lnTo>
                    <a:pt x="1270081" y="1045074"/>
                  </a:lnTo>
                  <a:lnTo>
                    <a:pt x="1244681" y="1083366"/>
                  </a:lnTo>
                  <a:lnTo>
                    <a:pt x="1216842" y="1119801"/>
                  </a:lnTo>
                  <a:lnTo>
                    <a:pt x="1186680" y="1154263"/>
                  </a:lnTo>
                  <a:lnTo>
                    <a:pt x="1154312" y="1186635"/>
                  </a:lnTo>
                  <a:lnTo>
                    <a:pt x="1119854" y="1216801"/>
                  </a:lnTo>
                  <a:lnTo>
                    <a:pt x="1083421" y="1244645"/>
                  </a:lnTo>
                  <a:lnTo>
                    <a:pt x="1045130" y="1270051"/>
                  </a:lnTo>
                  <a:lnTo>
                    <a:pt x="1005096" y="1292903"/>
                  </a:lnTo>
                  <a:lnTo>
                    <a:pt x="963435" y="1313085"/>
                  </a:lnTo>
                  <a:lnTo>
                    <a:pt x="920263" y="1330481"/>
                  </a:lnTo>
                  <a:lnTo>
                    <a:pt x="875697" y="1344974"/>
                  </a:lnTo>
                  <a:lnTo>
                    <a:pt x="829851" y="1356448"/>
                  </a:lnTo>
                  <a:lnTo>
                    <a:pt x="782842" y="1364788"/>
                  </a:lnTo>
                  <a:lnTo>
                    <a:pt x="734787" y="1369877"/>
                  </a:lnTo>
                  <a:lnTo>
                    <a:pt x="685800" y="1371599"/>
                  </a:lnTo>
                  <a:lnTo>
                    <a:pt x="636828" y="1369877"/>
                  </a:lnTo>
                  <a:lnTo>
                    <a:pt x="588784" y="1364788"/>
                  </a:lnTo>
                  <a:lnTo>
                    <a:pt x="541785" y="1356448"/>
                  </a:lnTo>
                  <a:lnTo>
                    <a:pt x="495947" y="1344974"/>
                  </a:lnTo>
                  <a:lnTo>
                    <a:pt x="451386" y="1330481"/>
                  </a:lnTo>
                  <a:lnTo>
                    <a:pt x="408218" y="1313085"/>
                  </a:lnTo>
                  <a:lnTo>
                    <a:pt x="366559" y="1292903"/>
                  </a:lnTo>
                  <a:lnTo>
                    <a:pt x="326525" y="1270051"/>
                  </a:lnTo>
                  <a:lnTo>
                    <a:pt x="288233" y="1244645"/>
                  </a:lnTo>
                  <a:lnTo>
                    <a:pt x="251798" y="1216801"/>
                  </a:lnTo>
                  <a:lnTo>
                    <a:pt x="217336" y="1186635"/>
                  </a:lnTo>
                  <a:lnTo>
                    <a:pt x="184964" y="1154263"/>
                  </a:lnTo>
                  <a:lnTo>
                    <a:pt x="154798" y="1119801"/>
                  </a:lnTo>
                  <a:lnTo>
                    <a:pt x="126954" y="1083366"/>
                  </a:lnTo>
                  <a:lnTo>
                    <a:pt x="101548" y="1045074"/>
                  </a:lnTo>
                  <a:lnTo>
                    <a:pt x="78696" y="1005040"/>
                  </a:lnTo>
                  <a:lnTo>
                    <a:pt x="58514" y="963381"/>
                  </a:lnTo>
                  <a:lnTo>
                    <a:pt x="41118" y="920213"/>
                  </a:lnTo>
                  <a:lnTo>
                    <a:pt x="26625" y="875652"/>
                  </a:lnTo>
                  <a:lnTo>
                    <a:pt x="15151" y="829814"/>
                  </a:lnTo>
                  <a:lnTo>
                    <a:pt x="6811" y="782815"/>
                  </a:lnTo>
                  <a:lnTo>
                    <a:pt x="1722" y="734771"/>
                  </a:lnTo>
                  <a:lnTo>
                    <a:pt x="0" y="685800"/>
                  </a:lnTo>
                  <a:close/>
                </a:path>
              </a:pathLst>
            </a:custGeom>
            <a:ln w="12700">
              <a:solidFill>
                <a:srgbClr val="0891B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353059" y="668782"/>
            <a:ext cx="157226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0891B1"/>
                </a:solidFill>
                <a:latin typeface="Times New Roman"/>
                <a:cs typeface="Times New Roman"/>
              </a:rPr>
              <a:t>E</a:t>
            </a:r>
            <a:r>
              <a:rPr sz="1200" b="1" spc="200" dirty="0">
                <a:solidFill>
                  <a:srgbClr val="0891B1"/>
                </a:solidFill>
                <a:latin typeface="Times New Roman"/>
                <a:cs typeface="Times New Roman"/>
              </a:rPr>
              <a:t> </a:t>
            </a:r>
            <a:r>
              <a:rPr sz="1200" b="1" dirty="0">
                <a:solidFill>
                  <a:srgbClr val="0891B1"/>
                </a:solidFill>
                <a:latin typeface="Times New Roman"/>
                <a:cs typeface="Times New Roman"/>
              </a:rPr>
              <a:t>N</a:t>
            </a:r>
            <a:r>
              <a:rPr sz="1200" b="1" spc="200" dirty="0">
                <a:solidFill>
                  <a:srgbClr val="0891B1"/>
                </a:solidFill>
                <a:latin typeface="Times New Roman"/>
                <a:cs typeface="Times New Roman"/>
              </a:rPr>
              <a:t> </a:t>
            </a:r>
            <a:r>
              <a:rPr sz="1200" b="1" dirty="0">
                <a:solidFill>
                  <a:srgbClr val="0891B1"/>
                </a:solidFill>
                <a:latin typeface="Times New Roman"/>
                <a:cs typeface="Times New Roman"/>
              </a:rPr>
              <a:t>T</a:t>
            </a:r>
            <a:r>
              <a:rPr sz="1200" b="1" spc="204" dirty="0">
                <a:solidFill>
                  <a:srgbClr val="0891B1"/>
                </a:solidFill>
                <a:latin typeface="Times New Roman"/>
                <a:cs typeface="Times New Roman"/>
              </a:rPr>
              <a:t> </a:t>
            </a:r>
            <a:r>
              <a:rPr sz="1200" b="1" dirty="0">
                <a:solidFill>
                  <a:srgbClr val="0891B1"/>
                </a:solidFill>
                <a:latin typeface="Times New Roman"/>
                <a:cs typeface="Times New Roman"/>
              </a:rPr>
              <a:t>E</a:t>
            </a:r>
            <a:r>
              <a:rPr sz="1200" b="1" spc="204" dirty="0">
                <a:solidFill>
                  <a:srgbClr val="0891B1"/>
                </a:solidFill>
                <a:latin typeface="Times New Roman"/>
                <a:cs typeface="Times New Roman"/>
              </a:rPr>
              <a:t> </a:t>
            </a:r>
            <a:r>
              <a:rPr sz="1200" b="1" dirty="0">
                <a:solidFill>
                  <a:srgbClr val="0891B1"/>
                </a:solidFill>
                <a:latin typeface="Times New Roman"/>
                <a:cs typeface="Times New Roman"/>
              </a:rPr>
              <a:t>R</a:t>
            </a:r>
            <a:r>
              <a:rPr sz="1200" b="1" spc="200" dirty="0">
                <a:solidFill>
                  <a:srgbClr val="0891B1"/>
                </a:solidFill>
                <a:latin typeface="Times New Roman"/>
                <a:cs typeface="Times New Roman"/>
              </a:rPr>
              <a:t> </a:t>
            </a:r>
            <a:r>
              <a:rPr sz="1200" b="1" dirty="0">
                <a:solidFill>
                  <a:srgbClr val="0891B1"/>
                </a:solidFill>
                <a:latin typeface="Times New Roman"/>
                <a:cs typeface="Times New Roman"/>
              </a:rPr>
              <a:t>P</a:t>
            </a:r>
            <a:r>
              <a:rPr sz="1200" b="1" spc="185" dirty="0">
                <a:solidFill>
                  <a:srgbClr val="0891B1"/>
                </a:solidFill>
                <a:latin typeface="Times New Roman"/>
                <a:cs typeface="Times New Roman"/>
              </a:rPr>
              <a:t> </a:t>
            </a:r>
            <a:r>
              <a:rPr sz="1200" b="1" dirty="0">
                <a:solidFill>
                  <a:srgbClr val="0891B1"/>
                </a:solidFill>
                <a:latin typeface="Times New Roman"/>
                <a:cs typeface="Times New Roman"/>
              </a:rPr>
              <a:t>R</a:t>
            </a:r>
            <a:r>
              <a:rPr sz="1200" b="1" spc="195" dirty="0">
                <a:solidFill>
                  <a:srgbClr val="0891B1"/>
                </a:solidFill>
                <a:latin typeface="Times New Roman"/>
                <a:cs typeface="Times New Roman"/>
              </a:rPr>
              <a:t> </a:t>
            </a:r>
            <a:r>
              <a:rPr sz="1200" b="1" dirty="0">
                <a:solidFill>
                  <a:srgbClr val="0891B1"/>
                </a:solidFill>
                <a:latin typeface="Times New Roman"/>
                <a:cs typeface="Times New Roman"/>
              </a:rPr>
              <a:t>I</a:t>
            </a:r>
            <a:r>
              <a:rPr sz="1200" b="1" spc="200" dirty="0">
                <a:solidFill>
                  <a:srgbClr val="0891B1"/>
                </a:solidFill>
                <a:latin typeface="Times New Roman"/>
                <a:cs typeface="Times New Roman"/>
              </a:rPr>
              <a:t> </a:t>
            </a:r>
            <a:r>
              <a:rPr sz="1200" b="1" dirty="0">
                <a:solidFill>
                  <a:srgbClr val="0891B1"/>
                </a:solidFill>
                <a:latin typeface="Times New Roman"/>
                <a:cs typeface="Times New Roman"/>
              </a:rPr>
              <a:t>S</a:t>
            </a:r>
            <a:r>
              <a:rPr sz="1200" b="1" spc="195" dirty="0">
                <a:solidFill>
                  <a:srgbClr val="0891B1"/>
                </a:solidFill>
                <a:latin typeface="Times New Roman"/>
                <a:cs typeface="Times New Roman"/>
              </a:rPr>
              <a:t> </a:t>
            </a:r>
            <a:r>
              <a:rPr sz="1200" b="1" spc="-50" dirty="0">
                <a:solidFill>
                  <a:srgbClr val="0891B1"/>
                </a:solidFill>
                <a:latin typeface="Times New Roman"/>
                <a:cs typeface="Times New Roman"/>
              </a:rPr>
              <a:t>E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xfrm>
            <a:off x="353059" y="1208659"/>
            <a:ext cx="2447290" cy="15798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3400" spc="-10" dirty="0">
                <a:solidFill>
                  <a:srgbClr val="FFFFFF"/>
                </a:solidFill>
              </a:rPr>
              <a:t>Inventory Management System</a:t>
            </a:r>
            <a:endParaRPr sz="3400"/>
          </a:p>
        </p:txBody>
      </p:sp>
      <p:grpSp>
        <p:nvGrpSpPr>
          <p:cNvPr id="14" name="object 14"/>
          <p:cNvGrpSpPr/>
          <p:nvPr/>
        </p:nvGrpSpPr>
        <p:grpSpPr>
          <a:xfrm>
            <a:off x="359409" y="3056889"/>
            <a:ext cx="1109980" cy="58419"/>
            <a:chOff x="359409" y="3056889"/>
            <a:chExt cx="1109980" cy="58419"/>
          </a:xfrm>
        </p:grpSpPr>
        <p:sp>
          <p:nvSpPr>
            <p:cNvPr id="15" name="object 15"/>
            <p:cNvSpPr/>
            <p:nvPr/>
          </p:nvSpPr>
          <p:spPr>
            <a:xfrm>
              <a:off x="365759" y="3063239"/>
              <a:ext cx="1097280" cy="45720"/>
            </a:xfrm>
            <a:custGeom>
              <a:avLst/>
              <a:gdLst/>
              <a:ahLst/>
              <a:cxnLst/>
              <a:rect l="l" t="t" r="r" b="b"/>
              <a:pathLst>
                <a:path w="1097280" h="45719">
                  <a:moveTo>
                    <a:pt x="1097280" y="0"/>
                  </a:moveTo>
                  <a:lnTo>
                    <a:pt x="0" y="0"/>
                  </a:lnTo>
                  <a:lnTo>
                    <a:pt x="0" y="45719"/>
                  </a:lnTo>
                  <a:lnTo>
                    <a:pt x="1097280" y="45719"/>
                  </a:lnTo>
                  <a:lnTo>
                    <a:pt x="1097280" y="0"/>
                  </a:lnTo>
                  <a:close/>
                </a:path>
              </a:pathLst>
            </a:custGeom>
            <a:solidFill>
              <a:srgbClr val="F59E0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365759" y="3063239"/>
              <a:ext cx="1097280" cy="45720"/>
            </a:xfrm>
            <a:custGeom>
              <a:avLst/>
              <a:gdLst/>
              <a:ahLst/>
              <a:cxnLst/>
              <a:rect l="l" t="t" r="r" b="b"/>
              <a:pathLst>
                <a:path w="1097280" h="45719">
                  <a:moveTo>
                    <a:pt x="0" y="45719"/>
                  </a:moveTo>
                  <a:lnTo>
                    <a:pt x="1097280" y="45719"/>
                  </a:lnTo>
                  <a:lnTo>
                    <a:pt x="1097280" y="0"/>
                  </a:lnTo>
                  <a:lnTo>
                    <a:pt x="0" y="0"/>
                  </a:lnTo>
                  <a:lnTo>
                    <a:pt x="0" y="45719"/>
                  </a:lnTo>
                  <a:close/>
                </a:path>
              </a:pathLst>
            </a:custGeom>
            <a:ln w="12700">
              <a:solidFill>
                <a:srgbClr val="F59E0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353059" y="3244976"/>
            <a:ext cx="2348230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dirty="0">
                <a:solidFill>
                  <a:srgbClr val="05B6D3"/>
                </a:solidFill>
                <a:latin typeface="Times New Roman"/>
                <a:cs typeface="Times New Roman"/>
              </a:rPr>
              <a:t>Organisation</a:t>
            </a:r>
            <a:r>
              <a:rPr sz="1300" spc="-30" dirty="0">
                <a:solidFill>
                  <a:srgbClr val="05B6D3"/>
                </a:solidFill>
                <a:latin typeface="Times New Roman"/>
                <a:cs typeface="Times New Roman"/>
              </a:rPr>
              <a:t> </a:t>
            </a:r>
            <a:r>
              <a:rPr sz="1300" dirty="0">
                <a:solidFill>
                  <a:srgbClr val="05B6D3"/>
                </a:solidFill>
                <a:latin typeface="Times New Roman"/>
                <a:cs typeface="Times New Roman"/>
              </a:rPr>
              <a:t>:</a:t>
            </a:r>
            <a:r>
              <a:rPr sz="1300" spc="-35" dirty="0">
                <a:solidFill>
                  <a:srgbClr val="05B6D3"/>
                </a:solidFill>
                <a:latin typeface="Times New Roman"/>
                <a:cs typeface="Times New Roman"/>
              </a:rPr>
              <a:t> </a:t>
            </a:r>
            <a:r>
              <a:rPr sz="1300" dirty="0">
                <a:solidFill>
                  <a:srgbClr val="05B6D3"/>
                </a:solidFill>
                <a:latin typeface="Times New Roman"/>
                <a:cs typeface="Times New Roman"/>
              </a:rPr>
              <a:t>Infosys</a:t>
            </a:r>
            <a:r>
              <a:rPr sz="1300" spc="-10" dirty="0">
                <a:solidFill>
                  <a:srgbClr val="05B6D3"/>
                </a:solidFill>
                <a:latin typeface="Times New Roman"/>
                <a:cs typeface="Times New Roman"/>
              </a:rPr>
              <a:t> Springboard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53059" y="3594353"/>
            <a:ext cx="2692400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10" dirty="0">
                <a:solidFill>
                  <a:srgbClr val="93A2B8"/>
                </a:solidFill>
                <a:latin typeface="Times New Roman"/>
                <a:cs typeface="Times New Roman"/>
              </a:rPr>
              <a:t>Full-</a:t>
            </a:r>
            <a:r>
              <a:rPr sz="1100" dirty="0">
                <a:solidFill>
                  <a:srgbClr val="93A2B8"/>
                </a:solidFill>
                <a:latin typeface="Times New Roman"/>
                <a:cs typeface="Times New Roman"/>
              </a:rPr>
              <a:t>Stack</a:t>
            </a:r>
            <a:r>
              <a:rPr sz="1100" spc="-40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93A2B8"/>
                </a:solidFill>
                <a:latin typeface="Times New Roman"/>
                <a:cs typeface="Times New Roman"/>
              </a:rPr>
              <a:t>Web</a:t>
            </a:r>
            <a:r>
              <a:rPr sz="1100" spc="-20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93A2B8"/>
                </a:solidFill>
                <a:latin typeface="Times New Roman"/>
                <a:cs typeface="Times New Roman"/>
              </a:rPr>
              <a:t>Application</a:t>
            </a:r>
            <a:r>
              <a:rPr sz="1100" spc="-45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93A2B8"/>
                </a:solidFill>
                <a:latin typeface="Times New Roman"/>
                <a:cs typeface="Times New Roman"/>
              </a:rPr>
              <a:t>| Academic</a:t>
            </a:r>
            <a:r>
              <a:rPr sz="1100" spc="-15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100" spc="-10" dirty="0">
                <a:solidFill>
                  <a:srgbClr val="93A2B8"/>
                </a:solidFill>
                <a:latin typeface="Times New Roman"/>
                <a:cs typeface="Times New Roman"/>
              </a:rPr>
              <a:t>Project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377054" y="3418910"/>
            <a:ext cx="2618105" cy="575310"/>
          </a:xfrm>
          <a:prstGeom prst="rect">
            <a:avLst/>
          </a:prstGeom>
        </p:spPr>
        <p:txBody>
          <a:bodyPr vert="horz" wrap="square" lIns="0" tIns="895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5"/>
              </a:spcBef>
            </a:pPr>
            <a:r>
              <a:rPr sz="1300" dirty="0">
                <a:solidFill>
                  <a:srgbClr val="93A2B8"/>
                </a:solidFill>
                <a:latin typeface="Times New Roman"/>
                <a:cs typeface="Times New Roman"/>
              </a:rPr>
              <a:t>Presented</a:t>
            </a:r>
            <a:r>
              <a:rPr sz="1300" spc="-40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300" dirty="0">
                <a:solidFill>
                  <a:srgbClr val="93A2B8"/>
                </a:solidFill>
                <a:latin typeface="Times New Roman"/>
                <a:cs typeface="Times New Roman"/>
              </a:rPr>
              <a:t>by:</a:t>
            </a:r>
            <a:r>
              <a:rPr sz="1300" spc="-25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lang="en-IN" sz="1300" spc="-10" dirty="0">
                <a:solidFill>
                  <a:srgbClr val="93A2B8"/>
                </a:solidFill>
                <a:latin typeface="Times New Roman"/>
                <a:cs typeface="Times New Roman"/>
              </a:rPr>
              <a:t>Indhu P</a:t>
            </a:r>
            <a:r>
              <a:rPr sz="1300" spc="-10" dirty="0">
                <a:solidFill>
                  <a:srgbClr val="93A2B8"/>
                </a:solidFill>
                <a:latin typeface="Times New Roman"/>
                <a:cs typeface="Times New Roman"/>
              </a:rPr>
              <a:t>,</a:t>
            </a:r>
            <a:r>
              <a:rPr sz="1300" spc="-25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300" dirty="0">
                <a:solidFill>
                  <a:srgbClr val="93A2B8"/>
                </a:solidFill>
                <a:latin typeface="Times New Roman"/>
                <a:cs typeface="Times New Roman"/>
              </a:rPr>
              <a:t>Batch</a:t>
            </a:r>
            <a:r>
              <a:rPr sz="1300" spc="-45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300" spc="-25" dirty="0">
                <a:solidFill>
                  <a:srgbClr val="93A2B8"/>
                </a:solidFill>
                <a:latin typeface="Times New Roman"/>
                <a:cs typeface="Times New Roman"/>
              </a:rPr>
              <a:t>13</a:t>
            </a:r>
            <a:endParaRPr sz="13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05"/>
              </a:spcBef>
            </a:pPr>
            <a:r>
              <a:rPr sz="1300" b="1" dirty="0">
                <a:solidFill>
                  <a:srgbClr val="FFFFFF"/>
                </a:solidFill>
                <a:latin typeface="Times New Roman"/>
                <a:cs typeface="Times New Roman"/>
              </a:rPr>
              <a:t>Computer</a:t>
            </a:r>
            <a:r>
              <a:rPr sz="1300" b="1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300" b="1" dirty="0">
                <a:solidFill>
                  <a:srgbClr val="FFFFFF"/>
                </a:solidFill>
                <a:latin typeface="Times New Roman"/>
                <a:cs typeface="Times New Roman"/>
              </a:rPr>
              <a:t>Science</a:t>
            </a:r>
            <a:r>
              <a:rPr sz="1300" b="1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3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Department</a:t>
            </a:r>
            <a:endParaRPr sz="1300" dirty="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3369309" y="4598009"/>
            <a:ext cx="1939925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10" dirty="0">
                <a:solidFill>
                  <a:srgbClr val="93A2B8"/>
                </a:solidFill>
                <a:latin typeface="Times New Roman"/>
                <a:cs typeface="Times New Roman"/>
              </a:rPr>
              <a:t>Enterprise-</a:t>
            </a:r>
            <a:r>
              <a:rPr sz="1100" dirty="0">
                <a:solidFill>
                  <a:srgbClr val="93A2B8"/>
                </a:solidFill>
                <a:latin typeface="Times New Roman"/>
                <a:cs typeface="Times New Roman"/>
              </a:rPr>
              <a:t>Grade</a:t>
            </a:r>
            <a:r>
              <a:rPr sz="1100" spc="-20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93A2B8"/>
                </a:solidFill>
                <a:latin typeface="Times New Roman"/>
                <a:cs typeface="Times New Roman"/>
              </a:rPr>
              <a:t>Solution</a:t>
            </a:r>
            <a:r>
              <a:rPr sz="1100" spc="254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93A2B8"/>
                </a:solidFill>
                <a:latin typeface="Times New Roman"/>
                <a:cs typeface="Times New Roman"/>
              </a:rPr>
              <a:t>|</a:t>
            </a:r>
            <a:r>
              <a:rPr sz="1100" spc="325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100" spc="-20" dirty="0">
                <a:solidFill>
                  <a:srgbClr val="93A2B8"/>
                </a:solidFill>
                <a:latin typeface="Times New Roman"/>
                <a:cs typeface="Times New Roman"/>
              </a:rPr>
              <a:t>2025</a:t>
            </a:r>
            <a:endParaRPr sz="11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Table</a:t>
            </a:r>
            <a:r>
              <a:rPr spc="-20" dirty="0"/>
              <a:t> </a:t>
            </a:r>
            <a:r>
              <a:rPr dirty="0"/>
              <a:t>of</a:t>
            </a:r>
            <a:r>
              <a:rPr spc="5" dirty="0"/>
              <a:t> </a:t>
            </a:r>
            <a:r>
              <a:rPr spc="-10" dirty="0"/>
              <a:t>Contents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44500" y="670305"/>
            <a:ext cx="2118995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i="1" spc="-10" dirty="0">
                <a:solidFill>
                  <a:srgbClr val="0891B1"/>
                </a:solidFill>
                <a:latin typeface="Times New Roman"/>
                <a:cs typeface="Times New Roman"/>
              </a:rPr>
              <a:t>Project</a:t>
            </a:r>
            <a:r>
              <a:rPr sz="1300" i="1" spc="-5" dirty="0">
                <a:solidFill>
                  <a:srgbClr val="0891B1"/>
                </a:solidFill>
                <a:latin typeface="Times New Roman"/>
                <a:cs typeface="Times New Roman"/>
              </a:rPr>
              <a:t> </a:t>
            </a:r>
            <a:r>
              <a:rPr sz="1300" i="1" dirty="0">
                <a:solidFill>
                  <a:srgbClr val="0891B1"/>
                </a:solidFill>
                <a:latin typeface="Times New Roman"/>
                <a:cs typeface="Times New Roman"/>
              </a:rPr>
              <a:t>Overview</a:t>
            </a:r>
            <a:r>
              <a:rPr sz="1300" i="1" spc="-25" dirty="0">
                <a:solidFill>
                  <a:srgbClr val="0891B1"/>
                </a:solidFill>
                <a:latin typeface="Times New Roman"/>
                <a:cs typeface="Times New Roman"/>
              </a:rPr>
              <a:t> </a:t>
            </a:r>
            <a:r>
              <a:rPr sz="1300" i="1" dirty="0">
                <a:solidFill>
                  <a:srgbClr val="0891B1"/>
                </a:solidFill>
                <a:latin typeface="Times New Roman"/>
                <a:cs typeface="Times New Roman"/>
              </a:rPr>
              <a:t>&amp;</a:t>
            </a:r>
            <a:r>
              <a:rPr sz="1300" i="1" spc="-5" dirty="0">
                <a:solidFill>
                  <a:srgbClr val="0891B1"/>
                </a:solidFill>
                <a:latin typeface="Times New Roman"/>
                <a:cs typeface="Times New Roman"/>
              </a:rPr>
              <a:t> </a:t>
            </a:r>
            <a:r>
              <a:rPr sz="1300" i="1" spc="-10" dirty="0">
                <a:solidFill>
                  <a:srgbClr val="0891B1"/>
                </a:solidFill>
                <a:latin typeface="Times New Roman"/>
                <a:cs typeface="Times New Roman"/>
              </a:rPr>
              <a:t>Navigation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74320" y="1097280"/>
            <a:ext cx="411480" cy="320040"/>
          </a:xfrm>
          <a:custGeom>
            <a:avLst/>
            <a:gdLst/>
            <a:ahLst/>
            <a:cxnLst/>
            <a:rect l="l" t="t" r="r" b="b"/>
            <a:pathLst>
              <a:path w="411480" h="320040">
                <a:moveTo>
                  <a:pt x="0" y="320039"/>
                </a:moveTo>
                <a:lnTo>
                  <a:pt x="411480" y="320039"/>
                </a:lnTo>
                <a:lnTo>
                  <a:pt x="411480" y="0"/>
                </a:lnTo>
                <a:lnTo>
                  <a:pt x="0" y="0"/>
                </a:lnTo>
                <a:lnTo>
                  <a:pt x="0" y="320039"/>
                </a:lnTo>
                <a:close/>
              </a:path>
            </a:pathLst>
          </a:custGeom>
          <a:ln w="12700">
            <a:solidFill>
              <a:srgbClr val="0891B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267970" y="1090930"/>
            <a:ext cx="424180" cy="332740"/>
          </a:xfrm>
          <a:prstGeom prst="rect">
            <a:avLst/>
          </a:prstGeom>
          <a:solidFill>
            <a:srgbClr val="0891B1"/>
          </a:solidFill>
        </p:spPr>
        <p:txBody>
          <a:bodyPr vert="horz" wrap="square" lIns="0" tIns="7874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620"/>
              </a:spcBef>
            </a:pPr>
            <a:r>
              <a:rPr sz="1100" b="1" spc="-25" dirty="0">
                <a:solidFill>
                  <a:srgbClr val="FFFFFF"/>
                </a:solidFill>
                <a:latin typeface="Times New Roman"/>
                <a:cs typeface="Times New Roman"/>
              </a:rPr>
              <a:t>01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64540" y="1141222"/>
            <a:ext cx="2212340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dirty="0">
                <a:solidFill>
                  <a:srgbClr val="1E293A"/>
                </a:solidFill>
                <a:latin typeface="Times New Roman"/>
                <a:cs typeface="Times New Roman"/>
              </a:rPr>
              <a:t>Introduction</a:t>
            </a:r>
            <a:r>
              <a:rPr sz="1300" spc="-15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300" dirty="0">
                <a:solidFill>
                  <a:srgbClr val="1E293A"/>
                </a:solidFill>
                <a:latin typeface="Times New Roman"/>
                <a:cs typeface="Times New Roman"/>
              </a:rPr>
              <a:t>&amp;</a:t>
            </a:r>
            <a:r>
              <a:rPr sz="1300" spc="-35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300" dirty="0">
                <a:solidFill>
                  <a:srgbClr val="1E293A"/>
                </a:solidFill>
                <a:latin typeface="Times New Roman"/>
                <a:cs typeface="Times New Roman"/>
              </a:rPr>
              <a:t>Project</a:t>
            </a:r>
            <a:r>
              <a:rPr sz="1300" spc="-35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300" spc="-10" dirty="0">
                <a:solidFill>
                  <a:srgbClr val="1E293A"/>
                </a:solidFill>
                <a:latin typeface="Times New Roman"/>
                <a:cs typeface="Times New Roman"/>
              </a:rPr>
              <a:t>Overview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74320" y="1600200"/>
            <a:ext cx="411480" cy="320040"/>
          </a:xfrm>
          <a:custGeom>
            <a:avLst/>
            <a:gdLst/>
            <a:ahLst/>
            <a:cxnLst/>
            <a:rect l="l" t="t" r="r" b="b"/>
            <a:pathLst>
              <a:path w="411480" h="320039">
                <a:moveTo>
                  <a:pt x="0" y="320039"/>
                </a:moveTo>
                <a:lnTo>
                  <a:pt x="411480" y="320039"/>
                </a:lnTo>
                <a:lnTo>
                  <a:pt x="411480" y="0"/>
                </a:lnTo>
                <a:lnTo>
                  <a:pt x="0" y="0"/>
                </a:lnTo>
                <a:lnTo>
                  <a:pt x="0" y="320039"/>
                </a:lnTo>
                <a:close/>
              </a:path>
            </a:pathLst>
          </a:custGeom>
          <a:ln w="12700">
            <a:solidFill>
              <a:srgbClr val="0891B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267970" y="1593850"/>
            <a:ext cx="424180" cy="332740"/>
          </a:xfrm>
          <a:prstGeom prst="rect">
            <a:avLst/>
          </a:prstGeom>
          <a:solidFill>
            <a:srgbClr val="0891B1"/>
          </a:solidFill>
        </p:spPr>
        <p:txBody>
          <a:bodyPr vert="horz" wrap="square" lIns="0" tIns="7874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620"/>
              </a:spcBef>
            </a:pPr>
            <a:r>
              <a:rPr sz="1100" b="1" spc="-25" dirty="0">
                <a:solidFill>
                  <a:srgbClr val="FFFFFF"/>
                </a:solidFill>
                <a:latin typeface="Times New Roman"/>
                <a:cs typeface="Times New Roman"/>
              </a:rPr>
              <a:t>02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64540" y="1644523"/>
            <a:ext cx="1284605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dirty="0">
                <a:solidFill>
                  <a:srgbClr val="1E293A"/>
                </a:solidFill>
                <a:latin typeface="Times New Roman"/>
                <a:cs typeface="Times New Roman"/>
              </a:rPr>
              <a:t>Problem</a:t>
            </a:r>
            <a:r>
              <a:rPr sz="1300" spc="-25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300" spc="-10" dirty="0">
                <a:solidFill>
                  <a:srgbClr val="1E293A"/>
                </a:solidFill>
                <a:latin typeface="Times New Roman"/>
                <a:cs typeface="Times New Roman"/>
              </a:rPr>
              <a:t>Statement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67970" y="2096770"/>
            <a:ext cx="424180" cy="332740"/>
          </a:xfrm>
          <a:prstGeom prst="rect">
            <a:avLst/>
          </a:prstGeom>
          <a:solidFill>
            <a:srgbClr val="0891B1"/>
          </a:solidFill>
          <a:ln w="3175">
            <a:solidFill>
              <a:srgbClr val="0891B1"/>
            </a:solidFill>
          </a:ln>
        </p:spPr>
        <p:txBody>
          <a:bodyPr vert="horz" wrap="square" lIns="0" tIns="7874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620"/>
              </a:spcBef>
            </a:pPr>
            <a:r>
              <a:rPr sz="1100" b="1" spc="-25" dirty="0">
                <a:solidFill>
                  <a:srgbClr val="FFFFFF"/>
                </a:solidFill>
                <a:latin typeface="Times New Roman"/>
                <a:cs typeface="Times New Roman"/>
              </a:rPr>
              <a:t>03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64540" y="2147442"/>
            <a:ext cx="1669414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dirty="0">
                <a:solidFill>
                  <a:srgbClr val="1E293A"/>
                </a:solidFill>
                <a:latin typeface="Times New Roman"/>
                <a:cs typeface="Times New Roman"/>
              </a:rPr>
              <a:t>Why</a:t>
            </a:r>
            <a:r>
              <a:rPr sz="1300" spc="-35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300" dirty="0">
                <a:solidFill>
                  <a:srgbClr val="1E293A"/>
                </a:solidFill>
                <a:latin typeface="Times New Roman"/>
                <a:cs typeface="Times New Roman"/>
              </a:rPr>
              <a:t>Build</a:t>
            </a:r>
            <a:r>
              <a:rPr sz="1300" spc="-30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300" dirty="0">
                <a:solidFill>
                  <a:srgbClr val="1E293A"/>
                </a:solidFill>
                <a:latin typeface="Times New Roman"/>
                <a:cs typeface="Times New Roman"/>
              </a:rPr>
              <a:t>This</a:t>
            </a:r>
            <a:r>
              <a:rPr sz="1300" spc="-30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300" spc="-10" dirty="0">
                <a:solidFill>
                  <a:srgbClr val="1E293A"/>
                </a:solidFill>
                <a:latin typeface="Times New Roman"/>
                <a:cs typeface="Times New Roman"/>
              </a:rPr>
              <a:t>Project?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67970" y="2599689"/>
            <a:ext cx="424180" cy="332740"/>
          </a:xfrm>
          <a:prstGeom prst="rect">
            <a:avLst/>
          </a:prstGeom>
          <a:solidFill>
            <a:srgbClr val="0891B1"/>
          </a:solidFill>
          <a:ln w="3175">
            <a:solidFill>
              <a:srgbClr val="0891B1"/>
            </a:solidFill>
          </a:ln>
        </p:spPr>
        <p:txBody>
          <a:bodyPr vert="horz" wrap="square" lIns="0" tIns="7937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625"/>
              </a:spcBef>
            </a:pPr>
            <a:r>
              <a:rPr sz="1100" b="1" spc="-25" dirty="0">
                <a:solidFill>
                  <a:srgbClr val="FFFFFF"/>
                </a:solidFill>
                <a:latin typeface="Times New Roman"/>
                <a:cs typeface="Times New Roman"/>
              </a:rPr>
              <a:t>04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64540" y="2650616"/>
            <a:ext cx="1795780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spc="-10" dirty="0">
                <a:solidFill>
                  <a:srgbClr val="1E293A"/>
                </a:solidFill>
                <a:latin typeface="Times New Roman"/>
                <a:cs typeface="Times New Roman"/>
              </a:rPr>
              <a:t>Technology</a:t>
            </a:r>
            <a:r>
              <a:rPr sz="1300" spc="-20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300" dirty="0">
                <a:solidFill>
                  <a:srgbClr val="1E293A"/>
                </a:solidFill>
                <a:latin typeface="Times New Roman"/>
                <a:cs typeface="Times New Roman"/>
              </a:rPr>
              <a:t>Stack</a:t>
            </a:r>
            <a:r>
              <a:rPr sz="1300" spc="-30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300" dirty="0">
                <a:solidFill>
                  <a:srgbClr val="1E293A"/>
                </a:solidFill>
                <a:latin typeface="Times New Roman"/>
                <a:cs typeface="Times New Roman"/>
              </a:rPr>
              <a:t>&amp;</a:t>
            </a:r>
            <a:r>
              <a:rPr sz="1300" spc="-40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300" spc="-10" dirty="0">
                <a:solidFill>
                  <a:srgbClr val="1E293A"/>
                </a:solidFill>
                <a:latin typeface="Times New Roman"/>
                <a:cs typeface="Times New Roman"/>
              </a:rPr>
              <a:t>Roles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67970" y="3102610"/>
            <a:ext cx="424180" cy="332740"/>
          </a:xfrm>
          <a:prstGeom prst="rect">
            <a:avLst/>
          </a:prstGeom>
          <a:solidFill>
            <a:srgbClr val="0891B1"/>
          </a:solidFill>
          <a:ln w="3175">
            <a:solidFill>
              <a:srgbClr val="0891B1"/>
            </a:solidFill>
          </a:ln>
        </p:spPr>
        <p:txBody>
          <a:bodyPr vert="horz" wrap="square" lIns="0" tIns="7937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625"/>
              </a:spcBef>
            </a:pPr>
            <a:r>
              <a:rPr sz="1100" b="1" spc="-25" dirty="0">
                <a:solidFill>
                  <a:srgbClr val="FFFFFF"/>
                </a:solidFill>
                <a:latin typeface="Times New Roman"/>
                <a:cs typeface="Times New Roman"/>
              </a:rPr>
              <a:t>05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764540" y="3153536"/>
            <a:ext cx="2165350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dirty="0">
                <a:solidFill>
                  <a:srgbClr val="1E293A"/>
                </a:solidFill>
                <a:latin typeface="Times New Roman"/>
                <a:cs typeface="Times New Roman"/>
              </a:rPr>
              <a:t>System</a:t>
            </a:r>
            <a:r>
              <a:rPr sz="1300" spc="-10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300" dirty="0">
                <a:solidFill>
                  <a:srgbClr val="1E293A"/>
                </a:solidFill>
                <a:latin typeface="Times New Roman"/>
                <a:cs typeface="Times New Roman"/>
              </a:rPr>
              <a:t>Architecture</a:t>
            </a:r>
            <a:r>
              <a:rPr sz="1300" spc="-30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300" dirty="0">
                <a:solidFill>
                  <a:srgbClr val="1E293A"/>
                </a:solidFill>
                <a:latin typeface="Times New Roman"/>
                <a:cs typeface="Times New Roman"/>
              </a:rPr>
              <a:t>&amp;</a:t>
            </a:r>
            <a:r>
              <a:rPr sz="1300" spc="-50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300" spc="-10" dirty="0">
                <a:solidFill>
                  <a:srgbClr val="1E293A"/>
                </a:solidFill>
                <a:latin typeface="Times New Roman"/>
                <a:cs typeface="Times New Roman"/>
              </a:rPr>
              <a:t>Diagram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67970" y="3605529"/>
            <a:ext cx="424180" cy="332740"/>
          </a:xfrm>
          <a:prstGeom prst="rect">
            <a:avLst/>
          </a:prstGeom>
          <a:solidFill>
            <a:srgbClr val="0891B1"/>
          </a:solidFill>
          <a:ln w="3175">
            <a:solidFill>
              <a:srgbClr val="0891B1"/>
            </a:solidFill>
          </a:ln>
        </p:spPr>
        <p:txBody>
          <a:bodyPr vert="horz" wrap="square" lIns="0" tIns="7937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625"/>
              </a:spcBef>
            </a:pPr>
            <a:r>
              <a:rPr sz="1100" b="1" spc="-25" dirty="0">
                <a:solidFill>
                  <a:srgbClr val="FFFFFF"/>
                </a:solidFill>
                <a:latin typeface="Times New Roman"/>
                <a:cs typeface="Times New Roman"/>
              </a:rPr>
              <a:t>06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764540" y="3656838"/>
            <a:ext cx="2224405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spc="-10" dirty="0">
                <a:solidFill>
                  <a:srgbClr val="1E293A"/>
                </a:solidFill>
                <a:latin typeface="Times New Roman"/>
                <a:cs typeface="Times New Roman"/>
              </a:rPr>
              <a:t>Layered</a:t>
            </a:r>
            <a:r>
              <a:rPr sz="1300" spc="-60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300" dirty="0">
                <a:solidFill>
                  <a:srgbClr val="1E293A"/>
                </a:solidFill>
                <a:latin typeface="Times New Roman"/>
                <a:cs typeface="Times New Roman"/>
              </a:rPr>
              <a:t>Architecture</a:t>
            </a:r>
            <a:r>
              <a:rPr sz="1300" spc="-15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300" spc="-10" dirty="0">
                <a:solidFill>
                  <a:srgbClr val="1E293A"/>
                </a:solidFill>
                <a:latin typeface="Times New Roman"/>
                <a:cs typeface="Times New Roman"/>
              </a:rPr>
              <a:t>Breakdown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67970" y="4108450"/>
            <a:ext cx="424180" cy="332740"/>
          </a:xfrm>
          <a:prstGeom prst="rect">
            <a:avLst/>
          </a:prstGeom>
          <a:solidFill>
            <a:srgbClr val="0891B1"/>
          </a:solidFill>
          <a:ln w="3175">
            <a:solidFill>
              <a:srgbClr val="0891B1"/>
            </a:solidFill>
          </a:ln>
        </p:spPr>
        <p:txBody>
          <a:bodyPr vert="horz" wrap="square" lIns="0" tIns="7937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625"/>
              </a:spcBef>
            </a:pPr>
            <a:r>
              <a:rPr sz="1100" b="1" spc="-25" dirty="0">
                <a:solidFill>
                  <a:srgbClr val="FFFFFF"/>
                </a:solidFill>
                <a:latin typeface="Times New Roman"/>
                <a:cs typeface="Times New Roman"/>
              </a:rPr>
              <a:t>07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764540" y="4159707"/>
            <a:ext cx="1125220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dirty="0">
                <a:solidFill>
                  <a:srgbClr val="1E293A"/>
                </a:solidFill>
                <a:latin typeface="Times New Roman"/>
                <a:cs typeface="Times New Roman"/>
              </a:rPr>
              <a:t>Controller</a:t>
            </a:r>
            <a:r>
              <a:rPr sz="1300" spc="-80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300" spc="-10" dirty="0">
                <a:solidFill>
                  <a:srgbClr val="1E293A"/>
                </a:solidFill>
                <a:latin typeface="Times New Roman"/>
                <a:cs typeface="Times New Roman"/>
              </a:rPr>
              <a:t>Layer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4754879" y="1097280"/>
            <a:ext cx="411480" cy="320040"/>
          </a:xfrm>
          <a:custGeom>
            <a:avLst/>
            <a:gdLst/>
            <a:ahLst/>
            <a:cxnLst/>
            <a:rect l="l" t="t" r="r" b="b"/>
            <a:pathLst>
              <a:path w="411479" h="320040">
                <a:moveTo>
                  <a:pt x="0" y="320039"/>
                </a:moveTo>
                <a:lnTo>
                  <a:pt x="411479" y="320039"/>
                </a:lnTo>
                <a:lnTo>
                  <a:pt x="411479" y="0"/>
                </a:lnTo>
                <a:lnTo>
                  <a:pt x="0" y="0"/>
                </a:lnTo>
                <a:lnTo>
                  <a:pt x="0" y="320039"/>
                </a:lnTo>
                <a:close/>
              </a:path>
            </a:pathLst>
          </a:custGeom>
          <a:ln w="12700">
            <a:solidFill>
              <a:srgbClr val="0D749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4748529" y="1090930"/>
            <a:ext cx="424180" cy="332740"/>
          </a:xfrm>
          <a:prstGeom prst="rect">
            <a:avLst/>
          </a:prstGeom>
          <a:solidFill>
            <a:srgbClr val="0D7490"/>
          </a:solidFill>
        </p:spPr>
        <p:txBody>
          <a:bodyPr vert="horz" wrap="square" lIns="0" tIns="78740" rIns="0" bIns="0" rtlCol="0">
            <a:spAutoFit/>
          </a:bodyPr>
          <a:lstStyle/>
          <a:p>
            <a:pPr marL="142875">
              <a:lnSpc>
                <a:spcPct val="100000"/>
              </a:lnSpc>
              <a:spcBef>
                <a:spcPts val="620"/>
              </a:spcBef>
            </a:pPr>
            <a:r>
              <a:rPr sz="1100" b="1" spc="-25" dirty="0">
                <a:solidFill>
                  <a:srgbClr val="FFFFFF"/>
                </a:solidFill>
                <a:latin typeface="Times New Roman"/>
                <a:cs typeface="Times New Roman"/>
              </a:rPr>
              <a:t>08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5245989" y="1141222"/>
            <a:ext cx="2483485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dirty="0">
                <a:solidFill>
                  <a:srgbClr val="1E293A"/>
                </a:solidFill>
                <a:latin typeface="Times New Roman"/>
                <a:cs typeface="Times New Roman"/>
              </a:rPr>
              <a:t>Service</a:t>
            </a:r>
            <a:r>
              <a:rPr sz="1300" spc="-25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300" dirty="0">
                <a:solidFill>
                  <a:srgbClr val="1E293A"/>
                </a:solidFill>
                <a:latin typeface="Times New Roman"/>
                <a:cs typeface="Times New Roman"/>
              </a:rPr>
              <a:t>Layer</a:t>
            </a:r>
            <a:r>
              <a:rPr sz="1300" spc="15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300" dirty="0">
                <a:solidFill>
                  <a:srgbClr val="1E293A"/>
                </a:solidFill>
                <a:latin typeface="Times New Roman"/>
                <a:cs typeface="Times New Roman"/>
              </a:rPr>
              <a:t>&amp;</a:t>
            </a:r>
            <a:r>
              <a:rPr sz="1300" spc="-45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300" spc="-10" dirty="0">
                <a:solidFill>
                  <a:srgbClr val="1E293A"/>
                </a:solidFill>
                <a:latin typeface="Times New Roman"/>
                <a:cs typeface="Times New Roman"/>
              </a:rPr>
              <a:t>Transaction Module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4754879" y="1600200"/>
            <a:ext cx="411480" cy="320040"/>
          </a:xfrm>
          <a:custGeom>
            <a:avLst/>
            <a:gdLst/>
            <a:ahLst/>
            <a:cxnLst/>
            <a:rect l="l" t="t" r="r" b="b"/>
            <a:pathLst>
              <a:path w="411479" h="320039">
                <a:moveTo>
                  <a:pt x="0" y="320039"/>
                </a:moveTo>
                <a:lnTo>
                  <a:pt x="411479" y="320039"/>
                </a:lnTo>
                <a:lnTo>
                  <a:pt x="411479" y="0"/>
                </a:lnTo>
                <a:lnTo>
                  <a:pt x="0" y="0"/>
                </a:lnTo>
                <a:lnTo>
                  <a:pt x="0" y="320039"/>
                </a:lnTo>
                <a:close/>
              </a:path>
            </a:pathLst>
          </a:custGeom>
          <a:ln w="12700">
            <a:solidFill>
              <a:srgbClr val="0D749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4748529" y="1593850"/>
            <a:ext cx="424180" cy="332740"/>
          </a:xfrm>
          <a:prstGeom prst="rect">
            <a:avLst/>
          </a:prstGeom>
          <a:solidFill>
            <a:srgbClr val="0D7490"/>
          </a:solidFill>
        </p:spPr>
        <p:txBody>
          <a:bodyPr vert="horz" wrap="square" lIns="0" tIns="78740" rIns="0" bIns="0" rtlCol="0">
            <a:spAutoFit/>
          </a:bodyPr>
          <a:lstStyle/>
          <a:p>
            <a:pPr marL="142875">
              <a:lnSpc>
                <a:spcPct val="100000"/>
              </a:lnSpc>
              <a:spcBef>
                <a:spcPts val="620"/>
              </a:spcBef>
            </a:pPr>
            <a:r>
              <a:rPr sz="1100" b="1" spc="-25" dirty="0">
                <a:solidFill>
                  <a:srgbClr val="FFFFFF"/>
                </a:solidFill>
                <a:latin typeface="Times New Roman"/>
                <a:cs typeface="Times New Roman"/>
              </a:rPr>
              <a:t>09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5245989" y="1644523"/>
            <a:ext cx="2565400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dirty="0">
                <a:solidFill>
                  <a:srgbClr val="1E293A"/>
                </a:solidFill>
                <a:latin typeface="Times New Roman"/>
                <a:cs typeface="Times New Roman"/>
              </a:rPr>
              <a:t>Simulation</a:t>
            </a:r>
            <a:r>
              <a:rPr sz="1300" spc="-20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300" dirty="0">
                <a:solidFill>
                  <a:srgbClr val="1E293A"/>
                </a:solidFill>
                <a:latin typeface="Times New Roman"/>
                <a:cs typeface="Times New Roman"/>
              </a:rPr>
              <a:t>Module</a:t>
            </a:r>
            <a:r>
              <a:rPr sz="1300" spc="-35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300" dirty="0">
                <a:solidFill>
                  <a:srgbClr val="1E293A"/>
                </a:solidFill>
                <a:latin typeface="Times New Roman"/>
                <a:cs typeface="Times New Roman"/>
              </a:rPr>
              <a:t>&amp;</a:t>
            </a:r>
            <a:r>
              <a:rPr sz="1300" spc="-50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300" dirty="0">
                <a:solidFill>
                  <a:srgbClr val="1E293A"/>
                </a:solidFill>
                <a:latin typeface="Times New Roman"/>
                <a:cs typeface="Times New Roman"/>
              </a:rPr>
              <a:t>Execution</a:t>
            </a:r>
            <a:r>
              <a:rPr sz="1300" spc="-25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300" spc="-20" dirty="0">
                <a:solidFill>
                  <a:srgbClr val="1E293A"/>
                </a:solidFill>
                <a:latin typeface="Times New Roman"/>
                <a:cs typeface="Times New Roman"/>
              </a:rPr>
              <a:t>Flow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4748529" y="2096770"/>
            <a:ext cx="424180" cy="332740"/>
          </a:xfrm>
          <a:prstGeom prst="rect">
            <a:avLst/>
          </a:prstGeom>
          <a:solidFill>
            <a:srgbClr val="0D7490"/>
          </a:solidFill>
          <a:ln w="3175">
            <a:solidFill>
              <a:srgbClr val="0D7490"/>
            </a:solidFill>
          </a:ln>
        </p:spPr>
        <p:txBody>
          <a:bodyPr vert="horz" wrap="square" lIns="0" tIns="78740" rIns="0" bIns="0" rtlCol="0">
            <a:spAutoFit/>
          </a:bodyPr>
          <a:lstStyle/>
          <a:p>
            <a:pPr marL="142875">
              <a:lnSpc>
                <a:spcPct val="100000"/>
              </a:lnSpc>
              <a:spcBef>
                <a:spcPts val="620"/>
              </a:spcBef>
            </a:pPr>
            <a:r>
              <a:rPr sz="1100" b="1" spc="-25" dirty="0">
                <a:solidFill>
                  <a:srgbClr val="FFFFFF"/>
                </a:solidFill>
                <a:latin typeface="Times New Roman"/>
                <a:cs typeface="Times New Roman"/>
              </a:rPr>
              <a:t>10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5245989" y="2147442"/>
            <a:ext cx="2346325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spc="-10" dirty="0">
                <a:solidFill>
                  <a:srgbClr val="1E293A"/>
                </a:solidFill>
                <a:latin typeface="Times New Roman"/>
                <a:cs typeface="Times New Roman"/>
              </a:rPr>
              <a:t>Project</a:t>
            </a:r>
            <a:r>
              <a:rPr sz="1300" spc="-75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300" dirty="0">
                <a:solidFill>
                  <a:srgbClr val="1E293A"/>
                </a:solidFill>
                <a:latin typeface="Times New Roman"/>
                <a:cs typeface="Times New Roman"/>
              </a:rPr>
              <a:t>Achievements</a:t>
            </a:r>
            <a:r>
              <a:rPr sz="1300" spc="-10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300" dirty="0">
                <a:solidFill>
                  <a:srgbClr val="1E293A"/>
                </a:solidFill>
                <a:latin typeface="Times New Roman"/>
                <a:cs typeface="Times New Roman"/>
              </a:rPr>
              <a:t>&amp;</a:t>
            </a:r>
            <a:r>
              <a:rPr sz="1300" spc="-20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300" spc="-10" dirty="0">
                <a:solidFill>
                  <a:srgbClr val="1E293A"/>
                </a:solidFill>
                <a:latin typeface="Times New Roman"/>
                <a:cs typeface="Times New Roman"/>
              </a:rPr>
              <a:t>Outcomes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4748529" y="2599689"/>
            <a:ext cx="424180" cy="332740"/>
          </a:xfrm>
          <a:prstGeom prst="rect">
            <a:avLst/>
          </a:prstGeom>
          <a:solidFill>
            <a:srgbClr val="0D7490"/>
          </a:solidFill>
          <a:ln w="3175">
            <a:solidFill>
              <a:srgbClr val="0D7490"/>
            </a:solidFill>
          </a:ln>
        </p:spPr>
        <p:txBody>
          <a:bodyPr vert="horz" wrap="square" lIns="0" tIns="79375" rIns="0" bIns="0" rtlCol="0">
            <a:spAutoFit/>
          </a:bodyPr>
          <a:lstStyle/>
          <a:p>
            <a:pPr marL="142875">
              <a:lnSpc>
                <a:spcPct val="100000"/>
              </a:lnSpc>
              <a:spcBef>
                <a:spcPts val="625"/>
              </a:spcBef>
            </a:pPr>
            <a:r>
              <a:rPr sz="1100" b="1" spc="-25" dirty="0">
                <a:solidFill>
                  <a:srgbClr val="FFFFFF"/>
                </a:solidFill>
                <a:latin typeface="Times New Roman"/>
                <a:cs typeface="Times New Roman"/>
              </a:rPr>
              <a:t>11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5245989" y="2650616"/>
            <a:ext cx="1687830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spc="-10" dirty="0">
                <a:solidFill>
                  <a:srgbClr val="1E293A"/>
                </a:solidFill>
                <a:latin typeface="Times New Roman"/>
                <a:cs typeface="Times New Roman"/>
              </a:rPr>
              <a:t>Real-</a:t>
            </a:r>
            <a:r>
              <a:rPr sz="1300" dirty="0">
                <a:solidFill>
                  <a:srgbClr val="1E293A"/>
                </a:solidFill>
                <a:latin typeface="Times New Roman"/>
                <a:cs typeface="Times New Roman"/>
              </a:rPr>
              <a:t>World</a:t>
            </a:r>
            <a:r>
              <a:rPr sz="1300" spc="-5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300" spc="-10" dirty="0">
                <a:solidFill>
                  <a:srgbClr val="1E293A"/>
                </a:solidFill>
                <a:latin typeface="Times New Roman"/>
                <a:cs typeface="Times New Roman"/>
              </a:rPr>
              <a:t>Applications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4748529" y="3102610"/>
            <a:ext cx="424180" cy="332740"/>
          </a:xfrm>
          <a:prstGeom prst="rect">
            <a:avLst/>
          </a:prstGeom>
          <a:solidFill>
            <a:srgbClr val="0D7490"/>
          </a:solidFill>
          <a:ln w="3175">
            <a:solidFill>
              <a:srgbClr val="0D7490"/>
            </a:solidFill>
          </a:ln>
        </p:spPr>
        <p:txBody>
          <a:bodyPr vert="horz" wrap="square" lIns="0" tIns="79375" rIns="0" bIns="0" rtlCol="0">
            <a:spAutoFit/>
          </a:bodyPr>
          <a:lstStyle/>
          <a:p>
            <a:pPr marL="142875">
              <a:lnSpc>
                <a:spcPct val="100000"/>
              </a:lnSpc>
              <a:spcBef>
                <a:spcPts val="625"/>
              </a:spcBef>
            </a:pPr>
            <a:r>
              <a:rPr sz="1100" b="1" spc="-25" dirty="0">
                <a:solidFill>
                  <a:srgbClr val="FFFFFF"/>
                </a:solidFill>
                <a:latin typeface="Times New Roman"/>
                <a:cs typeface="Times New Roman"/>
              </a:rPr>
              <a:t>12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5245989" y="3153536"/>
            <a:ext cx="1708150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dirty="0">
                <a:solidFill>
                  <a:srgbClr val="1E293A"/>
                </a:solidFill>
                <a:latin typeface="Times New Roman"/>
                <a:cs typeface="Times New Roman"/>
              </a:rPr>
              <a:t>Conclusion</a:t>
            </a:r>
            <a:r>
              <a:rPr sz="1300" spc="-35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300" dirty="0">
                <a:solidFill>
                  <a:srgbClr val="1E293A"/>
                </a:solidFill>
                <a:latin typeface="Times New Roman"/>
                <a:cs typeface="Times New Roman"/>
              </a:rPr>
              <a:t>&amp;</a:t>
            </a:r>
            <a:r>
              <a:rPr sz="1300" spc="-65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300" dirty="0">
                <a:solidFill>
                  <a:srgbClr val="1E293A"/>
                </a:solidFill>
                <a:latin typeface="Times New Roman"/>
                <a:cs typeface="Times New Roman"/>
              </a:rPr>
              <a:t>Thank</a:t>
            </a:r>
            <a:r>
              <a:rPr sz="1300" spc="-70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300" spc="-25" dirty="0">
                <a:solidFill>
                  <a:srgbClr val="1E293A"/>
                </a:solidFill>
                <a:latin typeface="Times New Roman"/>
                <a:cs typeface="Times New Roman"/>
              </a:rPr>
              <a:t>You</a:t>
            </a:r>
            <a:endParaRPr sz="13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Introduction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44500" y="670305"/>
            <a:ext cx="2796540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i="1" dirty="0">
                <a:solidFill>
                  <a:srgbClr val="0891B1"/>
                </a:solidFill>
                <a:latin typeface="Times New Roman"/>
                <a:cs typeface="Times New Roman"/>
              </a:rPr>
              <a:t>Enterprise</a:t>
            </a:r>
            <a:r>
              <a:rPr sz="1300" i="1" spc="-65" dirty="0">
                <a:solidFill>
                  <a:srgbClr val="0891B1"/>
                </a:solidFill>
                <a:latin typeface="Times New Roman"/>
                <a:cs typeface="Times New Roman"/>
              </a:rPr>
              <a:t> </a:t>
            </a:r>
            <a:r>
              <a:rPr sz="1300" i="1" dirty="0">
                <a:solidFill>
                  <a:srgbClr val="0891B1"/>
                </a:solidFill>
                <a:latin typeface="Times New Roman"/>
                <a:cs typeface="Times New Roman"/>
              </a:rPr>
              <a:t>Inventory</a:t>
            </a:r>
            <a:r>
              <a:rPr sz="1300" i="1" spc="-50" dirty="0">
                <a:solidFill>
                  <a:srgbClr val="0891B1"/>
                </a:solidFill>
                <a:latin typeface="Times New Roman"/>
                <a:cs typeface="Times New Roman"/>
              </a:rPr>
              <a:t> </a:t>
            </a:r>
            <a:r>
              <a:rPr sz="1300" i="1" dirty="0">
                <a:solidFill>
                  <a:srgbClr val="0891B1"/>
                </a:solidFill>
                <a:latin typeface="Times New Roman"/>
                <a:cs typeface="Times New Roman"/>
              </a:rPr>
              <a:t>Management</a:t>
            </a:r>
            <a:r>
              <a:rPr sz="1300" i="1" spc="-40" dirty="0">
                <a:solidFill>
                  <a:srgbClr val="0891B1"/>
                </a:solidFill>
                <a:latin typeface="Times New Roman"/>
                <a:cs typeface="Times New Roman"/>
              </a:rPr>
              <a:t> </a:t>
            </a:r>
            <a:r>
              <a:rPr sz="1300" i="1" spc="-10" dirty="0">
                <a:solidFill>
                  <a:srgbClr val="0891B1"/>
                </a:solidFill>
                <a:latin typeface="Times New Roman"/>
                <a:cs typeface="Times New Roman"/>
              </a:rPr>
              <a:t>System</a:t>
            </a:r>
            <a:endParaRPr sz="1300">
              <a:latin typeface="Times New Roman"/>
              <a:cs typeface="Times New Roman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37160" y="969263"/>
            <a:ext cx="5333365" cy="3778885"/>
            <a:chOff x="137160" y="969263"/>
            <a:chExt cx="5333365" cy="377888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7160" y="969263"/>
              <a:ext cx="5333238" cy="3778758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274320" y="1463040"/>
              <a:ext cx="5120640" cy="3154680"/>
            </a:xfrm>
            <a:custGeom>
              <a:avLst/>
              <a:gdLst/>
              <a:ahLst/>
              <a:cxnLst/>
              <a:rect l="l" t="t" r="r" b="b"/>
              <a:pathLst>
                <a:path w="5120640" h="3154679">
                  <a:moveTo>
                    <a:pt x="0" y="3154680"/>
                  </a:moveTo>
                  <a:lnTo>
                    <a:pt x="5120640" y="3154680"/>
                  </a:lnTo>
                  <a:lnTo>
                    <a:pt x="5120640" y="0"/>
                  </a:lnTo>
                  <a:lnTo>
                    <a:pt x="0" y="0"/>
                  </a:lnTo>
                  <a:lnTo>
                    <a:pt x="0" y="315468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74320" y="1051559"/>
              <a:ext cx="5120640" cy="3566160"/>
            </a:xfrm>
            <a:custGeom>
              <a:avLst/>
              <a:gdLst/>
              <a:ahLst/>
              <a:cxnLst/>
              <a:rect l="l" t="t" r="r" b="b"/>
              <a:pathLst>
                <a:path w="5120640" h="3566160">
                  <a:moveTo>
                    <a:pt x="0" y="3566160"/>
                  </a:moveTo>
                  <a:lnTo>
                    <a:pt x="5120640" y="3566160"/>
                  </a:lnTo>
                  <a:lnTo>
                    <a:pt x="5120640" y="0"/>
                  </a:lnTo>
                  <a:lnTo>
                    <a:pt x="0" y="0"/>
                  </a:lnTo>
                  <a:lnTo>
                    <a:pt x="0" y="3566160"/>
                  </a:lnTo>
                  <a:close/>
                </a:path>
              </a:pathLst>
            </a:custGeom>
            <a:ln w="12700">
              <a:solidFill>
                <a:srgbClr val="E1E8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74320" y="1051559"/>
              <a:ext cx="5120640" cy="411480"/>
            </a:xfrm>
            <a:custGeom>
              <a:avLst/>
              <a:gdLst/>
              <a:ahLst/>
              <a:cxnLst/>
              <a:rect l="l" t="t" r="r" b="b"/>
              <a:pathLst>
                <a:path w="5120640" h="411480">
                  <a:moveTo>
                    <a:pt x="5120640" y="0"/>
                  </a:moveTo>
                  <a:lnTo>
                    <a:pt x="0" y="0"/>
                  </a:lnTo>
                  <a:lnTo>
                    <a:pt x="0" y="411479"/>
                  </a:lnTo>
                  <a:lnTo>
                    <a:pt x="5120640" y="411479"/>
                  </a:lnTo>
                  <a:lnTo>
                    <a:pt x="5120640" y="0"/>
                  </a:lnTo>
                  <a:close/>
                </a:path>
              </a:pathLst>
            </a:custGeom>
            <a:solidFill>
              <a:srgbClr val="0891B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74320" y="1051559"/>
              <a:ext cx="5120640" cy="411480"/>
            </a:xfrm>
            <a:custGeom>
              <a:avLst/>
              <a:gdLst/>
              <a:ahLst/>
              <a:cxnLst/>
              <a:rect l="l" t="t" r="r" b="b"/>
              <a:pathLst>
                <a:path w="5120640" h="411480">
                  <a:moveTo>
                    <a:pt x="0" y="411479"/>
                  </a:moveTo>
                  <a:lnTo>
                    <a:pt x="5120640" y="411479"/>
                  </a:lnTo>
                  <a:lnTo>
                    <a:pt x="5120640" y="0"/>
                  </a:lnTo>
                  <a:lnTo>
                    <a:pt x="0" y="0"/>
                  </a:lnTo>
                  <a:lnTo>
                    <a:pt x="0" y="411479"/>
                  </a:lnTo>
                  <a:close/>
                </a:path>
              </a:pathLst>
            </a:custGeom>
            <a:ln w="12700">
              <a:solidFill>
                <a:srgbClr val="0891B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307340" y="1132077"/>
            <a:ext cx="1357630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dirty="0">
                <a:solidFill>
                  <a:srgbClr val="FFFFFF"/>
                </a:solidFill>
                <a:latin typeface="Times New Roman"/>
                <a:cs typeface="Times New Roman"/>
              </a:rPr>
              <a:t>Project</a:t>
            </a:r>
            <a:r>
              <a:rPr sz="1400" b="1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Overview</a:t>
            </a:r>
            <a:endParaRPr sz="1400">
              <a:latin typeface="Times New Roman"/>
              <a:cs typeface="Times New Roman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368554" y="969225"/>
            <a:ext cx="8576945" cy="2933065"/>
            <a:chOff x="368554" y="969225"/>
            <a:chExt cx="8576945" cy="2933065"/>
          </a:xfrm>
        </p:grpSpPr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68554" y="1749298"/>
              <a:ext cx="177291" cy="177291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68554" y="2407666"/>
              <a:ext cx="177291" cy="177291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68554" y="3066033"/>
              <a:ext cx="177291" cy="177292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68554" y="3724401"/>
              <a:ext cx="177291" cy="177291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486400" y="969225"/>
              <a:ext cx="3458717" cy="962444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5678424" y="1051560"/>
              <a:ext cx="3191510" cy="749935"/>
            </a:xfrm>
            <a:custGeom>
              <a:avLst/>
              <a:gdLst/>
              <a:ahLst/>
              <a:cxnLst/>
              <a:rect l="l" t="t" r="r" b="b"/>
              <a:pathLst>
                <a:path w="3191509" h="749935">
                  <a:moveTo>
                    <a:pt x="0" y="749808"/>
                  </a:moveTo>
                  <a:lnTo>
                    <a:pt x="3191255" y="749808"/>
                  </a:lnTo>
                  <a:lnTo>
                    <a:pt x="3191255" y="0"/>
                  </a:lnTo>
                  <a:lnTo>
                    <a:pt x="0" y="0"/>
                  </a:lnTo>
                  <a:lnTo>
                    <a:pt x="0" y="74980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5623559" y="1051560"/>
              <a:ext cx="3246120" cy="749935"/>
            </a:xfrm>
            <a:custGeom>
              <a:avLst/>
              <a:gdLst/>
              <a:ahLst/>
              <a:cxnLst/>
              <a:rect l="l" t="t" r="r" b="b"/>
              <a:pathLst>
                <a:path w="3246120" h="749935">
                  <a:moveTo>
                    <a:pt x="0" y="749808"/>
                  </a:moveTo>
                  <a:lnTo>
                    <a:pt x="3246119" y="749808"/>
                  </a:lnTo>
                  <a:lnTo>
                    <a:pt x="3246119" y="0"/>
                  </a:lnTo>
                  <a:lnTo>
                    <a:pt x="0" y="0"/>
                  </a:lnTo>
                  <a:lnTo>
                    <a:pt x="0" y="749808"/>
                  </a:lnTo>
                  <a:close/>
                </a:path>
              </a:pathLst>
            </a:custGeom>
            <a:ln w="12699">
              <a:solidFill>
                <a:srgbClr val="E1E8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5623559" y="1051560"/>
              <a:ext cx="55244" cy="749935"/>
            </a:xfrm>
            <a:custGeom>
              <a:avLst/>
              <a:gdLst/>
              <a:ahLst/>
              <a:cxnLst/>
              <a:rect l="l" t="t" r="r" b="b"/>
              <a:pathLst>
                <a:path w="55245" h="749935">
                  <a:moveTo>
                    <a:pt x="54863" y="0"/>
                  </a:moveTo>
                  <a:lnTo>
                    <a:pt x="0" y="0"/>
                  </a:lnTo>
                  <a:lnTo>
                    <a:pt x="0" y="749808"/>
                  </a:lnTo>
                  <a:lnTo>
                    <a:pt x="54863" y="749808"/>
                  </a:lnTo>
                  <a:lnTo>
                    <a:pt x="54863" y="0"/>
                  </a:lnTo>
                  <a:close/>
                </a:path>
              </a:pathLst>
            </a:custGeom>
            <a:solidFill>
              <a:srgbClr val="0891B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5623559" y="1051560"/>
              <a:ext cx="55244" cy="749935"/>
            </a:xfrm>
            <a:custGeom>
              <a:avLst/>
              <a:gdLst/>
              <a:ahLst/>
              <a:cxnLst/>
              <a:rect l="l" t="t" r="r" b="b"/>
              <a:pathLst>
                <a:path w="55245" h="749935">
                  <a:moveTo>
                    <a:pt x="0" y="749808"/>
                  </a:moveTo>
                  <a:lnTo>
                    <a:pt x="54863" y="749808"/>
                  </a:lnTo>
                  <a:lnTo>
                    <a:pt x="54863" y="0"/>
                  </a:lnTo>
                  <a:lnTo>
                    <a:pt x="0" y="0"/>
                  </a:lnTo>
                  <a:lnTo>
                    <a:pt x="0" y="749808"/>
                  </a:lnTo>
                  <a:close/>
                </a:path>
              </a:pathLst>
            </a:custGeom>
            <a:ln w="12699">
              <a:solidFill>
                <a:srgbClr val="0891B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609091" y="1633854"/>
            <a:ext cx="445008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1E293A"/>
                </a:solidFill>
                <a:latin typeface="Times New Roman"/>
                <a:cs typeface="Times New Roman"/>
              </a:rPr>
              <a:t>A</a:t>
            </a:r>
            <a:r>
              <a:rPr sz="1200" spc="-75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E293A"/>
                </a:solidFill>
                <a:latin typeface="Times New Roman"/>
                <a:cs typeface="Times New Roman"/>
              </a:rPr>
              <a:t>robust,</a:t>
            </a:r>
            <a:r>
              <a:rPr sz="1200" spc="-70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200" spc="-10" dirty="0">
                <a:solidFill>
                  <a:srgbClr val="1E293A"/>
                </a:solidFill>
                <a:latin typeface="Times New Roman"/>
                <a:cs typeface="Times New Roman"/>
              </a:rPr>
              <a:t>full-</a:t>
            </a:r>
            <a:r>
              <a:rPr sz="1200" dirty="0">
                <a:solidFill>
                  <a:srgbClr val="1E293A"/>
                </a:solidFill>
                <a:latin typeface="Times New Roman"/>
                <a:cs typeface="Times New Roman"/>
              </a:rPr>
              <a:t>stack</a:t>
            </a:r>
            <a:r>
              <a:rPr sz="1200" spc="-10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E293A"/>
                </a:solidFill>
                <a:latin typeface="Times New Roman"/>
                <a:cs typeface="Times New Roman"/>
              </a:rPr>
              <a:t>Enterprise</a:t>
            </a:r>
            <a:r>
              <a:rPr sz="1200" spc="-20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E293A"/>
                </a:solidFill>
                <a:latin typeface="Times New Roman"/>
                <a:cs typeface="Times New Roman"/>
              </a:rPr>
              <a:t>Inventory</a:t>
            </a:r>
            <a:r>
              <a:rPr sz="1200" spc="-15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E293A"/>
                </a:solidFill>
                <a:latin typeface="Times New Roman"/>
                <a:cs typeface="Times New Roman"/>
              </a:rPr>
              <a:t>Management</a:t>
            </a:r>
            <a:r>
              <a:rPr sz="1200" spc="5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E293A"/>
                </a:solidFill>
                <a:latin typeface="Times New Roman"/>
                <a:cs typeface="Times New Roman"/>
              </a:rPr>
              <a:t>System</a:t>
            </a:r>
            <a:r>
              <a:rPr sz="1200" spc="-25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E293A"/>
                </a:solidFill>
                <a:latin typeface="Times New Roman"/>
                <a:cs typeface="Times New Roman"/>
              </a:rPr>
              <a:t>built</a:t>
            </a:r>
            <a:r>
              <a:rPr sz="1200" spc="-25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200" spc="-20" dirty="0">
                <a:solidFill>
                  <a:srgbClr val="1E293A"/>
                </a:solidFill>
                <a:latin typeface="Times New Roman"/>
                <a:cs typeface="Times New Roman"/>
              </a:rPr>
              <a:t>with </a:t>
            </a:r>
            <a:r>
              <a:rPr sz="1200" dirty="0">
                <a:solidFill>
                  <a:srgbClr val="1E293A"/>
                </a:solidFill>
                <a:latin typeface="Times New Roman"/>
                <a:cs typeface="Times New Roman"/>
              </a:rPr>
              <a:t>Java</a:t>
            </a:r>
            <a:r>
              <a:rPr sz="1200" spc="-40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E293A"/>
                </a:solidFill>
                <a:latin typeface="Times New Roman"/>
                <a:cs typeface="Times New Roman"/>
              </a:rPr>
              <a:t>Spring</a:t>
            </a:r>
            <a:r>
              <a:rPr sz="1200" spc="-40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E293A"/>
                </a:solidFill>
                <a:latin typeface="Times New Roman"/>
                <a:cs typeface="Times New Roman"/>
              </a:rPr>
              <a:t>Boot</a:t>
            </a:r>
            <a:r>
              <a:rPr sz="1200" spc="-25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E293A"/>
                </a:solidFill>
                <a:latin typeface="Times New Roman"/>
                <a:cs typeface="Times New Roman"/>
              </a:rPr>
              <a:t>and</a:t>
            </a:r>
            <a:r>
              <a:rPr sz="1200" spc="-50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E293A"/>
                </a:solidFill>
                <a:latin typeface="Times New Roman"/>
                <a:cs typeface="Times New Roman"/>
              </a:rPr>
              <a:t>Thymeleaf</a:t>
            </a:r>
            <a:r>
              <a:rPr sz="1200" spc="15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E293A"/>
                </a:solidFill>
                <a:latin typeface="Times New Roman"/>
                <a:cs typeface="Times New Roman"/>
              </a:rPr>
              <a:t>that</a:t>
            </a:r>
            <a:r>
              <a:rPr sz="1200" spc="-25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E293A"/>
                </a:solidFill>
                <a:latin typeface="Times New Roman"/>
                <a:cs typeface="Times New Roman"/>
              </a:rPr>
              <a:t>streamlines</a:t>
            </a:r>
            <a:r>
              <a:rPr sz="1200" spc="-20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E293A"/>
                </a:solidFill>
                <a:latin typeface="Times New Roman"/>
                <a:cs typeface="Times New Roman"/>
              </a:rPr>
              <a:t>business</a:t>
            </a:r>
            <a:r>
              <a:rPr sz="1200" spc="-35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200" spc="-10" dirty="0">
                <a:solidFill>
                  <a:srgbClr val="1E293A"/>
                </a:solidFill>
                <a:latin typeface="Times New Roman"/>
                <a:cs typeface="Times New Roman"/>
              </a:rPr>
              <a:t>operations.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609091" y="2292223"/>
            <a:ext cx="446722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1E293A"/>
                </a:solidFill>
                <a:latin typeface="Times New Roman"/>
                <a:cs typeface="Times New Roman"/>
              </a:rPr>
              <a:t>Handles</a:t>
            </a:r>
            <a:r>
              <a:rPr sz="1200" spc="-40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200" spc="-10" dirty="0">
                <a:solidFill>
                  <a:srgbClr val="1E293A"/>
                </a:solidFill>
                <a:latin typeface="Times New Roman"/>
                <a:cs typeface="Times New Roman"/>
              </a:rPr>
              <a:t>end-to-</a:t>
            </a:r>
            <a:r>
              <a:rPr sz="1200" dirty="0">
                <a:solidFill>
                  <a:srgbClr val="1E293A"/>
                </a:solidFill>
                <a:latin typeface="Times New Roman"/>
                <a:cs typeface="Times New Roman"/>
              </a:rPr>
              <a:t>end</a:t>
            </a:r>
            <a:r>
              <a:rPr sz="1200" spc="-25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E293A"/>
                </a:solidFill>
                <a:latin typeface="Times New Roman"/>
                <a:cs typeface="Times New Roman"/>
              </a:rPr>
              <a:t>inventory</a:t>
            </a:r>
            <a:r>
              <a:rPr sz="1200" spc="-25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E293A"/>
                </a:solidFill>
                <a:latin typeface="Times New Roman"/>
                <a:cs typeface="Times New Roman"/>
              </a:rPr>
              <a:t>lifecycle:</a:t>
            </a:r>
            <a:r>
              <a:rPr sz="1200" spc="10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E293A"/>
                </a:solidFill>
                <a:latin typeface="Times New Roman"/>
                <a:cs typeface="Times New Roman"/>
              </a:rPr>
              <a:t>product</a:t>
            </a:r>
            <a:r>
              <a:rPr sz="1200" spc="-35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E293A"/>
                </a:solidFill>
                <a:latin typeface="Times New Roman"/>
                <a:cs typeface="Times New Roman"/>
              </a:rPr>
              <a:t>creation,</a:t>
            </a:r>
            <a:r>
              <a:rPr sz="1200" spc="-15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E293A"/>
                </a:solidFill>
                <a:latin typeface="Times New Roman"/>
                <a:cs typeface="Times New Roman"/>
              </a:rPr>
              <a:t>stock</a:t>
            </a:r>
            <a:r>
              <a:rPr sz="1200" spc="-35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200" spc="-10" dirty="0">
                <a:solidFill>
                  <a:srgbClr val="1E293A"/>
                </a:solidFill>
                <a:latin typeface="Times New Roman"/>
                <a:cs typeface="Times New Roman"/>
              </a:rPr>
              <a:t>tracking,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200" dirty="0">
                <a:solidFill>
                  <a:srgbClr val="252525"/>
                </a:solidFill>
                <a:latin typeface="Times New Roman"/>
                <a:cs typeface="Times New Roman"/>
              </a:rPr>
              <a:t>product</a:t>
            </a:r>
            <a:r>
              <a:rPr sz="1200" spc="-4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252525"/>
                </a:solidFill>
                <a:latin typeface="Times New Roman"/>
                <a:cs typeface="Times New Roman"/>
              </a:rPr>
              <a:t>management, stock</a:t>
            </a:r>
            <a:r>
              <a:rPr sz="1200" spc="-4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252525"/>
                </a:solidFill>
                <a:latin typeface="Times New Roman"/>
                <a:cs typeface="Times New Roman"/>
              </a:rPr>
              <a:t>tracking,</a:t>
            </a:r>
            <a:r>
              <a:rPr sz="1200" spc="-2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252525"/>
                </a:solidFill>
                <a:latin typeface="Times New Roman"/>
                <a:cs typeface="Times New Roman"/>
              </a:rPr>
              <a:t>reporting</a:t>
            </a:r>
            <a:r>
              <a:rPr sz="1200" spc="-2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252525"/>
                </a:solidFill>
                <a:latin typeface="Times New Roman"/>
                <a:cs typeface="Times New Roman"/>
              </a:rPr>
              <a:t>and</a:t>
            </a:r>
            <a:r>
              <a:rPr sz="1200" spc="-4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252525"/>
                </a:solidFill>
                <a:latin typeface="Times New Roman"/>
                <a:cs typeface="Times New Roman"/>
              </a:rPr>
              <a:t>dashboard</a:t>
            </a:r>
            <a:r>
              <a:rPr sz="1200" spc="-4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200" spc="-10" dirty="0">
                <a:solidFill>
                  <a:srgbClr val="252525"/>
                </a:solidFill>
                <a:latin typeface="Times New Roman"/>
                <a:cs typeface="Times New Roman"/>
              </a:rPr>
              <a:t>analytics.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609091" y="2950845"/>
            <a:ext cx="435038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1E293A"/>
                </a:solidFill>
                <a:latin typeface="Times New Roman"/>
                <a:cs typeface="Times New Roman"/>
              </a:rPr>
              <a:t>Designed</a:t>
            </a:r>
            <a:r>
              <a:rPr sz="1200" spc="-15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E293A"/>
                </a:solidFill>
                <a:latin typeface="Times New Roman"/>
                <a:cs typeface="Times New Roman"/>
              </a:rPr>
              <a:t>for</a:t>
            </a:r>
            <a:r>
              <a:rPr sz="1200" spc="-35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200" spc="-10" dirty="0">
                <a:solidFill>
                  <a:srgbClr val="1E293A"/>
                </a:solidFill>
                <a:latin typeface="Times New Roman"/>
                <a:cs typeface="Times New Roman"/>
              </a:rPr>
              <a:t>real-</a:t>
            </a:r>
            <a:r>
              <a:rPr sz="1200" dirty="0">
                <a:solidFill>
                  <a:srgbClr val="1E293A"/>
                </a:solidFill>
                <a:latin typeface="Times New Roman"/>
                <a:cs typeface="Times New Roman"/>
              </a:rPr>
              <a:t>world</a:t>
            </a:r>
            <a:r>
              <a:rPr sz="1200" spc="-5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E293A"/>
                </a:solidFill>
                <a:latin typeface="Times New Roman"/>
                <a:cs typeface="Times New Roman"/>
              </a:rPr>
              <a:t>enterprise</a:t>
            </a:r>
            <a:r>
              <a:rPr sz="1200" spc="-5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E293A"/>
                </a:solidFill>
                <a:latin typeface="Times New Roman"/>
                <a:cs typeface="Times New Roman"/>
              </a:rPr>
              <a:t>use</a:t>
            </a:r>
            <a:r>
              <a:rPr sz="1200" spc="-30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E293A"/>
                </a:solidFill>
                <a:latin typeface="Times New Roman"/>
                <a:cs typeface="Times New Roman"/>
              </a:rPr>
              <a:t>with</a:t>
            </a:r>
            <a:r>
              <a:rPr sz="1200" spc="-30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E293A"/>
                </a:solidFill>
                <a:latin typeface="Times New Roman"/>
                <a:cs typeface="Times New Roman"/>
              </a:rPr>
              <a:t>MVC</a:t>
            </a:r>
            <a:r>
              <a:rPr sz="1200" spc="-45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E293A"/>
                </a:solidFill>
                <a:latin typeface="Times New Roman"/>
                <a:cs typeface="Times New Roman"/>
              </a:rPr>
              <a:t>architecture,</a:t>
            </a:r>
            <a:r>
              <a:rPr sz="1200" spc="15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200" spc="-10" dirty="0">
                <a:solidFill>
                  <a:srgbClr val="1E293A"/>
                </a:solidFill>
                <a:latin typeface="Times New Roman"/>
                <a:cs typeface="Times New Roman"/>
              </a:rPr>
              <a:t>layered </a:t>
            </a:r>
            <a:r>
              <a:rPr sz="1200" dirty="0">
                <a:solidFill>
                  <a:srgbClr val="1E293A"/>
                </a:solidFill>
                <a:latin typeface="Times New Roman"/>
                <a:cs typeface="Times New Roman"/>
              </a:rPr>
              <a:t>service</a:t>
            </a:r>
            <a:r>
              <a:rPr sz="1200" spc="-25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E293A"/>
                </a:solidFill>
                <a:latin typeface="Times New Roman"/>
                <a:cs typeface="Times New Roman"/>
              </a:rPr>
              <a:t>design,</a:t>
            </a:r>
            <a:r>
              <a:rPr sz="1200" spc="-15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E293A"/>
                </a:solidFill>
                <a:latin typeface="Times New Roman"/>
                <a:cs typeface="Times New Roman"/>
              </a:rPr>
              <a:t>and</a:t>
            </a:r>
            <a:r>
              <a:rPr sz="1200" spc="-25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E293A"/>
                </a:solidFill>
                <a:latin typeface="Times New Roman"/>
                <a:cs typeface="Times New Roman"/>
              </a:rPr>
              <a:t>database</a:t>
            </a:r>
            <a:r>
              <a:rPr sz="1200" spc="-20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200" spc="-10" dirty="0">
                <a:solidFill>
                  <a:srgbClr val="1E293A"/>
                </a:solidFill>
                <a:latin typeface="Times New Roman"/>
                <a:cs typeface="Times New Roman"/>
              </a:rPr>
              <a:t>integrity.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609091" y="3609594"/>
            <a:ext cx="464312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1E293A"/>
                </a:solidFill>
                <a:latin typeface="Times New Roman"/>
                <a:cs typeface="Times New Roman"/>
              </a:rPr>
              <a:t>The</a:t>
            </a:r>
            <a:r>
              <a:rPr sz="1200" spc="-35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E293A"/>
                </a:solidFill>
                <a:latin typeface="Times New Roman"/>
                <a:cs typeface="Times New Roman"/>
              </a:rPr>
              <a:t>system</a:t>
            </a:r>
            <a:r>
              <a:rPr sz="1200" spc="-10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E293A"/>
                </a:solidFill>
                <a:latin typeface="Times New Roman"/>
                <a:cs typeface="Times New Roman"/>
              </a:rPr>
              <a:t>simulates</a:t>
            </a:r>
            <a:r>
              <a:rPr sz="1200" spc="-20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E293A"/>
                </a:solidFill>
                <a:latin typeface="Times New Roman"/>
                <a:cs typeface="Times New Roman"/>
              </a:rPr>
              <a:t>realistic</a:t>
            </a:r>
            <a:r>
              <a:rPr sz="1200" spc="-25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E293A"/>
                </a:solidFill>
                <a:latin typeface="Times New Roman"/>
                <a:cs typeface="Times New Roman"/>
              </a:rPr>
              <a:t>business</a:t>
            </a:r>
            <a:r>
              <a:rPr sz="1200" spc="-45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E293A"/>
                </a:solidFill>
                <a:latin typeface="Times New Roman"/>
                <a:cs typeface="Times New Roman"/>
              </a:rPr>
              <a:t>scenarios</a:t>
            </a:r>
            <a:r>
              <a:rPr sz="1200" spc="-20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E293A"/>
                </a:solidFill>
                <a:latin typeface="Times New Roman"/>
                <a:cs typeface="Times New Roman"/>
              </a:rPr>
              <a:t>including</a:t>
            </a:r>
            <a:r>
              <a:rPr sz="1200" spc="-30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E293A"/>
                </a:solidFill>
                <a:latin typeface="Times New Roman"/>
                <a:cs typeface="Times New Roman"/>
              </a:rPr>
              <a:t>stock</a:t>
            </a:r>
            <a:r>
              <a:rPr sz="1200" spc="-40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200" spc="-10" dirty="0">
                <a:solidFill>
                  <a:srgbClr val="1E293A"/>
                </a:solidFill>
                <a:latin typeface="Times New Roman"/>
                <a:cs typeface="Times New Roman"/>
              </a:rPr>
              <a:t>depletion, </a:t>
            </a:r>
            <a:r>
              <a:rPr sz="1200" dirty="0">
                <a:solidFill>
                  <a:srgbClr val="1E293A"/>
                </a:solidFill>
                <a:latin typeface="Times New Roman"/>
                <a:cs typeface="Times New Roman"/>
              </a:rPr>
              <a:t>reorder</a:t>
            </a:r>
            <a:r>
              <a:rPr sz="1200" spc="-5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E293A"/>
                </a:solidFill>
                <a:latin typeface="Times New Roman"/>
                <a:cs typeface="Times New Roman"/>
              </a:rPr>
              <a:t>triggers, and</a:t>
            </a:r>
            <a:r>
              <a:rPr sz="1200" spc="-20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E293A"/>
                </a:solidFill>
                <a:latin typeface="Times New Roman"/>
                <a:cs typeface="Times New Roman"/>
              </a:rPr>
              <a:t>risk</a:t>
            </a:r>
            <a:r>
              <a:rPr sz="1200" spc="-30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E293A"/>
                </a:solidFill>
                <a:latin typeface="Times New Roman"/>
                <a:cs typeface="Times New Roman"/>
              </a:rPr>
              <a:t>threshold</a:t>
            </a:r>
            <a:r>
              <a:rPr sz="1200" spc="-20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200" spc="-10" dirty="0">
                <a:solidFill>
                  <a:srgbClr val="1E293A"/>
                </a:solidFill>
                <a:latin typeface="Times New Roman"/>
                <a:cs typeface="Times New Roman"/>
              </a:rPr>
              <a:t>alerts.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5684773" y="1093544"/>
            <a:ext cx="3178810" cy="600075"/>
          </a:xfrm>
          <a:prstGeom prst="rect">
            <a:avLst/>
          </a:prstGeom>
        </p:spPr>
        <p:txBody>
          <a:bodyPr vert="horz" wrap="square" lIns="0" tIns="59690" rIns="0" bIns="0" rtlCol="0">
            <a:spAutoFit/>
          </a:bodyPr>
          <a:lstStyle/>
          <a:p>
            <a:pPr marL="76835">
              <a:lnSpc>
                <a:spcPct val="100000"/>
              </a:lnSpc>
              <a:spcBef>
                <a:spcPts val="470"/>
              </a:spcBef>
            </a:pPr>
            <a:r>
              <a:rPr sz="2200" b="1" spc="-25" dirty="0">
                <a:solidFill>
                  <a:srgbClr val="0891B1"/>
                </a:solidFill>
                <a:latin typeface="Times New Roman"/>
                <a:cs typeface="Times New Roman"/>
              </a:rPr>
              <a:t>MVC</a:t>
            </a:r>
            <a:endParaRPr sz="2200">
              <a:latin typeface="Times New Roman"/>
              <a:cs typeface="Times New Roman"/>
            </a:endParaRPr>
          </a:p>
          <a:p>
            <a:pPr marL="76835">
              <a:lnSpc>
                <a:spcPct val="100000"/>
              </a:lnSpc>
              <a:spcBef>
                <a:spcPts val="190"/>
              </a:spcBef>
            </a:pPr>
            <a:r>
              <a:rPr sz="1100" dirty="0">
                <a:solidFill>
                  <a:srgbClr val="93A2B8"/>
                </a:solidFill>
                <a:latin typeface="Times New Roman"/>
                <a:cs typeface="Times New Roman"/>
              </a:rPr>
              <a:t>Architecture</a:t>
            </a:r>
            <a:r>
              <a:rPr sz="1100" spc="-70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100" spc="-10" dirty="0">
                <a:solidFill>
                  <a:srgbClr val="93A2B8"/>
                </a:solidFill>
                <a:latin typeface="Times New Roman"/>
                <a:cs typeface="Times New Roman"/>
              </a:rPr>
              <a:t>Pattern</a:t>
            </a:r>
            <a:endParaRPr sz="1100">
              <a:latin typeface="Times New Roman"/>
              <a:cs typeface="Times New Roman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5486400" y="1865337"/>
            <a:ext cx="3458845" cy="962660"/>
            <a:chOff x="5486400" y="1865337"/>
            <a:chExt cx="3458845" cy="962660"/>
          </a:xfrm>
        </p:grpSpPr>
        <p:pic>
          <p:nvPicPr>
            <p:cNvPr id="27" name="object 2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486400" y="1865337"/>
              <a:ext cx="3458717" cy="962444"/>
            </a:xfrm>
            <a:prstGeom prst="rect">
              <a:avLst/>
            </a:prstGeom>
          </p:spPr>
        </p:pic>
        <p:sp>
          <p:nvSpPr>
            <p:cNvPr id="28" name="object 28"/>
            <p:cNvSpPr/>
            <p:nvPr/>
          </p:nvSpPr>
          <p:spPr>
            <a:xfrm>
              <a:off x="5678423" y="1947671"/>
              <a:ext cx="3191510" cy="749935"/>
            </a:xfrm>
            <a:custGeom>
              <a:avLst/>
              <a:gdLst/>
              <a:ahLst/>
              <a:cxnLst/>
              <a:rect l="l" t="t" r="r" b="b"/>
              <a:pathLst>
                <a:path w="3191509" h="749935">
                  <a:moveTo>
                    <a:pt x="0" y="749807"/>
                  </a:moveTo>
                  <a:lnTo>
                    <a:pt x="3191255" y="749807"/>
                  </a:lnTo>
                  <a:lnTo>
                    <a:pt x="3191255" y="0"/>
                  </a:lnTo>
                  <a:lnTo>
                    <a:pt x="0" y="0"/>
                  </a:lnTo>
                  <a:lnTo>
                    <a:pt x="0" y="74980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5623560" y="1947671"/>
              <a:ext cx="3246120" cy="749935"/>
            </a:xfrm>
            <a:custGeom>
              <a:avLst/>
              <a:gdLst/>
              <a:ahLst/>
              <a:cxnLst/>
              <a:rect l="l" t="t" r="r" b="b"/>
              <a:pathLst>
                <a:path w="3246120" h="749935">
                  <a:moveTo>
                    <a:pt x="0" y="749807"/>
                  </a:moveTo>
                  <a:lnTo>
                    <a:pt x="3246119" y="749807"/>
                  </a:lnTo>
                  <a:lnTo>
                    <a:pt x="3246119" y="0"/>
                  </a:lnTo>
                  <a:lnTo>
                    <a:pt x="0" y="0"/>
                  </a:lnTo>
                  <a:lnTo>
                    <a:pt x="0" y="749807"/>
                  </a:lnTo>
                  <a:close/>
                </a:path>
              </a:pathLst>
            </a:custGeom>
            <a:ln w="12699">
              <a:solidFill>
                <a:srgbClr val="E1E8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5623560" y="1947671"/>
              <a:ext cx="55244" cy="749935"/>
            </a:xfrm>
            <a:custGeom>
              <a:avLst/>
              <a:gdLst/>
              <a:ahLst/>
              <a:cxnLst/>
              <a:rect l="l" t="t" r="r" b="b"/>
              <a:pathLst>
                <a:path w="55245" h="749935">
                  <a:moveTo>
                    <a:pt x="54863" y="0"/>
                  </a:moveTo>
                  <a:lnTo>
                    <a:pt x="0" y="0"/>
                  </a:lnTo>
                  <a:lnTo>
                    <a:pt x="0" y="749807"/>
                  </a:lnTo>
                  <a:lnTo>
                    <a:pt x="54863" y="749807"/>
                  </a:lnTo>
                  <a:lnTo>
                    <a:pt x="54863" y="0"/>
                  </a:lnTo>
                  <a:close/>
                </a:path>
              </a:pathLst>
            </a:custGeom>
            <a:solidFill>
              <a:srgbClr val="8A5C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5623560" y="1947671"/>
              <a:ext cx="55244" cy="749935"/>
            </a:xfrm>
            <a:custGeom>
              <a:avLst/>
              <a:gdLst/>
              <a:ahLst/>
              <a:cxnLst/>
              <a:rect l="l" t="t" r="r" b="b"/>
              <a:pathLst>
                <a:path w="55245" h="749935">
                  <a:moveTo>
                    <a:pt x="0" y="749807"/>
                  </a:moveTo>
                  <a:lnTo>
                    <a:pt x="54863" y="749807"/>
                  </a:lnTo>
                  <a:lnTo>
                    <a:pt x="54863" y="0"/>
                  </a:lnTo>
                  <a:lnTo>
                    <a:pt x="0" y="0"/>
                  </a:lnTo>
                  <a:lnTo>
                    <a:pt x="0" y="749807"/>
                  </a:lnTo>
                  <a:close/>
                </a:path>
              </a:pathLst>
            </a:custGeom>
            <a:ln w="12699">
              <a:solidFill>
                <a:srgbClr val="8A5CF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2" name="object 32"/>
          <p:cNvSpPr txBox="1"/>
          <p:nvPr/>
        </p:nvSpPr>
        <p:spPr>
          <a:xfrm>
            <a:off x="5684773" y="1991737"/>
            <a:ext cx="3178810" cy="598170"/>
          </a:xfrm>
          <a:prstGeom prst="rect">
            <a:avLst/>
          </a:prstGeom>
        </p:spPr>
        <p:txBody>
          <a:bodyPr vert="horz" wrap="square" lIns="0" tIns="57785" rIns="0" bIns="0" rtlCol="0">
            <a:spAutoFit/>
          </a:bodyPr>
          <a:lstStyle/>
          <a:p>
            <a:pPr marL="76835">
              <a:lnSpc>
                <a:spcPct val="100000"/>
              </a:lnSpc>
              <a:spcBef>
                <a:spcPts val="455"/>
              </a:spcBef>
            </a:pPr>
            <a:r>
              <a:rPr sz="2200" b="1" dirty="0">
                <a:solidFill>
                  <a:srgbClr val="8A5CF6"/>
                </a:solidFill>
                <a:latin typeface="Times New Roman"/>
                <a:cs typeface="Times New Roman"/>
              </a:rPr>
              <a:t>Spring</a:t>
            </a:r>
            <a:r>
              <a:rPr sz="2200" b="1" spc="-80" dirty="0">
                <a:solidFill>
                  <a:srgbClr val="8A5CF6"/>
                </a:solidFill>
                <a:latin typeface="Times New Roman"/>
                <a:cs typeface="Times New Roman"/>
              </a:rPr>
              <a:t> </a:t>
            </a:r>
            <a:r>
              <a:rPr sz="2200" b="1" spc="-25" dirty="0">
                <a:solidFill>
                  <a:srgbClr val="8A5CF6"/>
                </a:solidFill>
                <a:latin typeface="Times New Roman"/>
                <a:cs typeface="Times New Roman"/>
              </a:rPr>
              <a:t>MVC</a:t>
            </a:r>
            <a:endParaRPr sz="2200">
              <a:latin typeface="Times New Roman"/>
              <a:cs typeface="Times New Roman"/>
            </a:endParaRPr>
          </a:p>
          <a:p>
            <a:pPr marL="76835">
              <a:lnSpc>
                <a:spcPct val="100000"/>
              </a:lnSpc>
              <a:spcBef>
                <a:spcPts val="190"/>
              </a:spcBef>
            </a:pPr>
            <a:r>
              <a:rPr sz="1100" dirty="0">
                <a:solidFill>
                  <a:srgbClr val="93A2B8"/>
                </a:solidFill>
                <a:latin typeface="Times New Roman"/>
                <a:cs typeface="Times New Roman"/>
              </a:rPr>
              <a:t>API</a:t>
            </a:r>
            <a:r>
              <a:rPr sz="1100" spc="-20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93A2B8"/>
                </a:solidFill>
                <a:latin typeface="Times New Roman"/>
                <a:cs typeface="Times New Roman"/>
              </a:rPr>
              <a:t>Design</a:t>
            </a:r>
            <a:r>
              <a:rPr sz="1100" spc="-30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100" spc="-10" dirty="0">
                <a:solidFill>
                  <a:srgbClr val="93A2B8"/>
                </a:solidFill>
                <a:latin typeface="Times New Roman"/>
                <a:cs typeface="Times New Roman"/>
              </a:rPr>
              <a:t>Style</a:t>
            </a:r>
            <a:endParaRPr sz="1100">
              <a:latin typeface="Times New Roman"/>
              <a:cs typeface="Times New Roman"/>
            </a:endParaRPr>
          </a:p>
        </p:txBody>
      </p:sp>
      <p:grpSp>
        <p:nvGrpSpPr>
          <p:cNvPr id="33" name="object 33"/>
          <p:cNvGrpSpPr/>
          <p:nvPr/>
        </p:nvGrpSpPr>
        <p:grpSpPr>
          <a:xfrm>
            <a:off x="5486400" y="2816313"/>
            <a:ext cx="3458845" cy="962660"/>
            <a:chOff x="5486400" y="2816313"/>
            <a:chExt cx="3458845" cy="962660"/>
          </a:xfrm>
        </p:grpSpPr>
        <p:pic>
          <p:nvPicPr>
            <p:cNvPr id="34" name="object 3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486400" y="2816313"/>
              <a:ext cx="3458717" cy="962444"/>
            </a:xfrm>
            <a:prstGeom prst="rect">
              <a:avLst/>
            </a:prstGeom>
          </p:spPr>
        </p:pic>
        <p:sp>
          <p:nvSpPr>
            <p:cNvPr id="35" name="object 35"/>
            <p:cNvSpPr/>
            <p:nvPr/>
          </p:nvSpPr>
          <p:spPr>
            <a:xfrm>
              <a:off x="5678423" y="2898648"/>
              <a:ext cx="3191510" cy="749935"/>
            </a:xfrm>
            <a:custGeom>
              <a:avLst/>
              <a:gdLst/>
              <a:ahLst/>
              <a:cxnLst/>
              <a:rect l="l" t="t" r="r" b="b"/>
              <a:pathLst>
                <a:path w="3191509" h="749935">
                  <a:moveTo>
                    <a:pt x="0" y="749807"/>
                  </a:moveTo>
                  <a:lnTo>
                    <a:pt x="3191255" y="749807"/>
                  </a:lnTo>
                  <a:lnTo>
                    <a:pt x="3191255" y="0"/>
                  </a:lnTo>
                  <a:lnTo>
                    <a:pt x="0" y="0"/>
                  </a:lnTo>
                  <a:lnTo>
                    <a:pt x="0" y="74980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5623560" y="2898648"/>
              <a:ext cx="3246120" cy="749935"/>
            </a:xfrm>
            <a:custGeom>
              <a:avLst/>
              <a:gdLst/>
              <a:ahLst/>
              <a:cxnLst/>
              <a:rect l="l" t="t" r="r" b="b"/>
              <a:pathLst>
                <a:path w="3246120" h="749935">
                  <a:moveTo>
                    <a:pt x="0" y="749807"/>
                  </a:moveTo>
                  <a:lnTo>
                    <a:pt x="3246119" y="749807"/>
                  </a:lnTo>
                  <a:lnTo>
                    <a:pt x="3246119" y="0"/>
                  </a:lnTo>
                  <a:lnTo>
                    <a:pt x="0" y="0"/>
                  </a:lnTo>
                  <a:lnTo>
                    <a:pt x="0" y="749807"/>
                  </a:lnTo>
                  <a:close/>
                </a:path>
              </a:pathLst>
            </a:custGeom>
            <a:ln w="12699">
              <a:solidFill>
                <a:srgbClr val="E1E8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5623560" y="2898648"/>
              <a:ext cx="55244" cy="749935"/>
            </a:xfrm>
            <a:custGeom>
              <a:avLst/>
              <a:gdLst/>
              <a:ahLst/>
              <a:cxnLst/>
              <a:rect l="l" t="t" r="r" b="b"/>
              <a:pathLst>
                <a:path w="55245" h="749935">
                  <a:moveTo>
                    <a:pt x="54863" y="0"/>
                  </a:moveTo>
                  <a:lnTo>
                    <a:pt x="0" y="0"/>
                  </a:lnTo>
                  <a:lnTo>
                    <a:pt x="0" y="749807"/>
                  </a:lnTo>
                  <a:lnTo>
                    <a:pt x="54863" y="749807"/>
                  </a:lnTo>
                  <a:lnTo>
                    <a:pt x="54863" y="0"/>
                  </a:lnTo>
                  <a:close/>
                </a:path>
              </a:pathLst>
            </a:custGeom>
            <a:solidFill>
              <a:srgbClr val="0FB88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5623560" y="2898648"/>
              <a:ext cx="55244" cy="749935"/>
            </a:xfrm>
            <a:custGeom>
              <a:avLst/>
              <a:gdLst/>
              <a:ahLst/>
              <a:cxnLst/>
              <a:rect l="l" t="t" r="r" b="b"/>
              <a:pathLst>
                <a:path w="55245" h="749935">
                  <a:moveTo>
                    <a:pt x="0" y="749807"/>
                  </a:moveTo>
                  <a:lnTo>
                    <a:pt x="54863" y="749807"/>
                  </a:lnTo>
                  <a:lnTo>
                    <a:pt x="54863" y="0"/>
                  </a:lnTo>
                  <a:lnTo>
                    <a:pt x="0" y="0"/>
                  </a:lnTo>
                  <a:lnTo>
                    <a:pt x="0" y="749807"/>
                  </a:lnTo>
                  <a:close/>
                </a:path>
              </a:pathLst>
            </a:custGeom>
            <a:ln w="12699">
              <a:solidFill>
                <a:srgbClr val="0FB88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9" name="object 39"/>
          <p:cNvSpPr txBox="1"/>
          <p:nvPr/>
        </p:nvSpPr>
        <p:spPr>
          <a:xfrm>
            <a:off x="5684773" y="2942260"/>
            <a:ext cx="3178810" cy="598805"/>
          </a:xfrm>
          <a:prstGeom prst="rect">
            <a:avLst/>
          </a:prstGeom>
        </p:spPr>
        <p:txBody>
          <a:bodyPr vert="horz" wrap="square" lIns="0" tIns="58419" rIns="0" bIns="0" rtlCol="0">
            <a:spAutoFit/>
          </a:bodyPr>
          <a:lstStyle/>
          <a:p>
            <a:pPr marL="76835">
              <a:lnSpc>
                <a:spcPct val="100000"/>
              </a:lnSpc>
              <a:spcBef>
                <a:spcPts val="459"/>
              </a:spcBef>
            </a:pPr>
            <a:r>
              <a:rPr sz="2200" b="1" spc="-20" dirty="0">
                <a:solidFill>
                  <a:srgbClr val="0FB881"/>
                </a:solidFill>
                <a:latin typeface="Times New Roman"/>
                <a:cs typeface="Times New Roman"/>
              </a:rPr>
              <a:t>ACID</a:t>
            </a:r>
            <a:endParaRPr sz="2200">
              <a:latin typeface="Times New Roman"/>
              <a:cs typeface="Times New Roman"/>
            </a:endParaRPr>
          </a:p>
          <a:p>
            <a:pPr marL="76835">
              <a:lnSpc>
                <a:spcPct val="100000"/>
              </a:lnSpc>
              <a:spcBef>
                <a:spcPts val="190"/>
              </a:spcBef>
            </a:pPr>
            <a:r>
              <a:rPr sz="1100" spc="-10" dirty="0">
                <a:solidFill>
                  <a:srgbClr val="93A2B8"/>
                </a:solidFill>
                <a:latin typeface="Times New Roman"/>
                <a:cs typeface="Times New Roman"/>
              </a:rPr>
              <a:t>Transaction</a:t>
            </a:r>
            <a:r>
              <a:rPr sz="1100" spc="35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100" spc="-10" dirty="0">
                <a:solidFill>
                  <a:srgbClr val="93A2B8"/>
                </a:solidFill>
                <a:latin typeface="Times New Roman"/>
                <a:cs typeface="Times New Roman"/>
              </a:rPr>
              <a:t>Compliance</a:t>
            </a:r>
            <a:endParaRPr sz="1100">
              <a:latin typeface="Times New Roman"/>
              <a:cs typeface="Times New Roman"/>
            </a:endParaRPr>
          </a:p>
        </p:txBody>
      </p:sp>
      <p:grpSp>
        <p:nvGrpSpPr>
          <p:cNvPr id="40" name="object 40"/>
          <p:cNvGrpSpPr/>
          <p:nvPr/>
        </p:nvGrpSpPr>
        <p:grpSpPr>
          <a:xfrm>
            <a:off x="5486400" y="3781031"/>
            <a:ext cx="3458845" cy="962660"/>
            <a:chOff x="5486400" y="3781031"/>
            <a:chExt cx="3458845" cy="962660"/>
          </a:xfrm>
        </p:grpSpPr>
        <p:pic>
          <p:nvPicPr>
            <p:cNvPr id="41" name="object 4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486400" y="3781031"/>
              <a:ext cx="3458717" cy="962444"/>
            </a:xfrm>
            <a:prstGeom prst="rect">
              <a:avLst/>
            </a:prstGeom>
          </p:spPr>
        </p:pic>
        <p:sp>
          <p:nvSpPr>
            <p:cNvPr id="42" name="object 42"/>
            <p:cNvSpPr/>
            <p:nvPr/>
          </p:nvSpPr>
          <p:spPr>
            <a:xfrm>
              <a:off x="5623560" y="3863555"/>
              <a:ext cx="3246120" cy="749935"/>
            </a:xfrm>
            <a:custGeom>
              <a:avLst/>
              <a:gdLst/>
              <a:ahLst/>
              <a:cxnLst/>
              <a:rect l="l" t="t" r="r" b="b"/>
              <a:pathLst>
                <a:path w="3246120" h="749935">
                  <a:moveTo>
                    <a:pt x="4191" y="0"/>
                  </a:moveTo>
                  <a:lnTo>
                    <a:pt x="0" y="0"/>
                  </a:lnTo>
                  <a:lnTo>
                    <a:pt x="0" y="749808"/>
                  </a:lnTo>
                  <a:lnTo>
                    <a:pt x="4191" y="749808"/>
                  </a:lnTo>
                  <a:lnTo>
                    <a:pt x="4191" y="0"/>
                  </a:lnTo>
                  <a:close/>
                </a:path>
                <a:path w="3246120" h="749935">
                  <a:moveTo>
                    <a:pt x="3246120" y="0"/>
                  </a:moveTo>
                  <a:lnTo>
                    <a:pt x="59055" y="0"/>
                  </a:lnTo>
                  <a:lnTo>
                    <a:pt x="59055" y="749808"/>
                  </a:lnTo>
                  <a:lnTo>
                    <a:pt x="3246120" y="749808"/>
                  </a:lnTo>
                  <a:lnTo>
                    <a:pt x="324612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5623560" y="3863555"/>
              <a:ext cx="3246120" cy="749935"/>
            </a:xfrm>
            <a:custGeom>
              <a:avLst/>
              <a:gdLst/>
              <a:ahLst/>
              <a:cxnLst/>
              <a:rect l="l" t="t" r="r" b="b"/>
              <a:pathLst>
                <a:path w="3246120" h="749935">
                  <a:moveTo>
                    <a:pt x="0" y="749808"/>
                  </a:moveTo>
                  <a:lnTo>
                    <a:pt x="3246119" y="749808"/>
                  </a:lnTo>
                  <a:lnTo>
                    <a:pt x="3246119" y="0"/>
                  </a:lnTo>
                  <a:lnTo>
                    <a:pt x="0" y="0"/>
                  </a:lnTo>
                  <a:lnTo>
                    <a:pt x="0" y="749808"/>
                  </a:lnTo>
                  <a:close/>
                </a:path>
              </a:pathLst>
            </a:custGeom>
            <a:ln w="12699">
              <a:solidFill>
                <a:srgbClr val="E1E8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5627751" y="3867911"/>
              <a:ext cx="55244" cy="749935"/>
            </a:xfrm>
            <a:custGeom>
              <a:avLst/>
              <a:gdLst/>
              <a:ahLst/>
              <a:cxnLst/>
              <a:rect l="l" t="t" r="r" b="b"/>
              <a:pathLst>
                <a:path w="55245" h="749935">
                  <a:moveTo>
                    <a:pt x="54863" y="0"/>
                  </a:moveTo>
                  <a:lnTo>
                    <a:pt x="0" y="0"/>
                  </a:lnTo>
                  <a:lnTo>
                    <a:pt x="0" y="749808"/>
                  </a:lnTo>
                  <a:lnTo>
                    <a:pt x="54863" y="749808"/>
                  </a:lnTo>
                  <a:lnTo>
                    <a:pt x="54863" y="0"/>
                  </a:lnTo>
                  <a:close/>
                </a:path>
              </a:pathLst>
            </a:custGeom>
            <a:solidFill>
              <a:srgbClr val="F59E0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5627751" y="3867911"/>
              <a:ext cx="55244" cy="749935"/>
            </a:xfrm>
            <a:custGeom>
              <a:avLst/>
              <a:gdLst/>
              <a:ahLst/>
              <a:cxnLst/>
              <a:rect l="l" t="t" r="r" b="b"/>
              <a:pathLst>
                <a:path w="55245" h="749935">
                  <a:moveTo>
                    <a:pt x="0" y="749808"/>
                  </a:moveTo>
                  <a:lnTo>
                    <a:pt x="54863" y="749808"/>
                  </a:lnTo>
                  <a:lnTo>
                    <a:pt x="54863" y="0"/>
                  </a:lnTo>
                  <a:lnTo>
                    <a:pt x="0" y="0"/>
                  </a:lnTo>
                  <a:lnTo>
                    <a:pt x="0" y="749808"/>
                  </a:lnTo>
                  <a:close/>
                </a:path>
              </a:pathLst>
            </a:custGeom>
            <a:ln w="12699">
              <a:solidFill>
                <a:srgbClr val="F59E0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6" name="object 46"/>
          <p:cNvSpPr txBox="1"/>
          <p:nvPr/>
        </p:nvSpPr>
        <p:spPr>
          <a:xfrm>
            <a:off x="5688965" y="3783838"/>
            <a:ext cx="3174365" cy="598805"/>
          </a:xfrm>
          <a:prstGeom prst="rect">
            <a:avLst/>
          </a:prstGeom>
        </p:spPr>
        <p:txBody>
          <a:bodyPr vert="horz" wrap="square" lIns="0" tIns="58419" rIns="0" bIns="0" rtlCol="0">
            <a:spAutoFit/>
          </a:bodyPr>
          <a:lstStyle/>
          <a:p>
            <a:pPr marL="72390">
              <a:lnSpc>
                <a:spcPct val="100000"/>
              </a:lnSpc>
              <a:spcBef>
                <a:spcPts val="459"/>
              </a:spcBef>
            </a:pPr>
            <a:r>
              <a:rPr sz="2200" b="1" spc="-25" dirty="0">
                <a:solidFill>
                  <a:srgbClr val="F59E0A"/>
                </a:solidFill>
                <a:latin typeface="Times New Roman"/>
                <a:cs typeface="Times New Roman"/>
              </a:rPr>
              <a:t>OOP</a:t>
            </a:r>
            <a:endParaRPr sz="2200">
              <a:latin typeface="Times New Roman"/>
              <a:cs typeface="Times New Roman"/>
            </a:endParaRPr>
          </a:p>
          <a:p>
            <a:pPr marL="72390">
              <a:lnSpc>
                <a:spcPct val="100000"/>
              </a:lnSpc>
              <a:spcBef>
                <a:spcPts val="190"/>
              </a:spcBef>
            </a:pPr>
            <a:r>
              <a:rPr sz="1100" dirty="0">
                <a:solidFill>
                  <a:srgbClr val="93A2B8"/>
                </a:solidFill>
                <a:latin typeface="Times New Roman"/>
                <a:cs typeface="Times New Roman"/>
              </a:rPr>
              <a:t>Java</a:t>
            </a:r>
            <a:r>
              <a:rPr sz="1100" spc="-40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93A2B8"/>
                </a:solidFill>
                <a:latin typeface="Times New Roman"/>
                <a:cs typeface="Times New Roman"/>
              </a:rPr>
              <a:t>Design</a:t>
            </a:r>
            <a:r>
              <a:rPr sz="1100" spc="-15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100" spc="-10" dirty="0">
                <a:solidFill>
                  <a:srgbClr val="93A2B8"/>
                </a:solidFill>
                <a:latin typeface="Times New Roman"/>
                <a:cs typeface="Times New Roman"/>
              </a:rPr>
              <a:t>Paradigm</a:t>
            </a:r>
            <a:endParaRPr sz="11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Problem</a:t>
            </a:r>
            <a:r>
              <a:rPr spc="-85" dirty="0"/>
              <a:t> </a:t>
            </a:r>
            <a:r>
              <a:rPr spc="-10" dirty="0"/>
              <a:t>Statement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44500" y="670305"/>
            <a:ext cx="3305175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i="1" spc="-10" dirty="0">
                <a:solidFill>
                  <a:srgbClr val="0891B1"/>
                </a:solidFill>
                <a:latin typeface="Times New Roman"/>
                <a:cs typeface="Times New Roman"/>
              </a:rPr>
              <a:t>Challenges</a:t>
            </a:r>
            <a:r>
              <a:rPr sz="1300" i="1" spc="-30" dirty="0">
                <a:solidFill>
                  <a:srgbClr val="0891B1"/>
                </a:solidFill>
                <a:latin typeface="Times New Roman"/>
                <a:cs typeface="Times New Roman"/>
              </a:rPr>
              <a:t> </a:t>
            </a:r>
            <a:r>
              <a:rPr sz="1300" i="1" dirty="0">
                <a:solidFill>
                  <a:srgbClr val="0891B1"/>
                </a:solidFill>
                <a:latin typeface="Times New Roman"/>
                <a:cs typeface="Times New Roman"/>
              </a:rPr>
              <a:t>in</a:t>
            </a:r>
            <a:r>
              <a:rPr sz="1300" i="1" spc="-30" dirty="0">
                <a:solidFill>
                  <a:srgbClr val="0891B1"/>
                </a:solidFill>
                <a:latin typeface="Times New Roman"/>
                <a:cs typeface="Times New Roman"/>
              </a:rPr>
              <a:t> </a:t>
            </a:r>
            <a:r>
              <a:rPr sz="1300" i="1" dirty="0">
                <a:solidFill>
                  <a:srgbClr val="0891B1"/>
                </a:solidFill>
                <a:latin typeface="Times New Roman"/>
                <a:cs typeface="Times New Roman"/>
              </a:rPr>
              <a:t>Traditional</a:t>
            </a:r>
            <a:r>
              <a:rPr sz="1300" i="1" spc="-15" dirty="0">
                <a:solidFill>
                  <a:srgbClr val="0891B1"/>
                </a:solidFill>
                <a:latin typeface="Times New Roman"/>
                <a:cs typeface="Times New Roman"/>
              </a:rPr>
              <a:t> </a:t>
            </a:r>
            <a:r>
              <a:rPr sz="1300" i="1" dirty="0">
                <a:solidFill>
                  <a:srgbClr val="0891B1"/>
                </a:solidFill>
                <a:latin typeface="Times New Roman"/>
                <a:cs typeface="Times New Roman"/>
              </a:rPr>
              <a:t>Inventory</a:t>
            </a:r>
            <a:r>
              <a:rPr sz="1300" i="1" spc="-20" dirty="0">
                <a:solidFill>
                  <a:srgbClr val="0891B1"/>
                </a:solidFill>
                <a:latin typeface="Times New Roman"/>
                <a:cs typeface="Times New Roman"/>
              </a:rPr>
              <a:t> </a:t>
            </a:r>
            <a:r>
              <a:rPr sz="1300" i="1" spc="-10" dirty="0">
                <a:solidFill>
                  <a:srgbClr val="0891B1"/>
                </a:solidFill>
                <a:latin typeface="Times New Roman"/>
                <a:cs typeface="Times New Roman"/>
              </a:rPr>
              <a:t>Management</a:t>
            </a:r>
            <a:endParaRPr sz="1300">
              <a:latin typeface="Times New Roman"/>
              <a:cs typeface="Times New Roman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37160" y="1014983"/>
            <a:ext cx="4418965" cy="1383030"/>
            <a:chOff x="137160" y="1014983"/>
            <a:chExt cx="4418965" cy="138303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7160" y="1014983"/>
              <a:ext cx="4418838" cy="138303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329184" y="1097279"/>
              <a:ext cx="4151629" cy="1170940"/>
            </a:xfrm>
            <a:custGeom>
              <a:avLst/>
              <a:gdLst/>
              <a:ahLst/>
              <a:cxnLst/>
              <a:rect l="l" t="t" r="r" b="b"/>
              <a:pathLst>
                <a:path w="4151629" h="1170939">
                  <a:moveTo>
                    <a:pt x="0" y="1170432"/>
                  </a:moveTo>
                  <a:lnTo>
                    <a:pt x="4151376" y="1170432"/>
                  </a:lnTo>
                  <a:lnTo>
                    <a:pt x="4151376" y="0"/>
                  </a:lnTo>
                  <a:lnTo>
                    <a:pt x="0" y="0"/>
                  </a:lnTo>
                  <a:lnTo>
                    <a:pt x="0" y="117043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74320" y="1097279"/>
              <a:ext cx="4206240" cy="1170940"/>
            </a:xfrm>
            <a:custGeom>
              <a:avLst/>
              <a:gdLst/>
              <a:ahLst/>
              <a:cxnLst/>
              <a:rect l="l" t="t" r="r" b="b"/>
              <a:pathLst>
                <a:path w="4206240" h="1170939">
                  <a:moveTo>
                    <a:pt x="0" y="1170432"/>
                  </a:moveTo>
                  <a:lnTo>
                    <a:pt x="4206240" y="1170432"/>
                  </a:lnTo>
                  <a:lnTo>
                    <a:pt x="4206240" y="0"/>
                  </a:lnTo>
                  <a:lnTo>
                    <a:pt x="0" y="0"/>
                  </a:lnTo>
                  <a:lnTo>
                    <a:pt x="0" y="1170432"/>
                  </a:lnTo>
                  <a:close/>
                </a:path>
              </a:pathLst>
            </a:custGeom>
            <a:ln w="12700">
              <a:solidFill>
                <a:srgbClr val="E1E8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74320" y="1097279"/>
              <a:ext cx="55244" cy="1170940"/>
            </a:xfrm>
            <a:custGeom>
              <a:avLst/>
              <a:gdLst/>
              <a:ahLst/>
              <a:cxnLst/>
              <a:rect l="l" t="t" r="r" b="b"/>
              <a:pathLst>
                <a:path w="55245" h="1170939">
                  <a:moveTo>
                    <a:pt x="54864" y="0"/>
                  </a:moveTo>
                  <a:lnTo>
                    <a:pt x="0" y="0"/>
                  </a:lnTo>
                  <a:lnTo>
                    <a:pt x="0" y="1170432"/>
                  </a:lnTo>
                  <a:lnTo>
                    <a:pt x="54864" y="1170432"/>
                  </a:lnTo>
                  <a:lnTo>
                    <a:pt x="54864" y="0"/>
                  </a:lnTo>
                  <a:close/>
                </a:path>
              </a:pathLst>
            </a:custGeom>
            <a:solidFill>
              <a:srgbClr val="EE444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74320" y="1097279"/>
              <a:ext cx="55244" cy="1170940"/>
            </a:xfrm>
            <a:custGeom>
              <a:avLst/>
              <a:gdLst/>
              <a:ahLst/>
              <a:cxnLst/>
              <a:rect l="l" t="t" r="r" b="b"/>
              <a:pathLst>
                <a:path w="55245" h="1170939">
                  <a:moveTo>
                    <a:pt x="0" y="1170432"/>
                  </a:moveTo>
                  <a:lnTo>
                    <a:pt x="54864" y="1170432"/>
                  </a:lnTo>
                  <a:lnTo>
                    <a:pt x="54864" y="0"/>
                  </a:lnTo>
                  <a:lnTo>
                    <a:pt x="0" y="0"/>
                  </a:lnTo>
                  <a:lnTo>
                    <a:pt x="0" y="1170432"/>
                  </a:lnTo>
                  <a:close/>
                </a:path>
              </a:pathLst>
            </a:custGeom>
            <a:ln w="12700">
              <a:solidFill>
                <a:srgbClr val="EE444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335534" y="1209802"/>
            <a:ext cx="4138929" cy="8756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02870">
              <a:lnSpc>
                <a:spcPct val="100000"/>
              </a:lnSpc>
              <a:spcBef>
                <a:spcPts val="95"/>
              </a:spcBef>
            </a:pPr>
            <a:r>
              <a:rPr sz="1300" b="1" dirty="0">
                <a:solidFill>
                  <a:srgbClr val="1E293A"/>
                </a:solidFill>
                <a:latin typeface="Times New Roman"/>
                <a:cs typeface="Times New Roman"/>
              </a:rPr>
              <a:t>Manual</a:t>
            </a:r>
            <a:r>
              <a:rPr sz="1300" b="1" spc="-30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300" b="1" dirty="0">
                <a:solidFill>
                  <a:srgbClr val="1E293A"/>
                </a:solidFill>
                <a:latin typeface="Times New Roman"/>
                <a:cs typeface="Times New Roman"/>
              </a:rPr>
              <a:t>Tracking</a:t>
            </a:r>
            <a:r>
              <a:rPr sz="1300" b="1" spc="-40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300" b="1" spc="-10" dirty="0">
                <a:solidFill>
                  <a:srgbClr val="1E293A"/>
                </a:solidFill>
                <a:latin typeface="Times New Roman"/>
                <a:cs typeface="Times New Roman"/>
              </a:rPr>
              <a:t>Errors</a:t>
            </a:r>
            <a:endParaRPr sz="1300">
              <a:latin typeface="Times New Roman"/>
              <a:cs typeface="Times New Roman"/>
            </a:endParaRPr>
          </a:p>
          <a:p>
            <a:pPr marL="102870" marR="400685">
              <a:lnSpc>
                <a:spcPct val="100000"/>
              </a:lnSpc>
              <a:spcBef>
                <a:spcPts val="1175"/>
              </a:spcBef>
            </a:pPr>
            <a:r>
              <a:rPr sz="1100" spc="-10" dirty="0">
                <a:solidFill>
                  <a:srgbClr val="585858"/>
                </a:solidFill>
                <a:latin typeface="Times New Roman"/>
                <a:cs typeface="Times New Roman"/>
              </a:rPr>
              <a:t>Spreadsheet-</a:t>
            </a:r>
            <a:r>
              <a:rPr sz="1100" dirty="0">
                <a:solidFill>
                  <a:srgbClr val="585858"/>
                </a:solidFill>
                <a:latin typeface="Times New Roman"/>
                <a:cs typeface="Times New Roman"/>
              </a:rPr>
              <a:t>based</a:t>
            </a:r>
            <a:r>
              <a:rPr sz="1100" spc="-25" dirty="0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585858"/>
                </a:solidFill>
                <a:latin typeface="Times New Roman"/>
                <a:cs typeface="Times New Roman"/>
              </a:rPr>
              <a:t>tracking</a:t>
            </a:r>
            <a:r>
              <a:rPr sz="1100" spc="-25" dirty="0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585858"/>
                </a:solidFill>
                <a:latin typeface="Times New Roman"/>
                <a:cs typeface="Times New Roman"/>
              </a:rPr>
              <a:t>leads</a:t>
            </a:r>
            <a:r>
              <a:rPr sz="1100" spc="-20" dirty="0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585858"/>
                </a:solidFill>
                <a:latin typeface="Times New Roman"/>
                <a:cs typeface="Times New Roman"/>
              </a:rPr>
              <a:t>to inaccurate</a:t>
            </a:r>
            <a:r>
              <a:rPr sz="1100" spc="-35" dirty="0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585858"/>
                </a:solidFill>
                <a:latin typeface="Times New Roman"/>
                <a:cs typeface="Times New Roman"/>
              </a:rPr>
              <a:t>stock</a:t>
            </a:r>
            <a:r>
              <a:rPr sz="1100" spc="-10" dirty="0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585858"/>
                </a:solidFill>
                <a:latin typeface="Times New Roman"/>
                <a:cs typeface="Times New Roman"/>
              </a:rPr>
              <a:t>counts,</a:t>
            </a:r>
            <a:r>
              <a:rPr sz="1100" spc="-20" dirty="0">
                <a:solidFill>
                  <a:srgbClr val="585858"/>
                </a:solidFill>
                <a:latin typeface="Times New Roman"/>
                <a:cs typeface="Times New Roman"/>
              </a:rPr>
              <a:t> data </a:t>
            </a:r>
            <a:r>
              <a:rPr sz="1100" dirty="0">
                <a:solidFill>
                  <a:srgbClr val="585858"/>
                </a:solidFill>
                <a:latin typeface="Times New Roman"/>
                <a:cs typeface="Times New Roman"/>
              </a:rPr>
              <a:t>inconsistency,</a:t>
            </a:r>
            <a:r>
              <a:rPr sz="1100" spc="-30" dirty="0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585858"/>
                </a:solidFill>
                <a:latin typeface="Times New Roman"/>
                <a:cs typeface="Times New Roman"/>
              </a:rPr>
              <a:t>and</a:t>
            </a:r>
            <a:r>
              <a:rPr sz="1100" spc="-15" dirty="0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585858"/>
                </a:solidFill>
                <a:latin typeface="Times New Roman"/>
                <a:cs typeface="Times New Roman"/>
              </a:rPr>
              <a:t>human</a:t>
            </a:r>
            <a:r>
              <a:rPr sz="1100" spc="-5" dirty="0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585858"/>
                </a:solidFill>
                <a:latin typeface="Times New Roman"/>
                <a:cs typeface="Times New Roman"/>
              </a:rPr>
              <a:t>errors</a:t>
            </a:r>
            <a:r>
              <a:rPr sz="1100" spc="-55" dirty="0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585858"/>
                </a:solidFill>
                <a:latin typeface="Times New Roman"/>
                <a:cs typeface="Times New Roman"/>
              </a:rPr>
              <a:t>causing</a:t>
            </a:r>
            <a:r>
              <a:rPr sz="1100" spc="-45" dirty="0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585858"/>
                </a:solidFill>
                <a:latin typeface="Times New Roman"/>
                <a:cs typeface="Times New Roman"/>
              </a:rPr>
              <a:t>costly</a:t>
            </a:r>
            <a:r>
              <a:rPr sz="1100" spc="-45" dirty="0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585858"/>
                </a:solidFill>
                <a:latin typeface="Times New Roman"/>
                <a:cs typeface="Times New Roman"/>
              </a:rPr>
              <a:t>overstock</a:t>
            </a:r>
            <a:r>
              <a:rPr sz="1100" spc="-35" dirty="0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sz="1100" spc="-25" dirty="0">
                <a:solidFill>
                  <a:srgbClr val="585858"/>
                </a:solidFill>
                <a:latin typeface="Times New Roman"/>
                <a:cs typeface="Times New Roman"/>
              </a:rPr>
              <a:t>or</a:t>
            </a:r>
            <a:endParaRPr sz="1100">
              <a:latin typeface="Times New Roman"/>
              <a:cs typeface="Times New Roman"/>
            </a:endParaRPr>
          </a:p>
          <a:p>
            <a:pPr marL="102870">
              <a:lnSpc>
                <a:spcPct val="100000"/>
              </a:lnSpc>
            </a:pPr>
            <a:r>
              <a:rPr sz="1100" spc="-10" dirty="0">
                <a:solidFill>
                  <a:srgbClr val="585858"/>
                </a:solidFill>
                <a:latin typeface="Times New Roman"/>
                <a:cs typeface="Times New Roman"/>
              </a:rPr>
              <a:t>stockouts.</a:t>
            </a:r>
            <a:endParaRPr sz="1100">
              <a:latin typeface="Times New Roman"/>
              <a:cs typeface="Times New Roman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4572000" y="1014983"/>
            <a:ext cx="4418965" cy="1383030"/>
            <a:chOff x="4572000" y="1014983"/>
            <a:chExt cx="4418965" cy="1383030"/>
          </a:xfrm>
        </p:grpSpPr>
        <p:pic>
          <p:nvPicPr>
            <p:cNvPr id="12" name="object 1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572000" y="1014983"/>
              <a:ext cx="4418838" cy="1383030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4764023" y="1097279"/>
              <a:ext cx="4151629" cy="1170940"/>
            </a:xfrm>
            <a:custGeom>
              <a:avLst/>
              <a:gdLst/>
              <a:ahLst/>
              <a:cxnLst/>
              <a:rect l="l" t="t" r="r" b="b"/>
              <a:pathLst>
                <a:path w="4151629" h="1170939">
                  <a:moveTo>
                    <a:pt x="0" y="1170432"/>
                  </a:moveTo>
                  <a:lnTo>
                    <a:pt x="4151376" y="1170432"/>
                  </a:lnTo>
                  <a:lnTo>
                    <a:pt x="4151376" y="0"/>
                  </a:lnTo>
                  <a:lnTo>
                    <a:pt x="0" y="0"/>
                  </a:lnTo>
                  <a:lnTo>
                    <a:pt x="0" y="117043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4709160" y="1097279"/>
              <a:ext cx="4206240" cy="1170940"/>
            </a:xfrm>
            <a:custGeom>
              <a:avLst/>
              <a:gdLst/>
              <a:ahLst/>
              <a:cxnLst/>
              <a:rect l="l" t="t" r="r" b="b"/>
              <a:pathLst>
                <a:path w="4206240" h="1170939">
                  <a:moveTo>
                    <a:pt x="0" y="1170432"/>
                  </a:moveTo>
                  <a:lnTo>
                    <a:pt x="4206240" y="1170432"/>
                  </a:lnTo>
                  <a:lnTo>
                    <a:pt x="4206240" y="0"/>
                  </a:lnTo>
                  <a:lnTo>
                    <a:pt x="0" y="0"/>
                  </a:lnTo>
                  <a:lnTo>
                    <a:pt x="0" y="1170432"/>
                  </a:lnTo>
                  <a:close/>
                </a:path>
              </a:pathLst>
            </a:custGeom>
            <a:ln w="12700">
              <a:solidFill>
                <a:srgbClr val="E1E8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709160" y="1097279"/>
              <a:ext cx="55244" cy="1170940"/>
            </a:xfrm>
            <a:custGeom>
              <a:avLst/>
              <a:gdLst/>
              <a:ahLst/>
              <a:cxnLst/>
              <a:rect l="l" t="t" r="r" b="b"/>
              <a:pathLst>
                <a:path w="55245" h="1170939">
                  <a:moveTo>
                    <a:pt x="54863" y="0"/>
                  </a:moveTo>
                  <a:lnTo>
                    <a:pt x="0" y="0"/>
                  </a:lnTo>
                  <a:lnTo>
                    <a:pt x="0" y="1170432"/>
                  </a:lnTo>
                  <a:lnTo>
                    <a:pt x="54863" y="1170432"/>
                  </a:lnTo>
                  <a:lnTo>
                    <a:pt x="54863" y="0"/>
                  </a:lnTo>
                  <a:close/>
                </a:path>
              </a:pathLst>
            </a:custGeom>
            <a:solidFill>
              <a:srgbClr val="F8731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4709160" y="1097279"/>
              <a:ext cx="55244" cy="1170940"/>
            </a:xfrm>
            <a:custGeom>
              <a:avLst/>
              <a:gdLst/>
              <a:ahLst/>
              <a:cxnLst/>
              <a:rect l="l" t="t" r="r" b="b"/>
              <a:pathLst>
                <a:path w="55245" h="1170939">
                  <a:moveTo>
                    <a:pt x="0" y="1170432"/>
                  </a:moveTo>
                  <a:lnTo>
                    <a:pt x="54863" y="1170432"/>
                  </a:lnTo>
                  <a:lnTo>
                    <a:pt x="54863" y="0"/>
                  </a:lnTo>
                  <a:lnTo>
                    <a:pt x="0" y="0"/>
                  </a:lnTo>
                  <a:lnTo>
                    <a:pt x="0" y="1170432"/>
                  </a:lnTo>
                  <a:close/>
                </a:path>
              </a:pathLst>
            </a:custGeom>
            <a:ln w="12700">
              <a:solidFill>
                <a:srgbClr val="F8731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4770373" y="1209802"/>
            <a:ext cx="4138929" cy="8756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03505">
              <a:lnSpc>
                <a:spcPct val="100000"/>
              </a:lnSpc>
              <a:spcBef>
                <a:spcPts val="95"/>
              </a:spcBef>
            </a:pPr>
            <a:r>
              <a:rPr sz="1300" b="1" dirty="0">
                <a:solidFill>
                  <a:srgbClr val="1E293A"/>
                </a:solidFill>
                <a:latin typeface="Times New Roman"/>
                <a:cs typeface="Times New Roman"/>
              </a:rPr>
              <a:t>No</a:t>
            </a:r>
            <a:r>
              <a:rPr sz="1300" b="1" spc="-35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300" b="1" spc="-10" dirty="0">
                <a:solidFill>
                  <a:srgbClr val="1E293A"/>
                </a:solidFill>
                <a:latin typeface="Times New Roman"/>
                <a:cs typeface="Times New Roman"/>
              </a:rPr>
              <a:t>Real-</a:t>
            </a:r>
            <a:r>
              <a:rPr sz="1300" b="1" dirty="0">
                <a:solidFill>
                  <a:srgbClr val="1E293A"/>
                </a:solidFill>
                <a:latin typeface="Times New Roman"/>
                <a:cs typeface="Times New Roman"/>
              </a:rPr>
              <a:t>Time</a:t>
            </a:r>
            <a:r>
              <a:rPr sz="1300" b="1" spc="-15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300" b="1" spc="-10" dirty="0">
                <a:solidFill>
                  <a:srgbClr val="1E293A"/>
                </a:solidFill>
                <a:latin typeface="Times New Roman"/>
                <a:cs typeface="Times New Roman"/>
              </a:rPr>
              <a:t>Visibility</a:t>
            </a:r>
            <a:endParaRPr sz="1300">
              <a:latin typeface="Times New Roman"/>
              <a:cs typeface="Times New Roman"/>
            </a:endParaRPr>
          </a:p>
          <a:p>
            <a:pPr marL="103505" marR="629285">
              <a:lnSpc>
                <a:spcPct val="100000"/>
              </a:lnSpc>
              <a:spcBef>
                <a:spcPts val="1175"/>
              </a:spcBef>
            </a:pPr>
            <a:r>
              <a:rPr sz="1100" dirty="0">
                <a:solidFill>
                  <a:srgbClr val="585858"/>
                </a:solidFill>
                <a:latin typeface="Times New Roman"/>
                <a:cs typeface="Times New Roman"/>
              </a:rPr>
              <a:t>Businesses</a:t>
            </a:r>
            <a:r>
              <a:rPr sz="1100" spc="-50" dirty="0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585858"/>
                </a:solidFill>
                <a:latin typeface="Times New Roman"/>
                <a:cs typeface="Times New Roman"/>
              </a:rPr>
              <a:t>lack</a:t>
            </a:r>
            <a:r>
              <a:rPr sz="1100" spc="-25" dirty="0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585858"/>
                </a:solidFill>
                <a:latin typeface="Times New Roman"/>
                <a:cs typeface="Times New Roman"/>
              </a:rPr>
              <a:t>real-time</a:t>
            </a:r>
            <a:r>
              <a:rPr sz="1100" spc="-35" dirty="0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585858"/>
                </a:solidFill>
                <a:latin typeface="Times New Roman"/>
                <a:cs typeface="Times New Roman"/>
              </a:rPr>
              <a:t>stock</a:t>
            </a:r>
            <a:r>
              <a:rPr sz="1100" spc="-25" dirty="0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585858"/>
                </a:solidFill>
                <a:latin typeface="Times New Roman"/>
                <a:cs typeface="Times New Roman"/>
              </a:rPr>
              <a:t>level</a:t>
            </a:r>
            <a:r>
              <a:rPr sz="1100" spc="-20" dirty="0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585858"/>
                </a:solidFill>
                <a:latin typeface="Times New Roman"/>
                <a:cs typeface="Times New Roman"/>
              </a:rPr>
              <a:t>monitoring,</a:t>
            </a:r>
            <a:r>
              <a:rPr sz="1100" spc="-25" dirty="0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585858"/>
                </a:solidFill>
                <a:latin typeface="Times New Roman"/>
                <a:cs typeface="Times New Roman"/>
              </a:rPr>
              <a:t>resulting</a:t>
            </a:r>
            <a:r>
              <a:rPr sz="1100" spc="-45" dirty="0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sz="1100" spc="-25" dirty="0">
                <a:solidFill>
                  <a:srgbClr val="585858"/>
                </a:solidFill>
                <a:latin typeface="Times New Roman"/>
                <a:cs typeface="Times New Roman"/>
              </a:rPr>
              <a:t>in </a:t>
            </a:r>
            <a:r>
              <a:rPr sz="1100" dirty="0">
                <a:solidFill>
                  <a:srgbClr val="585858"/>
                </a:solidFill>
                <a:latin typeface="Times New Roman"/>
                <a:cs typeface="Times New Roman"/>
              </a:rPr>
              <a:t>delayed</a:t>
            </a:r>
            <a:r>
              <a:rPr sz="1100" spc="-30" dirty="0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585858"/>
                </a:solidFill>
                <a:latin typeface="Times New Roman"/>
                <a:cs typeface="Times New Roman"/>
              </a:rPr>
              <a:t>decisions,</a:t>
            </a:r>
            <a:r>
              <a:rPr sz="1100" spc="-35" dirty="0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585858"/>
                </a:solidFill>
                <a:latin typeface="Times New Roman"/>
                <a:cs typeface="Times New Roman"/>
              </a:rPr>
              <a:t>undetected</a:t>
            </a:r>
            <a:r>
              <a:rPr sz="1100" spc="-50" dirty="0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585858"/>
                </a:solidFill>
                <a:latin typeface="Times New Roman"/>
                <a:cs typeface="Times New Roman"/>
              </a:rPr>
              <a:t>shortages,</a:t>
            </a:r>
            <a:r>
              <a:rPr sz="1100" spc="-40" dirty="0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585858"/>
                </a:solidFill>
                <a:latin typeface="Times New Roman"/>
                <a:cs typeface="Times New Roman"/>
              </a:rPr>
              <a:t>and</a:t>
            </a:r>
            <a:r>
              <a:rPr sz="1100" spc="-15" dirty="0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585858"/>
                </a:solidFill>
                <a:latin typeface="Times New Roman"/>
                <a:cs typeface="Times New Roman"/>
              </a:rPr>
              <a:t>missed</a:t>
            </a:r>
            <a:r>
              <a:rPr sz="1100" spc="-25" dirty="0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sz="1100" spc="-10" dirty="0">
                <a:solidFill>
                  <a:srgbClr val="585858"/>
                </a:solidFill>
                <a:latin typeface="Times New Roman"/>
                <a:cs typeface="Times New Roman"/>
              </a:rPr>
              <a:t>reorder triggers.</a:t>
            </a:r>
            <a:endParaRPr sz="1100">
              <a:latin typeface="Times New Roman"/>
              <a:cs typeface="Times New Roman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137160" y="2340864"/>
            <a:ext cx="4418965" cy="1383030"/>
            <a:chOff x="137160" y="2340864"/>
            <a:chExt cx="4418965" cy="1383030"/>
          </a:xfrm>
        </p:grpSpPr>
        <p:pic>
          <p:nvPicPr>
            <p:cNvPr id="19" name="object 1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7160" y="2340864"/>
              <a:ext cx="4418838" cy="1383030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329184" y="2423160"/>
              <a:ext cx="4151629" cy="1170940"/>
            </a:xfrm>
            <a:custGeom>
              <a:avLst/>
              <a:gdLst/>
              <a:ahLst/>
              <a:cxnLst/>
              <a:rect l="l" t="t" r="r" b="b"/>
              <a:pathLst>
                <a:path w="4151629" h="1170939">
                  <a:moveTo>
                    <a:pt x="0" y="1170431"/>
                  </a:moveTo>
                  <a:lnTo>
                    <a:pt x="4151376" y="1170431"/>
                  </a:lnTo>
                  <a:lnTo>
                    <a:pt x="4151376" y="0"/>
                  </a:lnTo>
                  <a:lnTo>
                    <a:pt x="0" y="0"/>
                  </a:lnTo>
                  <a:lnTo>
                    <a:pt x="0" y="117043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274320" y="2423160"/>
              <a:ext cx="4206240" cy="1170940"/>
            </a:xfrm>
            <a:custGeom>
              <a:avLst/>
              <a:gdLst/>
              <a:ahLst/>
              <a:cxnLst/>
              <a:rect l="l" t="t" r="r" b="b"/>
              <a:pathLst>
                <a:path w="4206240" h="1170939">
                  <a:moveTo>
                    <a:pt x="0" y="1170431"/>
                  </a:moveTo>
                  <a:lnTo>
                    <a:pt x="4206240" y="1170431"/>
                  </a:lnTo>
                  <a:lnTo>
                    <a:pt x="4206240" y="0"/>
                  </a:lnTo>
                  <a:lnTo>
                    <a:pt x="0" y="0"/>
                  </a:lnTo>
                  <a:lnTo>
                    <a:pt x="0" y="1170431"/>
                  </a:lnTo>
                  <a:close/>
                </a:path>
              </a:pathLst>
            </a:custGeom>
            <a:ln w="12700">
              <a:solidFill>
                <a:srgbClr val="E1E8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274320" y="2423160"/>
              <a:ext cx="55244" cy="1170940"/>
            </a:xfrm>
            <a:custGeom>
              <a:avLst/>
              <a:gdLst/>
              <a:ahLst/>
              <a:cxnLst/>
              <a:rect l="l" t="t" r="r" b="b"/>
              <a:pathLst>
                <a:path w="55245" h="1170939">
                  <a:moveTo>
                    <a:pt x="54864" y="0"/>
                  </a:moveTo>
                  <a:lnTo>
                    <a:pt x="0" y="0"/>
                  </a:lnTo>
                  <a:lnTo>
                    <a:pt x="0" y="1170431"/>
                  </a:lnTo>
                  <a:lnTo>
                    <a:pt x="54864" y="1170431"/>
                  </a:lnTo>
                  <a:lnTo>
                    <a:pt x="54864" y="0"/>
                  </a:lnTo>
                  <a:close/>
                </a:path>
              </a:pathLst>
            </a:custGeom>
            <a:solidFill>
              <a:srgbClr val="8A5C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274320" y="2423160"/>
              <a:ext cx="55244" cy="1170940"/>
            </a:xfrm>
            <a:custGeom>
              <a:avLst/>
              <a:gdLst/>
              <a:ahLst/>
              <a:cxnLst/>
              <a:rect l="l" t="t" r="r" b="b"/>
              <a:pathLst>
                <a:path w="55245" h="1170939">
                  <a:moveTo>
                    <a:pt x="0" y="1170431"/>
                  </a:moveTo>
                  <a:lnTo>
                    <a:pt x="54864" y="1170431"/>
                  </a:lnTo>
                  <a:lnTo>
                    <a:pt x="54864" y="0"/>
                  </a:lnTo>
                  <a:lnTo>
                    <a:pt x="0" y="0"/>
                  </a:lnTo>
                  <a:lnTo>
                    <a:pt x="0" y="1170431"/>
                  </a:lnTo>
                  <a:close/>
                </a:path>
              </a:pathLst>
            </a:custGeom>
            <a:ln w="12700">
              <a:solidFill>
                <a:srgbClr val="8A5CF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335534" y="2536316"/>
            <a:ext cx="4138929" cy="79121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02870">
              <a:lnSpc>
                <a:spcPct val="100000"/>
              </a:lnSpc>
              <a:spcBef>
                <a:spcPts val="95"/>
              </a:spcBef>
            </a:pPr>
            <a:r>
              <a:rPr sz="1300" b="1" dirty="0">
                <a:solidFill>
                  <a:srgbClr val="1E293A"/>
                </a:solidFill>
                <a:latin typeface="Times New Roman"/>
                <a:cs typeface="Times New Roman"/>
              </a:rPr>
              <a:t>Fragmented</a:t>
            </a:r>
            <a:r>
              <a:rPr sz="1300" b="1" spc="-60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300" b="1" spc="-10" dirty="0">
                <a:solidFill>
                  <a:srgbClr val="1E293A"/>
                </a:solidFill>
                <a:latin typeface="Times New Roman"/>
                <a:cs typeface="Times New Roman"/>
              </a:rPr>
              <a:t>Systems</a:t>
            </a:r>
            <a:endParaRPr sz="13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35"/>
              </a:spcBef>
            </a:pPr>
            <a:endParaRPr sz="1300">
              <a:latin typeface="Times New Roman"/>
              <a:cs typeface="Times New Roman"/>
            </a:endParaRPr>
          </a:p>
          <a:p>
            <a:pPr marL="102870" marR="212090">
              <a:lnSpc>
                <a:spcPct val="100000"/>
              </a:lnSpc>
            </a:pPr>
            <a:r>
              <a:rPr sz="1100" dirty="0">
                <a:solidFill>
                  <a:srgbClr val="585858"/>
                </a:solidFill>
                <a:latin typeface="Times New Roman"/>
                <a:cs typeface="Times New Roman"/>
              </a:rPr>
              <a:t>Separate</a:t>
            </a:r>
            <a:r>
              <a:rPr sz="1100" spc="-50" dirty="0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585858"/>
                </a:solidFill>
                <a:latin typeface="Times New Roman"/>
                <a:cs typeface="Times New Roman"/>
              </a:rPr>
              <a:t>tools</a:t>
            </a:r>
            <a:r>
              <a:rPr sz="1100" spc="-35" dirty="0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585858"/>
                </a:solidFill>
                <a:latin typeface="Times New Roman"/>
                <a:cs typeface="Times New Roman"/>
              </a:rPr>
              <a:t>for</a:t>
            </a:r>
            <a:r>
              <a:rPr sz="1100" spc="-10" dirty="0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585858"/>
                </a:solidFill>
                <a:latin typeface="Times New Roman"/>
                <a:cs typeface="Times New Roman"/>
              </a:rPr>
              <a:t>procurement,</a:t>
            </a:r>
            <a:r>
              <a:rPr sz="1100" spc="-35" dirty="0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585858"/>
                </a:solidFill>
                <a:latin typeface="Times New Roman"/>
                <a:cs typeface="Times New Roman"/>
              </a:rPr>
              <a:t>sales,</a:t>
            </a:r>
            <a:r>
              <a:rPr sz="1100" spc="-40" dirty="0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585858"/>
                </a:solidFill>
                <a:latin typeface="Times New Roman"/>
                <a:cs typeface="Times New Roman"/>
              </a:rPr>
              <a:t>suppliers,</a:t>
            </a:r>
            <a:r>
              <a:rPr sz="1100" spc="-40" dirty="0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585858"/>
                </a:solidFill>
                <a:latin typeface="Times New Roman"/>
                <a:cs typeface="Times New Roman"/>
              </a:rPr>
              <a:t>and</a:t>
            </a:r>
            <a:r>
              <a:rPr sz="1100" spc="-5" dirty="0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585858"/>
                </a:solidFill>
                <a:latin typeface="Times New Roman"/>
                <a:cs typeface="Times New Roman"/>
              </a:rPr>
              <a:t>reporting</a:t>
            </a:r>
            <a:r>
              <a:rPr sz="1100" spc="-50" dirty="0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sz="1100" spc="-10" dirty="0">
                <a:solidFill>
                  <a:srgbClr val="585858"/>
                </a:solidFill>
                <a:latin typeface="Times New Roman"/>
                <a:cs typeface="Times New Roman"/>
              </a:rPr>
              <a:t>create </a:t>
            </a:r>
            <a:r>
              <a:rPr sz="1100" dirty="0">
                <a:solidFill>
                  <a:srgbClr val="585858"/>
                </a:solidFill>
                <a:latin typeface="Times New Roman"/>
                <a:cs typeface="Times New Roman"/>
              </a:rPr>
              <a:t>data</a:t>
            </a:r>
            <a:r>
              <a:rPr sz="1100" spc="-25" dirty="0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585858"/>
                </a:solidFill>
                <a:latin typeface="Times New Roman"/>
                <a:cs typeface="Times New Roman"/>
              </a:rPr>
              <a:t>silos</a:t>
            </a:r>
            <a:r>
              <a:rPr sz="1100" spc="-30" dirty="0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585858"/>
                </a:solidFill>
                <a:latin typeface="Times New Roman"/>
                <a:cs typeface="Times New Roman"/>
              </a:rPr>
              <a:t>with</a:t>
            </a:r>
            <a:r>
              <a:rPr sz="1100" spc="-25" dirty="0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585858"/>
                </a:solidFill>
                <a:latin typeface="Times New Roman"/>
                <a:cs typeface="Times New Roman"/>
              </a:rPr>
              <a:t>no</a:t>
            </a:r>
            <a:r>
              <a:rPr sz="1100" spc="5" dirty="0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585858"/>
                </a:solidFill>
                <a:latin typeface="Times New Roman"/>
                <a:cs typeface="Times New Roman"/>
              </a:rPr>
              <a:t>centralized</a:t>
            </a:r>
            <a:r>
              <a:rPr sz="1100" spc="-20" dirty="0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585858"/>
                </a:solidFill>
                <a:latin typeface="Times New Roman"/>
                <a:cs typeface="Times New Roman"/>
              </a:rPr>
              <a:t>control</a:t>
            </a:r>
            <a:r>
              <a:rPr sz="1100" spc="-45" dirty="0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585858"/>
                </a:solidFill>
                <a:latin typeface="Times New Roman"/>
                <a:cs typeface="Times New Roman"/>
              </a:rPr>
              <a:t>or</a:t>
            </a:r>
            <a:r>
              <a:rPr sz="1100" spc="-5" dirty="0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585858"/>
                </a:solidFill>
                <a:latin typeface="Times New Roman"/>
                <a:cs typeface="Times New Roman"/>
              </a:rPr>
              <a:t>audit</a:t>
            </a:r>
            <a:r>
              <a:rPr sz="1100" spc="-35" dirty="0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sz="1100" spc="-10" dirty="0">
                <a:solidFill>
                  <a:srgbClr val="585858"/>
                </a:solidFill>
                <a:latin typeface="Times New Roman"/>
                <a:cs typeface="Times New Roman"/>
              </a:rPr>
              <a:t>trail.</a:t>
            </a:r>
            <a:endParaRPr sz="1100">
              <a:latin typeface="Times New Roman"/>
              <a:cs typeface="Times New Roman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4572000" y="2340864"/>
            <a:ext cx="4418965" cy="1383030"/>
            <a:chOff x="4572000" y="2340864"/>
            <a:chExt cx="4418965" cy="1383030"/>
          </a:xfrm>
        </p:grpSpPr>
        <p:pic>
          <p:nvPicPr>
            <p:cNvPr id="26" name="object 2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572000" y="2340864"/>
              <a:ext cx="4418838" cy="1383030"/>
            </a:xfrm>
            <a:prstGeom prst="rect">
              <a:avLst/>
            </a:prstGeom>
          </p:spPr>
        </p:pic>
        <p:sp>
          <p:nvSpPr>
            <p:cNvPr id="27" name="object 27"/>
            <p:cNvSpPr/>
            <p:nvPr/>
          </p:nvSpPr>
          <p:spPr>
            <a:xfrm>
              <a:off x="4764023" y="2423160"/>
              <a:ext cx="4151629" cy="1170940"/>
            </a:xfrm>
            <a:custGeom>
              <a:avLst/>
              <a:gdLst/>
              <a:ahLst/>
              <a:cxnLst/>
              <a:rect l="l" t="t" r="r" b="b"/>
              <a:pathLst>
                <a:path w="4151629" h="1170939">
                  <a:moveTo>
                    <a:pt x="0" y="1170431"/>
                  </a:moveTo>
                  <a:lnTo>
                    <a:pt x="4151376" y="1170431"/>
                  </a:lnTo>
                  <a:lnTo>
                    <a:pt x="4151376" y="0"/>
                  </a:lnTo>
                  <a:lnTo>
                    <a:pt x="0" y="0"/>
                  </a:lnTo>
                  <a:lnTo>
                    <a:pt x="0" y="117043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4709160" y="2423160"/>
              <a:ext cx="4206240" cy="1170940"/>
            </a:xfrm>
            <a:custGeom>
              <a:avLst/>
              <a:gdLst/>
              <a:ahLst/>
              <a:cxnLst/>
              <a:rect l="l" t="t" r="r" b="b"/>
              <a:pathLst>
                <a:path w="4206240" h="1170939">
                  <a:moveTo>
                    <a:pt x="0" y="1170431"/>
                  </a:moveTo>
                  <a:lnTo>
                    <a:pt x="4206240" y="1170431"/>
                  </a:lnTo>
                  <a:lnTo>
                    <a:pt x="4206240" y="0"/>
                  </a:lnTo>
                  <a:lnTo>
                    <a:pt x="0" y="0"/>
                  </a:lnTo>
                  <a:lnTo>
                    <a:pt x="0" y="1170431"/>
                  </a:lnTo>
                  <a:close/>
                </a:path>
              </a:pathLst>
            </a:custGeom>
            <a:ln w="12700">
              <a:solidFill>
                <a:srgbClr val="E1E8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4709160" y="2423160"/>
              <a:ext cx="55244" cy="1170940"/>
            </a:xfrm>
            <a:custGeom>
              <a:avLst/>
              <a:gdLst/>
              <a:ahLst/>
              <a:cxnLst/>
              <a:rect l="l" t="t" r="r" b="b"/>
              <a:pathLst>
                <a:path w="55245" h="1170939">
                  <a:moveTo>
                    <a:pt x="54863" y="0"/>
                  </a:moveTo>
                  <a:lnTo>
                    <a:pt x="0" y="0"/>
                  </a:lnTo>
                  <a:lnTo>
                    <a:pt x="0" y="1170431"/>
                  </a:lnTo>
                  <a:lnTo>
                    <a:pt x="54863" y="1170431"/>
                  </a:lnTo>
                  <a:lnTo>
                    <a:pt x="54863" y="0"/>
                  </a:lnTo>
                  <a:close/>
                </a:path>
              </a:pathLst>
            </a:custGeom>
            <a:solidFill>
              <a:srgbClr val="EE444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4709160" y="2423160"/>
              <a:ext cx="55244" cy="1170940"/>
            </a:xfrm>
            <a:custGeom>
              <a:avLst/>
              <a:gdLst/>
              <a:ahLst/>
              <a:cxnLst/>
              <a:rect l="l" t="t" r="r" b="b"/>
              <a:pathLst>
                <a:path w="55245" h="1170939">
                  <a:moveTo>
                    <a:pt x="0" y="1170431"/>
                  </a:moveTo>
                  <a:lnTo>
                    <a:pt x="54863" y="1170431"/>
                  </a:lnTo>
                  <a:lnTo>
                    <a:pt x="54863" y="0"/>
                  </a:lnTo>
                  <a:lnTo>
                    <a:pt x="0" y="0"/>
                  </a:lnTo>
                  <a:lnTo>
                    <a:pt x="0" y="1170431"/>
                  </a:lnTo>
                  <a:close/>
                </a:path>
              </a:pathLst>
            </a:custGeom>
            <a:ln w="12700">
              <a:solidFill>
                <a:srgbClr val="EE444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1" name="object 31"/>
          <p:cNvSpPr txBox="1"/>
          <p:nvPr/>
        </p:nvSpPr>
        <p:spPr>
          <a:xfrm>
            <a:off x="4770373" y="2536316"/>
            <a:ext cx="4138929" cy="79121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03505">
              <a:lnSpc>
                <a:spcPct val="100000"/>
              </a:lnSpc>
              <a:spcBef>
                <a:spcPts val="95"/>
              </a:spcBef>
            </a:pPr>
            <a:r>
              <a:rPr sz="1300" b="1" dirty="0">
                <a:solidFill>
                  <a:srgbClr val="1E293A"/>
                </a:solidFill>
                <a:latin typeface="Times New Roman"/>
                <a:cs typeface="Times New Roman"/>
              </a:rPr>
              <a:t>No</a:t>
            </a:r>
            <a:r>
              <a:rPr sz="1300" b="1" spc="-25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300" b="1" dirty="0">
                <a:solidFill>
                  <a:srgbClr val="1E293A"/>
                </a:solidFill>
                <a:latin typeface="Times New Roman"/>
                <a:cs typeface="Times New Roman"/>
              </a:rPr>
              <a:t>Risk</a:t>
            </a:r>
            <a:r>
              <a:rPr sz="1300" b="1" spc="-30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300" b="1" spc="-10" dirty="0">
                <a:solidFill>
                  <a:srgbClr val="1E293A"/>
                </a:solidFill>
                <a:latin typeface="Times New Roman"/>
                <a:cs typeface="Times New Roman"/>
              </a:rPr>
              <a:t>Threshold</a:t>
            </a:r>
            <a:r>
              <a:rPr sz="1300" b="1" spc="-70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300" b="1" spc="-10" dirty="0">
                <a:solidFill>
                  <a:srgbClr val="1E293A"/>
                </a:solidFill>
                <a:latin typeface="Times New Roman"/>
                <a:cs typeface="Times New Roman"/>
              </a:rPr>
              <a:t>Alerts</a:t>
            </a:r>
            <a:endParaRPr sz="13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35"/>
              </a:spcBef>
            </a:pPr>
            <a:endParaRPr sz="1300">
              <a:latin typeface="Times New Roman"/>
              <a:cs typeface="Times New Roman"/>
            </a:endParaRPr>
          </a:p>
          <a:p>
            <a:pPr marL="103505" marR="202565">
              <a:lnSpc>
                <a:spcPct val="100000"/>
              </a:lnSpc>
            </a:pPr>
            <a:r>
              <a:rPr sz="1100" dirty="0">
                <a:solidFill>
                  <a:srgbClr val="585858"/>
                </a:solidFill>
                <a:latin typeface="Times New Roman"/>
                <a:cs typeface="Times New Roman"/>
              </a:rPr>
              <a:t>Without</a:t>
            </a:r>
            <a:r>
              <a:rPr sz="1100" spc="-50" dirty="0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585858"/>
                </a:solidFill>
                <a:latin typeface="Times New Roman"/>
                <a:cs typeface="Times New Roman"/>
              </a:rPr>
              <a:t>automated</a:t>
            </a:r>
            <a:r>
              <a:rPr sz="1100" spc="-35" dirty="0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585858"/>
                </a:solidFill>
                <a:latin typeface="Times New Roman"/>
                <a:cs typeface="Times New Roman"/>
              </a:rPr>
              <a:t>threshold</a:t>
            </a:r>
            <a:r>
              <a:rPr sz="1100" spc="-45" dirty="0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585858"/>
                </a:solidFill>
                <a:latin typeface="Times New Roman"/>
                <a:cs typeface="Times New Roman"/>
              </a:rPr>
              <a:t>logic,</a:t>
            </a:r>
            <a:r>
              <a:rPr sz="1100" spc="-25" dirty="0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585858"/>
                </a:solidFill>
                <a:latin typeface="Times New Roman"/>
                <a:cs typeface="Times New Roman"/>
              </a:rPr>
              <a:t>managers</a:t>
            </a:r>
            <a:r>
              <a:rPr sz="1100" spc="-10" dirty="0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585858"/>
                </a:solidFill>
                <a:latin typeface="Times New Roman"/>
                <a:cs typeface="Times New Roman"/>
              </a:rPr>
              <a:t>are</a:t>
            </a:r>
            <a:r>
              <a:rPr sz="1100" spc="-30" dirty="0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585858"/>
                </a:solidFill>
                <a:latin typeface="Times New Roman"/>
                <a:cs typeface="Times New Roman"/>
              </a:rPr>
              <a:t>unaware</a:t>
            </a:r>
            <a:r>
              <a:rPr sz="1100" spc="-20" dirty="0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585858"/>
                </a:solidFill>
                <a:latin typeface="Times New Roman"/>
                <a:cs typeface="Times New Roman"/>
              </a:rPr>
              <a:t>of</a:t>
            </a:r>
            <a:r>
              <a:rPr sz="1100" spc="-15" dirty="0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sz="1100" spc="-10" dirty="0">
                <a:solidFill>
                  <a:srgbClr val="585858"/>
                </a:solidFill>
                <a:latin typeface="Times New Roman"/>
                <a:cs typeface="Times New Roman"/>
              </a:rPr>
              <a:t>critical </a:t>
            </a:r>
            <a:r>
              <a:rPr sz="1100" dirty="0">
                <a:solidFill>
                  <a:srgbClr val="585858"/>
                </a:solidFill>
                <a:latin typeface="Times New Roman"/>
                <a:cs typeface="Times New Roman"/>
              </a:rPr>
              <a:t>inventory</a:t>
            </a:r>
            <a:r>
              <a:rPr sz="1100" spc="-35" dirty="0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585858"/>
                </a:solidFill>
                <a:latin typeface="Times New Roman"/>
                <a:cs typeface="Times New Roman"/>
              </a:rPr>
              <a:t>levels</a:t>
            </a:r>
            <a:r>
              <a:rPr sz="1100" spc="-25" dirty="0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585858"/>
                </a:solidFill>
                <a:latin typeface="Times New Roman"/>
                <a:cs typeface="Times New Roman"/>
              </a:rPr>
              <a:t>until</a:t>
            </a:r>
            <a:r>
              <a:rPr sz="1100" spc="-30" dirty="0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585858"/>
                </a:solidFill>
                <a:latin typeface="Times New Roman"/>
                <a:cs typeface="Times New Roman"/>
              </a:rPr>
              <a:t>operations</a:t>
            </a:r>
            <a:r>
              <a:rPr sz="1100" spc="-40" dirty="0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585858"/>
                </a:solidFill>
                <a:latin typeface="Times New Roman"/>
                <a:cs typeface="Times New Roman"/>
              </a:rPr>
              <a:t>are</a:t>
            </a:r>
            <a:r>
              <a:rPr sz="1100" spc="-20" dirty="0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585858"/>
                </a:solidFill>
                <a:latin typeface="Times New Roman"/>
                <a:cs typeface="Times New Roman"/>
              </a:rPr>
              <a:t>already</a:t>
            </a:r>
            <a:r>
              <a:rPr sz="1100" spc="-30" dirty="0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sz="1100" spc="-10" dirty="0">
                <a:solidFill>
                  <a:srgbClr val="585858"/>
                </a:solidFill>
                <a:latin typeface="Times New Roman"/>
                <a:cs typeface="Times New Roman"/>
              </a:rPr>
              <a:t>disrupted.</a:t>
            </a:r>
            <a:endParaRPr sz="1100">
              <a:latin typeface="Times New Roman"/>
              <a:cs typeface="Times New Roman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137160" y="3666721"/>
            <a:ext cx="4418965" cy="1383030"/>
            <a:chOff x="137160" y="3666721"/>
            <a:chExt cx="4418965" cy="1383030"/>
          </a:xfrm>
        </p:grpSpPr>
        <p:pic>
          <p:nvPicPr>
            <p:cNvPr id="33" name="object 3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7160" y="3666721"/>
              <a:ext cx="4418838" cy="1383030"/>
            </a:xfrm>
            <a:prstGeom prst="rect">
              <a:avLst/>
            </a:prstGeom>
          </p:spPr>
        </p:pic>
        <p:sp>
          <p:nvSpPr>
            <p:cNvPr id="34" name="object 34"/>
            <p:cNvSpPr/>
            <p:nvPr/>
          </p:nvSpPr>
          <p:spPr>
            <a:xfrm>
              <a:off x="329184" y="3749040"/>
              <a:ext cx="4151629" cy="1170940"/>
            </a:xfrm>
            <a:custGeom>
              <a:avLst/>
              <a:gdLst/>
              <a:ahLst/>
              <a:cxnLst/>
              <a:rect l="l" t="t" r="r" b="b"/>
              <a:pathLst>
                <a:path w="4151629" h="1170939">
                  <a:moveTo>
                    <a:pt x="0" y="1170432"/>
                  </a:moveTo>
                  <a:lnTo>
                    <a:pt x="4151376" y="1170432"/>
                  </a:lnTo>
                  <a:lnTo>
                    <a:pt x="4151376" y="0"/>
                  </a:lnTo>
                  <a:lnTo>
                    <a:pt x="0" y="0"/>
                  </a:lnTo>
                  <a:lnTo>
                    <a:pt x="0" y="117043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274320" y="3749040"/>
              <a:ext cx="4206240" cy="1170940"/>
            </a:xfrm>
            <a:custGeom>
              <a:avLst/>
              <a:gdLst/>
              <a:ahLst/>
              <a:cxnLst/>
              <a:rect l="l" t="t" r="r" b="b"/>
              <a:pathLst>
                <a:path w="4206240" h="1170939">
                  <a:moveTo>
                    <a:pt x="0" y="1170432"/>
                  </a:moveTo>
                  <a:lnTo>
                    <a:pt x="4206240" y="1170432"/>
                  </a:lnTo>
                  <a:lnTo>
                    <a:pt x="4206240" y="0"/>
                  </a:lnTo>
                  <a:lnTo>
                    <a:pt x="0" y="0"/>
                  </a:lnTo>
                  <a:lnTo>
                    <a:pt x="0" y="1170432"/>
                  </a:lnTo>
                  <a:close/>
                </a:path>
              </a:pathLst>
            </a:custGeom>
            <a:ln w="12700">
              <a:solidFill>
                <a:srgbClr val="E1E8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274320" y="3749040"/>
              <a:ext cx="55244" cy="1170940"/>
            </a:xfrm>
            <a:custGeom>
              <a:avLst/>
              <a:gdLst/>
              <a:ahLst/>
              <a:cxnLst/>
              <a:rect l="l" t="t" r="r" b="b"/>
              <a:pathLst>
                <a:path w="55245" h="1170939">
                  <a:moveTo>
                    <a:pt x="54864" y="0"/>
                  </a:moveTo>
                  <a:lnTo>
                    <a:pt x="0" y="0"/>
                  </a:lnTo>
                  <a:lnTo>
                    <a:pt x="0" y="1170432"/>
                  </a:lnTo>
                  <a:lnTo>
                    <a:pt x="54864" y="1170432"/>
                  </a:lnTo>
                  <a:lnTo>
                    <a:pt x="54864" y="0"/>
                  </a:lnTo>
                  <a:close/>
                </a:path>
              </a:pathLst>
            </a:custGeom>
            <a:solidFill>
              <a:srgbClr val="F8731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274320" y="3749040"/>
              <a:ext cx="55244" cy="1170940"/>
            </a:xfrm>
            <a:custGeom>
              <a:avLst/>
              <a:gdLst/>
              <a:ahLst/>
              <a:cxnLst/>
              <a:rect l="l" t="t" r="r" b="b"/>
              <a:pathLst>
                <a:path w="55245" h="1170939">
                  <a:moveTo>
                    <a:pt x="0" y="1170432"/>
                  </a:moveTo>
                  <a:lnTo>
                    <a:pt x="54864" y="1170432"/>
                  </a:lnTo>
                  <a:lnTo>
                    <a:pt x="54864" y="0"/>
                  </a:lnTo>
                  <a:lnTo>
                    <a:pt x="0" y="0"/>
                  </a:lnTo>
                  <a:lnTo>
                    <a:pt x="0" y="1170432"/>
                  </a:lnTo>
                  <a:close/>
                </a:path>
              </a:pathLst>
            </a:custGeom>
            <a:ln w="12700">
              <a:solidFill>
                <a:srgbClr val="F8731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8" name="object 38"/>
          <p:cNvSpPr txBox="1"/>
          <p:nvPr/>
        </p:nvSpPr>
        <p:spPr>
          <a:xfrm>
            <a:off x="335534" y="3862527"/>
            <a:ext cx="4138929" cy="79121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02870">
              <a:lnSpc>
                <a:spcPct val="100000"/>
              </a:lnSpc>
              <a:spcBef>
                <a:spcPts val="95"/>
              </a:spcBef>
            </a:pPr>
            <a:r>
              <a:rPr sz="1300" b="1" dirty="0">
                <a:solidFill>
                  <a:srgbClr val="1E293A"/>
                </a:solidFill>
                <a:latin typeface="Times New Roman"/>
                <a:cs typeface="Times New Roman"/>
              </a:rPr>
              <a:t>Poor</a:t>
            </a:r>
            <a:r>
              <a:rPr sz="1300" b="1" spc="-10" dirty="0">
                <a:solidFill>
                  <a:srgbClr val="1E293A"/>
                </a:solidFill>
                <a:latin typeface="Times New Roman"/>
                <a:cs typeface="Times New Roman"/>
              </a:rPr>
              <a:t> Transaction Integrity</a:t>
            </a:r>
            <a:endParaRPr sz="13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35"/>
              </a:spcBef>
            </a:pPr>
            <a:endParaRPr sz="1300">
              <a:latin typeface="Times New Roman"/>
              <a:cs typeface="Times New Roman"/>
            </a:endParaRPr>
          </a:p>
          <a:p>
            <a:pPr marL="102870" marR="293370">
              <a:lnSpc>
                <a:spcPct val="100000"/>
              </a:lnSpc>
            </a:pPr>
            <a:r>
              <a:rPr sz="1100" spc="-10" dirty="0">
                <a:solidFill>
                  <a:srgbClr val="585858"/>
                </a:solidFill>
                <a:latin typeface="Times New Roman"/>
                <a:cs typeface="Times New Roman"/>
              </a:rPr>
              <a:t>Non-</a:t>
            </a:r>
            <a:r>
              <a:rPr sz="1100" dirty="0">
                <a:solidFill>
                  <a:srgbClr val="585858"/>
                </a:solidFill>
                <a:latin typeface="Times New Roman"/>
                <a:cs typeface="Times New Roman"/>
              </a:rPr>
              <a:t>ACID</a:t>
            </a:r>
            <a:r>
              <a:rPr sz="1100" spc="30" dirty="0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585858"/>
                </a:solidFill>
                <a:latin typeface="Times New Roman"/>
                <a:cs typeface="Times New Roman"/>
              </a:rPr>
              <a:t>transactions</a:t>
            </a:r>
            <a:r>
              <a:rPr sz="1100" spc="-40" dirty="0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585858"/>
                </a:solidFill>
                <a:latin typeface="Times New Roman"/>
                <a:cs typeface="Times New Roman"/>
              </a:rPr>
              <a:t>result</a:t>
            </a:r>
            <a:r>
              <a:rPr sz="1100" spc="-50" dirty="0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585858"/>
                </a:solidFill>
                <a:latin typeface="Times New Roman"/>
                <a:cs typeface="Times New Roman"/>
              </a:rPr>
              <a:t>in</a:t>
            </a:r>
            <a:r>
              <a:rPr sz="1100" spc="-20" dirty="0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585858"/>
                </a:solidFill>
                <a:latin typeface="Times New Roman"/>
                <a:cs typeface="Times New Roman"/>
              </a:rPr>
              <a:t>partial</a:t>
            </a:r>
            <a:r>
              <a:rPr sz="1100" spc="-45" dirty="0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585858"/>
                </a:solidFill>
                <a:latin typeface="Times New Roman"/>
                <a:cs typeface="Times New Roman"/>
              </a:rPr>
              <a:t>updates,</a:t>
            </a:r>
            <a:r>
              <a:rPr sz="1100" spc="-45" dirty="0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585858"/>
                </a:solidFill>
                <a:latin typeface="Times New Roman"/>
                <a:cs typeface="Times New Roman"/>
              </a:rPr>
              <a:t>orphaned</a:t>
            </a:r>
            <a:r>
              <a:rPr sz="1100" spc="-45" dirty="0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sz="1100" spc="-10" dirty="0">
                <a:solidFill>
                  <a:srgbClr val="585858"/>
                </a:solidFill>
                <a:latin typeface="Times New Roman"/>
                <a:cs typeface="Times New Roman"/>
              </a:rPr>
              <a:t>records, </a:t>
            </a:r>
            <a:r>
              <a:rPr sz="1100" dirty="0">
                <a:solidFill>
                  <a:srgbClr val="585858"/>
                </a:solidFill>
                <a:latin typeface="Times New Roman"/>
                <a:cs typeface="Times New Roman"/>
              </a:rPr>
              <a:t>and</a:t>
            </a:r>
            <a:r>
              <a:rPr sz="1100" spc="-10" dirty="0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585858"/>
                </a:solidFill>
                <a:latin typeface="Times New Roman"/>
                <a:cs typeface="Times New Roman"/>
              </a:rPr>
              <a:t>data</a:t>
            </a:r>
            <a:r>
              <a:rPr sz="1100" spc="-20" dirty="0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585858"/>
                </a:solidFill>
                <a:latin typeface="Times New Roman"/>
                <a:cs typeface="Times New Roman"/>
              </a:rPr>
              <a:t>corruption</a:t>
            </a:r>
            <a:r>
              <a:rPr sz="1100" spc="-50" dirty="0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585858"/>
                </a:solidFill>
                <a:latin typeface="Times New Roman"/>
                <a:cs typeface="Times New Roman"/>
              </a:rPr>
              <a:t>across</a:t>
            </a:r>
            <a:r>
              <a:rPr sz="1100" spc="-30" dirty="0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585858"/>
                </a:solidFill>
                <a:latin typeface="Times New Roman"/>
                <a:cs typeface="Times New Roman"/>
              </a:rPr>
              <a:t>multi-step</a:t>
            </a:r>
            <a:r>
              <a:rPr sz="1100" spc="-30" dirty="0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585858"/>
                </a:solidFill>
                <a:latin typeface="Times New Roman"/>
                <a:cs typeface="Times New Roman"/>
              </a:rPr>
              <a:t>inventory</a:t>
            </a:r>
            <a:r>
              <a:rPr sz="1100" spc="-40" dirty="0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sz="1100" spc="-10" dirty="0">
                <a:solidFill>
                  <a:srgbClr val="585858"/>
                </a:solidFill>
                <a:latin typeface="Times New Roman"/>
                <a:cs typeface="Times New Roman"/>
              </a:rPr>
              <a:t>operations.</a:t>
            </a:r>
            <a:endParaRPr sz="1100">
              <a:latin typeface="Times New Roman"/>
              <a:cs typeface="Times New Roman"/>
            </a:endParaRPr>
          </a:p>
        </p:txBody>
      </p:sp>
      <p:grpSp>
        <p:nvGrpSpPr>
          <p:cNvPr id="39" name="object 39"/>
          <p:cNvGrpSpPr/>
          <p:nvPr/>
        </p:nvGrpSpPr>
        <p:grpSpPr>
          <a:xfrm>
            <a:off x="4572000" y="3666721"/>
            <a:ext cx="4418965" cy="1383030"/>
            <a:chOff x="4572000" y="3666721"/>
            <a:chExt cx="4418965" cy="1383030"/>
          </a:xfrm>
        </p:grpSpPr>
        <p:pic>
          <p:nvPicPr>
            <p:cNvPr id="40" name="object 4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572000" y="3666721"/>
              <a:ext cx="4418838" cy="1383030"/>
            </a:xfrm>
            <a:prstGeom prst="rect">
              <a:avLst/>
            </a:prstGeom>
          </p:spPr>
        </p:pic>
        <p:sp>
          <p:nvSpPr>
            <p:cNvPr id="41" name="object 41"/>
            <p:cNvSpPr/>
            <p:nvPr/>
          </p:nvSpPr>
          <p:spPr>
            <a:xfrm>
              <a:off x="4764023" y="3749040"/>
              <a:ext cx="4151629" cy="1170940"/>
            </a:xfrm>
            <a:custGeom>
              <a:avLst/>
              <a:gdLst/>
              <a:ahLst/>
              <a:cxnLst/>
              <a:rect l="l" t="t" r="r" b="b"/>
              <a:pathLst>
                <a:path w="4151629" h="1170939">
                  <a:moveTo>
                    <a:pt x="0" y="1170432"/>
                  </a:moveTo>
                  <a:lnTo>
                    <a:pt x="4151376" y="1170432"/>
                  </a:lnTo>
                  <a:lnTo>
                    <a:pt x="4151376" y="0"/>
                  </a:lnTo>
                  <a:lnTo>
                    <a:pt x="0" y="0"/>
                  </a:lnTo>
                  <a:lnTo>
                    <a:pt x="0" y="117043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4709160" y="3749040"/>
              <a:ext cx="4206240" cy="1170940"/>
            </a:xfrm>
            <a:custGeom>
              <a:avLst/>
              <a:gdLst/>
              <a:ahLst/>
              <a:cxnLst/>
              <a:rect l="l" t="t" r="r" b="b"/>
              <a:pathLst>
                <a:path w="4206240" h="1170939">
                  <a:moveTo>
                    <a:pt x="0" y="1170432"/>
                  </a:moveTo>
                  <a:lnTo>
                    <a:pt x="4206240" y="1170432"/>
                  </a:lnTo>
                  <a:lnTo>
                    <a:pt x="4206240" y="0"/>
                  </a:lnTo>
                  <a:lnTo>
                    <a:pt x="0" y="0"/>
                  </a:lnTo>
                  <a:lnTo>
                    <a:pt x="0" y="1170432"/>
                  </a:lnTo>
                  <a:close/>
                </a:path>
              </a:pathLst>
            </a:custGeom>
            <a:ln w="12700">
              <a:solidFill>
                <a:srgbClr val="E1E8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4709160" y="3749040"/>
              <a:ext cx="55244" cy="1170940"/>
            </a:xfrm>
            <a:custGeom>
              <a:avLst/>
              <a:gdLst/>
              <a:ahLst/>
              <a:cxnLst/>
              <a:rect l="l" t="t" r="r" b="b"/>
              <a:pathLst>
                <a:path w="55245" h="1170939">
                  <a:moveTo>
                    <a:pt x="54863" y="0"/>
                  </a:moveTo>
                  <a:lnTo>
                    <a:pt x="0" y="0"/>
                  </a:lnTo>
                  <a:lnTo>
                    <a:pt x="0" y="1170432"/>
                  </a:lnTo>
                  <a:lnTo>
                    <a:pt x="54863" y="1170432"/>
                  </a:lnTo>
                  <a:lnTo>
                    <a:pt x="54863" y="0"/>
                  </a:lnTo>
                  <a:close/>
                </a:path>
              </a:pathLst>
            </a:custGeom>
            <a:solidFill>
              <a:srgbClr val="8A5C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4709160" y="3749040"/>
              <a:ext cx="55244" cy="1170940"/>
            </a:xfrm>
            <a:custGeom>
              <a:avLst/>
              <a:gdLst/>
              <a:ahLst/>
              <a:cxnLst/>
              <a:rect l="l" t="t" r="r" b="b"/>
              <a:pathLst>
                <a:path w="55245" h="1170939">
                  <a:moveTo>
                    <a:pt x="0" y="1170432"/>
                  </a:moveTo>
                  <a:lnTo>
                    <a:pt x="54863" y="1170432"/>
                  </a:lnTo>
                  <a:lnTo>
                    <a:pt x="54863" y="0"/>
                  </a:lnTo>
                  <a:lnTo>
                    <a:pt x="0" y="0"/>
                  </a:lnTo>
                  <a:lnTo>
                    <a:pt x="0" y="1170432"/>
                  </a:lnTo>
                  <a:close/>
                </a:path>
              </a:pathLst>
            </a:custGeom>
            <a:ln w="12700">
              <a:solidFill>
                <a:srgbClr val="8A5CF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5" name="object 45"/>
          <p:cNvSpPr txBox="1"/>
          <p:nvPr/>
        </p:nvSpPr>
        <p:spPr>
          <a:xfrm>
            <a:off x="4770373" y="3862527"/>
            <a:ext cx="4138929" cy="79121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03505">
              <a:lnSpc>
                <a:spcPct val="100000"/>
              </a:lnSpc>
              <a:spcBef>
                <a:spcPts val="95"/>
              </a:spcBef>
            </a:pPr>
            <a:r>
              <a:rPr sz="1300" b="1" dirty="0">
                <a:solidFill>
                  <a:srgbClr val="1E293A"/>
                </a:solidFill>
                <a:latin typeface="Times New Roman"/>
                <a:cs typeface="Times New Roman"/>
              </a:rPr>
              <a:t>Scalability</a:t>
            </a:r>
            <a:r>
              <a:rPr sz="1300" b="1" spc="-30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300" b="1" spc="-10" dirty="0">
                <a:solidFill>
                  <a:srgbClr val="1E293A"/>
                </a:solidFill>
                <a:latin typeface="Times New Roman"/>
                <a:cs typeface="Times New Roman"/>
              </a:rPr>
              <a:t>Limitations</a:t>
            </a:r>
            <a:endParaRPr sz="13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35"/>
              </a:spcBef>
            </a:pPr>
            <a:endParaRPr sz="1300">
              <a:latin typeface="Times New Roman"/>
              <a:cs typeface="Times New Roman"/>
            </a:endParaRPr>
          </a:p>
          <a:p>
            <a:pPr marL="103505" marR="198120">
              <a:lnSpc>
                <a:spcPct val="100000"/>
              </a:lnSpc>
            </a:pPr>
            <a:r>
              <a:rPr sz="1100" dirty="0">
                <a:solidFill>
                  <a:srgbClr val="585858"/>
                </a:solidFill>
                <a:latin typeface="Times New Roman"/>
                <a:cs typeface="Times New Roman"/>
              </a:rPr>
              <a:t>Legacy</a:t>
            </a:r>
            <a:r>
              <a:rPr sz="1100" spc="-10" dirty="0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585858"/>
                </a:solidFill>
                <a:latin typeface="Times New Roman"/>
                <a:cs typeface="Times New Roman"/>
              </a:rPr>
              <a:t>systems</a:t>
            </a:r>
            <a:r>
              <a:rPr sz="1100" spc="-30" dirty="0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585858"/>
                </a:solidFill>
                <a:latin typeface="Times New Roman"/>
                <a:cs typeface="Times New Roman"/>
              </a:rPr>
              <a:t>fail</a:t>
            </a:r>
            <a:r>
              <a:rPr sz="1100" spc="-40" dirty="0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585858"/>
                </a:solidFill>
                <a:latin typeface="Times New Roman"/>
                <a:cs typeface="Times New Roman"/>
              </a:rPr>
              <a:t>to</a:t>
            </a:r>
            <a:r>
              <a:rPr sz="1100" spc="-20" dirty="0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585858"/>
                </a:solidFill>
                <a:latin typeface="Times New Roman"/>
                <a:cs typeface="Times New Roman"/>
              </a:rPr>
              <a:t>scale</a:t>
            </a:r>
            <a:r>
              <a:rPr sz="1100" spc="-40" dirty="0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585858"/>
                </a:solidFill>
                <a:latin typeface="Times New Roman"/>
                <a:cs typeface="Times New Roman"/>
              </a:rPr>
              <a:t>with</a:t>
            </a:r>
            <a:r>
              <a:rPr sz="1100" spc="-30" dirty="0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585858"/>
                </a:solidFill>
                <a:latin typeface="Times New Roman"/>
                <a:cs typeface="Times New Roman"/>
              </a:rPr>
              <a:t>growing</a:t>
            </a:r>
            <a:r>
              <a:rPr sz="1100" spc="-15" dirty="0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585858"/>
                </a:solidFill>
                <a:latin typeface="Times New Roman"/>
                <a:cs typeface="Times New Roman"/>
              </a:rPr>
              <a:t>product</a:t>
            </a:r>
            <a:r>
              <a:rPr sz="1100" spc="-25" dirty="0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585858"/>
                </a:solidFill>
                <a:latin typeface="Times New Roman"/>
                <a:cs typeface="Times New Roman"/>
              </a:rPr>
              <a:t>catalogs,</a:t>
            </a:r>
            <a:r>
              <a:rPr sz="1100" spc="-40" dirty="0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sz="1100" spc="-10" dirty="0">
                <a:solidFill>
                  <a:srgbClr val="585858"/>
                </a:solidFill>
                <a:latin typeface="Times New Roman"/>
                <a:cs typeface="Times New Roman"/>
              </a:rPr>
              <a:t>multiple warehouses,</a:t>
            </a:r>
            <a:r>
              <a:rPr sz="1100" spc="-30" dirty="0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585858"/>
                </a:solidFill>
                <a:latin typeface="Times New Roman"/>
                <a:cs typeface="Times New Roman"/>
              </a:rPr>
              <a:t>and</a:t>
            </a:r>
            <a:r>
              <a:rPr sz="1100" spc="5" dirty="0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585858"/>
                </a:solidFill>
                <a:latin typeface="Times New Roman"/>
                <a:cs typeface="Times New Roman"/>
              </a:rPr>
              <a:t>increasing</a:t>
            </a:r>
            <a:r>
              <a:rPr sz="1100" spc="-30" dirty="0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585858"/>
                </a:solidFill>
                <a:latin typeface="Times New Roman"/>
                <a:cs typeface="Times New Roman"/>
              </a:rPr>
              <a:t>transaction</a:t>
            </a:r>
            <a:r>
              <a:rPr sz="1100" spc="-30" dirty="0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sz="1100" spc="-10" dirty="0">
                <a:solidFill>
                  <a:srgbClr val="585858"/>
                </a:solidFill>
                <a:latin typeface="Times New Roman"/>
                <a:cs typeface="Times New Roman"/>
              </a:rPr>
              <a:t>volumes.</a:t>
            </a:r>
            <a:endParaRPr sz="11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Why</a:t>
            </a:r>
            <a:r>
              <a:rPr spc="-60" dirty="0"/>
              <a:t> </a:t>
            </a:r>
            <a:r>
              <a:rPr dirty="0"/>
              <a:t>Build</a:t>
            </a:r>
            <a:r>
              <a:rPr spc="-45" dirty="0"/>
              <a:t> </a:t>
            </a:r>
            <a:r>
              <a:rPr dirty="0"/>
              <a:t>This</a:t>
            </a:r>
            <a:r>
              <a:rPr spc="-55" dirty="0"/>
              <a:t> </a:t>
            </a:r>
            <a:r>
              <a:rPr spc="-10" dirty="0"/>
              <a:t>Project?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44500" y="670305"/>
            <a:ext cx="2513965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i="1" dirty="0">
                <a:solidFill>
                  <a:srgbClr val="0891B1"/>
                </a:solidFill>
                <a:latin typeface="Times New Roman"/>
                <a:cs typeface="Times New Roman"/>
              </a:rPr>
              <a:t>Motivation,</a:t>
            </a:r>
            <a:r>
              <a:rPr sz="1300" i="1" spc="-25" dirty="0">
                <a:solidFill>
                  <a:srgbClr val="0891B1"/>
                </a:solidFill>
                <a:latin typeface="Times New Roman"/>
                <a:cs typeface="Times New Roman"/>
              </a:rPr>
              <a:t> </a:t>
            </a:r>
            <a:r>
              <a:rPr sz="1300" i="1" dirty="0">
                <a:solidFill>
                  <a:srgbClr val="0891B1"/>
                </a:solidFill>
                <a:latin typeface="Times New Roman"/>
                <a:cs typeface="Times New Roman"/>
              </a:rPr>
              <a:t>Goals</a:t>
            </a:r>
            <a:r>
              <a:rPr sz="1300" i="1" spc="-35" dirty="0">
                <a:solidFill>
                  <a:srgbClr val="0891B1"/>
                </a:solidFill>
                <a:latin typeface="Times New Roman"/>
                <a:cs typeface="Times New Roman"/>
              </a:rPr>
              <a:t> </a:t>
            </a:r>
            <a:r>
              <a:rPr sz="1300" i="1" dirty="0">
                <a:solidFill>
                  <a:srgbClr val="0891B1"/>
                </a:solidFill>
                <a:latin typeface="Times New Roman"/>
                <a:cs typeface="Times New Roman"/>
              </a:rPr>
              <a:t>&amp;</a:t>
            </a:r>
            <a:r>
              <a:rPr sz="1300" i="1" spc="-40" dirty="0">
                <a:solidFill>
                  <a:srgbClr val="0891B1"/>
                </a:solidFill>
                <a:latin typeface="Times New Roman"/>
                <a:cs typeface="Times New Roman"/>
              </a:rPr>
              <a:t> </a:t>
            </a:r>
            <a:r>
              <a:rPr sz="1300" i="1" dirty="0">
                <a:solidFill>
                  <a:srgbClr val="0891B1"/>
                </a:solidFill>
                <a:latin typeface="Times New Roman"/>
                <a:cs typeface="Times New Roman"/>
              </a:rPr>
              <a:t>Academic</a:t>
            </a:r>
            <a:r>
              <a:rPr sz="1300" i="1" spc="-35" dirty="0">
                <a:solidFill>
                  <a:srgbClr val="0891B1"/>
                </a:solidFill>
                <a:latin typeface="Times New Roman"/>
                <a:cs typeface="Times New Roman"/>
              </a:rPr>
              <a:t> </a:t>
            </a:r>
            <a:r>
              <a:rPr sz="1300" i="1" spc="-10" dirty="0">
                <a:solidFill>
                  <a:srgbClr val="0891B1"/>
                </a:solidFill>
                <a:latin typeface="Times New Roman"/>
                <a:cs typeface="Times New Roman"/>
              </a:rPr>
              <a:t>Value</a:t>
            </a:r>
            <a:endParaRPr sz="1300">
              <a:latin typeface="Times New Roman"/>
              <a:cs typeface="Times New Roman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37160" y="923544"/>
            <a:ext cx="4418965" cy="1419860"/>
            <a:chOff x="137160" y="923544"/>
            <a:chExt cx="4418965" cy="141986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7160" y="923544"/>
              <a:ext cx="4418838" cy="1419605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274320" y="1005840"/>
              <a:ext cx="4206240" cy="1207135"/>
            </a:xfrm>
            <a:custGeom>
              <a:avLst/>
              <a:gdLst/>
              <a:ahLst/>
              <a:cxnLst/>
              <a:rect l="l" t="t" r="r" b="b"/>
              <a:pathLst>
                <a:path w="4206240" h="1207135">
                  <a:moveTo>
                    <a:pt x="0" y="1207008"/>
                  </a:moveTo>
                  <a:lnTo>
                    <a:pt x="4206240" y="1207008"/>
                  </a:lnTo>
                  <a:lnTo>
                    <a:pt x="4206240" y="0"/>
                  </a:lnTo>
                  <a:lnTo>
                    <a:pt x="0" y="0"/>
                  </a:lnTo>
                  <a:lnTo>
                    <a:pt x="0" y="1207008"/>
                  </a:lnTo>
                  <a:close/>
                </a:path>
              </a:pathLst>
            </a:custGeom>
            <a:ln w="12699">
              <a:solidFill>
                <a:srgbClr val="E1E8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274320" y="1005839"/>
            <a:ext cx="502920" cy="1207135"/>
          </a:xfrm>
          <a:prstGeom prst="rect">
            <a:avLst/>
          </a:prstGeom>
          <a:solidFill>
            <a:srgbClr val="0891B1">
              <a:alpha val="85096"/>
            </a:srgbClr>
          </a:solidFill>
          <a:ln w="12700">
            <a:solidFill>
              <a:srgbClr val="0891B1"/>
            </a:solidFill>
          </a:ln>
        </p:spPr>
        <p:txBody>
          <a:bodyPr vert="horz" wrap="square" lIns="0" tIns="5969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470"/>
              </a:spcBef>
            </a:pPr>
            <a:endParaRPr sz="24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sz="2400" b="1" spc="-50" dirty="0">
                <a:solidFill>
                  <a:srgbClr val="0891B1"/>
                </a:solidFill>
                <a:latin typeface="Times New Roman"/>
                <a:cs typeface="Times New Roman"/>
              </a:rPr>
              <a:t>1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77240" y="1005839"/>
            <a:ext cx="3703320" cy="1207135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124460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980"/>
              </a:spcBef>
            </a:pPr>
            <a:r>
              <a:rPr sz="1300" b="1" spc="-10" dirty="0">
                <a:solidFill>
                  <a:srgbClr val="1E293A"/>
                </a:solidFill>
                <a:latin typeface="Times New Roman"/>
                <a:cs typeface="Times New Roman"/>
              </a:rPr>
              <a:t>Industry-</a:t>
            </a:r>
            <a:r>
              <a:rPr sz="1300" b="1" dirty="0">
                <a:solidFill>
                  <a:srgbClr val="1E293A"/>
                </a:solidFill>
                <a:latin typeface="Times New Roman"/>
                <a:cs typeface="Times New Roman"/>
              </a:rPr>
              <a:t>Relevant</a:t>
            </a:r>
            <a:r>
              <a:rPr sz="1300" b="1" spc="-10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300" b="1" dirty="0">
                <a:solidFill>
                  <a:srgbClr val="1E293A"/>
                </a:solidFill>
                <a:latin typeface="Times New Roman"/>
                <a:cs typeface="Times New Roman"/>
              </a:rPr>
              <a:t>Tech</a:t>
            </a:r>
            <a:r>
              <a:rPr sz="1300" b="1" spc="-30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300" b="1" spc="-10" dirty="0">
                <a:solidFill>
                  <a:srgbClr val="1E293A"/>
                </a:solidFill>
                <a:latin typeface="Times New Roman"/>
                <a:cs typeface="Times New Roman"/>
              </a:rPr>
              <a:t>Stack</a:t>
            </a:r>
            <a:endParaRPr sz="1300">
              <a:latin typeface="Times New Roman"/>
              <a:cs typeface="Times New Roman"/>
            </a:endParaRPr>
          </a:p>
          <a:p>
            <a:pPr marL="91440" marR="80010">
              <a:lnSpc>
                <a:spcPct val="100000"/>
              </a:lnSpc>
              <a:spcBef>
                <a:spcPts val="1285"/>
              </a:spcBef>
            </a:pPr>
            <a:r>
              <a:rPr sz="1100" dirty="0">
                <a:solidFill>
                  <a:srgbClr val="93A2B8"/>
                </a:solidFill>
                <a:latin typeface="Times New Roman"/>
                <a:cs typeface="Times New Roman"/>
              </a:rPr>
              <a:t>Spring</a:t>
            </a:r>
            <a:r>
              <a:rPr sz="1100" spc="-25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93A2B8"/>
                </a:solidFill>
                <a:latin typeface="Times New Roman"/>
                <a:cs typeface="Times New Roman"/>
              </a:rPr>
              <a:t>Boot,</a:t>
            </a:r>
            <a:r>
              <a:rPr sz="1100" spc="-15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93A2B8"/>
                </a:solidFill>
                <a:latin typeface="Times New Roman"/>
                <a:cs typeface="Times New Roman"/>
              </a:rPr>
              <a:t>Thymeleaf,</a:t>
            </a:r>
            <a:r>
              <a:rPr sz="1100" spc="-40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93A2B8"/>
                </a:solidFill>
                <a:latin typeface="Times New Roman"/>
                <a:cs typeface="Times New Roman"/>
              </a:rPr>
              <a:t>JPA,</a:t>
            </a:r>
            <a:r>
              <a:rPr sz="1100" spc="-15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93A2B8"/>
                </a:solidFill>
                <a:latin typeface="Times New Roman"/>
                <a:cs typeface="Times New Roman"/>
              </a:rPr>
              <a:t>and</a:t>
            </a:r>
            <a:r>
              <a:rPr sz="1100" spc="-10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93A2B8"/>
                </a:solidFill>
                <a:latin typeface="Times New Roman"/>
                <a:cs typeface="Times New Roman"/>
              </a:rPr>
              <a:t>MySQL</a:t>
            </a:r>
            <a:r>
              <a:rPr sz="1100" spc="10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93A2B8"/>
                </a:solidFill>
                <a:latin typeface="Times New Roman"/>
                <a:cs typeface="Times New Roman"/>
              </a:rPr>
              <a:t>are</a:t>
            </a:r>
            <a:r>
              <a:rPr sz="1100" spc="-10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93A2B8"/>
                </a:solidFill>
                <a:latin typeface="Times New Roman"/>
                <a:cs typeface="Times New Roman"/>
              </a:rPr>
              <a:t>widely</a:t>
            </a:r>
            <a:r>
              <a:rPr sz="1100" spc="-25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100" spc="-10" dirty="0">
                <a:solidFill>
                  <a:srgbClr val="93A2B8"/>
                </a:solidFill>
                <a:latin typeface="Times New Roman"/>
                <a:cs typeface="Times New Roman"/>
              </a:rPr>
              <a:t>adopted </a:t>
            </a:r>
            <a:r>
              <a:rPr sz="1100" dirty="0">
                <a:solidFill>
                  <a:srgbClr val="93A2B8"/>
                </a:solidFill>
                <a:latin typeface="Times New Roman"/>
                <a:cs typeface="Times New Roman"/>
              </a:rPr>
              <a:t>in</a:t>
            </a:r>
            <a:r>
              <a:rPr sz="1100" spc="-5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93A2B8"/>
                </a:solidFill>
                <a:latin typeface="Times New Roman"/>
                <a:cs typeface="Times New Roman"/>
              </a:rPr>
              <a:t>enterprise</a:t>
            </a:r>
            <a:r>
              <a:rPr sz="1100" spc="-30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93A2B8"/>
                </a:solidFill>
                <a:latin typeface="Times New Roman"/>
                <a:cs typeface="Times New Roman"/>
              </a:rPr>
              <a:t>Java</a:t>
            </a:r>
            <a:r>
              <a:rPr sz="1100" spc="-20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93A2B8"/>
                </a:solidFill>
                <a:latin typeface="Times New Roman"/>
                <a:cs typeface="Times New Roman"/>
              </a:rPr>
              <a:t>development.</a:t>
            </a:r>
            <a:r>
              <a:rPr sz="1100" spc="-15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93A2B8"/>
                </a:solidFill>
                <a:latin typeface="Times New Roman"/>
                <a:cs typeface="Times New Roman"/>
              </a:rPr>
              <a:t>This</a:t>
            </a:r>
            <a:r>
              <a:rPr sz="1100" spc="-20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93A2B8"/>
                </a:solidFill>
                <a:latin typeface="Times New Roman"/>
                <a:cs typeface="Times New Roman"/>
              </a:rPr>
              <a:t>project</a:t>
            </a:r>
            <a:r>
              <a:rPr sz="1100" spc="-40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93A2B8"/>
                </a:solidFill>
                <a:latin typeface="Times New Roman"/>
                <a:cs typeface="Times New Roman"/>
              </a:rPr>
              <a:t>provides</a:t>
            </a:r>
            <a:r>
              <a:rPr sz="1100" spc="-30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100" spc="-10" dirty="0">
                <a:solidFill>
                  <a:srgbClr val="93A2B8"/>
                </a:solidFill>
                <a:latin typeface="Times New Roman"/>
                <a:cs typeface="Times New Roman"/>
              </a:rPr>
              <a:t>hands-</a:t>
            </a:r>
            <a:r>
              <a:rPr sz="1100" spc="500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93A2B8"/>
                </a:solidFill>
                <a:latin typeface="Times New Roman"/>
                <a:cs typeface="Times New Roman"/>
              </a:rPr>
              <a:t>on</a:t>
            </a:r>
            <a:r>
              <a:rPr sz="1100" spc="25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93A2B8"/>
                </a:solidFill>
                <a:latin typeface="Times New Roman"/>
                <a:cs typeface="Times New Roman"/>
              </a:rPr>
              <a:t>expertise</a:t>
            </a:r>
            <a:r>
              <a:rPr sz="1100" spc="-15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93A2B8"/>
                </a:solidFill>
                <a:latin typeface="Times New Roman"/>
                <a:cs typeface="Times New Roman"/>
              </a:rPr>
              <a:t>in</a:t>
            </a:r>
            <a:r>
              <a:rPr sz="1100" spc="-5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100" spc="-10" dirty="0">
                <a:solidFill>
                  <a:srgbClr val="93A2B8"/>
                </a:solidFill>
                <a:latin typeface="Times New Roman"/>
                <a:cs typeface="Times New Roman"/>
              </a:rPr>
              <a:t>production-</a:t>
            </a:r>
            <a:r>
              <a:rPr sz="1100" dirty="0">
                <a:solidFill>
                  <a:srgbClr val="93A2B8"/>
                </a:solidFill>
                <a:latin typeface="Times New Roman"/>
                <a:cs typeface="Times New Roman"/>
              </a:rPr>
              <a:t>level</a:t>
            </a:r>
            <a:r>
              <a:rPr sz="1100" spc="-20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100" spc="-10" dirty="0">
                <a:solidFill>
                  <a:srgbClr val="93A2B8"/>
                </a:solidFill>
                <a:latin typeface="Times New Roman"/>
                <a:cs typeface="Times New Roman"/>
              </a:rPr>
              <a:t>frameworks.</a:t>
            </a:r>
            <a:endParaRPr sz="1100">
              <a:latin typeface="Times New Roman"/>
              <a:cs typeface="Times New Roman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4572000" y="923544"/>
            <a:ext cx="4418965" cy="1419860"/>
            <a:chOff x="4572000" y="923544"/>
            <a:chExt cx="4418965" cy="1419860"/>
          </a:xfrm>
        </p:grpSpPr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572000" y="923544"/>
              <a:ext cx="4418838" cy="1419605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4709160" y="1005840"/>
              <a:ext cx="4206240" cy="1207135"/>
            </a:xfrm>
            <a:custGeom>
              <a:avLst/>
              <a:gdLst/>
              <a:ahLst/>
              <a:cxnLst/>
              <a:rect l="l" t="t" r="r" b="b"/>
              <a:pathLst>
                <a:path w="4206240" h="1207135">
                  <a:moveTo>
                    <a:pt x="0" y="1207008"/>
                  </a:moveTo>
                  <a:lnTo>
                    <a:pt x="4206240" y="1207008"/>
                  </a:lnTo>
                  <a:lnTo>
                    <a:pt x="4206240" y="0"/>
                  </a:lnTo>
                  <a:lnTo>
                    <a:pt x="0" y="0"/>
                  </a:lnTo>
                  <a:lnTo>
                    <a:pt x="0" y="1207008"/>
                  </a:lnTo>
                  <a:close/>
                </a:path>
              </a:pathLst>
            </a:custGeom>
            <a:ln w="12699">
              <a:solidFill>
                <a:srgbClr val="E1E8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4709159" y="1005839"/>
            <a:ext cx="502920" cy="1207135"/>
          </a:xfrm>
          <a:prstGeom prst="rect">
            <a:avLst/>
          </a:prstGeom>
          <a:solidFill>
            <a:srgbClr val="8A5CF6">
              <a:alpha val="85096"/>
            </a:srgbClr>
          </a:solidFill>
          <a:ln w="12700">
            <a:solidFill>
              <a:srgbClr val="8A5CF6"/>
            </a:solidFill>
          </a:ln>
        </p:spPr>
        <p:txBody>
          <a:bodyPr vert="horz" wrap="square" lIns="0" tIns="5969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470"/>
              </a:spcBef>
            </a:pPr>
            <a:endParaRPr sz="24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sz="2400" b="1" spc="-50" dirty="0">
                <a:solidFill>
                  <a:srgbClr val="8A5CF6"/>
                </a:solidFill>
                <a:latin typeface="Times New Roman"/>
                <a:cs typeface="Times New Roman"/>
              </a:rPr>
              <a:t>2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212079" y="1005839"/>
            <a:ext cx="3703320" cy="1207135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124460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980"/>
              </a:spcBef>
            </a:pPr>
            <a:r>
              <a:rPr sz="1300" b="1" dirty="0">
                <a:solidFill>
                  <a:srgbClr val="1E293A"/>
                </a:solidFill>
                <a:latin typeface="Times New Roman"/>
                <a:cs typeface="Times New Roman"/>
              </a:rPr>
              <a:t>Solve</a:t>
            </a:r>
            <a:r>
              <a:rPr sz="1300" b="1" spc="-30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300" b="1" dirty="0">
                <a:solidFill>
                  <a:srgbClr val="1E293A"/>
                </a:solidFill>
                <a:latin typeface="Times New Roman"/>
                <a:cs typeface="Times New Roman"/>
              </a:rPr>
              <a:t>a</a:t>
            </a:r>
            <a:r>
              <a:rPr sz="1300" b="1" spc="-35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300" b="1" dirty="0">
                <a:solidFill>
                  <a:srgbClr val="1E293A"/>
                </a:solidFill>
                <a:latin typeface="Times New Roman"/>
                <a:cs typeface="Times New Roman"/>
              </a:rPr>
              <a:t>Universal</a:t>
            </a:r>
            <a:r>
              <a:rPr sz="1300" b="1" spc="-25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300" b="1" dirty="0">
                <a:solidFill>
                  <a:srgbClr val="1E293A"/>
                </a:solidFill>
                <a:latin typeface="Times New Roman"/>
                <a:cs typeface="Times New Roman"/>
              </a:rPr>
              <a:t>Business</a:t>
            </a:r>
            <a:r>
              <a:rPr sz="1300" b="1" spc="-35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300" b="1" spc="-20" dirty="0">
                <a:solidFill>
                  <a:srgbClr val="1E293A"/>
                </a:solidFill>
                <a:latin typeface="Times New Roman"/>
                <a:cs typeface="Times New Roman"/>
              </a:rPr>
              <a:t>Need</a:t>
            </a:r>
            <a:endParaRPr sz="1300">
              <a:latin typeface="Times New Roman"/>
              <a:cs typeface="Times New Roman"/>
            </a:endParaRPr>
          </a:p>
          <a:p>
            <a:pPr marL="92075" marR="84455">
              <a:lnSpc>
                <a:spcPct val="100000"/>
              </a:lnSpc>
              <a:spcBef>
                <a:spcPts val="1285"/>
              </a:spcBef>
            </a:pPr>
            <a:r>
              <a:rPr sz="1100" dirty="0">
                <a:solidFill>
                  <a:srgbClr val="93A2B8"/>
                </a:solidFill>
                <a:latin typeface="Times New Roman"/>
                <a:cs typeface="Times New Roman"/>
              </a:rPr>
              <a:t>Every</a:t>
            </a:r>
            <a:r>
              <a:rPr sz="1100" spc="-15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93A2B8"/>
                </a:solidFill>
                <a:latin typeface="Times New Roman"/>
                <a:cs typeface="Times New Roman"/>
              </a:rPr>
              <a:t>business</a:t>
            </a:r>
            <a:r>
              <a:rPr sz="1100" spc="-45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93A2B8"/>
                </a:solidFill>
                <a:latin typeface="Times New Roman"/>
                <a:cs typeface="Times New Roman"/>
              </a:rPr>
              <a:t>—</a:t>
            </a:r>
            <a:r>
              <a:rPr sz="1100" spc="-5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93A2B8"/>
                </a:solidFill>
                <a:latin typeface="Times New Roman"/>
                <a:cs typeface="Times New Roman"/>
              </a:rPr>
              <a:t>retail,</a:t>
            </a:r>
            <a:r>
              <a:rPr sz="1100" spc="-45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93A2B8"/>
                </a:solidFill>
                <a:latin typeface="Times New Roman"/>
                <a:cs typeface="Times New Roman"/>
              </a:rPr>
              <a:t>manufacturing,</a:t>
            </a:r>
            <a:r>
              <a:rPr sz="1100" spc="-30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93A2B8"/>
                </a:solidFill>
                <a:latin typeface="Times New Roman"/>
                <a:cs typeface="Times New Roman"/>
              </a:rPr>
              <a:t>healthcare</a:t>
            </a:r>
            <a:r>
              <a:rPr sz="1100" spc="-30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93A2B8"/>
                </a:solidFill>
                <a:latin typeface="Times New Roman"/>
                <a:cs typeface="Times New Roman"/>
              </a:rPr>
              <a:t>—</a:t>
            </a:r>
            <a:r>
              <a:rPr sz="1100" spc="-20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100" spc="-10" dirty="0">
                <a:solidFill>
                  <a:srgbClr val="93A2B8"/>
                </a:solidFill>
                <a:latin typeface="Times New Roman"/>
                <a:cs typeface="Times New Roman"/>
              </a:rPr>
              <a:t>requires </a:t>
            </a:r>
            <a:r>
              <a:rPr sz="1100" dirty="0">
                <a:solidFill>
                  <a:srgbClr val="93A2B8"/>
                </a:solidFill>
                <a:latin typeface="Times New Roman"/>
                <a:cs typeface="Times New Roman"/>
              </a:rPr>
              <a:t>inventory</a:t>
            </a:r>
            <a:r>
              <a:rPr sz="1100" spc="-35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93A2B8"/>
                </a:solidFill>
                <a:latin typeface="Times New Roman"/>
                <a:cs typeface="Times New Roman"/>
              </a:rPr>
              <a:t>control.</a:t>
            </a:r>
            <a:r>
              <a:rPr sz="1100" spc="-35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93A2B8"/>
                </a:solidFill>
                <a:latin typeface="Times New Roman"/>
                <a:cs typeface="Times New Roman"/>
              </a:rPr>
              <a:t>Building</a:t>
            </a:r>
            <a:r>
              <a:rPr sz="1100" spc="-35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93A2B8"/>
                </a:solidFill>
                <a:latin typeface="Times New Roman"/>
                <a:cs typeface="Times New Roman"/>
              </a:rPr>
              <a:t>this</a:t>
            </a:r>
            <a:r>
              <a:rPr sz="1100" spc="-30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93A2B8"/>
                </a:solidFill>
                <a:latin typeface="Times New Roman"/>
                <a:cs typeface="Times New Roman"/>
              </a:rPr>
              <a:t>system</a:t>
            </a:r>
            <a:r>
              <a:rPr sz="1100" spc="-25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93A2B8"/>
                </a:solidFill>
                <a:latin typeface="Times New Roman"/>
                <a:cs typeface="Times New Roman"/>
              </a:rPr>
              <a:t>addresses</a:t>
            </a:r>
            <a:r>
              <a:rPr sz="1100" spc="-45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93A2B8"/>
                </a:solidFill>
                <a:latin typeface="Times New Roman"/>
                <a:cs typeface="Times New Roman"/>
              </a:rPr>
              <a:t>a</a:t>
            </a:r>
            <a:r>
              <a:rPr sz="1100" spc="-5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100" spc="-10" dirty="0">
                <a:solidFill>
                  <a:srgbClr val="93A2B8"/>
                </a:solidFill>
                <a:latin typeface="Times New Roman"/>
                <a:cs typeface="Times New Roman"/>
              </a:rPr>
              <a:t>universal </a:t>
            </a:r>
            <a:r>
              <a:rPr sz="1100" dirty="0">
                <a:solidFill>
                  <a:srgbClr val="93A2B8"/>
                </a:solidFill>
                <a:latin typeface="Times New Roman"/>
                <a:cs typeface="Times New Roman"/>
              </a:rPr>
              <a:t>operational</a:t>
            </a:r>
            <a:r>
              <a:rPr sz="1100" spc="-40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100" spc="-10" dirty="0">
                <a:solidFill>
                  <a:srgbClr val="93A2B8"/>
                </a:solidFill>
                <a:latin typeface="Times New Roman"/>
                <a:cs typeface="Times New Roman"/>
              </a:rPr>
              <a:t>challenge.</a:t>
            </a:r>
            <a:endParaRPr sz="1100">
              <a:latin typeface="Times New Roman"/>
              <a:cs typeface="Times New Roman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137160" y="2276855"/>
            <a:ext cx="4418965" cy="1419860"/>
            <a:chOff x="137160" y="2276855"/>
            <a:chExt cx="4418965" cy="1419860"/>
          </a:xfrm>
        </p:grpSpPr>
        <p:pic>
          <p:nvPicPr>
            <p:cNvPr id="15" name="object 1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7160" y="2276855"/>
              <a:ext cx="4418838" cy="1419606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274320" y="2359151"/>
              <a:ext cx="4206240" cy="1207135"/>
            </a:xfrm>
            <a:custGeom>
              <a:avLst/>
              <a:gdLst/>
              <a:ahLst/>
              <a:cxnLst/>
              <a:rect l="l" t="t" r="r" b="b"/>
              <a:pathLst>
                <a:path w="4206240" h="1207135">
                  <a:moveTo>
                    <a:pt x="0" y="1207008"/>
                  </a:moveTo>
                  <a:lnTo>
                    <a:pt x="4206240" y="1207008"/>
                  </a:lnTo>
                  <a:lnTo>
                    <a:pt x="4206240" y="0"/>
                  </a:lnTo>
                  <a:lnTo>
                    <a:pt x="0" y="0"/>
                  </a:lnTo>
                  <a:lnTo>
                    <a:pt x="0" y="1207008"/>
                  </a:lnTo>
                  <a:close/>
                </a:path>
              </a:pathLst>
            </a:custGeom>
            <a:ln w="12699">
              <a:solidFill>
                <a:srgbClr val="E1E8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274320" y="2359151"/>
            <a:ext cx="502920" cy="1207135"/>
          </a:xfrm>
          <a:prstGeom prst="rect">
            <a:avLst/>
          </a:prstGeom>
          <a:solidFill>
            <a:srgbClr val="0FB881">
              <a:alpha val="85096"/>
            </a:srgbClr>
          </a:solidFill>
          <a:ln w="12700">
            <a:solidFill>
              <a:srgbClr val="0FB881"/>
            </a:solidFill>
          </a:ln>
        </p:spPr>
        <p:txBody>
          <a:bodyPr vert="horz" wrap="square" lIns="0" tIns="6032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475"/>
              </a:spcBef>
            </a:pPr>
            <a:endParaRPr sz="24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sz="2400" b="1" spc="-50" dirty="0">
                <a:solidFill>
                  <a:srgbClr val="0FB881"/>
                </a:solidFill>
                <a:latin typeface="Times New Roman"/>
                <a:cs typeface="Times New Roman"/>
              </a:rPr>
              <a:t>3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777240" y="2359151"/>
            <a:ext cx="3703320" cy="1207135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125095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985"/>
              </a:spcBef>
            </a:pPr>
            <a:r>
              <a:rPr sz="1300" b="1" dirty="0">
                <a:solidFill>
                  <a:srgbClr val="1E293A"/>
                </a:solidFill>
                <a:latin typeface="Times New Roman"/>
                <a:cs typeface="Times New Roman"/>
              </a:rPr>
              <a:t>Practice</a:t>
            </a:r>
            <a:r>
              <a:rPr sz="1300" b="1" spc="-15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300" b="1" dirty="0">
                <a:solidFill>
                  <a:srgbClr val="1E293A"/>
                </a:solidFill>
                <a:latin typeface="Times New Roman"/>
                <a:cs typeface="Times New Roman"/>
              </a:rPr>
              <a:t>Layered</a:t>
            </a:r>
            <a:r>
              <a:rPr sz="1300" b="1" spc="-25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300" b="1" spc="-10" dirty="0">
                <a:solidFill>
                  <a:srgbClr val="1E293A"/>
                </a:solidFill>
                <a:latin typeface="Times New Roman"/>
                <a:cs typeface="Times New Roman"/>
              </a:rPr>
              <a:t>Architecture</a:t>
            </a:r>
            <a:endParaRPr sz="1300">
              <a:latin typeface="Times New Roman"/>
              <a:cs typeface="Times New Roman"/>
            </a:endParaRPr>
          </a:p>
          <a:p>
            <a:pPr marL="91440" marR="396875">
              <a:lnSpc>
                <a:spcPct val="100000"/>
              </a:lnSpc>
              <a:spcBef>
                <a:spcPts val="1280"/>
              </a:spcBef>
            </a:pPr>
            <a:r>
              <a:rPr sz="1100" dirty="0">
                <a:solidFill>
                  <a:srgbClr val="93A2B8"/>
                </a:solidFill>
                <a:latin typeface="Times New Roman"/>
                <a:cs typeface="Times New Roman"/>
              </a:rPr>
              <a:t>Implementing</a:t>
            </a:r>
            <a:r>
              <a:rPr sz="1100" spc="-20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93A2B8"/>
                </a:solidFill>
                <a:latin typeface="Times New Roman"/>
                <a:cs typeface="Times New Roman"/>
              </a:rPr>
              <a:t>Controller</a:t>
            </a:r>
            <a:r>
              <a:rPr sz="1100" spc="-40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93A2B8"/>
                </a:solidFill>
                <a:latin typeface="Times New Roman"/>
                <a:cs typeface="Times New Roman"/>
              </a:rPr>
              <a:t>→</a:t>
            </a:r>
            <a:r>
              <a:rPr sz="1100" spc="5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93A2B8"/>
                </a:solidFill>
                <a:latin typeface="Times New Roman"/>
                <a:cs typeface="Times New Roman"/>
              </a:rPr>
              <a:t>Service</a:t>
            </a:r>
            <a:r>
              <a:rPr sz="1100" spc="-20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93A2B8"/>
                </a:solidFill>
                <a:latin typeface="Times New Roman"/>
                <a:cs typeface="Times New Roman"/>
              </a:rPr>
              <a:t>→</a:t>
            </a:r>
            <a:r>
              <a:rPr sz="1100" spc="-5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93A2B8"/>
                </a:solidFill>
                <a:latin typeface="Times New Roman"/>
                <a:cs typeface="Times New Roman"/>
              </a:rPr>
              <a:t>Repository</a:t>
            </a:r>
            <a:r>
              <a:rPr sz="1100" spc="-45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100" spc="-10" dirty="0">
                <a:solidFill>
                  <a:srgbClr val="93A2B8"/>
                </a:solidFill>
                <a:latin typeface="Times New Roman"/>
                <a:cs typeface="Times New Roman"/>
              </a:rPr>
              <a:t>layers </a:t>
            </a:r>
            <a:r>
              <a:rPr sz="1100" dirty="0">
                <a:solidFill>
                  <a:srgbClr val="93A2B8"/>
                </a:solidFill>
                <a:latin typeface="Times New Roman"/>
                <a:cs typeface="Times New Roman"/>
              </a:rPr>
              <a:t>enforces</a:t>
            </a:r>
            <a:r>
              <a:rPr sz="1100" spc="-50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93A2B8"/>
                </a:solidFill>
                <a:latin typeface="Times New Roman"/>
                <a:cs typeface="Times New Roman"/>
              </a:rPr>
              <a:t>clean</a:t>
            </a:r>
            <a:r>
              <a:rPr sz="1100" spc="-20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93A2B8"/>
                </a:solidFill>
                <a:latin typeface="Times New Roman"/>
                <a:cs typeface="Times New Roman"/>
              </a:rPr>
              <a:t>separation</a:t>
            </a:r>
            <a:r>
              <a:rPr sz="1100" spc="-35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93A2B8"/>
                </a:solidFill>
                <a:latin typeface="Times New Roman"/>
                <a:cs typeface="Times New Roman"/>
              </a:rPr>
              <a:t>of</a:t>
            </a:r>
            <a:r>
              <a:rPr sz="1100" spc="-5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93A2B8"/>
                </a:solidFill>
                <a:latin typeface="Times New Roman"/>
                <a:cs typeface="Times New Roman"/>
              </a:rPr>
              <a:t>concerns</a:t>
            </a:r>
            <a:r>
              <a:rPr sz="1100" spc="-30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93A2B8"/>
                </a:solidFill>
                <a:latin typeface="Times New Roman"/>
                <a:cs typeface="Times New Roman"/>
              </a:rPr>
              <a:t>—</a:t>
            </a:r>
            <a:r>
              <a:rPr sz="1100" spc="-10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93A2B8"/>
                </a:solidFill>
                <a:latin typeface="Times New Roman"/>
                <a:cs typeface="Times New Roman"/>
              </a:rPr>
              <a:t>a</a:t>
            </a:r>
            <a:r>
              <a:rPr sz="1100" spc="5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100" spc="-10" dirty="0">
                <a:solidFill>
                  <a:srgbClr val="93A2B8"/>
                </a:solidFill>
                <a:latin typeface="Times New Roman"/>
                <a:cs typeface="Times New Roman"/>
              </a:rPr>
              <a:t>fundamental </a:t>
            </a:r>
            <a:r>
              <a:rPr sz="1100" dirty="0">
                <a:solidFill>
                  <a:srgbClr val="93A2B8"/>
                </a:solidFill>
                <a:latin typeface="Times New Roman"/>
                <a:cs typeface="Times New Roman"/>
              </a:rPr>
              <a:t>software</a:t>
            </a:r>
            <a:r>
              <a:rPr sz="1100" spc="-45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93A2B8"/>
                </a:solidFill>
                <a:latin typeface="Times New Roman"/>
                <a:cs typeface="Times New Roman"/>
              </a:rPr>
              <a:t>engineering</a:t>
            </a:r>
            <a:r>
              <a:rPr sz="1100" spc="-25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100" spc="-10" dirty="0">
                <a:solidFill>
                  <a:srgbClr val="93A2B8"/>
                </a:solidFill>
                <a:latin typeface="Times New Roman"/>
                <a:cs typeface="Times New Roman"/>
              </a:rPr>
              <a:t>principle.</a:t>
            </a:r>
            <a:endParaRPr sz="1100">
              <a:latin typeface="Times New Roman"/>
              <a:cs typeface="Times New Roman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4572000" y="2276855"/>
            <a:ext cx="4418965" cy="1419860"/>
            <a:chOff x="4572000" y="2276855"/>
            <a:chExt cx="4418965" cy="1419860"/>
          </a:xfrm>
        </p:grpSpPr>
        <p:pic>
          <p:nvPicPr>
            <p:cNvPr id="20" name="object 2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572000" y="2276855"/>
              <a:ext cx="4418838" cy="1419606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4709160" y="2359151"/>
              <a:ext cx="4206240" cy="1207135"/>
            </a:xfrm>
            <a:custGeom>
              <a:avLst/>
              <a:gdLst/>
              <a:ahLst/>
              <a:cxnLst/>
              <a:rect l="l" t="t" r="r" b="b"/>
              <a:pathLst>
                <a:path w="4206240" h="1207135">
                  <a:moveTo>
                    <a:pt x="0" y="1207008"/>
                  </a:moveTo>
                  <a:lnTo>
                    <a:pt x="4206240" y="1207008"/>
                  </a:lnTo>
                  <a:lnTo>
                    <a:pt x="4206240" y="0"/>
                  </a:lnTo>
                  <a:lnTo>
                    <a:pt x="0" y="0"/>
                  </a:lnTo>
                  <a:lnTo>
                    <a:pt x="0" y="1207008"/>
                  </a:lnTo>
                  <a:close/>
                </a:path>
              </a:pathLst>
            </a:custGeom>
            <a:ln w="12699">
              <a:solidFill>
                <a:srgbClr val="E1E8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4709159" y="2359151"/>
            <a:ext cx="502920" cy="1207135"/>
          </a:xfrm>
          <a:prstGeom prst="rect">
            <a:avLst/>
          </a:prstGeom>
          <a:solidFill>
            <a:srgbClr val="F59E0A">
              <a:alpha val="85096"/>
            </a:srgbClr>
          </a:solidFill>
          <a:ln w="12700">
            <a:solidFill>
              <a:srgbClr val="F59E0A"/>
            </a:solidFill>
          </a:ln>
        </p:spPr>
        <p:txBody>
          <a:bodyPr vert="horz" wrap="square" lIns="0" tIns="6032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475"/>
              </a:spcBef>
            </a:pPr>
            <a:endParaRPr sz="24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sz="2400" b="1" spc="-50" dirty="0">
                <a:solidFill>
                  <a:srgbClr val="F59E0A"/>
                </a:solidFill>
                <a:latin typeface="Times New Roman"/>
                <a:cs typeface="Times New Roman"/>
              </a:rPr>
              <a:t>4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5212079" y="2359151"/>
            <a:ext cx="3703320" cy="1207135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125095" rIns="0" bIns="0" rtlCol="0">
            <a:spAutoFit/>
          </a:bodyPr>
          <a:lstStyle/>
          <a:p>
            <a:pPr marL="92075" algn="just">
              <a:lnSpc>
                <a:spcPct val="100000"/>
              </a:lnSpc>
              <a:spcBef>
                <a:spcPts val="985"/>
              </a:spcBef>
            </a:pPr>
            <a:r>
              <a:rPr sz="1300" b="1" dirty="0">
                <a:solidFill>
                  <a:srgbClr val="1E293A"/>
                </a:solidFill>
                <a:latin typeface="Times New Roman"/>
                <a:cs typeface="Times New Roman"/>
              </a:rPr>
              <a:t>Learn</a:t>
            </a:r>
            <a:r>
              <a:rPr sz="1300" b="1" spc="-50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300" b="1" dirty="0">
                <a:solidFill>
                  <a:srgbClr val="1E293A"/>
                </a:solidFill>
                <a:latin typeface="Times New Roman"/>
                <a:cs typeface="Times New Roman"/>
              </a:rPr>
              <a:t>Transactional</a:t>
            </a:r>
            <a:r>
              <a:rPr sz="1300" b="1" spc="-35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300" b="1" spc="-10" dirty="0">
                <a:solidFill>
                  <a:srgbClr val="1E293A"/>
                </a:solidFill>
                <a:latin typeface="Times New Roman"/>
                <a:cs typeface="Times New Roman"/>
              </a:rPr>
              <a:t>Integrity</a:t>
            </a:r>
            <a:endParaRPr sz="1300">
              <a:latin typeface="Times New Roman"/>
              <a:cs typeface="Times New Roman"/>
            </a:endParaRPr>
          </a:p>
          <a:p>
            <a:pPr marL="92075" marR="226060" algn="just">
              <a:lnSpc>
                <a:spcPct val="100000"/>
              </a:lnSpc>
              <a:spcBef>
                <a:spcPts val="1280"/>
              </a:spcBef>
            </a:pPr>
            <a:r>
              <a:rPr sz="1100" dirty="0">
                <a:solidFill>
                  <a:srgbClr val="93A2B8"/>
                </a:solidFill>
                <a:latin typeface="Times New Roman"/>
                <a:cs typeface="Times New Roman"/>
              </a:rPr>
              <a:t>Applying </a:t>
            </a:r>
            <a:r>
              <a:rPr sz="1100" spc="-10" dirty="0">
                <a:solidFill>
                  <a:srgbClr val="93A2B8"/>
                </a:solidFill>
                <a:latin typeface="Times New Roman"/>
                <a:cs typeface="Times New Roman"/>
              </a:rPr>
              <a:t>@Transactional</a:t>
            </a:r>
            <a:r>
              <a:rPr sz="1100" spc="-25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93A2B8"/>
                </a:solidFill>
                <a:latin typeface="Times New Roman"/>
                <a:cs typeface="Times New Roman"/>
              </a:rPr>
              <a:t>annotations</a:t>
            </a:r>
            <a:r>
              <a:rPr sz="1100" spc="-15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93A2B8"/>
                </a:solidFill>
                <a:latin typeface="Times New Roman"/>
                <a:cs typeface="Times New Roman"/>
              </a:rPr>
              <a:t>and</a:t>
            </a:r>
            <a:r>
              <a:rPr sz="1100" spc="10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93A2B8"/>
                </a:solidFill>
                <a:latin typeface="Times New Roman"/>
                <a:cs typeface="Times New Roman"/>
              </a:rPr>
              <a:t>handling</a:t>
            </a:r>
            <a:r>
              <a:rPr sz="1100" spc="-25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100" spc="-10" dirty="0">
                <a:solidFill>
                  <a:srgbClr val="93A2B8"/>
                </a:solidFill>
                <a:latin typeface="Times New Roman"/>
                <a:cs typeface="Times New Roman"/>
              </a:rPr>
              <a:t>rollback </a:t>
            </a:r>
            <a:r>
              <a:rPr sz="1100" dirty="0">
                <a:solidFill>
                  <a:srgbClr val="93A2B8"/>
                </a:solidFill>
                <a:latin typeface="Times New Roman"/>
                <a:cs typeface="Times New Roman"/>
              </a:rPr>
              <a:t>scenarios</a:t>
            </a:r>
            <a:r>
              <a:rPr sz="1100" spc="-45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93A2B8"/>
                </a:solidFill>
                <a:latin typeface="Times New Roman"/>
                <a:cs typeface="Times New Roman"/>
              </a:rPr>
              <a:t>builds</a:t>
            </a:r>
            <a:r>
              <a:rPr sz="1100" spc="-30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93A2B8"/>
                </a:solidFill>
                <a:latin typeface="Times New Roman"/>
                <a:cs typeface="Times New Roman"/>
              </a:rPr>
              <a:t>understanding</a:t>
            </a:r>
            <a:r>
              <a:rPr sz="1100" spc="-35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93A2B8"/>
                </a:solidFill>
                <a:latin typeface="Times New Roman"/>
                <a:cs typeface="Times New Roman"/>
              </a:rPr>
              <a:t>of</a:t>
            </a:r>
            <a:r>
              <a:rPr sz="1100" spc="-5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100" spc="-20" dirty="0">
                <a:solidFill>
                  <a:srgbClr val="93A2B8"/>
                </a:solidFill>
                <a:latin typeface="Times New Roman"/>
                <a:cs typeface="Times New Roman"/>
              </a:rPr>
              <a:t>ACID-</a:t>
            </a:r>
            <a:r>
              <a:rPr sz="1100" dirty="0">
                <a:solidFill>
                  <a:srgbClr val="93A2B8"/>
                </a:solidFill>
                <a:latin typeface="Times New Roman"/>
                <a:cs typeface="Times New Roman"/>
              </a:rPr>
              <a:t>compliant</a:t>
            </a:r>
            <a:r>
              <a:rPr sz="1100" spc="20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100" spc="-10" dirty="0">
                <a:solidFill>
                  <a:srgbClr val="93A2B8"/>
                </a:solidFill>
                <a:latin typeface="Times New Roman"/>
                <a:cs typeface="Times New Roman"/>
              </a:rPr>
              <a:t>database </a:t>
            </a:r>
            <a:r>
              <a:rPr sz="1100" dirty="0">
                <a:solidFill>
                  <a:srgbClr val="93A2B8"/>
                </a:solidFill>
                <a:latin typeface="Times New Roman"/>
                <a:cs typeface="Times New Roman"/>
              </a:rPr>
              <a:t>operations</a:t>
            </a:r>
            <a:r>
              <a:rPr sz="1100" spc="-50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93A2B8"/>
                </a:solidFill>
                <a:latin typeface="Times New Roman"/>
                <a:cs typeface="Times New Roman"/>
              </a:rPr>
              <a:t>in</a:t>
            </a:r>
            <a:r>
              <a:rPr sz="1100" spc="-10" dirty="0">
                <a:solidFill>
                  <a:srgbClr val="93A2B8"/>
                </a:solidFill>
                <a:latin typeface="Times New Roman"/>
                <a:cs typeface="Times New Roman"/>
              </a:rPr>
              <a:t> practice.</a:t>
            </a:r>
            <a:endParaRPr sz="1100">
              <a:latin typeface="Times New Roman"/>
              <a:cs typeface="Times New Roman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137160" y="3630166"/>
            <a:ext cx="4418965" cy="1419860"/>
            <a:chOff x="137160" y="3630166"/>
            <a:chExt cx="4418965" cy="1419860"/>
          </a:xfrm>
        </p:grpSpPr>
        <p:pic>
          <p:nvPicPr>
            <p:cNvPr id="25" name="object 2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7160" y="3630166"/>
              <a:ext cx="4418838" cy="1419606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274320" y="3712464"/>
              <a:ext cx="4206240" cy="1207135"/>
            </a:xfrm>
            <a:custGeom>
              <a:avLst/>
              <a:gdLst/>
              <a:ahLst/>
              <a:cxnLst/>
              <a:rect l="l" t="t" r="r" b="b"/>
              <a:pathLst>
                <a:path w="4206240" h="1207135">
                  <a:moveTo>
                    <a:pt x="0" y="1207008"/>
                  </a:moveTo>
                  <a:lnTo>
                    <a:pt x="4206240" y="1207008"/>
                  </a:lnTo>
                  <a:lnTo>
                    <a:pt x="4206240" y="0"/>
                  </a:lnTo>
                  <a:lnTo>
                    <a:pt x="0" y="0"/>
                  </a:lnTo>
                  <a:lnTo>
                    <a:pt x="0" y="1207008"/>
                  </a:lnTo>
                  <a:close/>
                </a:path>
              </a:pathLst>
            </a:custGeom>
            <a:ln w="12699">
              <a:solidFill>
                <a:srgbClr val="E1E8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/>
          <p:cNvSpPr txBox="1"/>
          <p:nvPr/>
        </p:nvSpPr>
        <p:spPr>
          <a:xfrm>
            <a:off x="274320" y="3712464"/>
            <a:ext cx="502920" cy="1207135"/>
          </a:xfrm>
          <a:prstGeom prst="rect">
            <a:avLst/>
          </a:prstGeom>
          <a:solidFill>
            <a:srgbClr val="F87316">
              <a:alpha val="85096"/>
            </a:srgbClr>
          </a:solidFill>
          <a:ln w="12700">
            <a:solidFill>
              <a:srgbClr val="F87316"/>
            </a:solidFill>
          </a:ln>
        </p:spPr>
        <p:txBody>
          <a:bodyPr vert="horz" wrap="square" lIns="0" tIns="6032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475"/>
              </a:spcBef>
            </a:pPr>
            <a:endParaRPr sz="24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sz="2400" b="1" spc="-50" dirty="0">
                <a:solidFill>
                  <a:srgbClr val="F87316"/>
                </a:solidFill>
                <a:latin typeface="Times New Roman"/>
                <a:cs typeface="Times New Roman"/>
              </a:rPr>
              <a:t>5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777240" y="3712464"/>
            <a:ext cx="3703320" cy="1207135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125730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990"/>
              </a:spcBef>
            </a:pPr>
            <a:r>
              <a:rPr sz="1300" b="1" dirty="0">
                <a:solidFill>
                  <a:srgbClr val="1E293A"/>
                </a:solidFill>
                <a:latin typeface="Times New Roman"/>
                <a:cs typeface="Times New Roman"/>
              </a:rPr>
              <a:t>Build</a:t>
            </a:r>
            <a:r>
              <a:rPr sz="1300" b="1" spc="-10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300" b="1" spc="-20" dirty="0">
                <a:solidFill>
                  <a:srgbClr val="1E293A"/>
                </a:solidFill>
                <a:latin typeface="Times New Roman"/>
                <a:cs typeface="Times New Roman"/>
              </a:rPr>
              <a:t>End-</a:t>
            </a:r>
            <a:r>
              <a:rPr sz="1300" b="1" spc="-10" dirty="0">
                <a:solidFill>
                  <a:srgbClr val="1E293A"/>
                </a:solidFill>
                <a:latin typeface="Times New Roman"/>
                <a:cs typeface="Times New Roman"/>
              </a:rPr>
              <a:t>to-</a:t>
            </a:r>
            <a:r>
              <a:rPr sz="1300" b="1" dirty="0">
                <a:solidFill>
                  <a:srgbClr val="1E293A"/>
                </a:solidFill>
                <a:latin typeface="Times New Roman"/>
                <a:cs typeface="Times New Roman"/>
              </a:rPr>
              <a:t>End</a:t>
            </a:r>
            <a:r>
              <a:rPr sz="1300" b="1" spc="10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300" b="1" spc="-10" dirty="0">
                <a:solidFill>
                  <a:srgbClr val="1E293A"/>
                </a:solidFill>
                <a:latin typeface="Times New Roman"/>
                <a:cs typeface="Times New Roman"/>
              </a:rPr>
              <a:t>Features</a:t>
            </a:r>
            <a:endParaRPr sz="1300">
              <a:latin typeface="Times New Roman"/>
              <a:cs typeface="Times New Roman"/>
            </a:endParaRPr>
          </a:p>
          <a:p>
            <a:pPr marL="91440" marR="118110">
              <a:lnSpc>
                <a:spcPct val="100000"/>
              </a:lnSpc>
              <a:spcBef>
                <a:spcPts val="1280"/>
              </a:spcBef>
            </a:pPr>
            <a:r>
              <a:rPr sz="1100" dirty="0">
                <a:solidFill>
                  <a:srgbClr val="93A2B8"/>
                </a:solidFill>
                <a:latin typeface="Times New Roman"/>
                <a:cs typeface="Times New Roman"/>
              </a:rPr>
              <a:t>From</a:t>
            </a:r>
            <a:r>
              <a:rPr sz="1100" spc="-10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93A2B8"/>
                </a:solidFill>
                <a:latin typeface="Times New Roman"/>
                <a:cs typeface="Times New Roman"/>
              </a:rPr>
              <a:t>authentication</a:t>
            </a:r>
            <a:r>
              <a:rPr sz="1100" spc="-40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93A2B8"/>
                </a:solidFill>
                <a:latin typeface="Times New Roman"/>
                <a:cs typeface="Times New Roman"/>
              </a:rPr>
              <a:t>to</a:t>
            </a:r>
            <a:r>
              <a:rPr sz="1100" spc="-5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93A2B8"/>
                </a:solidFill>
                <a:latin typeface="Times New Roman"/>
                <a:cs typeface="Times New Roman"/>
              </a:rPr>
              <a:t>simulation</a:t>
            </a:r>
            <a:r>
              <a:rPr sz="1100" spc="-40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93A2B8"/>
                </a:solidFill>
                <a:latin typeface="Times New Roman"/>
                <a:cs typeface="Times New Roman"/>
              </a:rPr>
              <a:t>modules and</a:t>
            </a:r>
            <a:r>
              <a:rPr sz="1100" spc="-5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93A2B8"/>
                </a:solidFill>
                <a:latin typeface="Times New Roman"/>
                <a:cs typeface="Times New Roman"/>
              </a:rPr>
              <a:t>risk</a:t>
            </a:r>
            <a:r>
              <a:rPr sz="1100" spc="-25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93A2B8"/>
                </a:solidFill>
                <a:latin typeface="Times New Roman"/>
                <a:cs typeface="Times New Roman"/>
              </a:rPr>
              <a:t>alerts,</a:t>
            </a:r>
            <a:r>
              <a:rPr sz="1100" spc="-35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100" spc="-20" dirty="0">
                <a:solidFill>
                  <a:srgbClr val="93A2B8"/>
                </a:solidFill>
                <a:latin typeface="Times New Roman"/>
                <a:cs typeface="Times New Roman"/>
              </a:rPr>
              <a:t>this </a:t>
            </a:r>
            <a:r>
              <a:rPr sz="1100" dirty="0">
                <a:solidFill>
                  <a:srgbClr val="93A2B8"/>
                </a:solidFill>
                <a:latin typeface="Times New Roman"/>
                <a:cs typeface="Times New Roman"/>
              </a:rPr>
              <a:t>project</a:t>
            </a:r>
            <a:r>
              <a:rPr sz="1100" spc="-45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93A2B8"/>
                </a:solidFill>
                <a:latin typeface="Times New Roman"/>
                <a:cs typeface="Times New Roman"/>
              </a:rPr>
              <a:t>integrates</a:t>
            </a:r>
            <a:r>
              <a:rPr sz="1100" spc="-40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93A2B8"/>
                </a:solidFill>
                <a:latin typeface="Times New Roman"/>
                <a:cs typeface="Times New Roman"/>
              </a:rPr>
              <a:t>full-cycle</a:t>
            </a:r>
            <a:r>
              <a:rPr sz="1100" spc="-30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93A2B8"/>
                </a:solidFill>
                <a:latin typeface="Times New Roman"/>
                <a:cs typeface="Times New Roman"/>
              </a:rPr>
              <a:t>development:</a:t>
            </a:r>
            <a:r>
              <a:rPr sz="1100" spc="-30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93A2B8"/>
                </a:solidFill>
                <a:latin typeface="Times New Roman"/>
                <a:cs typeface="Times New Roman"/>
              </a:rPr>
              <a:t>backend,</a:t>
            </a:r>
            <a:r>
              <a:rPr sz="1100" spc="-5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100" spc="-10" dirty="0">
                <a:solidFill>
                  <a:srgbClr val="93A2B8"/>
                </a:solidFill>
                <a:latin typeface="Times New Roman"/>
                <a:cs typeface="Times New Roman"/>
              </a:rPr>
              <a:t>frontend, </a:t>
            </a:r>
            <a:r>
              <a:rPr sz="1100" dirty="0">
                <a:solidFill>
                  <a:srgbClr val="93A2B8"/>
                </a:solidFill>
                <a:latin typeface="Times New Roman"/>
                <a:cs typeface="Times New Roman"/>
              </a:rPr>
              <a:t>database,</a:t>
            </a:r>
            <a:r>
              <a:rPr sz="1100" spc="-50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93A2B8"/>
                </a:solidFill>
                <a:latin typeface="Times New Roman"/>
                <a:cs typeface="Times New Roman"/>
              </a:rPr>
              <a:t>and</a:t>
            </a:r>
            <a:r>
              <a:rPr sz="1100" spc="10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93A2B8"/>
                </a:solidFill>
                <a:latin typeface="Times New Roman"/>
                <a:cs typeface="Times New Roman"/>
              </a:rPr>
              <a:t>business</a:t>
            </a:r>
            <a:r>
              <a:rPr sz="1100" spc="-40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100" spc="-10" dirty="0">
                <a:solidFill>
                  <a:srgbClr val="93A2B8"/>
                </a:solidFill>
                <a:latin typeface="Times New Roman"/>
                <a:cs typeface="Times New Roman"/>
              </a:rPr>
              <a:t>logic.</a:t>
            </a:r>
            <a:endParaRPr sz="1100">
              <a:latin typeface="Times New Roman"/>
              <a:cs typeface="Times New Roman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4572000" y="3630166"/>
            <a:ext cx="4418965" cy="1419860"/>
            <a:chOff x="4572000" y="3630166"/>
            <a:chExt cx="4418965" cy="1419860"/>
          </a:xfrm>
        </p:grpSpPr>
        <p:pic>
          <p:nvPicPr>
            <p:cNvPr id="30" name="object 3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572000" y="3630166"/>
              <a:ext cx="4418838" cy="1419606"/>
            </a:xfrm>
            <a:prstGeom prst="rect">
              <a:avLst/>
            </a:prstGeom>
          </p:spPr>
        </p:pic>
        <p:sp>
          <p:nvSpPr>
            <p:cNvPr id="31" name="object 31"/>
            <p:cNvSpPr/>
            <p:nvPr/>
          </p:nvSpPr>
          <p:spPr>
            <a:xfrm>
              <a:off x="4709160" y="3712464"/>
              <a:ext cx="4206240" cy="1207135"/>
            </a:xfrm>
            <a:custGeom>
              <a:avLst/>
              <a:gdLst/>
              <a:ahLst/>
              <a:cxnLst/>
              <a:rect l="l" t="t" r="r" b="b"/>
              <a:pathLst>
                <a:path w="4206240" h="1207135">
                  <a:moveTo>
                    <a:pt x="0" y="1207008"/>
                  </a:moveTo>
                  <a:lnTo>
                    <a:pt x="4206240" y="1207008"/>
                  </a:lnTo>
                  <a:lnTo>
                    <a:pt x="4206240" y="0"/>
                  </a:lnTo>
                  <a:lnTo>
                    <a:pt x="0" y="0"/>
                  </a:lnTo>
                  <a:lnTo>
                    <a:pt x="0" y="1207008"/>
                  </a:lnTo>
                  <a:close/>
                </a:path>
              </a:pathLst>
            </a:custGeom>
            <a:ln w="12699">
              <a:solidFill>
                <a:srgbClr val="E1E8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2" name="object 32"/>
          <p:cNvSpPr txBox="1"/>
          <p:nvPr/>
        </p:nvSpPr>
        <p:spPr>
          <a:xfrm>
            <a:off x="4709159" y="3712464"/>
            <a:ext cx="502920" cy="1207135"/>
          </a:xfrm>
          <a:prstGeom prst="rect">
            <a:avLst/>
          </a:prstGeom>
          <a:solidFill>
            <a:srgbClr val="EE4444">
              <a:alpha val="85096"/>
            </a:srgbClr>
          </a:solidFill>
          <a:ln w="12700">
            <a:solidFill>
              <a:srgbClr val="EE4444"/>
            </a:solidFill>
          </a:ln>
        </p:spPr>
        <p:txBody>
          <a:bodyPr vert="horz" wrap="square" lIns="0" tIns="6032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475"/>
              </a:spcBef>
            </a:pPr>
            <a:endParaRPr sz="24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sz="2400" b="1" spc="-50" dirty="0">
                <a:solidFill>
                  <a:srgbClr val="EE4444"/>
                </a:solidFill>
                <a:latin typeface="Times New Roman"/>
                <a:cs typeface="Times New Roman"/>
              </a:rPr>
              <a:t>6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5212079" y="3712464"/>
            <a:ext cx="3703320" cy="1207135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125730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990"/>
              </a:spcBef>
            </a:pPr>
            <a:r>
              <a:rPr sz="1300" b="1" dirty="0">
                <a:solidFill>
                  <a:srgbClr val="1E293A"/>
                </a:solidFill>
                <a:latin typeface="Times New Roman"/>
                <a:cs typeface="Times New Roman"/>
              </a:rPr>
              <a:t>Academic</a:t>
            </a:r>
            <a:r>
              <a:rPr sz="1300" b="1" spc="-30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300" b="1" dirty="0">
                <a:solidFill>
                  <a:srgbClr val="1E293A"/>
                </a:solidFill>
                <a:latin typeface="Times New Roman"/>
                <a:cs typeface="Times New Roman"/>
              </a:rPr>
              <a:t>&amp;</a:t>
            </a:r>
            <a:r>
              <a:rPr sz="1300" b="1" spc="-35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300" b="1" dirty="0">
                <a:solidFill>
                  <a:srgbClr val="1E293A"/>
                </a:solidFill>
                <a:latin typeface="Times New Roman"/>
                <a:cs typeface="Times New Roman"/>
              </a:rPr>
              <a:t>Career</a:t>
            </a:r>
            <a:r>
              <a:rPr sz="1300" b="1" spc="-65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300" b="1" dirty="0">
                <a:solidFill>
                  <a:srgbClr val="1E293A"/>
                </a:solidFill>
                <a:latin typeface="Times New Roman"/>
                <a:cs typeface="Times New Roman"/>
              </a:rPr>
              <a:t>Portfolio</a:t>
            </a:r>
            <a:r>
              <a:rPr sz="1300" b="1" spc="-35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300" b="1" spc="-10" dirty="0">
                <a:solidFill>
                  <a:srgbClr val="1E293A"/>
                </a:solidFill>
                <a:latin typeface="Times New Roman"/>
                <a:cs typeface="Times New Roman"/>
              </a:rPr>
              <a:t>Value</a:t>
            </a:r>
            <a:endParaRPr sz="1300">
              <a:latin typeface="Times New Roman"/>
              <a:cs typeface="Times New Roman"/>
            </a:endParaRPr>
          </a:p>
          <a:p>
            <a:pPr marL="92075" marR="175895">
              <a:lnSpc>
                <a:spcPct val="100000"/>
              </a:lnSpc>
              <a:spcBef>
                <a:spcPts val="1280"/>
              </a:spcBef>
            </a:pPr>
            <a:r>
              <a:rPr sz="1100" dirty="0">
                <a:solidFill>
                  <a:srgbClr val="93A2B8"/>
                </a:solidFill>
                <a:latin typeface="Times New Roman"/>
                <a:cs typeface="Times New Roman"/>
              </a:rPr>
              <a:t>A</a:t>
            </a:r>
            <a:r>
              <a:rPr sz="1100" spc="5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93A2B8"/>
                </a:solidFill>
                <a:latin typeface="Times New Roman"/>
                <a:cs typeface="Times New Roman"/>
              </a:rPr>
              <a:t>fully</a:t>
            </a:r>
            <a:r>
              <a:rPr sz="1100" spc="-50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93A2B8"/>
                </a:solidFill>
                <a:latin typeface="Times New Roman"/>
                <a:cs typeface="Times New Roman"/>
              </a:rPr>
              <a:t>functional</a:t>
            </a:r>
            <a:r>
              <a:rPr sz="1100" spc="-45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93A2B8"/>
                </a:solidFill>
                <a:latin typeface="Times New Roman"/>
                <a:cs typeface="Times New Roman"/>
              </a:rPr>
              <a:t>enterprise</a:t>
            </a:r>
            <a:r>
              <a:rPr sz="1100" spc="-45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93A2B8"/>
                </a:solidFill>
                <a:latin typeface="Times New Roman"/>
                <a:cs typeface="Times New Roman"/>
              </a:rPr>
              <a:t>application</a:t>
            </a:r>
            <a:r>
              <a:rPr sz="1100" spc="-40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93A2B8"/>
                </a:solidFill>
                <a:latin typeface="Times New Roman"/>
                <a:cs typeface="Times New Roman"/>
              </a:rPr>
              <a:t>demonstrates</a:t>
            </a:r>
            <a:r>
              <a:rPr sz="1100" spc="-35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100" spc="-10" dirty="0">
                <a:solidFill>
                  <a:srgbClr val="93A2B8"/>
                </a:solidFill>
                <a:latin typeface="Times New Roman"/>
                <a:cs typeface="Times New Roman"/>
              </a:rPr>
              <a:t>senior- </a:t>
            </a:r>
            <a:r>
              <a:rPr sz="1100" dirty="0">
                <a:solidFill>
                  <a:srgbClr val="93A2B8"/>
                </a:solidFill>
                <a:latin typeface="Times New Roman"/>
                <a:cs typeface="Times New Roman"/>
              </a:rPr>
              <a:t>level</a:t>
            </a:r>
            <a:r>
              <a:rPr sz="1100" spc="-25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93A2B8"/>
                </a:solidFill>
                <a:latin typeface="Times New Roman"/>
                <a:cs typeface="Times New Roman"/>
              </a:rPr>
              <a:t>development</a:t>
            </a:r>
            <a:r>
              <a:rPr sz="1100" spc="-20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93A2B8"/>
                </a:solidFill>
                <a:latin typeface="Times New Roman"/>
                <a:cs typeface="Times New Roman"/>
              </a:rPr>
              <a:t>skills</a:t>
            </a:r>
            <a:r>
              <a:rPr sz="1100" spc="-50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93A2B8"/>
                </a:solidFill>
                <a:latin typeface="Times New Roman"/>
                <a:cs typeface="Times New Roman"/>
              </a:rPr>
              <a:t>and provides</a:t>
            </a:r>
            <a:r>
              <a:rPr sz="1100" spc="-35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93A2B8"/>
                </a:solidFill>
                <a:latin typeface="Times New Roman"/>
                <a:cs typeface="Times New Roman"/>
              </a:rPr>
              <a:t>concrete</a:t>
            </a:r>
            <a:r>
              <a:rPr sz="1100" spc="-50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93A2B8"/>
                </a:solidFill>
                <a:latin typeface="Times New Roman"/>
                <a:cs typeface="Times New Roman"/>
              </a:rPr>
              <a:t>evidence</a:t>
            </a:r>
            <a:r>
              <a:rPr sz="1100" spc="-25" dirty="0">
                <a:solidFill>
                  <a:srgbClr val="93A2B8"/>
                </a:solidFill>
                <a:latin typeface="Times New Roman"/>
                <a:cs typeface="Times New Roman"/>
              </a:rPr>
              <a:t> of </a:t>
            </a:r>
            <a:r>
              <a:rPr sz="1100" dirty="0">
                <a:solidFill>
                  <a:srgbClr val="93A2B8"/>
                </a:solidFill>
                <a:latin typeface="Times New Roman"/>
                <a:cs typeface="Times New Roman"/>
              </a:rPr>
              <a:t>system</a:t>
            </a:r>
            <a:r>
              <a:rPr sz="1100" spc="-35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93A2B8"/>
                </a:solidFill>
                <a:latin typeface="Times New Roman"/>
                <a:cs typeface="Times New Roman"/>
              </a:rPr>
              <a:t>design</a:t>
            </a:r>
            <a:r>
              <a:rPr sz="1100" spc="-20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93A2B8"/>
                </a:solidFill>
                <a:latin typeface="Times New Roman"/>
                <a:cs typeface="Times New Roman"/>
              </a:rPr>
              <a:t>capabilities</a:t>
            </a:r>
            <a:r>
              <a:rPr sz="1100" spc="-40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93A2B8"/>
                </a:solidFill>
                <a:latin typeface="Times New Roman"/>
                <a:cs typeface="Times New Roman"/>
              </a:rPr>
              <a:t>for</a:t>
            </a:r>
            <a:r>
              <a:rPr sz="1100" spc="-20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100" spc="-10" dirty="0">
                <a:solidFill>
                  <a:srgbClr val="93A2B8"/>
                </a:solidFill>
                <a:latin typeface="Times New Roman"/>
                <a:cs typeface="Times New Roman"/>
              </a:rPr>
              <a:t>employers.</a:t>
            </a:r>
            <a:endParaRPr sz="11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4000" y="0"/>
                </a:moveTo>
                <a:lnTo>
                  <a:pt x="0" y="0"/>
                </a:lnTo>
                <a:lnTo>
                  <a:pt x="0" y="5143500"/>
                </a:lnTo>
                <a:lnTo>
                  <a:pt x="9144000" y="5143500"/>
                </a:lnTo>
                <a:lnTo>
                  <a:pt x="9144000" y="0"/>
                </a:lnTo>
                <a:close/>
              </a:path>
            </a:pathLst>
          </a:custGeom>
          <a:solidFill>
            <a:srgbClr val="EFF4F8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-6350" y="-6350"/>
            <a:ext cx="9156700" cy="86360"/>
            <a:chOff x="-6350" y="-6350"/>
            <a:chExt cx="9156700" cy="86360"/>
          </a:xfrm>
        </p:grpSpPr>
        <p:sp>
          <p:nvSpPr>
            <p:cNvPr id="4" name="object 4"/>
            <p:cNvSpPr/>
            <p:nvPr/>
          </p:nvSpPr>
          <p:spPr>
            <a:xfrm>
              <a:off x="0" y="0"/>
              <a:ext cx="9144000" cy="73660"/>
            </a:xfrm>
            <a:custGeom>
              <a:avLst/>
              <a:gdLst/>
              <a:ahLst/>
              <a:cxnLst/>
              <a:rect l="l" t="t" r="r" b="b"/>
              <a:pathLst>
                <a:path w="9144000" h="73660">
                  <a:moveTo>
                    <a:pt x="9144000" y="0"/>
                  </a:moveTo>
                  <a:lnTo>
                    <a:pt x="0" y="0"/>
                  </a:lnTo>
                  <a:lnTo>
                    <a:pt x="0" y="73151"/>
                  </a:lnTo>
                  <a:lnTo>
                    <a:pt x="9144000" y="73151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F59E0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0"/>
              <a:ext cx="9144000" cy="73660"/>
            </a:xfrm>
            <a:custGeom>
              <a:avLst/>
              <a:gdLst/>
              <a:ahLst/>
              <a:cxnLst/>
              <a:rect l="l" t="t" r="r" b="b"/>
              <a:pathLst>
                <a:path w="9144000" h="73660">
                  <a:moveTo>
                    <a:pt x="0" y="73151"/>
                  </a:moveTo>
                  <a:lnTo>
                    <a:pt x="9144000" y="73151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73151"/>
                  </a:lnTo>
                  <a:close/>
                </a:path>
              </a:pathLst>
            </a:custGeom>
            <a:ln w="12700">
              <a:solidFill>
                <a:srgbClr val="F59E0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444500" y="91959"/>
            <a:ext cx="2531110" cy="765175"/>
          </a:xfrm>
          <a:prstGeom prst="rect">
            <a:avLst/>
          </a:prstGeom>
        </p:spPr>
        <p:txBody>
          <a:bodyPr vert="horz" wrap="square" lIns="0" tIns="1098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65"/>
              </a:spcBef>
            </a:pPr>
            <a:r>
              <a:rPr dirty="0">
                <a:solidFill>
                  <a:srgbClr val="000000"/>
                </a:solidFill>
              </a:rPr>
              <a:t>Technology</a:t>
            </a:r>
            <a:r>
              <a:rPr spc="-25" dirty="0">
                <a:solidFill>
                  <a:srgbClr val="000000"/>
                </a:solidFill>
              </a:rPr>
              <a:t> </a:t>
            </a:r>
            <a:r>
              <a:rPr spc="-10" dirty="0">
                <a:solidFill>
                  <a:srgbClr val="000000"/>
                </a:solidFill>
              </a:rPr>
              <a:t>Stack</a:t>
            </a:r>
          </a:p>
          <a:p>
            <a:pPr marL="12700">
              <a:lnSpc>
                <a:spcPct val="100000"/>
              </a:lnSpc>
              <a:spcBef>
                <a:spcPts val="375"/>
              </a:spcBef>
            </a:pPr>
            <a:r>
              <a:rPr sz="1300" b="0" i="1" dirty="0">
                <a:solidFill>
                  <a:srgbClr val="05B6D3"/>
                </a:solidFill>
                <a:latin typeface="Times New Roman"/>
                <a:cs typeface="Times New Roman"/>
              </a:rPr>
              <a:t>Tools,</a:t>
            </a:r>
            <a:r>
              <a:rPr sz="1300" b="0" i="1" spc="-30" dirty="0">
                <a:solidFill>
                  <a:srgbClr val="05B6D3"/>
                </a:solidFill>
                <a:latin typeface="Times New Roman"/>
                <a:cs typeface="Times New Roman"/>
              </a:rPr>
              <a:t> </a:t>
            </a:r>
            <a:r>
              <a:rPr sz="1300" b="0" i="1" dirty="0">
                <a:solidFill>
                  <a:srgbClr val="05B6D3"/>
                </a:solidFill>
                <a:latin typeface="Times New Roman"/>
                <a:cs typeface="Times New Roman"/>
              </a:rPr>
              <a:t>Frameworks</a:t>
            </a:r>
            <a:r>
              <a:rPr sz="1300" b="0" i="1" spc="-35" dirty="0">
                <a:solidFill>
                  <a:srgbClr val="05B6D3"/>
                </a:solidFill>
                <a:latin typeface="Times New Roman"/>
                <a:cs typeface="Times New Roman"/>
              </a:rPr>
              <a:t> </a:t>
            </a:r>
            <a:r>
              <a:rPr sz="1300" b="0" i="1" dirty="0">
                <a:solidFill>
                  <a:srgbClr val="05B6D3"/>
                </a:solidFill>
                <a:latin typeface="Times New Roman"/>
                <a:cs typeface="Times New Roman"/>
              </a:rPr>
              <a:t>&amp;</a:t>
            </a:r>
            <a:r>
              <a:rPr sz="1300" b="0" i="1" spc="-40" dirty="0">
                <a:solidFill>
                  <a:srgbClr val="05B6D3"/>
                </a:solidFill>
                <a:latin typeface="Times New Roman"/>
                <a:cs typeface="Times New Roman"/>
              </a:rPr>
              <a:t> </a:t>
            </a:r>
            <a:r>
              <a:rPr sz="1300" b="0" i="1" dirty="0">
                <a:solidFill>
                  <a:srgbClr val="05B6D3"/>
                </a:solidFill>
                <a:latin typeface="Times New Roman"/>
                <a:cs typeface="Times New Roman"/>
              </a:rPr>
              <a:t>Libraries</a:t>
            </a:r>
            <a:r>
              <a:rPr sz="1300" b="0" i="1" spc="-35" dirty="0">
                <a:solidFill>
                  <a:srgbClr val="05B6D3"/>
                </a:solidFill>
                <a:latin typeface="Times New Roman"/>
                <a:cs typeface="Times New Roman"/>
              </a:rPr>
              <a:t> </a:t>
            </a:r>
            <a:r>
              <a:rPr sz="1300" b="0" i="1" spc="-20" dirty="0">
                <a:solidFill>
                  <a:srgbClr val="05B6D3"/>
                </a:solidFill>
                <a:latin typeface="Times New Roman"/>
                <a:cs typeface="Times New Roman"/>
              </a:rPr>
              <a:t>Used</a:t>
            </a:r>
            <a:endParaRPr sz="1300">
              <a:latin typeface="Times New Roman"/>
              <a:cs typeface="Times New Roman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264795" y="1042035"/>
            <a:ext cx="1573530" cy="1573530"/>
            <a:chOff x="264795" y="1042035"/>
            <a:chExt cx="1573530" cy="1573530"/>
          </a:xfrm>
        </p:grpSpPr>
        <p:sp>
          <p:nvSpPr>
            <p:cNvPr id="8" name="object 8"/>
            <p:cNvSpPr/>
            <p:nvPr/>
          </p:nvSpPr>
          <p:spPr>
            <a:xfrm>
              <a:off x="274320" y="1344168"/>
              <a:ext cx="1554480" cy="1262380"/>
            </a:xfrm>
            <a:custGeom>
              <a:avLst/>
              <a:gdLst/>
              <a:ahLst/>
              <a:cxnLst/>
              <a:rect l="l" t="t" r="r" b="b"/>
              <a:pathLst>
                <a:path w="1554480" h="1262380">
                  <a:moveTo>
                    <a:pt x="0" y="1261872"/>
                  </a:moveTo>
                  <a:lnTo>
                    <a:pt x="1554480" y="1261872"/>
                  </a:lnTo>
                  <a:lnTo>
                    <a:pt x="1554480" y="0"/>
                  </a:lnTo>
                  <a:lnTo>
                    <a:pt x="0" y="0"/>
                  </a:lnTo>
                  <a:lnTo>
                    <a:pt x="0" y="1261872"/>
                  </a:lnTo>
                  <a:close/>
                </a:path>
              </a:pathLst>
            </a:custGeom>
            <a:solidFill>
              <a:srgbClr val="1B2A3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74320" y="1051560"/>
              <a:ext cx="1554480" cy="1554480"/>
            </a:xfrm>
            <a:custGeom>
              <a:avLst/>
              <a:gdLst/>
              <a:ahLst/>
              <a:cxnLst/>
              <a:rect l="l" t="t" r="r" b="b"/>
              <a:pathLst>
                <a:path w="1554480" h="1554480">
                  <a:moveTo>
                    <a:pt x="0" y="1554480"/>
                  </a:moveTo>
                  <a:lnTo>
                    <a:pt x="1554480" y="1554480"/>
                  </a:lnTo>
                  <a:lnTo>
                    <a:pt x="1554480" y="0"/>
                  </a:lnTo>
                  <a:lnTo>
                    <a:pt x="0" y="0"/>
                  </a:lnTo>
                  <a:lnTo>
                    <a:pt x="0" y="1554480"/>
                  </a:lnTo>
                  <a:close/>
                </a:path>
              </a:pathLst>
            </a:custGeom>
            <a:ln w="19050">
              <a:solidFill>
                <a:srgbClr val="F8731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74320" y="1051560"/>
              <a:ext cx="1554480" cy="292735"/>
            </a:xfrm>
            <a:custGeom>
              <a:avLst/>
              <a:gdLst/>
              <a:ahLst/>
              <a:cxnLst/>
              <a:rect l="l" t="t" r="r" b="b"/>
              <a:pathLst>
                <a:path w="1554480" h="292734">
                  <a:moveTo>
                    <a:pt x="0" y="292608"/>
                  </a:moveTo>
                  <a:lnTo>
                    <a:pt x="1554480" y="292608"/>
                  </a:lnTo>
                  <a:lnTo>
                    <a:pt x="1554480" y="0"/>
                  </a:lnTo>
                  <a:lnTo>
                    <a:pt x="0" y="0"/>
                  </a:lnTo>
                  <a:lnTo>
                    <a:pt x="0" y="292608"/>
                  </a:lnTo>
                  <a:close/>
                </a:path>
              </a:pathLst>
            </a:custGeom>
            <a:ln w="12700">
              <a:solidFill>
                <a:srgbClr val="F8731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274320" y="1051560"/>
            <a:ext cx="1554480" cy="292735"/>
          </a:xfrm>
          <a:prstGeom prst="rect">
            <a:avLst/>
          </a:prstGeom>
          <a:solidFill>
            <a:srgbClr val="F87316"/>
          </a:solidFill>
        </p:spPr>
        <p:txBody>
          <a:bodyPr vert="horz" wrap="square" lIns="0" tIns="81280" rIns="0" bIns="0" rtlCol="0">
            <a:spAutoFit/>
          </a:bodyPr>
          <a:lstStyle/>
          <a:p>
            <a:pPr marL="510540">
              <a:lnSpc>
                <a:spcPct val="100000"/>
              </a:lnSpc>
              <a:spcBef>
                <a:spcPts val="640"/>
              </a:spcBef>
            </a:pPr>
            <a:r>
              <a:rPr sz="800" b="1" dirty="0">
                <a:solidFill>
                  <a:srgbClr val="FFFFFF"/>
                </a:solidFill>
                <a:latin typeface="Times New Roman"/>
                <a:cs typeface="Times New Roman"/>
              </a:rPr>
              <a:t>La</a:t>
            </a:r>
            <a:r>
              <a:rPr sz="800" b="1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800" b="1" dirty="0">
                <a:solidFill>
                  <a:srgbClr val="FFFFFF"/>
                </a:solidFill>
                <a:latin typeface="Times New Roman"/>
                <a:cs typeface="Times New Roman"/>
              </a:rPr>
              <a:t>ng</a:t>
            </a:r>
            <a:r>
              <a:rPr sz="800" b="1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800" b="1" dirty="0">
                <a:solidFill>
                  <a:srgbClr val="FFFFFF"/>
                </a:solidFill>
                <a:latin typeface="Times New Roman"/>
                <a:cs typeface="Times New Roman"/>
              </a:rPr>
              <a:t>ua</a:t>
            </a:r>
            <a:r>
              <a:rPr sz="800" b="1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800" b="1" dirty="0">
                <a:solidFill>
                  <a:srgbClr val="FFFFFF"/>
                </a:solidFill>
                <a:latin typeface="Times New Roman"/>
                <a:cs typeface="Times New Roman"/>
              </a:rPr>
              <a:t>g</a:t>
            </a:r>
            <a:r>
              <a:rPr sz="800" b="1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800" b="1" spc="-50" dirty="0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endParaRPr sz="8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40968" y="1540890"/>
            <a:ext cx="631825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500" b="1" dirty="0">
                <a:solidFill>
                  <a:srgbClr val="FFFFFF"/>
                </a:solidFill>
                <a:latin typeface="Times New Roman"/>
                <a:cs typeface="Times New Roman"/>
              </a:rPr>
              <a:t>Java</a:t>
            </a:r>
            <a:r>
              <a:rPr sz="1500" b="1" spc="-25" dirty="0">
                <a:solidFill>
                  <a:srgbClr val="FFFFFF"/>
                </a:solidFill>
                <a:latin typeface="Times New Roman"/>
                <a:cs typeface="Times New Roman"/>
              </a:rPr>
              <a:t> 17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58444" y="2178811"/>
            <a:ext cx="1397635" cy="1701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950" dirty="0">
                <a:solidFill>
                  <a:srgbClr val="93A2B8"/>
                </a:solidFill>
                <a:latin typeface="Times New Roman"/>
                <a:cs typeface="Times New Roman"/>
              </a:rPr>
              <a:t>Core</a:t>
            </a:r>
            <a:r>
              <a:rPr sz="950" spc="5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950" spc="-10" dirty="0">
                <a:solidFill>
                  <a:srgbClr val="93A2B8"/>
                </a:solidFill>
                <a:latin typeface="Times New Roman"/>
                <a:cs typeface="Times New Roman"/>
              </a:rPr>
              <a:t>programming</a:t>
            </a:r>
            <a:r>
              <a:rPr sz="950" spc="15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950" spc="-10" dirty="0">
                <a:solidFill>
                  <a:srgbClr val="93A2B8"/>
                </a:solidFill>
                <a:latin typeface="Times New Roman"/>
                <a:cs typeface="Times New Roman"/>
              </a:rPr>
              <a:t>language</a:t>
            </a:r>
            <a:endParaRPr sz="950">
              <a:latin typeface="Times New Roman"/>
              <a:cs typeface="Times New Roman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2324989" y="1047750"/>
            <a:ext cx="1573530" cy="1573530"/>
            <a:chOff x="2324989" y="1047750"/>
            <a:chExt cx="1573530" cy="1573530"/>
          </a:xfrm>
        </p:grpSpPr>
        <p:sp>
          <p:nvSpPr>
            <p:cNvPr id="15" name="object 15"/>
            <p:cNvSpPr/>
            <p:nvPr/>
          </p:nvSpPr>
          <p:spPr>
            <a:xfrm>
              <a:off x="2334514" y="1349883"/>
              <a:ext cx="1554480" cy="1262380"/>
            </a:xfrm>
            <a:custGeom>
              <a:avLst/>
              <a:gdLst/>
              <a:ahLst/>
              <a:cxnLst/>
              <a:rect l="l" t="t" r="r" b="b"/>
              <a:pathLst>
                <a:path w="1554479" h="1262380">
                  <a:moveTo>
                    <a:pt x="0" y="1261871"/>
                  </a:moveTo>
                  <a:lnTo>
                    <a:pt x="1554480" y="1261871"/>
                  </a:lnTo>
                  <a:lnTo>
                    <a:pt x="1554480" y="0"/>
                  </a:lnTo>
                  <a:lnTo>
                    <a:pt x="0" y="0"/>
                  </a:lnTo>
                  <a:lnTo>
                    <a:pt x="0" y="1261871"/>
                  </a:lnTo>
                  <a:close/>
                </a:path>
              </a:pathLst>
            </a:custGeom>
            <a:solidFill>
              <a:srgbClr val="1B2A3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2334514" y="1057275"/>
              <a:ext cx="1554480" cy="1554480"/>
            </a:xfrm>
            <a:custGeom>
              <a:avLst/>
              <a:gdLst/>
              <a:ahLst/>
              <a:cxnLst/>
              <a:rect l="l" t="t" r="r" b="b"/>
              <a:pathLst>
                <a:path w="1554479" h="1554480">
                  <a:moveTo>
                    <a:pt x="0" y="1554480"/>
                  </a:moveTo>
                  <a:lnTo>
                    <a:pt x="1554480" y="1554480"/>
                  </a:lnTo>
                  <a:lnTo>
                    <a:pt x="1554480" y="0"/>
                  </a:lnTo>
                  <a:lnTo>
                    <a:pt x="0" y="0"/>
                  </a:lnTo>
                  <a:lnTo>
                    <a:pt x="0" y="1554480"/>
                  </a:lnTo>
                  <a:close/>
                </a:path>
              </a:pathLst>
            </a:custGeom>
            <a:ln w="19050">
              <a:solidFill>
                <a:srgbClr val="0FB88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2334514" y="1057275"/>
              <a:ext cx="1554480" cy="292735"/>
            </a:xfrm>
            <a:custGeom>
              <a:avLst/>
              <a:gdLst/>
              <a:ahLst/>
              <a:cxnLst/>
              <a:rect l="l" t="t" r="r" b="b"/>
              <a:pathLst>
                <a:path w="1554479" h="292734">
                  <a:moveTo>
                    <a:pt x="0" y="292608"/>
                  </a:moveTo>
                  <a:lnTo>
                    <a:pt x="1554480" y="292608"/>
                  </a:lnTo>
                  <a:lnTo>
                    <a:pt x="1554480" y="0"/>
                  </a:lnTo>
                  <a:lnTo>
                    <a:pt x="0" y="0"/>
                  </a:lnTo>
                  <a:lnTo>
                    <a:pt x="0" y="292608"/>
                  </a:lnTo>
                  <a:close/>
                </a:path>
              </a:pathLst>
            </a:custGeom>
            <a:ln w="12700">
              <a:solidFill>
                <a:srgbClr val="0FB88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2334514" y="1057275"/>
            <a:ext cx="1554480" cy="292735"/>
          </a:xfrm>
          <a:prstGeom prst="rect">
            <a:avLst/>
          </a:prstGeom>
          <a:solidFill>
            <a:srgbClr val="0FB881"/>
          </a:solidFill>
        </p:spPr>
        <p:txBody>
          <a:bodyPr vert="horz" wrap="square" lIns="0" tIns="81280" rIns="0" bIns="0" rtlCol="0">
            <a:spAutoFit/>
          </a:bodyPr>
          <a:lstStyle/>
          <a:p>
            <a:pPr marL="212090">
              <a:lnSpc>
                <a:spcPct val="100000"/>
              </a:lnSpc>
              <a:spcBef>
                <a:spcPts val="640"/>
              </a:spcBef>
            </a:pPr>
            <a:r>
              <a:rPr sz="800" b="1" dirty="0">
                <a:solidFill>
                  <a:srgbClr val="FFFFFF"/>
                </a:solidFill>
                <a:latin typeface="Times New Roman"/>
                <a:cs typeface="Times New Roman"/>
              </a:rPr>
              <a:t>Ba</a:t>
            </a:r>
            <a:r>
              <a:rPr sz="800" b="1" spc="-8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800" b="1" spc="65" dirty="0">
                <a:solidFill>
                  <a:srgbClr val="FFFFFF"/>
                </a:solidFill>
                <a:latin typeface="Times New Roman"/>
                <a:cs typeface="Times New Roman"/>
              </a:rPr>
              <a:t>ckend</a:t>
            </a:r>
            <a:r>
              <a:rPr sz="800" b="1" spc="29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800" b="1" spc="60" dirty="0">
                <a:solidFill>
                  <a:srgbClr val="FFFFFF"/>
                </a:solidFill>
                <a:latin typeface="Times New Roman"/>
                <a:cs typeface="Times New Roman"/>
              </a:rPr>
              <a:t>Fra</a:t>
            </a:r>
            <a:r>
              <a:rPr sz="800" b="1" spc="-8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800" b="1" spc="55" dirty="0">
                <a:solidFill>
                  <a:srgbClr val="FFFFFF"/>
                </a:solidFill>
                <a:latin typeface="Times New Roman"/>
                <a:cs typeface="Times New Roman"/>
              </a:rPr>
              <a:t>mew</a:t>
            </a:r>
            <a:r>
              <a:rPr sz="800" b="1" spc="-8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800" b="1" dirty="0">
                <a:solidFill>
                  <a:srgbClr val="FFFFFF"/>
                </a:solidFill>
                <a:latin typeface="Times New Roman"/>
                <a:cs typeface="Times New Roman"/>
              </a:rPr>
              <a:t>o</a:t>
            </a:r>
            <a:r>
              <a:rPr sz="800" b="1" spc="-8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800" b="1" spc="-25" dirty="0">
                <a:solidFill>
                  <a:srgbClr val="FFFFFF"/>
                </a:solidFill>
                <a:latin typeface="Times New Roman"/>
                <a:cs typeface="Times New Roman"/>
              </a:rPr>
              <a:t>rk</a:t>
            </a:r>
            <a:endParaRPr sz="8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621533" y="1546352"/>
            <a:ext cx="992505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500" b="1" dirty="0">
                <a:solidFill>
                  <a:srgbClr val="FFFFFF"/>
                </a:solidFill>
                <a:latin typeface="Times New Roman"/>
                <a:cs typeface="Times New Roman"/>
              </a:rPr>
              <a:t>Spring</a:t>
            </a:r>
            <a:r>
              <a:rPr sz="1500" b="1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500" b="1" spc="-20" dirty="0">
                <a:solidFill>
                  <a:srgbClr val="FFFFFF"/>
                </a:solidFill>
                <a:latin typeface="Times New Roman"/>
                <a:cs typeface="Times New Roman"/>
              </a:rPr>
              <a:t>Boot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2394457" y="2184273"/>
            <a:ext cx="1445895" cy="1701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950" spc="-10" dirty="0">
                <a:solidFill>
                  <a:srgbClr val="93A2B8"/>
                </a:solidFill>
                <a:latin typeface="Times New Roman"/>
                <a:cs typeface="Times New Roman"/>
              </a:rPr>
              <a:t>Auto-</a:t>
            </a:r>
            <a:r>
              <a:rPr sz="950" dirty="0">
                <a:solidFill>
                  <a:srgbClr val="93A2B8"/>
                </a:solidFill>
                <a:latin typeface="Times New Roman"/>
                <a:cs typeface="Times New Roman"/>
              </a:rPr>
              <a:t>configured</a:t>
            </a:r>
            <a:r>
              <a:rPr sz="950" spc="-25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950" spc="-10" dirty="0">
                <a:solidFill>
                  <a:srgbClr val="93A2B8"/>
                </a:solidFill>
                <a:latin typeface="Times New Roman"/>
                <a:cs typeface="Times New Roman"/>
              </a:rPr>
              <a:t>REST/MVC</a:t>
            </a:r>
            <a:endParaRPr sz="950">
              <a:latin typeface="Times New Roman"/>
              <a:cs typeface="Times New Roman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4385055" y="1042035"/>
            <a:ext cx="1573530" cy="1573530"/>
            <a:chOff x="4385055" y="1042035"/>
            <a:chExt cx="1573530" cy="1573530"/>
          </a:xfrm>
        </p:grpSpPr>
        <p:sp>
          <p:nvSpPr>
            <p:cNvPr id="22" name="object 22"/>
            <p:cNvSpPr/>
            <p:nvPr/>
          </p:nvSpPr>
          <p:spPr>
            <a:xfrm>
              <a:off x="4394580" y="1344168"/>
              <a:ext cx="1554480" cy="1262380"/>
            </a:xfrm>
            <a:custGeom>
              <a:avLst/>
              <a:gdLst/>
              <a:ahLst/>
              <a:cxnLst/>
              <a:rect l="l" t="t" r="r" b="b"/>
              <a:pathLst>
                <a:path w="1554479" h="1262380">
                  <a:moveTo>
                    <a:pt x="0" y="1261872"/>
                  </a:moveTo>
                  <a:lnTo>
                    <a:pt x="1554479" y="1261872"/>
                  </a:lnTo>
                  <a:lnTo>
                    <a:pt x="1554479" y="0"/>
                  </a:lnTo>
                  <a:lnTo>
                    <a:pt x="0" y="0"/>
                  </a:lnTo>
                  <a:lnTo>
                    <a:pt x="0" y="1261872"/>
                  </a:lnTo>
                  <a:close/>
                </a:path>
              </a:pathLst>
            </a:custGeom>
            <a:solidFill>
              <a:srgbClr val="1B2A3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4394580" y="1051560"/>
              <a:ext cx="1554480" cy="1554480"/>
            </a:xfrm>
            <a:custGeom>
              <a:avLst/>
              <a:gdLst/>
              <a:ahLst/>
              <a:cxnLst/>
              <a:rect l="l" t="t" r="r" b="b"/>
              <a:pathLst>
                <a:path w="1554479" h="1554480">
                  <a:moveTo>
                    <a:pt x="0" y="1554480"/>
                  </a:moveTo>
                  <a:lnTo>
                    <a:pt x="1554479" y="1554480"/>
                  </a:lnTo>
                  <a:lnTo>
                    <a:pt x="1554479" y="0"/>
                  </a:lnTo>
                  <a:lnTo>
                    <a:pt x="0" y="0"/>
                  </a:lnTo>
                  <a:lnTo>
                    <a:pt x="0" y="1554480"/>
                  </a:lnTo>
                  <a:close/>
                </a:path>
              </a:pathLst>
            </a:custGeom>
            <a:ln w="19050">
              <a:solidFill>
                <a:srgbClr val="0891B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4394580" y="1051560"/>
              <a:ext cx="1554480" cy="292735"/>
            </a:xfrm>
            <a:custGeom>
              <a:avLst/>
              <a:gdLst/>
              <a:ahLst/>
              <a:cxnLst/>
              <a:rect l="l" t="t" r="r" b="b"/>
              <a:pathLst>
                <a:path w="1554479" h="292734">
                  <a:moveTo>
                    <a:pt x="0" y="292608"/>
                  </a:moveTo>
                  <a:lnTo>
                    <a:pt x="1554479" y="292608"/>
                  </a:lnTo>
                  <a:lnTo>
                    <a:pt x="1554479" y="0"/>
                  </a:lnTo>
                  <a:lnTo>
                    <a:pt x="0" y="0"/>
                  </a:lnTo>
                  <a:lnTo>
                    <a:pt x="0" y="292608"/>
                  </a:lnTo>
                  <a:close/>
                </a:path>
              </a:pathLst>
            </a:custGeom>
            <a:ln w="12700">
              <a:solidFill>
                <a:srgbClr val="0891B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4394580" y="1051560"/>
            <a:ext cx="1554480" cy="292735"/>
          </a:xfrm>
          <a:prstGeom prst="rect">
            <a:avLst/>
          </a:prstGeom>
          <a:solidFill>
            <a:srgbClr val="0891B1"/>
          </a:solidFill>
        </p:spPr>
        <p:txBody>
          <a:bodyPr vert="horz" wrap="square" lIns="0" tIns="81280" rIns="0" bIns="0" rtlCol="0">
            <a:spAutoFit/>
          </a:bodyPr>
          <a:lstStyle/>
          <a:p>
            <a:pPr marL="314325">
              <a:lnSpc>
                <a:spcPct val="100000"/>
              </a:lnSpc>
              <a:spcBef>
                <a:spcPts val="640"/>
              </a:spcBef>
            </a:pPr>
            <a:r>
              <a:rPr sz="800" b="1" spc="60" dirty="0">
                <a:solidFill>
                  <a:srgbClr val="FFFFFF"/>
                </a:solidFill>
                <a:latin typeface="Times New Roman"/>
                <a:cs typeface="Times New Roman"/>
              </a:rPr>
              <a:t>Fro</a:t>
            </a:r>
            <a:r>
              <a:rPr sz="800" b="1" spc="-9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800" b="1" spc="70" dirty="0">
                <a:solidFill>
                  <a:srgbClr val="FFFFFF"/>
                </a:solidFill>
                <a:latin typeface="Times New Roman"/>
                <a:cs typeface="Times New Roman"/>
              </a:rPr>
              <a:t>ntend</a:t>
            </a:r>
            <a:r>
              <a:rPr sz="800" b="1" spc="2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800" b="1" spc="55" dirty="0">
                <a:solidFill>
                  <a:srgbClr val="FFFFFF"/>
                </a:solidFill>
                <a:latin typeface="Times New Roman"/>
                <a:cs typeface="Times New Roman"/>
              </a:rPr>
              <a:t>Eng</a:t>
            </a:r>
            <a:r>
              <a:rPr sz="800" b="1" spc="-9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8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r>
              <a:rPr sz="800" b="1" spc="-10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800" b="1" spc="-35" dirty="0">
                <a:solidFill>
                  <a:srgbClr val="FFFFFF"/>
                </a:solidFill>
                <a:latin typeface="Times New Roman"/>
                <a:cs typeface="Times New Roman"/>
              </a:rPr>
              <a:t>ne</a:t>
            </a:r>
            <a:endParaRPr sz="800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4739894" y="1540890"/>
            <a:ext cx="876935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5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Thymeleaf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4439665" y="2178811"/>
            <a:ext cx="1478915" cy="1701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950" spc="-10" dirty="0">
                <a:solidFill>
                  <a:srgbClr val="93A2B8"/>
                </a:solidFill>
                <a:latin typeface="Times New Roman"/>
                <a:cs typeface="Times New Roman"/>
              </a:rPr>
              <a:t>Server-</a:t>
            </a:r>
            <a:r>
              <a:rPr sz="950" dirty="0">
                <a:solidFill>
                  <a:srgbClr val="93A2B8"/>
                </a:solidFill>
                <a:latin typeface="Times New Roman"/>
                <a:cs typeface="Times New Roman"/>
              </a:rPr>
              <a:t>side HTML</a:t>
            </a:r>
            <a:r>
              <a:rPr sz="950" spc="10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950" spc="-10" dirty="0">
                <a:solidFill>
                  <a:srgbClr val="93A2B8"/>
                </a:solidFill>
                <a:latin typeface="Times New Roman"/>
                <a:cs typeface="Times New Roman"/>
              </a:rPr>
              <a:t>templating</a:t>
            </a:r>
            <a:endParaRPr sz="950">
              <a:latin typeface="Times New Roman"/>
              <a:cs typeface="Times New Roman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6474333" y="1042035"/>
            <a:ext cx="1573530" cy="1573530"/>
            <a:chOff x="6474333" y="1042035"/>
            <a:chExt cx="1573530" cy="1573530"/>
          </a:xfrm>
        </p:grpSpPr>
        <p:sp>
          <p:nvSpPr>
            <p:cNvPr id="29" name="object 29"/>
            <p:cNvSpPr/>
            <p:nvPr/>
          </p:nvSpPr>
          <p:spPr>
            <a:xfrm>
              <a:off x="6483858" y="1344168"/>
              <a:ext cx="1554480" cy="1262380"/>
            </a:xfrm>
            <a:custGeom>
              <a:avLst/>
              <a:gdLst/>
              <a:ahLst/>
              <a:cxnLst/>
              <a:rect l="l" t="t" r="r" b="b"/>
              <a:pathLst>
                <a:path w="1554479" h="1262380">
                  <a:moveTo>
                    <a:pt x="0" y="1261872"/>
                  </a:moveTo>
                  <a:lnTo>
                    <a:pt x="1554480" y="1261872"/>
                  </a:lnTo>
                  <a:lnTo>
                    <a:pt x="1554480" y="0"/>
                  </a:lnTo>
                  <a:lnTo>
                    <a:pt x="0" y="0"/>
                  </a:lnTo>
                  <a:lnTo>
                    <a:pt x="0" y="1261872"/>
                  </a:lnTo>
                  <a:close/>
                </a:path>
              </a:pathLst>
            </a:custGeom>
            <a:solidFill>
              <a:srgbClr val="1B2A3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6483858" y="1051560"/>
              <a:ext cx="1554480" cy="1554480"/>
            </a:xfrm>
            <a:custGeom>
              <a:avLst/>
              <a:gdLst/>
              <a:ahLst/>
              <a:cxnLst/>
              <a:rect l="l" t="t" r="r" b="b"/>
              <a:pathLst>
                <a:path w="1554479" h="1554480">
                  <a:moveTo>
                    <a:pt x="0" y="1554480"/>
                  </a:moveTo>
                  <a:lnTo>
                    <a:pt x="1554480" y="1554480"/>
                  </a:lnTo>
                  <a:lnTo>
                    <a:pt x="1554480" y="0"/>
                  </a:lnTo>
                  <a:lnTo>
                    <a:pt x="0" y="0"/>
                  </a:lnTo>
                  <a:lnTo>
                    <a:pt x="0" y="1554480"/>
                  </a:lnTo>
                  <a:close/>
                </a:path>
              </a:pathLst>
            </a:custGeom>
            <a:ln w="19050">
              <a:solidFill>
                <a:srgbClr val="05B6D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6483858" y="1051560"/>
              <a:ext cx="1554480" cy="292735"/>
            </a:xfrm>
            <a:custGeom>
              <a:avLst/>
              <a:gdLst/>
              <a:ahLst/>
              <a:cxnLst/>
              <a:rect l="l" t="t" r="r" b="b"/>
              <a:pathLst>
                <a:path w="1554479" h="292734">
                  <a:moveTo>
                    <a:pt x="0" y="292608"/>
                  </a:moveTo>
                  <a:lnTo>
                    <a:pt x="1554480" y="292608"/>
                  </a:lnTo>
                  <a:lnTo>
                    <a:pt x="1554480" y="0"/>
                  </a:lnTo>
                  <a:lnTo>
                    <a:pt x="0" y="0"/>
                  </a:lnTo>
                  <a:lnTo>
                    <a:pt x="0" y="292608"/>
                  </a:lnTo>
                  <a:close/>
                </a:path>
              </a:pathLst>
            </a:custGeom>
            <a:ln w="12700">
              <a:solidFill>
                <a:srgbClr val="05B6D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2" name="object 32"/>
          <p:cNvSpPr txBox="1"/>
          <p:nvPr/>
        </p:nvSpPr>
        <p:spPr>
          <a:xfrm>
            <a:off x="6483858" y="1051560"/>
            <a:ext cx="1554480" cy="292735"/>
          </a:xfrm>
          <a:prstGeom prst="rect">
            <a:avLst/>
          </a:prstGeom>
          <a:solidFill>
            <a:srgbClr val="05B6D3"/>
          </a:solidFill>
        </p:spPr>
        <p:txBody>
          <a:bodyPr vert="horz" wrap="square" lIns="0" tIns="81280" rIns="0" bIns="0" rtlCol="0">
            <a:spAutoFit/>
          </a:bodyPr>
          <a:lstStyle/>
          <a:p>
            <a:pPr marL="476250">
              <a:lnSpc>
                <a:spcPct val="100000"/>
              </a:lnSpc>
              <a:spcBef>
                <a:spcPts val="640"/>
              </a:spcBef>
            </a:pPr>
            <a:r>
              <a:rPr sz="800" b="1" spc="55" dirty="0">
                <a:solidFill>
                  <a:srgbClr val="FFFFFF"/>
                </a:solidFill>
                <a:latin typeface="Times New Roman"/>
                <a:cs typeface="Times New Roman"/>
              </a:rPr>
              <a:t>Web</a:t>
            </a:r>
            <a:r>
              <a:rPr sz="800" b="1" spc="2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800" b="1" dirty="0">
                <a:solidFill>
                  <a:srgbClr val="FFFFFF"/>
                </a:solidFill>
                <a:latin typeface="Times New Roman"/>
                <a:cs typeface="Times New Roman"/>
              </a:rPr>
              <a:t>La</a:t>
            </a:r>
            <a:r>
              <a:rPr sz="800" b="1" spc="-8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800" b="1" dirty="0">
                <a:solidFill>
                  <a:srgbClr val="FFFFFF"/>
                </a:solidFill>
                <a:latin typeface="Times New Roman"/>
                <a:cs typeface="Times New Roman"/>
              </a:rPr>
              <a:t>y</a:t>
            </a:r>
            <a:r>
              <a:rPr sz="800" b="1" spc="-8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800" b="1" spc="25" dirty="0">
                <a:solidFill>
                  <a:srgbClr val="FFFFFF"/>
                </a:solidFill>
                <a:latin typeface="Times New Roman"/>
                <a:cs typeface="Times New Roman"/>
              </a:rPr>
              <a:t>er</a:t>
            </a:r>
            <a:endParaRPr sz="800">
              <a:latin typeface="Times New Roman"/>
              <a:cs typeface="Times New Roman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6734809" y="1540890"/>
            <a:ext cx="1066165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500" b="1" dirty="0">
                <a:solidFill>
                  <a:srgbClr val="FFFFFF"/>
                </a:solidFill>
                <a:latin typeface="Times New Roman"/>
                <a:cs typeface="Times New Roman"/>
              </a:rPr>
              <a:t>Spring</a:t>
            </a:r>
            <a:r>
              <a:rPr sz="1500" b="1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500" b="1" spc="-25" dirty="0">
                <a:solidFill>
                  <a:srgbClr val="FFFFFF"/>
                </a:solidFill>
                <a:latin typeface="Times New Roman"/>
                <a:cs typeface="Times New Roman"/>
              </a:rPr>
              <a:t>MVC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6586981" y="2178811"/>
            <a:ext cx="1360170" cy="1701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950" dirty="0">
                <a:solidFill>
                  <a:srgbClr val="93A2B8"/>
                </a:solidFill>
                <a:latin typeface="Times New Roman"/>
                <a:cs typeface="Times New Roman"/>
              </a:rPr>
              <a:t>HTTP</a:t>
            </a:r>
            <a:r>
              <a:rPr sz="950" spc="5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950" dirty="0">
                <a:solidFill>
                  <a:srgbClr val="93A2B8"/>
                </a:solidFill>
                <a:latin typeface="Times New Roman"/>
                <a:cs typeface="Times New Roman"/>
              </a:rPr>
              <a:t>routing</a:t>
            </a:r>
            <a:r>
              <a:rPr sz="950" spc="-35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950" dirty="0">
                <a:solidFill>
                  <a:srgbClr val="93A2B8"/>
                </a:solidFill>
                <a:latin typeface="Times New Roman"/>
                <a:cs typeface="Times New Roman"/>
              </a:rPr>
              <a:t>&amp;</a:t>
            </a:r>
            <a:r>
              <a:rPr sz="950" spc="-20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950" spc="-10" dirty="0">
                <a:solidFill>
                  <a:srgbClr val="93A2B8"/>
                </a:solidFill>
                <a:latin typeface="Times New Roman"/>
                <a:cs typeface="Times New Roman"/>
              </a:rPr>
              <a:t>controllers</a:t>
            </a:r>
            <a:endParaRPr sz="950">
              <a:latin typeface="Times New Roman"/>
              <a:cs typeface="Times New Roman"/>
            </a:endParaRPr>
          </a:p>
        </p:txBody>
      </p:sp>
      <p:grpSp>
        <p:nvGrpSpPr>
          <p:cNvPr id="35" name="object 35"/>
          <p:cNvGrpSpPr/>
          <p:nvPr/>
        </p:nvGrpSpPr>
        <p:grpSpPr>
          <a:xfrm>
            <a:off x="4385055" y="2870835"/>
            <a:ext cx="1573530" cy="1573530"/>
            <a:chOff x="4385055" y="2870835"/>
            <a:chExt cx="1573530" cy="1573530"/>
          </a:xfrm>
        </p:grpSpPr>
        <p:sp>
          <p:nvSpPr>
            <p:cNvPr id="36" name="object 36"/>
            <p:cNvSpPr/>
            <p:nvPr/>
          </p:nvSpPr>
          <p:spPr>
            <a:xfrm>
              <a:off x="4394580" y="3172968"/>
              <a:ext cx="1554480" cy="1262380"/>
            </a:xfrm>
            <a:custGeom>
              <a:avLst/>
              <a:gdLst/>
              <a:ahLst/>
              <a:cxnLst/>
              <a:rect l="l" t="t" r="r" b="b"/>
              <a:pathLst>
                <a:path w="1554479" h="1262379">
                  <a:moveTo>
                    <a:pt x="0" y="1261872"/>
                  </a:moveTo>
                  <a:lnTo>
                    <a:pt x="1554479" y="1261872"/>
                  </a:lnTo>
                  <a:lnTo>
                    <a:pt x="1554479" y="0"/>
                  </a:lnTo>
                  <a:lnTo>
                    <a:pt x="0" y="0"/>
                  </a:lnTo>
                  <a:lnTo>
                    <a:pt x="0" y="1261872"/>
                  </a:lnTo>
                  <a:close/>
                </a:path>
              </a:pathLst>
            </a:custGeom>
            <a:solidFill>
              <a:srgbClr val="1B2A3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4394580" y="2880360"/>
              <a:ext cx="1554480" cy="1554480"/>
            </a:xfrm>
            <a:custGeom>
              <a:avLst/>
              <a:gdLst/>
              <a:ahLst/>
              <a:cxnLst/>
              <a:rect l="l" t="t" r="r" b="b"/>
              <a:pathLst>
                <a:path w="1554479" h="1554479">
                  <a:moveTo>
                    <a:pt x="0" y="1554480"/>
                  </a:moveTo>
                  <a:lnTo>
                    <a:pt x="1554479" y="1554480"/>
                  </a:lnTo>
                  <a:lnTo>
                    <a:pt x="1554479" y="0"/>
                  </a:lnTo>
                  <a:lnTo>
                    <a:pt x="0" y="0"/>
                  </a:lnTo>
                  <a:lnTo>
                    <a:pt x="0" y="1554480"/>
                  </a:lnTo>
                  <a:close/>
                </a:path>
              </a:pathLst>
            </a:custGeom>
            <a:ln w="19050">
              <a:solidFill>
                <a:srgbClr val="8A5CF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4394580" y="2880360"/>
              <a:ext cx="1554480" cy="292735"/>
            </a:xfrm>
            <a:custGeom>
              <a:avLst/>
              <a:gdLst/>
              <a:ahLst/>
              <a:cxnLst/>
              <a:rect l="l" t="t" r="r" b="b"/>
              <a:pathLst>
                <a:path w="1554479" h="292735">
                  <a:moveTo>
                    <a:pt x="0" y="292607"/>
                  </a:moveTo>
                  <a:lnTo>
                    <a:pt x="1554479" y="292607"/>
                  </a:lnTo>
                  <a:lnTo>
                    <a:pt x="1554479" y="0"/>
                  </a:lnTo>
                  <a:lnTo>
                    <a:pt x="0" y="0"/>
                  </a:lnTo>
                  <a:lnTo>
                    <a:pt x="0" y="292607"/>
                  </a:lnTo>
                  <a:close/>
                </a:path>
              </a:pathLst>
            </a:custGeom>
            <a:ln w="12700">
              <a:solidFill>
                <a:srgbClr val="8A5CF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9" name="object 39"/>
          <p:cNvSpPr txBox="1"/>
          <p:nvPr/>
        </p:nvSpPr>
        <p:spPr>
          <a:xfrm>
            <a:off x="4394580" y="2880360"/>
            <a:ext cx="1554480" cy="292735"/>
          </a:xfrm>
          <a:prstGeom prst="rect">
            <a:avLst/>
          </a:prstGeom>
          <a:solidFill>
            <a:srgbClr val="8A5CF6"/>
          </a:solidFill>
        </p:spPr>
        <p:txBody>
          <a:bodyPr vert="horz" wrap="square" lIns="0" tIns="81915" rIns="0" bIns="0" rtlCol="0">
            <a:spAutoFit/>
          </a:bodyPr>
          <a:lstStyle/>
          <a:p>
            <a:pPr marL="453390">
              <a:lnSpc>
                <a:spcPct val="100000"/>
              </a:lnSpc>
              <a:spcBef>
                <a:spcPts val="645"/>
              </a:spcBef>
            </a:pPr>
            <a:r>
              <a:rPr sz="800" b="1" spc="60" dirty="0">
                <a:solidFill>
                  <a:srgbClr val="FFFFFF"/>
                </a:solidFill>
                <a:latin typeface="Times New Roman"/>
                <a:cs typeface="Times New Roman"/>
              </a:rPr>
              <a:t>ORM</a:t>
            </a:r>
            <a:r>
              <a:rPr sz="800" b="1" spc="2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800" b="1" dirty="0">
                <a:solidFill>
                  <a:srgbClr val="FFFFFF"/>
                </a:solidFill>
                <a:latin typeface="Times New Roman"/>
                <a:cs typeface="Times New Roman"/>
              </a:rPr>
              <a:t>La</a:t>
            </a:r>
            <a:r>
              <a:rPr sz="800" b="1" spc="-8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800" b="1" dirty="0">
                <a:solidFill>
                  <a:srgbClr val="FFFFFF"/>
                </a:solidFill>
                <a:latin typeface="Times New Roman"/>
                <a:cs typeface="Times New Roman"/>
              </a:rPr>
              <a:t>y</a:t>
            </a:r>
            <a:r>
              <a:rPr sz="800" b="1" spc="-8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800" b="1" spc="25" dirty="0">
                <a:solidFill>
                  <a:srgbClr val="FFFFFF"/>
                </a:solidFill>
                <a:latin typeface="Times New Roman"/>
                <a:cs typeface="Times New Roman"/>
              </a:rPr>
              <a:t>er</a:t>
            </a:r>
            <a:endParaRPr sz="800">
              <a:latin typeface="Times New Roman"/>
              <a:cs typeface="Times New Roman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4479290" y="3369640"/>
            <a:ext cx="1398905" cy="254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500" b="1" dirty="0">
                <a:solidFill>
                  <a:srgbClr val="FFFFFF"/>
                </a:solidFill>
                <a:latin typeface="Times New Roman"/>
                <a:cs typeface="Times New Roman"/>
              </a:rPr>
              <a:t>Spring</a:t>
            </a:r>
            <a:r>
              <a:rPr sz="1500" b="1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500" b="1" dirty="0">
                <a:solidFill>
                  <a:srgbClr val="FFFFFF"/>
                </a:solidFill>
                <a:latin typeface="Times New Roman"/>
                <a:cs typeface="Times New Roman"/>
              </a:rPr>
              <a:t>Data</a:t>
            </a:r>
            <a:r>
              <a:rPr sz="1500" b="1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500" b="1" spc="-25" dirty="0">
                <a:solidFill>
                  <a:srgbClr val="FFFFFF"/>
                </a:solidFill>
                <a:latin typeface="Times New Roman"/>
                <a:cs typeface="Times New Roman"/>
              </a:rPr>
              <a:t>JPA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4537202" y="4007611"/>
            <a:ext cx="1283970" cy="1708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950" dirty="0">
                <a:solidFill>
                  <a:srgbClr val="93A2B8"/>
                </a:solidFill>
                <a:latin typeface="Times New Roman"/>
                <a:cs typeface="Times New Roman"/>
              </a:rPr>
              <a:t>Database</a:t>
            </a:r>
            <a:r>
              <a:rPr sz="950" spc="-45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950" dirty="0">
                <a:solidFill>
                  <a:srgbClr val="93A2B8"/>
                </a:solidFill>
                <a:latin typeface="Times New Roman"/>
                <a:cs typeface="Times New Roman"/>
              </a:rPr>
              <a:t>abstraction</a:t>
            </a:r>
            <a:r>
              <a:rPr sz="950" spc="-50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950" spc="-10" dirty="0">
                <a:solidFill>
                  <a:srgbClr val="93A2B8"/>
                </a:solidFill>
                <a:latin typeface="Times New Roman"/>
                <a:cs typeface="Times New Roman"/>
              </a:rPr>
              <a:t>layer</a:t>
            </a:r>
            <a:endParaRPr sz="950">
              <a:latin typeface="Times New Roman"/>
              <a:cs typeface="Times New Roman"/>
            </a:endParaRPr>
          </a:p>
        </p:txBody>
      </p:sp>
      <p:grpSp>
        <p:nvGrpSpPr>
          <p:cNvPr id="42" name="object 42"/>
          <p:cNvGrpSpPr/>
          <p:nvPr/>
        </p:nvGrpSpPr>
        <p:grpSpPr>
          <a:xfrm>
            <a:off x="264795" y="2870835"/>
            <a:ext cx="1573530" cy="1573530"/>
            <a:chOff x="264795" y="2870835"/>
            <a:chExt cx="1573530" cy="1573530"/>
          </a:xfrm>
        </p:grpSpPr>
        <p:sp>
          <p:nvSpPr>
            <p:cNvPr id="43" name="object 43"/>
            <p:cNvSpPr/>
            <p:nvPr/>
          </p:nvSpPr>
          <p:spPr>
            <a:xfrm>
              <a:off x="274320" y="3172968"/>
              <a:ext cx="1554480" cy="1262380"/>
            </a:xfrm>
            <a:custGeom>
              <a:avLst/>
              <a:gdLst/>
              <a:ahLst/>
              <a:cxnLst/>
              <a:rect l="l" t="t" r="r" b="b"/>
              <a:pathLst>
                <a:path w="1554480" h="1262379">
                  <a:moveTo>
                    <a:pt x="0" y="1261872"/>
                  </a:moveTo>
                  <a:lnTo>
                    <a:pt x="1554480" y="1261872"/>
                  </a:lnTo>
                  <a:lnTo>
                    <a:pt x="1554480" y="0"/>
                  </a:lnTo>
                  <a:lnTo>
                    <a:pt x="0" y="0"/>
                  </a:lnTo>
                  <a:lnTo>
                    <a:pt x="0" y="1261872"/>
                  </a:lnTo>
                  <a:close/>
                </a:path>
              </a:pathLst>
            </a:custGeom>
            <a:solidFill>
              <a:srgbClr val="1B2A3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274320" y="2880360"/>
              <a:ext cx="1554480" cy="1554480"/>
            </a:xfrm>
            <a:custGeom>
              <a:avLst/>
              <a:gdLst/>
              <a:ahLst/>
              <a:cxnLst/>
              <a:rect l="l" t="t" r="r" b="b"/>
              <a:pathLst>
                <a:path w="1554480" h="1554479">
                  <a:moveTo>
                    <a:pt x="0" y="1554480"/>
                  </a:moveTo>
                  <a:lnTo>
                    <a:pt x="1554480" y="1554480"/>
                  </a:lnTo>
                  <a:lnTo>
                    <a:pt x="1554480" y="0"/>
                  </a:lnTo>
                  <a:lnTo>
                    <a:pt x="0" y="0"/>
                  </a:lnTo>
                  <a:lnTo>
                    <a:pt x="0" y="1554480"/>
                  </a:lnTo>
                  <a:close/>
                </a:path>
              </a:pathLst>
            </a:custGeom>
            <a:ln w="19050">
              <a:solidFill>
                <a:srgbClr val="EE444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274320" y="2880360"/>
              <a:ext cx="1554480" cy="292735"/>
            </a:xfrm>
            <a:custGeom>
              <a:avLst/>
              <a:gdLst/>
              <a:ahLst/>
              <a:cxnLst/>
              <a:rect l="l" t="t" r="r" b="b"/>
              <a:pathLst>
                <a:path w="1554480" h="292735">
                  <a:moveTo>
                    <a:pt x="0" y="292607"/>
                  </a:moveTo>
                  <a:lnTo>
                    <a:pt x="1554480" y="292607"/>
                  </a:lnTo>
                  <a:lnTo>
                    <a:pt x="1554480" y="0"/>
                  </a:lnTo>
                  <a:lnTo>
                    <a:pt x="0" y="0"/>
                  </a:lnTo>
                  <a:lnTo>
                    <a:pt x="0" y="292607"/>
                  </a:lnTo>
                  <a:close/>
                </a:path>
              </a:pathLst>
            </a:custGeom>
            <a:ln w="12700">
              <a:solidFill>
                <a:srgbClr val="EE444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6" name="object 46"/>
          <p:cNvSpPr txBox="1"/>
          <p:nvPr/>
        </p:nvSpPr>
        <p:spPr>
          <a:xfrm>
            <a:off x="274320" y="2880360"/>
            <a:ext cx="1554480" cy="292735"/>
          </a:xfrm>
          <a:prstGeom prst="rect">
            <a:avLst/>
          </a:prstGeom>
          <a:solidFill>
            <a:srgbClr val="EE4444"/>
          </a:solidFill>
        </p:spPr>
        <p:txBody>
          <a:bodyPr vert="horz" wrap="square" lIns="0" tIns="81915" rIns="0" bIns="0" rtlCol="0">
            <a:spAutoFit/>
          </a:bodyPr>
          <a:lstStyle/>
          <a:p>
            <a:pPr marL="373380">
              <a:lnSpc>
                <a:spcPct val="100000"/>
              </a:lnSpc>
              <a:spcBef>
                <a:spcPts val="645"/>
              </a:spcBef>
            </a:pPr>
            <a:r>
              <a:rPr sz="800" b="1" spc="60" dirty="0">
                <a:solidFill>
                  <a:srgbClr val="FFFFFF"/>
                </a:solidFill>
                <a:latin typeface="Times New Roman"/>
                <a:cs typeface="Times New Roman"/>
              </a:rPr>
              <a:t>ORM</a:t>
            </a:r>
            <a:r>
              <a:rPr sz="800" b="1" spc="254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800" b="1" spc="60" dirty="0">
                <a:solidFill>
                  <a:srgbClr val="FFFFFF"/>
                </a:solidFill>
                <a:latin typeface="Times New Roman"/>
                <a:cs typeface="Times New Roman"/>
              </a:rPr>
              <a:t>Pro</a:t>
            </a:r>
            <a:r>
              <a:rPr sz="800" b="1" spc="-8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800" b="1" dirty="0">
                <a:solidFill>
                  <a:srgbClr val="FFFFFF"/>
                </a:solidFill>
                <a:latin typeface="Times New Roman"/>
                <a:cs typeface="Times New Roman"/>
              </a:rPr>
              <a:t>vi</a:t>
            </a:r>
            <a:r>
              <a:rPr sz="800" b="1" spc="-9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800" b="1" spc="35" dirty="0">
                <a:solidFill>
                  <a:srgbClr val="FFFFFF"/>
                </a:solidFill>
                <a:latin typeface="Times New Roman"/>
                <a:cs typeface="Times New Roman"/>
              </a:rPr>
              <a:t>der</a:t>
            </a:r>
            <a:endParaRPr sz="800">
              <a:latin typeface="Times New Roman"/>
              <a:cs typeface="Times New Roman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638860" y="3369640"/>
            <a:ext cx="838835" cy="254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5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Hibernate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431596" y="4007611"/>
            <a:ext cx="1254125" cy="1708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950" spc="-10" dirty="0">
                <a:solidFill>
                  <a:srgbClr val="93A2B8"/>
                </a:solidFill>
                <a:latin typeface="Times New Roman"/>
                <a:cs typeface="Times New Roman"/>
              </a:rPr>
              <a:t>Entity-</a:t>
            </a:r>
            <a:r>
              <a:rPr sz="950" dirty="0">
                <a:solidFill>
                  <a:srgbClr val="93A2B8"/>
                </a:solidFill>
                <a:latin typeface="Times New Roman"/>
                <a:cs typeface="Times New Roman"/>
              </a:rPr>
              <a:t>relational</a:t>
            </a:r>
            <a:r>
              <a:rPr sz="950" spc="10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950" spc="-10" dirty="0">
                <a:solidFill>
                  <a:srgbClr val="93A2B8"/>
                </a:solidFill>
                <a:latin typeface="Times New Roman"/>
                <a:cs typeface="Times New Roman"/>
              </a:rPr>
              <a:t>mapping</a:t>
            </a:r>
            <a:endParaRPr sz="950">
              <a:latin typeface="Times New Roman"/>
              <a:cs typeface="Times New Roman"/>
            </a:endParaRPr>
          </a:p>
        </p:txBody>
      </p:sp>
      <p:grpSp>
        <p:nvGrpSpPr>
          <p:cNvPr id="49" name="object 49"/>
          <p:cNvGrpSpPr/>
          <p:nvPr/>
        </p:nvGrpSpPr>
        <p:grpSpPr>
          <a:xfrm>
            <a:off x="2324989" y="2876499"/>
            <a:ext cx="1573530" cy="1573530"/>
            <a:chOff x="2324989" y="2876499"/>
            <a:chExt cx="1573530" cy="1573530"/>
          </a:xfrm>
        </p:grpSpPr>
        <p:sp>
          <p:nvSpPr>
            <p:cNvPr id="50" name="object 50"/>
            <p:cNvSpPr/>
            <p:nvPr/>
          </p:nvSpPr>
          <p:spPr>
            <a:xfrm>
              <a:off x="2334514" y="3178683"/>
              <a:ext cx="1554480" cy="1262380"/>
            </a:xfrm>
            <a:custGeom>
              <a:avLst/>
              <a:gdLst/>
              <a:ahLst/>
              <a:cxnLst/>
              <a:rect l="l" t="t" r="r" b="b"/>
              <a:pathLst>
                <a:path w="1554479" h="1262379">
                  <a:moveTo>
                    <a:pt x="0" y="1261821"/>
                  </a:moveTo>
                  <a:lnTo>
                    <a:pt x="1554480" y="1261821"/>
                  </a:lnTo>
                  <a:lnTo>
                    <a:pt x="1554480" y="0"/>
                  </a:lnTo>
                  <a:lnTo>
                    <a:pt x="0" y="0"/>
                  </a:lnTo>
                  <a:lnTo>
                    <a:pt x="0" y="1261821"/>
                  </a:lnTo>
                  <a:close/>
                </a:path>
              </a:pathLst>
            </a:custGeom>
            <a:solidFill>
              <a:srgbClr val="1B2A3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2334514" y="2886024"/>
              <a:ext cx="1554480" cy="1554480"/>
            </a:xfrm>
            <a:custGeom>
              <a:avLst/>
              <a:gdLst/>
              <a:ahLst/>
              <a:cxnLst/>
              <a:rect l="l" t="t" r="r" b="b"/>
              <a:pathLst>
                <a:path w="1554479" h="1554479">
                  <a:moveTo>
                    <a:pt x="0" y="1554480"/>
                  </a:moveTo>
                  <a:lnTo>
                    <a:pt x="1554480" y="1554480"/>
                  </a:lnTo>
                  <a:lnTo>
                    <a:pt x="1554480" y="0"/>
                  </a:lnTo>
                  <a:lnTo>
                    <a:pt x="0" y="0"/>
                  </a:lnTo>
                  <a:lnTo>
                    <a:pt x="0" y="1554480"/>
                  </a:lnTo>
                  <a:close/>
                </a:path>
              </a:pathLst>
            </a:custGeom>
            <a:ln w="19050">
              <a:solidFill>
                <a:srgbClr val="F59E0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2334514" y="2886075"/>
              <a:ext cx="1554480" cy="292735"/>
            </a:xfrm>
            <a:custGeom>
              <a:avLst/>
              <a:gdLst/>
              <a:ahLst/>
              <a:cxnLst/>
              <a:rect l="l" t="t" r="r" b="b"/>
              <a:pathLst>
                <a:path w="1554479" h="292735">
                  <a:moveTo>
                    <a:pt x="0" y="292607"/>
                  </a:moveTo>
                  <a:lnTo>
                    <a:pt x="1554480" y="292607"/>
                  </a:lnTo>
                  <a:lnTo>
                    <a:pt x="1554480" y="0"/>
                  </a:lnTo>
                  <a:lnTo>
                    <a:pt x="0" y="0"/>
                  </a:lnTo>
                  <a:lnTo>
                    <a:pt x="0" y="292607"/>
                  </a:lnTo>
                  <a:close/>
                </a:path>
              </a:pathLst>
            </a:custGeom>
            <a:ln w="12700">
              <a:solidFill>
                <a:srgbClr val="F59E0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3" name="object 53"/>
          <p:cNvSpPr txBox="1"/>
          <p:nvPr/>
        </p:nvSpPr>
        <p:spPr>
          <a:xfrm>
            <a:off x="2334514" y="2886075"/>
            <a:ext cx="1554480" cy="292735"/>
          </a:xfrm>
          <a:prstGeom prst="rect">
            <a:avLst/>
          </a:prstGeom>
          <a:solidFill>
            <a:srgbClr val="F59E0A"/>
          </a:solidFill>
        </p:spPr>
        <p:txBody>
          <a:bodyPr vert="horz" wrap="square" lIns="0" tIns="81915" rIns="0" bIns="0" rtlCol="0">
            <a:spAutoFit/>
          </a:bodyPr>
          <a:lstStyle/>
          <a:p>
            <a:pPr marR="5715" algn="ctr">
              <a:lnSpc>
                <a:spcPct val="100000"/>
              </a:lnSpc>
              <a:spcBef>
                <a:spcPts val="645"/>
              </a:spcBef>
            </a:pPr>
            <a:r>
              <a:rPr sz="800" b="1" spc="70" dirty="0">
                <a:solidFill>
                  <a:srgbClr val="FFFFFF"/>
                </a:solidFill>
                <a:latin typeface="Times New Roman"/>
                <a:cs typeface="Times New Roman"/>
              </a:rPr>
              <a:t>Database</a:t>
            </a:r>
            <a:endParaRPr sz="800">
              <a:latin typeface="Times New Roman"/>
              <a:cs typeface="Times New Roman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2783077" y="3375786"/>
            <a:ext cx="670560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5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MySQL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2464561" y="4013708"/>
            <a:ext cx="1307465" cy="1701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950" dirty="0">
                <a:solidFill>
                  <a:srgbClr val="93A2B8"/>
                </a:solidFill>
                <a:latin typeface="Times New Roman"/>
                <a:cs typeface="Times New Roman"/>
              </a:rPr>
              <a:t>Relational</a:t>
            </a:r>
            <a:r>
              <a:rPr sz="950" spc="-30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950" dirty="0">
                <a:solidFill>
                  <a:srgbClr val="93A2B8"/>
                </a:solidFill>
                <a:latin typeface="Times New Roman"/>
                <a:cs typeface="Times New Roman"/>
              </a:rPr>
              <a:t>data</a:t>
            </a:r>
            <a:r>
              <a:rPr sz="950" spc="-30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950" spc="-10" dirty="0">
                <a:solidFill>
                  <a:srgbClr val="93A2B8"/>
                </a:solidFill>
                <a:latin typeface="Times New Roman"/>
                <a:cs typeface="Times New Roman"/>
              </a:rPr>
              <a:t>persistence</a:t>
            </a:r>
            <a:endParaRPr sz="950">
              <a:latin typeface="Times New Roman"/>
              <a:cs typeface="Times New Roman"/>
            </a:endParaRPr>
          </a:p>
        </p:txBody>
      </p:sp>
      <p:grpSp>
        <p:nvGrpSpPr>
          <p:cNvPr id="56" name="object 56"/>
          <p:cNvGrpSpPr/>
          <p:nvPr/>
        </p:nvGrpSpPr>
        <p:grpSpPr>
          <a:xfrm>
            <a:off x="6474333" y="2870835"/>
            <a:ext cx="1573530" cy="1573530"/>
            <a:chOff x="6474333" y="2870835"/>
            <a:chExt cx="1573530" cy="1573530"/>
          </a:xfrm>
        </p:grpSpPr>
        <p:sp>
          <p:nvSpPr>
            <p:cNvPr id="57" name="object 57"/>
            <p:cNvSpPr/>
            <p:nvPr/>
          </p:nvSpPr>
          <p:spPr>
            <a:xfrm>
              <a:off x="6483858" y="3172968"/>
              <a:ext cx="1554480" cy="1262380"/>
            </a:xfrm>
            <a:custGeom>
              <a:avLst/>
              <a:gdLst/>
              <a:ahLst/>
              <a:cxnLst/>
              <a:rect l="l" t="t" r="r" b="b"/>
              <a:pathLst>
                <a:path w="1554479" h="1262379">
                  <a:moveTo>
                    <a:pt x="0" y="1261872"/>
                  </a:moveTo>
                  <a:lnTo>
                    <a:pt x="1554480" y="1261872"/>
                  </a:lnTo>
                  <a:lnTo>
                    <a:pt x="1554480" y="0"/>
                  </a:lnTo>
                  <a:lnTo>
                    <a:pt x="0" y="0"/>
                  </a:lnTo>
                  <a:lnTo>
                    <a:pt x="0" y="1261872"/>
                  </a:lnTo>
                  <a:close/>
                </a:path>
              </a:pathLst>
            </a:custGeom>
            <a:solidFill>
              <a:srgbClr val="1B2A3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6483858" y="2880360"/>
              <a:ext cx="1554480" cy="1554480"/>
            </a:xfrm>
            <a:custGeom>
              <a:avLst/>
              <a:gdLst/>
              <a:ahLst/>
              <a:cxnLst/>
              <a:rect l="l" t="t" r="r" b="b"/>
              <a:pathLst>
                <a:path w="1554479" h="1554479">
                  <a:moveTo>
                    <a:pt x="0" y="1554480"/>
                  </a:moveTo>
                  <a:lnTo>
                    <a:pt x="1554480" y="1554480"/>
                  </a:lnTo>
                  <a:lnTo>
                    <a:pt x="1554480" y="0"/>
                  </a:lnTo>
                  <a:lnTo>
                    <a:pt x="0" y="0"/>
                  </a:lnTo>
                  <a:lnTo>
                    <a:pt x="0" y="1554480"/>
                  </a:lnTo>
                  <a:close/>
                </a:path>
              </a:pathLst>
            </a:custGeom>
            <a:ln w="19050">
              <a:solidFill>
                <a:srgbClr val="0891B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6483858" y="2880360"/>
              <a:ext cx="1554480" cy="292735"/>
            </a:xfrm>
            <a:custGeom>
              <a:avLst/>
              <a:gdLst/>
              <a:ahLst/>
              <a:cxnLst/>
              <a:rect l="l" t="t" r="r" b="b"/>
              <a:pathLst>
                <a:path w="1554479" h="292735">
                  <a:moveTo>
                    <a:pt x="0" y="292607"/>
                  </a:moveTo>
                  <a:lnTo>
                    <a:pt x="1554480" y="292607"/>
                  </a:lnTo>
                  <a:lnTo>
                    <a:pt x="1554480" y="0"/>
                  </a:lnTo>
                  <a:lnTo>
                    <a:pt x="0" y="0"/>
                  </a:lnTo>
                  <a:lnTo>
                    <a:pt x="0" y="292607"/>
                  </a:lnTo>
                  <a:close/>
                </a:path>
              </a:pathLst>
            </a:custGeom>
            <a:ln w="12700">
              <a:solidFill>
                <a:srgbClr val="0891B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0" name="object 60"/>
          <p:cNvSpPr txBox="1"/>
          <p:nvPr/>
        </p:nvSpPr>
        <p:spPr>
          <a:xfrm>
            <a:off x="6483858" y="2880360"/>
            <a:ext cx="1554480" cy="292735"/>
          </a:xfrm>
          <a:prstGeom prst="rect">
            <a:avLst/>
          </a:prstGeom>
          <a:solidFill>
            <a:srgbClr val="0891B1"/>
          </a:solidFill>
        </p:spPr>
        <p:txBody>
          <a:bodyPr vert="horz" wrap="square" lIns="0" tIns="81915" rIns="0" bIns="0" rtlCol="0">
            <a:spAutoFit/>
          </a:bodyPr>
          <a:lstStyle/>
          <a:p>
            <a:pPr marR="4445" algn="ctr">
              <a:lnSpc>
                <a:spcPct val="100000"/>
              </a:lnSpc>
              <a:spcBef>
                <a:spcPts val="645"/>
              </a:spcBef>
            </a:pPr>
            <a:r>
              <a:rPr sz="800" b="1" dirty="0">
                <a:solidFill>
                  <a:srgbClr val="FFFFFF"/>
                </a:solidFill>
                <a:latin typeface="Times New Roman"/>
                <a:cs typeface="Times New Roman"/>
              </a:rPr>
              <a:t>UI</a:t>
            </a:r>
            <a:r>
              <a:rPr sz="800" b="1" spc="254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8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L</a:t>
            </a:r>
            <a:r>
              <a:rPr sz="800" b="1" spc="-8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800" b="1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sz="800" b="1" spc="-8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800" b="1" dirty="0">
                <a:solidFill>
                  <a:srgbClr val="FFFFFF"/>
                </a:solidFill>
                <a:latin typeface="Times New Roman"/>
                <a:cs typeface="Times New Roman"/>
              </a:rPr>
              <a:t>y</a:t>
            </a:r>
            <a:r>
              <a:rPr sz="800" b="1" spc="-9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800" b="1" spc="25" dirty="0">
                <a:solidFill>
                  <a:srgbClr val="FFFFFF"/>
                </a:solidFill>
                <a:latin typeface="Times New Roman"/>
                <a:cs typeface="Times New Roman"/>
              </a:rPr>
              <a:t>er</a:t>
            </a:r>
            <a:endParaRPr sz="800">
              <a:latin typeface="Times New Roman"/>
              <a:cs typeface="Times New Roman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6769861" y="3369640"/>
            <a:ext cx="996315" cy="254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5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HTML/CSS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6641845" y="4007611"/>
            <a:ext cx="1252220" cy="1708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950" spc="-10" dirty="0">
                <a:solidFill>
                  <a:srgbClr val="93A2B8"/>
                </a:solidFill>
                <a:latin typeface="Times New Roman"/>
                <a:cs typeface="Times New Roman"/>
              </a:rPr>
              <a:t>Bootstrap-</a:t>
            </a:r>
            <a:r>
              <a:rPr sz="950" dirty="0">
                <a:solidFill>
                  <a:srgbClr val="93A2B8"/>
                </a:solidFill>
                <a:latin typeface="Times New Roman"/>
                <a:cs typeface="Times New Roman"/>
              </a:rPr>
              <a:t>styled</a:t>
            </a:r>
            <a:r>
              <a:rPr sz="950" spc="45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950" spc="-10" dirty="0">
                <a:solidFill>
                  <a:srgbClr val="93A2B8"/>
                </a:solidFill>
                <a:latin typeface="Times New Roman"/>
                <a:cs typeface="Times New Roman"/>
              </a:rPr>
              <a:t>frontend</a:t>
            </a:r>
            <a:endParaRPr sz="9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Role</a:t>
            </a:r>
            <a:r>
              <a:rPr spc="-25" dirty="0"/>
              <a:t> </a:t>
            </a:r>
            <a:r>
              <a:rPr dirty="0"/>
              <a:t>of</a:t>
            </a:r>
            <a:r>
              <a:rPr spc="-15" dirty="0"/>
              <a:t> </a:t>
            </a:r>
            <a:r>
              <a:rPr dirty="0"/>
              <a:t>Each</a:t>
            </a:r>
            <a:r>
              <a:rPr spc="-60" dirty="0"/>
              <a:t> </a:t>
            </a:r>
            <a:r>
              <a:rPr spc="-20" dirty="0"/>
              <a:t>Technology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44500" y="670305"/>
            <a:ext cx="3294379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i="1" dirty="0">
                <a:solidFill>
                  <a:srgbClr val="0891B1"/>
                </a:solidFill>
                <a:latin typeface="Times New Roman"/>
                <a:cs typeface="Times New Roman"/>
              </a:rPr>
              <a:t>How</a:t>
            </a:r>
            <a:r>
              <a:rPr sz="1300" i="1" spc="-40" dirty="0">
                <a:solidFill>
                  <a:srgbClr val="0891B1"/>
                </a:solidFill>
                <a:latin typeface="Times New Roman"/>
                <a:cs typeface="Times New Roman"/>
              </a:rPr>
              <a:t> </a:t>
            </a:r>
            <a:r>
              <a:rPr sz="1300" i="1" dirty="0">
                <a:solidFill>
                  <a:srgbClr val="0891B1"/>
                </a:solidFill>
                <a:latin typeface="Times New Roman"/>
                <a:cs typeface="Times New Roman"/>
              </a:rPr>
              <a:t>Every</a:t>
            </a:r>
            <a:r>
              <a:rPr sz="1300" i="1" spc="-35" dirty="0">
                <a:solidFill>
                  <a:srgbClr val="0891B1"/>
                </a:solidFill>
                <a:latin typeface="Times New Roman"/>
                <a:cs typeface="Times New Roman"/>
              </a:rPr>
              <a:t> </a:t>
            </a:r>
            <a:r>
              <a:rPr sz="1300" i="1" dirty="0">
                <a:solidFill>
                  <a:srgbClr val="0891B1"/>
                </a:solidFill>
                <a:latin typeface="Times New Roman"/>
                <a:cs typeface="Times New Roman"/>
              </a:rPr>
              <a:t>Component</a:t>
            </a:r>
            <a:r>
              <a:rPr sz="1300" i="1" spc="-30" dirty="0">
                <a:solidFill>
                  <a:srgbClr val="0891B1"/>
                </a:solidFill>
                <a:latin typeface="Times New Roman"/>
                <a:cs typeface="Times New Roman"/>
              </a:rPr>
              <a:t> </a:t>
            </a:r>
            <a:r>
              <a:rPr sz="1300" i="1" dirty="0">
                <a:solidFill>
                  <a:srgbClr val="0891B1"/>
                </a:solidFill>
                <a:latin typeface="Times New Roman"/>
                <a:cs typeface="Times New Roman"/>
              </a:rPr>
              <a:t>Contributes</a:t>
            </a:r>
            <a:r>
              <a:rPr sz="1300" i="1" spc="-30" dirty="0">
                <a:solidFill>
                  <a:srgbClr val="0891B1"/>
                </a:solidFill>
                <a:latin typeface="Times New Roman"/>
                <a:cs typeface="Times New Roman"/>
              </a:rPr>
              <a:t> </a:t>
            </a:r>
            <a:r>
              <a:rPr sz="1300" i="1" dirty="0">
                <a:solidFill>
                  <a:srgbClr val="0891B1"/>
                </a:solidFill>
                <a:latin typeface="Times New Roman"/>
                <a:cs typeface="Times New Roman"/>
              </a:rPr>
              <a:t>to</a:t>
            </a:r>
            <a:r>
              <a:rPr sz="1300" i="1" spc="-35" dirty="0">
                <a:solidFill>
                  <a:srgbClr val="0891B1"/>
                </a:solidFill>
                <a:latin typeface="Times New Roman"/>
                <a:cs typeface="Times New Roman"/>
              </a:rPr>
              <a:t> </a:t>
            </a:r>
            <a:r>
              <a:rPr sz="1300" i="1" dirty="0">
                <a:solidFill>
                  <a:srgbClr val="0891B1"/>
                </a:solidFill>
                <a:latin typeface="Times New Roman"/>
                <a:cs typeface="Times New Roman"/>
              </a:rPr>
              <a:t>the</a:t>
            </a:r>
            <a:r>
              <a:rPr sz="1300" i="1" spc="-30" dirty="0">
                <a:solidFill>
                  <a:srgbClr val="0891B1"/>
                </a:solidFill>
                <a:latin typeface="Times New Roman"/>
                <a:cs typeface="Times New Roman"/>
              </a:rPr>
              <a:t> </a:t>
            </a:r>
            <a:r>
              <a:rPr sz="1300" i="1" spc="-10" dirty="0">
                <a:solidFill>
                  <a:srgbClr val="0891B1"/>
                </a:solidFill>
                <a:latin typeface="Times New Roman"/>
                <a:cs typeface="Times New Roman"/>
              </a:rPr>
              <a:t>System</a:t>
            </a:r>
            <a:endParaRPr sz="1300">
              <a:latin typeface="Times New Roman"/>
              <a:cs typeface="Times New Roman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37160" y="923518"/>
            <a:ext cx="4418965" cy="1127125"/>
            <a:chOff x="137160" y="923518"/>
            <a:chExt cx="4418965" cy="112712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7160" y="923518"/>
              <a:ext cx="4418838" cy="1127023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274320" y="1005840"/>
              <a:ext cx="4206240" cy="914400"/>
            </a:xfrm>
            <a:custGeom>
              <a:avLst/>
              <a:gdLst/>
              <a:ahLst/>
              <a:cxnLst/>
              <a:rect l="l" t="t" r="r" b="b"/>
              <a:pathLst>
                <a:path w="4206240" h="914400">
                  <a:moveTo>
                    <a:pt x="0" y="914400"/>
                  </a:moveTo>
                  <a:lnTo>
                    <a:pt x="4206240" y="914400"/>
                  </a:lnTo>
                  <a:lnTo>
                    <a:pt x="4206240" y="0"/>
                  </a:lnTo>
                  <a:lnTo>
                    <a:pt x="0" y="0"/>
                  </a:lnTo>
                  <a:lnTo>
                    <a:pt x="0" y="914400"/>
                  </a:lnTo>
                  <a:close/>
                </a:path>
              </a:pathLst>
            </a:custGeom>
            <a:ln w="12700">
              <a:solidFill>
                <a:srgbClr val="E1E8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74320" y="1005840"/>
              <a:ext cx="1097280" cy="914400"/>
            </a:xfrm>
            <a:custGeom>
              <a:avLst/>
              <a:gdLst/>
              <a:ahLst/>
              <a:cxnLst/>
              <a:rect l="l" t="t" r="r" b="b"/>
              <a:pathLst>
                <a:path w="1097280" h="914400">
                  <a:moveTo>
                    <a:pt x="1097280" y="0"/>
                  </a:moveTo>
                  <a:lnTo>
                    <a:pt x="0" y="0"/>
                  </a:lnTo>
                  <a:lnTo>
                    <a:pt x="0" y="914400"/>
                  </a:lnTo>
                  <a:lnTo>
                    <a:pt x="1097280" y="914400"/>
                  </a:lnTo>
                  <a:lnTo>
                    <a:pt x="1097280" y="0"/>
                  </a:lnTo>
                  <a:close/>
                </a:path>
              </a:pathLst>
            </a:custGeom>
            <a:solidFill>
              <a:srgbClr val="F87316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74320" y="1005840"/>
              <a:ext cx="1097280" cy="914400"/>
            </a:xfrm>
            <a:custGeom>
              <a:avLst/>
              <a:gdLst/>
              <a:ahLst/>
              <a:cxnLst/>
              <a:rect l="l" t="t" r="r" b="b"/>
              <a:pathLst>
                <a:path w="1097280" h="914400">
                  <a:moveTo>
                    <a:pt x="0" y="914400"/>
                  </a:moveTo>
                  <a:lnTo>
                    <a:pt x="1097280" y="914400"/>
                  </a:lnTo>
                  <a:lnTo>
                    <a:pt x="1097280" y="0"/>
                  </a:lnTo>
                  <a:lnTo>
                    <a:pt x="0" y="0"/>
                  </a:lnTo>
                  <a:lnTo>
                    <a:pt x="0" y="914400"/>
                  </a:lnTo>
                  <a:close/>
                </a:path>
              </a:pathLst>
            </a:custGeom>
            <a:ln w="12700">
              <a:solidFill>
                <a:srgbClr val="F8731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320040" y="1051560"/>
            <a:ext cx="1005840" cy="365760"/>
          </a:xfrm>
          <a:prstGeom prst="rect">
            <a:avLst/>
          </a:prstGeom>
          <a:solidFill>
            <a:srgbClr val="EFF4F8"/>
          </a:solidFill>
        </p:spPr>
        <p:txBody>
          <a:bodyPr vert="horz" wrap="square" lIns="0" tIns="78740" rIns="0" bIns="0" rtlCol="0">
            <a:spAutoFit/>
          </a:bodyPr>
          <a:lstStyle/>
          <a:p>
            <a:pPr marL="233679">
              <a:lnSpc>
                <a:spcPct val="100000"/>
              </a:lnSpc>
              <a:spcBef>
                <a:spcPts val="620"/>
              </a:spcBef>
            </a:pPr>
            <a:r>
              <a:rPr sz="1300" b="1" dirty="0">
                <a:solidFill>
                  <a:srgbClr val="F87316"/>
                </a:solidFill>
                <a:latin typeface="Times New Roman"/>
                <a:cs typeface="Times New Roman"/>
              </a:rPr>
              <a:t>Java</a:t>
            </a:r>
            <a:r>
              <a:rPr sz="1300" b="1" spc="-20" dirty="0">
                <a:solidFill>
                  <a:srgbClr val="F87316"/>
                </a:solidFill>
                <a:latin typeface="Times New Roman"/>
                <a:cs typeface="Times New Roman"/>
              </a:rPr>
              <a:t> </a:t>
            </a:r>
            <a:r>
              <a:rPr sz="1300" b="1" spc="-25" dirty="0">
                <a:solidFill>
                  <a:srgbClr val="F87316"/>
                </a:solidFill>
                <a:latin typeface="Times New Roman"/>
                <a:cs typeface="Times New Roman"/>
              </a:rPr>
              <a:t>17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10997" y="1542415"/>
            <a:ext cx="102171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FFFFFF"/>
                </a:solidFill>
                <a:latin typeface="Times New Roman"/>
                <a:cs typeface="Times New Roman"/>
              </a:rPr>
              <a:t>Foundation</a:t>
            </a:r>
            <a:r>
              <a:rPr sz="9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900" spc="-10" dirty="0">
                <a:solidFill>
                  <a:srgbClr val="FFFFFF"/>
                </a:solidFill>
                <a:latin typeface="Times New Roman"/>
                <a:cs typeface="Times New Roman"/>
              </a:rPr>
              <a:t>Language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371600" y="1005839"/>
            <a:ext cx="3108960" cy="914400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412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325"/>
              </a:spcBef>
            </a:pPr>
            <a:endParaRPr sz="1100">
              <a:latin typeface="Times New Roman"/>
              <a:cs typeface="Times New Roman"/>
            </a:endParaRPr>
          </a:p>
          <a:p>
            <a:pPr marL="91440" marR="251460">
              <a:lnSpc>
                <a:spcPct val="100000"/>
              </a:lnSpc>
            </a:pPr>
            <a:r>
              <a:rPr sz="1100" dirty="0">
                <a:solidFill>
                  <a:srgbClr val="1E293A"/>
                </a:solidFill>
                <a:latin typeface="Times New Roman"/>
                <a:cs typeface="Times New Roman"/>
              </a:rPr>
              <a:t>Provides</a:t>
            </a:r>
            <a:r>
              <a:rPr sz="1100" spc="-45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1E293A"/>
                </a:solidFill>
                <a:latin typeface="Times New Roman"/>
                <a:cs typeface="Times New Roman"/>
              </a:rPr>
              <a:t>OOP</a:t>
            </a:r>
            <a:r>
              <a:rPr sz="1100" spc="-15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1E293A"/>
                </a:solidFill>
                <a:latin typeface="Times New Roman"/>
                <a:cs typeface="Times New Roman"/>
              </a:rPr>
              <a:t>constructs,</a:t>
            </a:r>
            <a:r>
              <a:rPr sz="1100" spc="-55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1E293A"/>
                </a:solidFill>
                <a:latin typeface="Times New Roman"/>
                <a:cs typeface="Times New Roman"/>
              </a:rPr>
              <a:t>streams,</a:t>
            </a:r>
            <a:r>
              <a:rPr sz="1100" spc="-55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1E293A"/>
                </a:solidFill>
                <a:latin typeface="Times New Roman"/>
                <a:cs typeface="Times New Roman"/>
              </a:rPr>
              <a:t>lambdas,</a:t>
            </a:r>
            <a:r>
              <a:rPr sz="1100" spc="-40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100" spc="-25" dirty="0">
                <a:solidFill>
                  <a:srgbClr val="1E293A"/>
                </a:solidFill>
                <a:latin typeface="Times New Roman"/>
                <a:cs typeface="Times New Roman"/>
              </a:rPr>
              <a:t>and </a:t>
            </a:r>
            <a:r>
              <a:rPr sz="1100" dirty="0">
                <a:solidFill>
                  <a:srgbClr val="1E293A"/>
                </a:solidFill>
                <a:latin typeface="Times New Roman"/>
                <a:cs typeface="Times New Roman"/>
              </a:rPr>
              <a:t>generics.</a:t>
            </a:r>
            <a:r>
              <a:rPr sz="1100" spc="-40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1E293A"/>
                </a:solidFill>
                <a:latin typeface="Times New Roman"/>
                <a:cs typeface="Times New Roman"/>
              </a:rPr>
              <a:t>All</a:t>
            </a:r>
            <a:r>
              <a:rPr sz="1100" spc="-10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1E293A"/>
                </a:solidFill>
                <a:latin typeface="Times New Roman"/>
                <a:cs typeface="Times New Roman"/>
              </a:rPr>
              <a:t>business</a:t>
            </a:r>
            <a:r>
              <a:rPr sz="1100" spc="-45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1E293A"/>
                </a:solidFill>
                <a:latin typeface="Times New Roman"/>
                <a:cs typeface="Times New Roman"/>
              </a:rPr>
              <a:t>logic,</a:t>
            </a:r>
            <a:r>
              <a:rPr sz="1100" spc="-25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1E293A"/>
                </a:solidFill>
                <a:latin typeface="Times New Roman"/>
                <a:cs typeface="Times New Roman"/>
              </a:rPr>
              <a:t>entities,</a:t>
            </a:r>
            <a:r>
              <a:rPr sz="1100" spc="-45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1E293A"/>
                </a:solidFill>
                <a:latin typeface="Times New Roman"/>
                <a:cs typeface="Times New Roman"/>
              </a:rPr>
              <a:t>and </a:t>
            </a:r>
            <a:r>
              <a:rPr sz="1100" spc="-10" dirty="0">
                <a:solidFill>
                  <a:srgbClr val="1E293A"/>
                </a:solidFill>
                <a:latin typeface="Times New Roman"/>
                <a:cs typeface="Times New Roman"/>
              </a:rPr>
              <a:t>services </a:t>
            </a:r>
            <a:r>
              <a:rPr sz="1100" dirty="0">
                <a:solidFill>
                  <a:srgbClr val="1E293A"/>
                </a:solidFill>
                <a:latin typeface="Times New Roman"/>
                <a:cs typeface="Times New Roman"/>
              </a:rPr>
              <a:t>are</a:t>
            </a:r>
            <a:r>
              <a:rPr sz="1100" spc="-30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1E293A"/>
                </a:solidFill>
                <a:latin typeface="Times New Roman"/>
                <a:cs typeface="Times New Roman"/>
              </a:rPr>
              <a:t>implemented</a:t>
            </a:r>
            <a:r>
              <a:rPr sz="1100" spc="-35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1E293A"/>
                </a:solidFill>
                <a:latin typeface="Times New Roman"/>
                <a:cs typeface="Times New Roman"/>
              </a:rPr>
              <a:t>in</a:t>
            </a:r>
            <a:r>
              <a:rPr sz="1100" spc="-15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100" spc="-20" dirty="0">
                <a:solidFill>
                  <a:srgbClr val="1E293A"/>
                </a:solidFill>
                <a:latin typeface="Times New Roman"/>
                <a:cs typeface="Times New Roman"/>
              </a:rPr>
              <a:t>Java.</a:t>
            </a:r>
            <a:endParaRPr sz="1100">
              <a:latin typeface="Times New Roman"/>
              <a:cs typeface="Times New Roman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4572000" y="923518"/>
            <a:ext cx="4418965" cy="1127125"/>
            <a:chOff x="4572000" y="923518"/>
            <a:chExt cx="4418965" cy="1127125"/>
          </a:xfrm>
        </p:grpSpPr>
        <p:pic>
          <p:nvPicPr>
            <p:cNvPr id="13" name="object 1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572000" y="923518"/>
              <a:ext cx="4418838" cy="1127023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4709160" y="1005840"/>
              <a:ext cx="4206240" cy="914400"/>
            </a:xfrm>
            <a:custGeom>
              <a:avLst/>
              <a:gdLst/>
              <a:ahLst/>
              <a:cxnLst/>
              <a:rect l="l" t="t" r="r" b="b"/>
              <a:pathLst>
                <a:path w="4206240" h="914400">
                  <a:moveTo>
                    <a:pt x="0" y="914400"/>
                  </a:moveTo>
                  <a:lnTo>
                    <a:pt x="4206240" y="914400"/>
                  </a:lnTo>
                  <a:lnTo>
                    <a:pt x="4206240" y="0"/>
                  </a:lnTo>
                  <a:lnTo>
                    <a:pt x="0" y="0"/>
                  </a:lnTo>
                  <a:lnTo>
                    <a:pt x="0" y="914400"/>
                  </a:lnTo>
                  <a:close/>
                </a:path>
              </a:pathLst>
            </a:custGeom>
            <a:ln w="12700">
              <a:solidFill>
                <a:srgbClr val="E1E8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709160" y="1005840"/>
              <a:ext cx="1097280" cy="914400"/>
            </a:xfrm>
            <a:custGeom>
              <a:avLst/>
              <a:gdLst/>
              <a:ahLst/>
              <a:cxnLst/>
              <a:rect l="l" t="t" r="r" b="b"/>
              <a:pathLst>
                <a:path w="1097279" h="914400">
                  <a:moveTo>
                    <a:pt x="1097280" y="0"/>
                  </a:moveTo>
                  <a:lnTo>
                    <a:pt x="0" y="0"/>
                  </a:lnTo>
                  <a:lnTo>
                    <a:pt x="0" y="914400"/>
                  </a:lnTo>
                  <a:lnTo>
                    <a:pt x="1097280" y="914400"/>
                  </a:lnTo>
                  <a:lnTo>
                    <a:pt x="1097280" y="0"/>
                  </a:lnTo>
                  <a:close/>
                </a:path>
              </a:pathLst>
            </a:custGeom>
            <a:solidFill>
              <a:srgbClr val="0FB881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754879" y="1051560"/>
              <a:ext cx="1005839" cy="365760"/>
            </a:xfrm>
            <a:prstGeom prst="rect">
              <a:avLst/>
            </a:prstGeom>
          </p:spPr>
        </p:pic>
      </p:grpSp>
      <p:sp>
        <p:nvSpPr>
          <p:cNvPr id="17" name="object 17"/>
          <p:cNvSpPr txBox="1"/>
          <p:nvPr/>
        </p:nvSpPr>
        <p:spPr>
          <a:xfrm>
            <a:off x="4754879" y="1051560"/>
            <a:ext cx="1005840" cy="365760"/>
          </a:xfrm>
          <a:prstGeom prst="rect">
            <a:avLst/>
          </a:prstGeom>
        </p:spPr>
        <p:txBody>
          <a:bodyPr vert="horz" wrap="square" lIns="0" tIns="78740" rIns="0" bIns="0" rtlCol="0">
            <a:spAutoFit/>
          </a:bodyPr>
          <a:lstStyle/>
          <a:p>
            <a:pPr marL="78740">
              <a:lnSpc>
                <a:spcPct val="100000"/>
              </a:lnSpc>
              <a:spcBef>
                <a:spcPts val="620"/>
              </a:spcBef>
            </a:pPr>
            <a:r>
              <a:rPr sz="1300" b="1" dirty="0">
                <a:solidFill>
                  <a:srgbClr val="0FB881"/>
                </a:solidFill>
                <a:latin typeface="Times New Roman"/>
                <a:cs typeface="Times New Roman"/>
              </a:rPr>
              <a:t>Spring</a:t>
            </a:r>
            <a:r>
              <a:rPr sz="1300" b="1" spc="-25" dirty="0">
                <a:solidFill>
                  <a:srgbClr val="0FB881"/>
                </a:solidFill>
                <a:latin typeface="Times New Roman"/>
                <a:cs typeface="Times New Roman"/>
              </a:rPr>
              <a:t> </a:t>
            </a:r>
            <a:r>
              <a:rPr sz="1300" b="1" spc="-20" dirty="0">
                <a:solidFill>
                  <a:srgbClr val="0FB881"/>
                </a:solidFill>
                <a:latin typeface="Times New Roman"/>
                <a:cs typeface="Times New Roman"/>
              </a:rPr>
              <a:t>Boot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709159" y="1005839"/>
            <a:ext cx="1097280" cy="914400"/>
          </a:xfrm>
          <a:prstGeom prst="rect">
            <a:avLst/>
          </a:prstGeom>
          <a:ln w="12700">
            <a:solidFill>
              <a:srgbClr val="0FB881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680"/>
              </a:spcBef>
            </a:pPr>
            <a:endParaRPr sz="900">
              <a:latin typeface="Times New Roman"/>
              <a:cs typeface="Times New Roman"/>
            </a:endParaRPr>
          </a:p>
          <a:p>
            <a:pPr marL="319405" marR="271145" indent="-41275">
              <a:lnSpc>
                <a:spcPct val="100000"/>
              </a:lnSpc>
            </a:pPr>
            <a:r>
              <a:rPr sz="900" spc="-10" dirty="0">
                <a:solidFill>
                  <a:srgbClr val="FFFFFF"/>
                </a:solidFill>
                <a:latin typeface="Times New Roman"/>
                <a:cs typeface="Times New Roman"/>
              </a:rPr>
              <a:t>Application Backbone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806440" y="1005839"/>
            <a:ext cx="3108960" cy="914400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412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325"/>
              </a:spcBef>
            </a:pPr>
            <a:endParaRPr sz="1100">
              <a:latin typeface="Times New Roman"/>
              <a:cs typeface="Times New Roman"/>
            </a:endParaRPr>
          </a:p>
          <a:p>
            <a:pPr marL="92075" marR="127000">
              <a:lnSpc>
                <a:spcPct val="100000"/>
              </a:lnSpc>
            </a:pPr>
            <a:r>
              <a:rPr sz="1100" spc="-10" dirty="0">
                <a:solidFill>
                  <a:srgbClr val="1E293A"/>
                </a:solidFill>
                <a:latin typeface="Times New Roman"/>
                <a:cs typeface="Times New Roman"/>
              </a:rPr>
              <a:t>Auto-</a:t>
            </a:r>
            <a:r>
              <a:rPr sz="1100" dirty="0">
                <a:solidFill>
                  <a:srgbClr val="1E293A"/>
                </a:solidFill>
                <a:latin typeface="Times New Roman"/>
                <a:cs typeface="Times New Roman"/>
              </a:rPr>
              <a:t>configures</a:t>
            </a:r>
            <a:r>
              <a:rPr sz="1100" spc="-40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1E293A"/>
                </a:solidFill>
                <a:latin typeface="Times New Roman"/>
                <a:cs typeface="Times New Roman"/>
              </a:rPr>
              <a:t>the</a:t>
            </a:r>
            <a:r>
              <a:rPr sz="1100" spc="-30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1E293A"/>
                </a:solidFill>
                <a:latin typeface="Times New Roman"/>
                <a:cs typeface="Times New Roman"/>
              </a:rPr>
              <a:t>server,</a:t>
            </a:r>
            <a:r>
              <a:rPr sz="1100" spc="-30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1E293A"/>
                </a:solidFill>
                <a:latin typeface="Times New Roman"/>
                <a:cs typeface="Times New Roman"/>
              </a:rPr>
              <a:t>manages</a:t>
            </a:r>
            <a:r>
              <a:rPr sz="1100" spc="-10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1E293A"/>
                </a:solidFill>
                <a:latin typeface="Times New Roman"/>
                <a:cs typeface="Times New Roman"/>
              </a:rPr>
              <a:t>beans</a:t>
            </a:r>
            <a:r>
              <a:rPr sz="1100" spc="-30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1E293A"/>
                </a:solidFill>
                <a:latin typeface="Times New Roman"/>
                <a:cs typeface="Times New Roman"/>
              </a:rPr>
              <a:t>via</a:t>
            </a:r>
            <a:r>
              <a:rPr sz="1100" spc="-15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100" spc="-20" dirty="0">
                <a:solidFill>
                  <a:srgbClr val="1E293A"/>
                </a:solidFill>
                <a:latin typeface="Times New Roman"/>
                <a:cs typeface="Times New Roman"/>
              </a:rPr>
              <a:t>IoC, </a:t>
            </a:r>
            <a:r>
              <a:rPr sz="1100" dirty="0">
                <a:solidFill>
                  <a:srgbClr val="1E293A"/>
                </a:solidFill>
                <a:latin typeface="Times New Roman"/>
                <a:cs typeface="Times New Roman"/>
              </a:rPr>
              <a:t>provides</a:t>
            </a:r>
            <a:r>
              <a:rPr sz="1100" spc="-50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1E293A"/>
                </a:solidFill>
                <a:latin typeface="Times New Roman"/>
                <a:cs typeface="Times New Roman"/>
              </a:rPr>
              <a:t>embedded</a:t>
            </a:r>
            <a:r>
              <a:rPr sz="1100" spc="-25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1E293A"/>
                </a:solidFill>
                <a:latin typeface="Times New Roman"/>
                <a:cs typeface="Times New Roman"/>
              </a:rPr>
              <a:t>Tomcat,</a:t>
            </a:r>
            <a:r>
              <a:rPr sz="1100" spc="-40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1E293A"/>
                </a:solidFill>
                <a:latin typeface="Times New Roman"/>
                <a:cs typeface="Times New Roman"/>
              </a:rPr>
              <a:t>and</a:t>
            </a:r>
            <a:r>
              <a:rPr sz="1100" spc="-15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1E293A"/>
                </a:solidFill>
                <a:latin typeface="Times New Roman"/>
                <a:cs typeface="Times New Roman"/>
              </a:rPr>
              <a:t>enables</a:t>
            </a:r>
            <a:r>
              <a:rPr sz="1100" spc="-45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100" spc="-10" dirty="0">
                <a:solidFill>
                  <a:srgbClr val="1E293A"/>
                </a:solidFill>
                <a:latin typeface="Times New Roman"/>
                <a:cs typeface="Times New Roman"/>
              </a:rPr>
              <a:t>rapid </a:t>
            </a:r>
            <a:r>
              <a:rPr sz="1100" dirty="0">
                <a:solidFill>
                  <a:srgbClr val="1E293A"/>
                </a:solidFill>
                <a:latin typeface="Times New Roman"/>
                <a:cs typeface="Times New Roman"/>
              </a:rPr>
              <a:t>development</a:t>
            </a:r>
            <a:r>
              <a:rPr sz="1100" spc="-30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1E293A"/>
                </a:solidFill>
                <a:latin typeface="Times New Roman"/>
                <a:cs typeface="Times New Roman"/>
              </a:rPr>
              <a:t>without</a:t>
            </a:r>
            <a:r>
              <a:rPr sz="1100" spc="-45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1E293A"/>
                </a:solidFill>
                <a:latin typeface="Times New Roman"/>
                <a:cs typeface="Times New Roman"/>
              </a:rPr>
              <a:t>XML</a:t>
            </a:r>
            <a:r>
              <a:rPr sz="1100" spc="-25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100" spc="-10" dirty="0">
                <a:solidFill>
                  <a:srgbClr val="1E293A"/>
                </a:solidFill>
                <a:latin typeface="Times New Roman"/>
                <a:cs typeface="Times New Roman"/>
              </a:rPr>
              <a:t>config.</a:t>
            </a:r>
            <a:endParaRPr sz="1100">
              <a:latin typeface="Times New Roman"/>
              <a:cs typeface="Times New Roman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137160" y="1929358"/>
            <a:ext cx="4418965" cy="1127125"/>
            <a:chOff x="137160" y="1929358"/>
            <a:chExt cx="4418965" cy="1127125"/>
          </a:xfrm>
        </p:grpSpPr>
        <p:pic>
          <p:nvPicPr>
            <p:cNvPr id="21" name="object 2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7160" y="1929358"/>
              <a:ext cx="4418838" cy="1127023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274320" y="2011679"/>
              <a:ext cx="4206240" cy="914400"/>
            </a:xfrm>
            <a:custGeom>
              <a:avLst/>
              <a:gdLst/>
              <a:ahLst/>
              <a:cxnLst/>
              <a:rect l="l" t="t" r="r" b="b"/>
              <a:pathLst>
                <a:path w="4206240" h="914400">
                  <a:moveTo>
                    <a:pt x="0" y="914400"/>
                  </a:moveTo>
                  <a:lnTo>
                    <a:pt x="4206240" y="914400"/>
                  </a:lnTo>
                  <a:lnTo>
                    <a:pt x="4206240" y="0"/>
                  </a:lnTo>
                  <a:lnTo>
                    <a:pt x="0" y="0"/>
                  </a:lnTo>
                  <a:lnTo>
                    <a:pt x="0" y="914400"/>
                  </a:lnTo>
                  <a:close/>
                </a:path>
              </a:pathLst>
            </a:custGeom>
            <a:ln w="12700">
              <a:solidFill>
                <a:srgbClr val="E1E8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274320" y="2011679"/>
              <a:ext cx="1097280" cy="914400"/>
            </a:xfrm>
            <a:custGeom>
              <a:avLst/>
              <a:gdLst/>
              <a:ahLst/>
              <a:cxnLst/>
              <a:rect l="l" t="t" r="r" b="b"/>
              <a:pathLst>
                <a:path w="1097280" h="914400">
                  <a:moveTo>
                    <a:pt x="1097280" y="0"/>
                  </a:moveTo>
                  <a:lnTo>
                    <a:pt x="0" y="0"/>
                  </a:lnTo>
                  <a:lnTo>
                    <a:pt x="0" y="914400"/>
                  </a:lnTo>
                  <a:lnTo>
                    <a:pt x="1097280" y="914400"/>
                  </a:lnTo>
                  <a:lnTo>
                    <a:pt x="1097280" y="0"/>
                  </a:lnTo>
                  <a:close/>
                </a:path>
              </a:pathLst>
            </a:custGeom>
            <a:solidFill>
              <a:srgbClr val="0891B1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274320" y="2011679"/>
              <a:ext cx="1097280" cy="914400"/>
            </a:xfrm>
            <a:custGeom>
              <a:avLst/>
              <a:gdLst/>
              <a:ahLst/>
              <a:cxnLst/>
              <a:rect l="l" t="t" r="r" b="b"/>
              <a:pathLst>
                <a:path w="1097280" h="914400">
                  <a:moveTo>
                    <a:pt x="0" y="914400"/>
                  </a:moveTo>
                  <a:lnTo>
                    <a:pt x="1097280" y="914400"/>
                  </a:lnTo>
                  <a:lnTo>
                    <a:pt x="1097280" y="0"/>
                  </a:lnTo>
                  <a:lnTo>
                    <a:pt x="0" y="0"/>
                  </a:lnTo>
                  <a:lnTo>
                    <a:pt x="0" y="914400"/>
                  </a:lnTo>
                  <a:close/>
                </a:path>
              </a:pathLst>
            </a:custGeom>
            <a:ln w="12700">
              <a:solidFill>
                <a:srgbClr val="0891B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320040" y="2057400"/>
            <a:ext cx="1005840" cy="365760"/>
          </a:xfrm>
          <a:prstGeom prst="rect">
            <a:avLst/>
          </a:prstGeom>
          <a:solidFill>
            <a:srgbClr val="EFF4F8"/>
          </a:solidFill>
        </p:spPr>
        <p:txBody>
          <a:bodyPr vert="horz" wrap="square" lIns="0" tIns="79375" rIns="0" bIns="0" rtlCol="0">
            <a:spAutoFit/>
          </a:bodyPr>
          <a:lstStyle/>
          <a:p>
            <a:pPr marL="45720">
              <a:lnSpc>
                <a:spcPct val="100000"/>
              </a:lnSpc>
              <a:spcBef>
                <a:spcPts val="625"/>
              </a:spcBef>
            </a:pPr>
            <a:r>
              <a:rPr sz="1300" b="1" dirty="0">
                <a:solidFill>
                  <a:srgbClr val="0891B1"/>
                </a:solidFill>
                <a:latin typeface="Times New Roman"/>
                <a:cs typeface="Times New Roman"/>
              </a:rPr>
              <a:t>Spring</a:t>
            </a:r>
            <a:r>
              <a:rPr sz="1300" b="1" spc="-25" dirty="0">
                <a:solidFill>
                  <a:srgbClr val="0891B1"/>
                </a:solidFill>
                <a:latin typeface="Times New Roman"/>
                <a:cs typeface="Times New Roman"/>
              </a:rPr>
              <a:t> MVC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426821" y="2548508"/>
            <a:ext cx="79248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FFFFFF"/>
                </a:solidFill>
                <a:latin typeface="Times New Roman"/>
                <a:cs typeface="Times New Roman"/>
              </a:rPr>
              <a:t>Request</a:t>
            </a:r>
            <a:r>
              <a:rPr sz="9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900" spc="-10" dirty="0">
                <a:solidFill>
                  <a:srgbClr val="FFFFFF"/>
                </a:solidFill>
                <a:latin typeface="Times New Roman"/>
                <a:cs typeface="Times New Roman"/>
              </a:rPr>
              <a:t>Routing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371600" y="2011679"/>
            <a:ext cx="3108960" cy="914400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412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325"/>
              </a:spcBef>
            </a:pPr>
            <a:endParaRPr sz="1100">
              <a:latin typeface="Times New Roman"/>
              <a:cs typeface="Times New Roman"/>
            </a:endParaRPr>
          </a:p>
          <a:p>
            <a:pPr marL="91440" marR="236220">
              <a:lnSpc>
                <a:spcPct val="100000"/>
              </a:lnSpc>
            </a:pPr>
            <a:r>
              <a:rPr sz="1100" dirty="0">
                <a:solidFill>
                  <a:srgbClr val="1E293A"/>
                </a:solidFill>
                <a:latin typeface="Times New Roman"/>
                <a:cs typeface="Times New Roman"/>
              </a:rPr>
              <a:t>@Controller</a:t>
            </a:r>
            <a:r>
              <a:rPr sz="1100" spc="-50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1E293A"/>
                </a:solidFill>
                <a:latin typeface="Times New Roman"/>
                <a:cs typeface="Times New Roman"/>
              </a:rPr>
              <a:t>classes</a:t>
            </a:r>
            <a:r>
              <a:rPr sz="1100" spc="-50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1E293A"/>
                </a:solidFill>
                <a:latin typeface="Times New Roman"/>
                <a:cs typeface="Times New Roman"/>
              </a:rPr>
              <a:t>handle</a:t>
            </a:r>
            <a:r>
              <a:rPr sz="1100" spc="-30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1E293A"/>
                </a:solidFill>
                <a:latin typeface="Times New Roman"/>
                <a:cs typeface="Times New Roman"/>
              </a:rPr>
              <a:t>HTTP</a:t>
            </a:r>
            <a:r>
              <a:rPr sz="1100" spc="-15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1E293A"/>
                </a:solidFill>
                <a:latin typeface="Times New Roman"/>
                <a:cs typeface="Times New Roman"/>
              </a:rPr>
              <a:t>requests,</a:t>
            </a:r>
            <a:r>
              <a:rPr sz="1100" spc="-40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100" spc="-25" dirty="0">
                <a:solidFill>
                  <a:srgbClr val="1E293A"/>
                </a:solidFill>
                <a:latin typeface="Times New Roman"/>
                <a:cs typeface="Times New Roman"/>
              </a:rPr>
              <a:t>map </a:t>
            </a:r>
            <a:r>
              <a:rPr sz="1100" dirty="0">
                <a:solidFill>
                  <a:srgbClr val="1E293A"/>
                </a:solidFill>
                <a:latin typeface="Times New Roman"/>
                <a:cs typeface="Times New Roman"/>
              </a:rPr>
              <a:t>URL</a:t>
            </a:r>
            <a:r>
              <a:rPr sz="1100" spc="5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1E293A"/>
                </a:solidFill>
                <a:latin typeface="Times New Roman"/>
                <a:cs typeface="Times New Roman"/>
              </a:rPr>
              <a:t>paths,</a:t>
            </a:r>
            <a:r>
              <a:rPr sz="1100" spc="-20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1E293A"/>
                </a:solidFill>
                <a:latin typeface="Times New Roman"/>
                <a:cs typeface="Times New Roman"/>
              </a:rPr>
              <a:t>validate</a:t>
            </a:r>
            <a:r>
              <a:rPr sz="1100" spc="-45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1E293A"/>
                </a:solidFill>
                <a:latin typeface="Times New Roman"/>
                <a:cs typeface="Times New Roman"/>
              </a:rPr>
              <a:t>inputs,</a:t>
            </a:r>
            <a:r>
              <a:rPr sz="1100" spc="-30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1E293A"/>
                </a:solidFill>
                <a:latin typeface="Times New Roman"/>
                <a:cs typeface="Times New Roman"/>
              </a:rPr>
              <a:t>and</a:t>
            </a:r>
            <a:r>
              <a:rPr sz="1100" spc="-15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1E293A"/>
                </a:solidFill>
                <a:latin typeface="Times New Roman"/>
                <a:cs typeface="Times New Roman"/>
              </a:rPr>
              <a:t>return</a:t>
            </a:r>
            <a:r>
              <a:rPr sz="1100" spc="-20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100" spc="-10" dirty="0">
                <a:solidFill>
                  <a:srgbClr val="1E293A"/>
                </a:solidFill>
                <a:latin typeface="Times New Roman"/>
                <a:cs typeface="Times New Roman"/>
              </a:rPr>
              <a:t>Thymeleaf views.</a:t>
            </a:r>
            <a:endParaRPr sz="1100">
              <a:latin typeface="Times New Roman"/>
              <a:cs typeface="Times New Roman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4572000" y="1929358"/>
            <a:ext cx="4418965" cy="1127125"/>
            <a:chOff x="4572000" y="1929358"/>
            <a:chExt cx="4418965" cy="1127125"/>
          </a:xfrm>
        </p:grpSpPr>
        <p:pic>
          <p:nvPicPr>
            <p:cNvPr id="29" name="object 2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572000" y="1929358"/>
              <a:ext cx="4418838" cy="1127023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4709160" y="2011679"/>
              <a:ext cx="4206240" cy="914400"/>
            </a:xfrm>
            <a:custGeom>
              <a:avLst/>
              <a:gdLst/>
              <a:ahLst/>
              <a:cxnLst/>
              <a:rect l="l" t="t" r="r" b="b"/>
              <a:pathLst>
                <a:path w="4206240" h="914400">
                  <a:moveTo>
                    <a:pt x="0" y="914400"/>
                  </a:moveTo>
                  <a:lnTo>
                    <a:pt x="4206240" y="914400"/>
                  </a:lnTo>
                  <a:lnTo>
                    <a:pt x="4206240" y="0"/>
                  </a:lnTo>
                  <a:lnTo>
                    <a:pt x="0" y="0"/>
                  </a:lnTo>
                  <a:lnTo>
                    <a:pt x="0" y="914400"/>
                  </a:lnTo>
                  <a:close/>
                </a:path>
              </a:pathLst>
            </a:custGeom>
            <a:ln w="12700">
              <a:solidFill>
                <a:srgbClr val="E1E8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4709160" y="2011679"/>
              <a:ext cx="1097280" cy="914400"/>
            </a:xfrm>
            <a:custGeom>
              <a:avLst/>
              <a:gdLst/>
              <a:ahLst/>
              <a:cxnLst/>
              <a:rect l="l" t="t" r="r" b="b"/>
              <a:pathLst>
                <a:path w="1097279" h="914400">
                  <a:moveTo>
                    <a:pt x="1097280" y="0"/>
                  </a:moveTo>
                  <a:lnTo>
                    <a:pt x="0" y="0"/>
                  </a:lnTo>
                  <a:lnTo>
                    <a:pt x="0" y="914400"/>
                  </a:lnTo>
                  <a:lnTo>
                    <a:pt x="1097280" y="914400"/>
                  </a:lnTo>
                  <a:lnTo>
                    <a:pt x="1097280" y="0"/>
                  </a:lnTo>
                  <a:close/>
                </a:path>
              </a:pathLst>
            </a:custGeom>
            <a:solidFill>
              <a:srgbClr val="8A5CF6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4709160" y="2011679"/>
              <a:ext cx="1097280" cy="914400"/>
            </a:xfrm>
            <a:custGeom>
              <a:avLst/>
              <a:gdLst/>
              <a:ahLst/>
              <a:cxnLst/>
              <a:rect l="l" t="t" r="r" b="b"/>
              <a:pathLst>
                <a:path w="1097279" h="914400">
                  <a:moveTo>
                    <a:pt x="0" y="914400"/>
                  </a:moveTo>
                  <a:lnTo>
                    <a:pt x="1097280" y="914400"/>
                  </a:lnTo>
                  <a:lnTo>
                    <a:pt x="1097280" y="0"/>
                  </a:lnTo>
                  <a:lnTo>
                    <a:pt x="0" y="0"/>
                  </a:lnTo>
                  <a:lnTo>
                    <a:pt x="0" y="914400"/>
                  </a:lnTo>
                  <a:close/>
                </a:path>
              </a:pathLst>
            </a:custGeom>
            <a:ln w="12699">
              <a:solidFill>
                <a:srgbClr val="8A5CF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3" name="object 33"/>
          <p:cNvSpPr txBox="1"/>
          <p:nvPr/>
        </p:nvSpPr>
        <p:spPr>
          <a:xfrm>
            <a:off x="4754879" y="2057400"/>
            <a:ext cx="1005840" cy="365760"/>
          </a:xfrm>
          <a:prstGeom prst="rect">
            <a:avLst/>
          </a:prstGeom>
          <a:solidFill>
            <a:srgbClr val="EFF4F8"/>
          </a:solidFill>
        </p:spPr>
        <p:txBody>
          <a:bodyPr vert="horz" wrap="square" lIns="0" tIns="0" rIns="0" bIns="0" rtlCol="0">
            <a:spAutoFit/>
          </a:bodyPr>
          <a:lstStyle/>
          <a:p>
            <a:pPr marL="635" algn="ctr">
              <a:lnSpc>
                <a:spcPts val="1405"/>
              </a:lnSpc>
            </a:pPr>
            <a:r>
              <a:rPr sz="1300" b="1" dirty="0">
                <a:solidFill>
                  <a:srgbClr val="8A5CF6"/>
                </a:solidFill>
                <a:latin typeface="Times New Roman"/>
                <a:cs typeface="Times New Roman"/>
              </a:rPr>
              <a:t>Spring</a:t>
            </a:r>
            <a:r>
              <a:rPr sz="1300" b="1" spc="-25" dirty="0">
                <a:solidFill>
                  <a:srgbClr val="8A5CF6"/>
                </a:solidFill>
                <a:latin typeface="Times New Roman"/>
                <a:cs typeface="Times New Roman"/>
              </a:rPr>
              <a:t> </a:t>
            </a:r>
            <a:r>
              <a:rPr sz="1300" b="1" spc="-20" dirty="0">
                <a:solidFill>
                  <a:srgbClr val="8A5CF6"/>
                </a:solidFill>
                <a:latin typeface="Times New Roman"/>
                <a:cs typeface="Times New Roman"/>
              </a:rPr>
              <a:t>Data</a:t>
            </a:r>
            <a:endParaRPr sz="1300">
              <a:latin typeface="Times New Roman"/>
              <a:cs typeface="Times New Roman"/>
            </a:endParaRPr>
          </a:p>
          <a:p>
            <a:pPr algn="ctr">
              <a:lnSpc>
                <a:spcPts val="1475"/>
              </a:lnSpc>
            </a:pPr>
            <a:r>
              <a:rPr sz="1300" b="1" spc="-25" dirty="0">
                <a:solidFill>
                  <a:srgbClr val="8A5CF6"/>
                </a:solidFill>
                <a:latin typeface="Times New Roman"/>
                <a:cs typeface="Times New Roman"/>
              </a:rPr>
              <a:t>JPA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4815078" y="2548508"/>
            <a:ext cx="88519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FFFFFF"/>
                </a:solidFill>
                <a:latin typeface="Times New Roman"/>
                <a:cs typeface="Times New Roman"/>
              </a:rPr>
              <a:t>Data</a:t>
            </a:r>
            <a:r>
              <a:rPr sz="9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900" dirty="0">
                <a:solidFill>
                  <a:srgbClr val="FFFFFF"/>
                </a:solidFill>
                <a:latin typeface="Times New Roman"/>
                <a:cs typeface="Times New Roman"/>
              </a:rPr>
              <a:t>Access</a:t>
            </a:r>
            <a:r>
              <a:rPr sz="900" spc="-10" dirty="0">
                <a:solidFill>
                  <a:srgbClr val="FFFFFF"/>
                </a:solidFill>
                <a:latin typeface="Times New Roman"/>
                <a:cs typeface="Times New Roman"/>
              </a:rPr>
              <a:t> Layer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5806440" y="2011679"/>
            <a:ext cx="3108960" cy="914400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412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325"/>
              </a:spcBef>
            </a:pPr>
            <a:endParaRPr sz="1100">
              <a:latin typeface="Times New Roman"/>
              <a:cs typeface="Times New Roman"/>
            </a:endParaRPr>
          </a:p>
          <a:p>
            <a:pPr marL="92075" marR="508000" algn="just">
              <a:lnSpc>
                <a:spcPct val="100000"/>
              </a:lnSpc>
            </a:pPr>
            <a:r>
              <a:rPr sz="1100" dirty="0">
                <a:solidFill>
                  <a:srgbClr val="1E293A"/>
                </a:solidFill>
                <a:latin typeface="Times New Roman"/>
                <a:cs typeface="Times New Roman"/>
              </a:rPr>
              <a:t>Repository</a:t>
            </a:r>
            <a:r>
              <a:rPr sz="1100" spc="-45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1E293A"/>
                </a:solidFill>
                <a:latin typeface="Times New Roman"/>
                <a:cs typeface="Times New Roman"/>
              </a:rPr>
              <a:t>interfaces</a:t>
            </a:r>
            <a:r>
              <a:rPr sz="1100" spc="-55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1E293A"/>
                </a:solidFill>
                <a:latin typeface="Times New Roman"/>
                <a:cs typeface="Times New Roman"/>
              </a:rPr>
              <a:t>extend</a:t>
            </a:r>
            <a:r>
              <a:rPr sz="1100" spc="-30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100" spc="-10" dirty="0">
                <a:solidFill>
                  <a:srgbClr val="1E293A"/>
                </a:solidFill>
                <a:latin typeface="Times New Roman"/>
                <a:cs typeface="Times New Roman"/>
              </a:rPr>
              <a:t>JpaRepository, </a:t>
            </a:r>
            <a:r>
              <a:rPr sz="1100" dirty="0">
                <a:solidFill>
                  <a:srgbClr val="1E293A"/>
                </a:solidFill>
                <a:latin typeface="Times New Roman"/>
                <a:cs typeface="Times New Roman"/>
              </a:rPr>
              <a:t>providing</a:t>
            </a:r>
            <a:r>
              <a:rPr sz="1100" spc="-45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1E293A"/>
                </a:solidFill>
                <a:latin typeface="Times New Roman"/>
                <a:cs typeface="Times New Roman"/>
              </a:rPr>
              <a:t>CRUD</a:t>
            </a:r>
            <a:r>
              <a:rPr sz="1100" spc="5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1E293A"/>
                </a:solidFill>
                <a:latin typeface="Times New Roman"/>
                <a:cs typeface="Times New Roman"/>
              </a:rPr>
              <a:t>and</a:t>
            </a:r>
            <a:r>
              <a:rPr sz="1100" spc="-20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1E293A"/>
                </a:solidFill>
                <a:latin typeface="Times New Roman"/>
                <a:cs typeface="Times New Roman"/>
              </a:rPr>
              <a:t>custom</a:t>
            </a:r>
            <a:r>
              <a:rPr sz="1100" spc="-45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1E293A"/>
                </a:solidFill>
                <a:latin typeface="Times New Roman"/>
                <a:cs typeface="Times New Roman"/>
              </a:rPr>
              <a:t>query</a:t>
            </a:r>
            <a:r>
              <a:rPr sz="1100" spc="-30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100" spc="-10" dirty="0">
                <a:solidFill>
                  <a:srgbClr val="1E293A"/>
                </a:solidFill>
                <a:latin typeface="Times New Roman"/>
                <a:cs typeface="Times New Roman"/>
              </a:rPr>
              <a:t>methods </a:t>
            </a:r>
            <a:r>
              <a:rPr sz="1100" dirty="0">
                <a:solidFill>
                  <a:srgbClr val="1E293A"/>
                </a:solidFill>
                <a:latin typeface="Times New Roman"/>
                <a:cs typeface="Times New Roman"/>
              </a:rPr>
              <a:t>without</a:t>
            </a:r>
            <a:r>
              <a:rPr sz="1100" spc="-45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1E293A"/>
                </a:solidFill>
                <a:latin typeface="Times New Roman"/>
                <a:cs typeface="Times New Roman"/>
              </a:rPr>
              <a:t>boilerplate</a:t>
            </a:r>
            <a:r>
              <a:rPr sz="1100" spc="-45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100" spc="-10" dirty="0">
                <a:solidFill>
                  <a:srgbClr val="1E293A"/>
                </a:solidFill>
                <a:latin typeface="Times New Roman"/>
                <a:cs typeface="Times New Roman"/>
              </a:rPr>
              <a:t>code.</a:t>
            </a:r>
            <a:endParaRPr sz="1100">
              <a:latin typeface="Times New Roman"/>
              <a:cs typeface="Times New Roman"/>
            </a:endParaRPr>
          </a:p>
        </p:txBody>
      </p:sp>
      <p:grpSp>
        <p:nvGrpSpPr>
          <p:cNvPr id="36" name="object 36"/>
          <p:cNvGrpSpPr/>
          <p:nvPr/>
        </p:nvGrpSpPr>
        <p:grpSpPr>
          <a:xfrm>
            <a:off x="137160" y="2935223"/>
            <a:ext cx="4418965" cy="1127125"/>
            <a:chOff x="137160" y="2935223"/>
            <a:chExt cx="4418965" cy="1127125"/>
          </a:xfrm>
        </p:grpSpPr>
        <p:pic>
          <p:nvPicPr>
            <p:cNvPr id="37" name="object 3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7160" y="2935223"/>
              <a:ext cx="4418838" cy="1127023"/>
            </a:xfrm>
            <a:prstGeom prst="rect">
              <a:avLst/>
            </a:prstGeom>
          </p:spPr>
        </p:pic>
        <p:sp>
          <p:nvSpPr>
            <p:cNvPr id="38" name="object 38"/>
            <p:cNvSpPr/>
            <p:nvPr/>
          </p:nvSpPr>
          <p:spPr>
            <a:xfrm>
              <a:off x="274320" y="3017519"/>
              <a:ext cx="4206240" cy="914400"/>
            </a:xfrm>
            <a:custGeom>
              <a:avLst/>
              <a:gdLst/>
              <a:ahLst/>
              <a:cxnLst/>
              <a:rect l="l" t="t" r="r" b="b"/>
              <a:pathLst>
                <a:path w="4206240" h="914400">
                  <a:moveTo>
                    <a:pt x="0" y="914400"/>
                  </a:moveTo>
                  <a:lnTo>
                    <a:pt x="4206240" y="914400"/>
                  </a:lnTo>
                  <a:lnTo>
                    <a:pt x="4206240" y="0"/>
                  </a:lnTo>
                  <a:lnTo>
                    <a:pt x="0" y="0"/>
                  </a:lnTo>
                  <a:lnTo>
                    <a:pt x="0" y="914400"/>
                  </a:lnTo>
                  <a:close/>
                </a:path>
              </a:pathLst>
            </a:custGeom>
            <a:ln w="12700">
              <a:solidFill>
                <a:srgbClr val="E1E8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274320" y="3017519"/>
              <a:ext cx="1097280" cy="914400"/>
            </a:xfrm>
            <a:custGeom>
              <a:avLst/>
              <a:gdLst/>
              <a:ahLst/>
              <a:cxnLst/>
              <a:rect l="l" t="t" r="r" b="b"/>
              <a:pathLst>
                <a:path w="1097280" h="914400">
                  <a:moveTo>
                    <a:pt x="1097280" y="0"/>
                  </a:moveTo>
                  <a:lnTo>
                    <a:pt x="0" y="0"/>
                  </a:lnTo>
                  <a:lnTo>
                    <a:pt x="0" y="914400"/>
                  </a:lnTo>
                  <a:lnTo>
                    <a:pt x="1097280" y="914400"/>
                  </a:lnTo>
                  <a:lnTo>
                    <a:pt x="1097280" y="0"/>
                  </a:lnTo>
                  <a:close/>
                </a:path>
              </a:pathLst>
            </a:custGeom>
            <a:solidFill>
              <a:srgbClr val="0D7490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274320" y="3017519"/>
              <a:ext cx="1097280" cy="914400"/>
            </a:xfrm>
            <a:custGeom>
              <a:avLst/>
              <a:gdLst/>
              <a:ahLst/>
              <a:cxnLst/>
              <a:rect l="l" t="t" r="r" b="b"/>
              <a:pathLst>
                <a:path w="1097280" h="914400">
                  <a:moveTo>
                    <a:pt x="0" y="914400"/>
                  </a:moveTo>
                  <a:lnTo>
                    <a:pt x="1097280" y="914400"/>
                  </a:lnTo>
                  <a:lnTo>
                    <a:pt x="1097280" y="0"/>
                  </a:lnTo>
                  <a:lnTo>
                    <a:pt x="0" y="0"/>
                  </a:lnTo>
                  <a:lnTo>
                    <a:pt x="0" y="914400"/>
                  </a:lnTo>
                  <a:close/>
                </a:path>
              </a:pathLst>
            </a:custGeom>
            <a:ln w="12700">
              <a:solidFill>
                <a:srgbClr val="0D749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1" name="object 41"/>
          <p:cNvSpPr txBox="1"/>
          <p:nvPr/>
        </p:nvSpPr>
        <p:spPr>
          <a:xfrm>
            <a:off x="320040" y="3063239"/>
            <a:ext cx="1005840" cy="365760"/>
          </a:xfrm>
          <a:prstGeom prst="rect">
            <a:avLst/>
          </a:prstGeom>
          <a:solidFill>
            <a:srgbClr val="EFF4F8"/>
          </a:solidFill>
        </p:spPr>
        <p:txBody>
          <a:bodyPr vert="horz" wrap="square" lIns="0" tIns="79375" rIns="0" bIns="0" rtlCol="0">
            <a:spAutoFit/>
          </a:bodyPr>
          <a:lstStyle/>
          <a:p>
            <a:pPr marL="127000">
              <a:lnSpc>
                <a:spcPct val="100000"/>
              </a:lnSpc>
              <a:spcBef>
                <a:spcPts val="625"/>
              </a:spcBef>
            </a:pPr>
            <a:r>
              <a:rPr sz="1300" b="1" spc="-10" dirty="0">
                <a:solidFill>
                  <a:srgbClr val="0D7490"/>
                </a:solidFill>
                <a:latin typeface="Times New Roman"/>
                <a:cs typeface="Times New Roman"/>
              </a:rPr>
              <a:t>Thymeleaf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432917" y="3554044"/>
            <a:ext cx="779145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FFFFFF"/>
                </a:solidFill>
                <a:latin typeface="Times New Roman"/>
                <a:cs typeface="Times New Roman"/>
              </a:rPr>
              <a:t>View</a:t>
            </a:r>
            <a:r>
              <a:rPr sz="9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900" spc="-10" dirty="0">
                <a:solidFill>
                  <a:srgbClr val="FFFFFF"/>
                </a:solidFill>
                <a:latin typeface="Times New Roman"/>
                <a:cs typeface="Times New Roman"/>
              </a:rPr>
              <a:t>Rendering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1371600" y="3017520"/>
            <a:ext cx="3108960" cy="914400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4191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330"/>
              </a:spcBef>
            </a:pPr>
            <a:endParaRPr sz="1100">
              <a:latin typeface="Times New Roman"/>
              <a:cs typeface="Times New Roman"/>
            </a:endParaRPr>
          </a:p>
          <a:p>
            <a:pPr marL="91440" marR="83820">
              <a:lnSpc>
                <a:spcPct val="100000"/>
              </a:lnSpc>
            </a:pPr>
            <a:r>
              <a:rPr sz="1100" spc="-10" dirty="0">
                <a:solidFill>
                  <a:srgbClr val="1E293A"/>
                </a:solidFill>
                <a:latin typeface="Times New Roman"/>
                <a:cs typeface="Times New Roman"/>
              </a:rPr>
              <a:t>Server-</a:t>
            </a:r>
            <a:r>
              <a:rPr sz="1100" dirty="0">
                <a:solidFill>
                  <a:srgbClr val="1E293A"/>
                </a:solidFill>
                <a:latin typeface="Times New Roman"/>
                <a:cs typeface="Times New Roman"/>
              </a:rPr>
              <a:t>side</a:t>
            </a:r>
            <a:r>
              <a:rPr sz="1100" spc="-20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1E293A"/>
                </a:solidFill>
                <a:latin typeface="Times New Roman"/>
                <a:cs typeface="Times New Roman"/>
              </a:rPr>
              <a:t>template</a:t>
            </a:r>
            <a:r>
              <a:rPr sz="1100" spc="-25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1E293A"/>
                </a:solidFill>
                <a:latin typeface="Times New Roman"/>
                <a:cs typeface="Times New Roman"/>
              </a:rPr>
              <a:t>engine that</a:t>
            </a:r>
            <a:r>
              <a:rPr sz="1100" spc="-20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1E293A"/>
                </a:solidFill>
                <a:latin typeface="Times New Roman"/>
                <a:cs typeface="Times New Roman"/>
              </a:rPr>
              <a:t>binds</a:t>
            </a:r>
            <a:r>
              <a:rPr sz="1100" spc="-15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100" spc="-10" dirty="0">
                <a:solidFill>
                  <a:srgbClr val="1E293A"/>
                </a:solidFill>
                <a:latin typeface="Times New Roman"/>
                <a:cs typeface="Times New Roman"/>
              </a:rPr>
              <a:t>model </a:t>
            </a:r>
            <a:r>
              <a:rPr sz="1100" dirty="0">
                <a:solidFill>
                  <a:srgbClr val="1E293A"/>
                </a:solidFill>
                <a:latin typeface="Times New Roman"/>
                <a:cs typeface="Times New Roman"/>
              </a:rPr>
              <a:t>attributes</a:t>
            </a:r>
            <a:r>
              <a:rPr sz="1100" spc="-50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1E293A"/>
                </a:solidFill>
                <a:latin typeface="Times New Roman"/>
                <a:cs typeface="Times New Roman"/>
              </a:rPr>
              <a:t>from</a:t>
            </a:r>
            <a:r>
              <a:rPr sz="1100" spc="-35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1E293A"/>
                </a:solidFill>
                <a:latin typeface="Times New Roman"/>
                <a:cs typeface="Times New Roman"/>
              </a:rPr>
              <a:t>controllers</a:t>
            </a:r>
            <a:r>
              <a:rPr sz="1100" spc="-50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1E293A"/>
                </a:solidFill>
                <a:latin typeface="Times New Roman"/>
                <a:cs typeface="Times New Roman"/>
              </a:rPr>
              <a:t>to</a:t>
            </a:r>
            <a:r>
              <a:rPr sz="1100" spc="-20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1E293A"/>
                </a:solidFill>
                <a:latin typeface="Times New Roman"/>
                <a:cs typeface="Times New Roman"/>
              </a:rPr>
              <a:t>HTML</a:t>
            </a:r>
            <a:r>
              <a:rPr sz="1100" spc="-15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1E293A"/>
                </a:solidFill>
                <a:latin typeface="Times New Roman"/>
                <a:cs typeface="Times New Roman"/>
              </a:rPr>
              <a:t>pages,</a:t>
            </a:r>
            <a:r>
              <a:rPr sz="1100" spc="-20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100" spc="-10" dirty="0">
                <a:solidFill>
                  <a:srgbClr val="1E293A"/>
                </a:solidFill>
                <a:latin typeface="Times New Roman"/>
                <a:cs typeface="Times New Roman"/>
              </a:rPr>
              <a:t>enabling </a:t>
            </a:r>
            <a:r>
              <a:rPr sz="1100" dirty="0">
                <a:solidFill>
                  <a:srgbClr val="1E293A"/>
                </a:solidFill>
                <a:latin typeface="Times New Roman"/>
                <a:cs typeface="Times New Roman"/>
              </a:rPr>
              <a:t>dynamic</a:t>
            </a:r>
            <a:r>
              <a:rPr sz="1100" spc="-30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1E293A"/>
                </a:solidFill>
                <a:latin typeface="Times New Roman"/>
                <a:cs typeface="Times New Roman"/>
              </a:rPr>
              <a:t>content</a:t>
            </a:r>
            <a:r>
              <a:rPr sz="1100" spc="-50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100" spc="-10" dirty="0">
                <a:solidFill>
                  <a:srgbClr val="1E293A"/>
                </a:solidFill>
                <a:latin typeface="Times New Roman"/>
                <a:cs typeface="Times New Roman"/>
              </a:rPr>
              <a:t>rendering.</a:t>
            </a:r>
            <a:endParaRPr sz="1100">
              <a:latin typeface="Times New Roman"/>
              <a:cs typeface="Times New Roman"/>
            </a:endParaRPr>
          </a:p>
        </p:txBody>
      </p:sp>
      <p:grpSp>
        <p:nvGrpSpPr>
          <p:cNvPr id="44" name="object 44"/>
          <p:cNvGrpSpPr/>
          <p:nvPr/>
        </p:nvGrpSpPr>
        <p:grpSpPr>
          <a:xfrm>
            <a:off x="4572000" y="2935223"/>
            <a:ext cx="4418965" cy="1127125"/>
            <a:chOff x="4572000" y="2935223"/>
            <a:chExt cx="4418965" cy="1127125"/>
          </a:xfrm>
        </p:grpSpPr>
        <p:pic>
          <p:nvPicPr>
            <p:cNvPr id="45" name="object 4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572000" y="2935223"/>
              <a:ext cx="4418838" cy="1127023"/>
            </a:xfrm>
            <a:prstGeom prst="rect">
              <a:avLst/>
            </a:prstGeom>
          </p:spPr>
        </p:pic>
        <p:sp>
          <p:nvSpPr>
            <p:cNvPr id="46" name="object 46"/>
            <p:cNvSpPr/>
            <p:nvPr/>
          </p:nvSpPr>
          <p:spPr>
            <a:xfrm>
              <a:off x="4709160" y="3017519"/>
              <a:ext cx="4206240" cy="914400"/>
            </a:xfrm>
            <a:custGeom>
              <a:avLst/>
              <a:gdLst/>
              <a:ahLst/>
              <a:cxnLst/>
              <a:rect l="l" t="t" r="r" b="b"/>
              <a:pathLst>
                <a:path w="4206240" h="914400">
                  <a:moveTo>
                    <a:pt x="0" y="914400"/>
                  </a:moveTo>
                  <a:lnTo>
                    <a:pt x="4206240" y="914400"/>
                  </a:lnTo>
                  <a:lnTo>
                    <a:pt x="4206240" y="0"/>
                  </a:lnTo>
                  <a:lnTo>
                    <a:pt x="0" y="0"/>
                  </a:lnTo>
                  <a:lnTo>
                    <a:pt x="0" y="914400"/>
                  </a:lnTo>
                  <a:close/>
                </a:path>
              </a:pathLst>
            </a:custGeom>
            <a:ln w="12700">
              <a:solidFill>
                <a:srgbClr val="E1E8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4709160" y="3017519"/>
              <a:ext cx="1097280" cy="914400"/>
            </a:xfrm>
            <a:custGeom>
              <a:avLst/>
              <a:gdLst/>
              <a:ahLst/>
              <a:cxnLst/>
              <a:rect l="l" t="t" r="r" b="b"/>
              <a:pathLst>
                <a:path w="1097279" h="914400">
                  <a:moveTo>
                    <a:pt x="1097280" y="0"/>
                  </a:moveTo>
                  <a:lnTo>
                    <a:pt x="0" y="0"/>
                  </a:lnTo>
                  <a:lnTo>
                    <a:pt x="0" y="914400"/>
                  </a:lnTo>
                  <a:lnTo>
                    <a:pt x="1097280" y="914400"/>
                  </a:lnTo>
                  <a:lnTo>
                    <a:pt x="1097280" y="0"/>
                  </a:lnTo>
                  <a:close/>
                </a:path>
              </a:pathLst>
            </a:custGeom>
            <a:solidFill>
              <a:srgbClr val="F59E0A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4709160" y="3017519"/>
              <a:ext cx="1097280" cy="914400"/>
            </a:xfrm>
            <a:custGeom>
              <a:avLst/>
              <a:gdLst/>
              <a:ahLst/>
              <a:cxnLst/>
              <a:rect l="l" t="t" r="r" b="b"/>
              <a:pathLst>
                <a:path w="1097279" h="914400">
                  <a:moveTo>
                    <a:pt x="0" y="914400"/>
                  </a:moveTo>
                  <a:lnTo>
                    <a:pt x="1097280" y="914400"/>
                  </a:lnTo>
                  <a:lnTo>
                    <a:pt x="1097280" y="0"/>
                  </a:lnTo>
                  <a:lnTo>
                    <a:pt x="0" y="0"/>
                  </a:lnTo>
                  <a:lnTo>
                    <a:pt x="0" y="914400"/>
                  </a:lnTo>
                  <a:close/>
                </a:path>
              </a:pathLst>
            </a:custGeom>
            <a:ln w="12699">
              <a:solidFill>
                <a:srgbClr val="F59E0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9" name="object 49"/>
          <p:cNvSpPr txBox="1"/>
          <p:nvPr/>
        </p:nvSpPr>
        <p:spPr>
          <a:xfrm>
            <a:off x="4754879" y="3063239"/>
            <a:ext cx="1005840" cy="365760"/>
          </a:xfrm>
          <a:prstGeom prst="rect">
            <a:avLst/>
          </a:prstGeom>
          <a:solidFill>
            <a:srgbClr val="EFF4F8"/>
          </a:solidFill>
        </p:spPr>
        <p:txBody>
          <a:bodyPr vert="horz" wrap="square" lIns="0" tIns="79375" rIns="0" bIns="0" rtlCol="0">
            <a:spAutoFit/>
          </a:bodyPr>
          <a:lstStyle/>
          <a:p>
            <a:pPr marL="219075">
              <a:lnSpc>
                <a:spcPct val="100000"/>
              </a:lnSpc>
              <a:spcBef>
                <a:spcPts val="625"/>
              </a:spcBef>
            </a:pPr>
            <a:r>
              <a:rPr sz="1300" b="1" spc="-10" dirty="0">
                <a:solidFill>
                  <a:srgbClr val="F59E0A"/>
                </a:solidFill>
                <a:latin typeface="Times New Roman"/>
                <a:cs typeface="Times New Roman"/>
              </a:rPr>
              <a:t>MySQL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4834890" y="3554044"/>
            <a:ext cx="847090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FFFFFF"/>
                </a:solidFill>
                <a:latin typeface="Times New Roman"/>
                <a:cs typeface="Times New Roman"/>
              </a:rPr>
              <a:t>Persistent</a:t>
            </a:r>
            <a:r>
              <a:rPr sz="9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900" spc="-10" dirty="0">
                <a:solidFill>
                  <a:srgbClr val="FFFFFF"/>
                </a:solidFill>
                <a:latin typeface="Times New Roman"/>
                <a:cs typeface="Times New Roman"/>
              </a:rPr>
              <a:t>Storage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5806440" y="3017520"/>
            <a:ext cx="3108960" cy="914400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4191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330"/>
              </a:spcBef>
            </a:pPr>
            <a:endParaRPr sz="1100">
              <a:latin typeface="Times New Roman"/>
              <a:cs typeface="Times New Roman"/>
            </a:endParaRPr>
          </a:p>
          <a:p>
            <a:pPr marL="92075">
              <a:lnSpc>
                <a:spcPct val="100000"/>
              </a:lnSpc>
            </a:pPr>
            <a:r>
              <a:rPr sz="1100" dirty="0">
                <a:solidFill>
                  <a:srgbClr val="1E293A"/>
                </a:solidFill>
                <a:latin typeface="Times New Roman"/>
                <a:cs typeface="Times New Roman"/>
              </a:rPr>
              <a:t>Stores</a:t>
            </a:r>
            <a:r>
              <a:rPr sz="1100" spc="-35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1E293A"/>
                </a:solidFill>
                <a:latin typeface="Times New Roman"/>
                <a:cs typeface="Times New Roman"/>
              </a:rPr>
              <a:t>all</a:t>
            </a:r>
            <a:r>
              <a:rPr sz="1100" spc="-15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1E293A"/>
                </a:solidFill>
                <a:latin typeface="Times New Roman"/>
                <a:cs typeface="Times New Roman"/>
              </a:rPr>
              <a:t>entities:</a:t>
            </a:r>
            <a:r>
              <a:rPr sz="1100" spc="-40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1E293A"/>
                </a:solidFill>
                <a:latin typeface="Times New Roman"/>
                <a:cs typeface="Times New Roman"/>
              </a:rPr>
              <a:t>products,</a:t>
            </a:r>
            <a:r>
              <a:rPr sz="1100" spc="-45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1E293A"/>
                </a:solidFill>
                <a:latin typeface="Times New Roman"/>
                <a:cs typeface="Times New Roman"/>
              </a:rPr>
              <a:t>orders,</a:t>
            </a:r>
            <a:r>
              <a:rPr sz="1100" spc="-30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100" spc="-10" dirty="0">
                <a:solidFill>
                  <a:srgbClr val="1E293A"/>
                </a:solidFill>
                <a:latin typeface="Times New Roman"/>
                <a:cs typeface="Times New Roman"/>
              </a:rPr>
              <a:t>stock</a:t>
            </a:r>
            <a:endParaRPr sz="1100">
              <a:latin typeface="Times New Roman"/>
              <a:cs typeface="Times New Roman"/>
            </a:endParaRPr>
          </a:p>
          <a:p>
            <a:pPr marL="92075">
              <a:lnSpc>
                <a:spcPct val="100000"/>
              </a:lnSpc>
            </a:pPr>
            <a:r>
              <a:rPr sz="1100" dirty="0">
                <a:solidFill>
                  <a:srgbClr val="1E293A"/>
                </a:solidFill>
                <a:latin typeface="Times New Roman"/>
                <a:cs typeface="Times New Roman"/>
              </a:rPr>
              <a:t>movements,</a:t>
            </a:r>
            <a:r>
              <a:rPr sz="1100" spc="-5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1E293A"/>
                </a:solidFill>
                <a:latin typeface="Times New Roman"/>
                <a:cs typeface="Times New Roman"/>
              </a:rPr>
              <a:t>and</a:t>
            </a:r>
            <a:r>
              <a:rPr sz="1100" spc="-15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1E293A"/>
                </a:solidFill>
                <a:latin typeface="Times New Roman"/>
                <a:cs typeface="Times New Roman"/>
              </a:rPr>
              <a:t>user</a:t>
            </a:r>
            <a:r>
              <a:rPr sz="1100" spc="-25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1E293A"/>
                </a:solidFill>
                <a:latin typeface="Times New Roman"/>
                <a:cs typeface="Times New Roman"/>
              </a:rPr>
              <a:t>data</a:t>
            </a:r>
            <a:r>
              <a:rPr sz="1100" spc="-25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1E293A"/>
                </a:solidFill>
                <a:latin typeface="Times New Roman"/>
                <a:cs typeface="Times New Roman"/>
              </a:rPr>
              <a:t>in</a:t>
            </a:r>
            <a:r>
              <a:rPr sz="1100" spc="-20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1E293A"/>
                </a:solidFill>
                <a:latin typeface="Times New Roman"/>
                <a:cs typeface="Times New Roman"/>
              </a:rPr>
              <a:t>relational</a:t>
            </a:r>
            <a:r>
              <a:rPr sz="1100" spc="-45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1E293A"/>
                </a:solidFill>
                <a:latin typeface="Times New Roman"/>
                <a:cs typeface="Times New Roman"/>
              </a:rPr>
              <a:t>tables</a:t>
            </a:r>
            <a:r>
              <a:rPr sz="1100" spc="-35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100" spc="-20" dirty="0">
                <a:solidFill>
                  <a:srgbClr val="1E293A"/>
                </a:solidFill>
                <a:latin typeface="Times New Roman"/>
                <a:cs typeface="Times New Roman"/>
              </a:rPr>
              <a:t>with</a:t>
            </a:r>
            <a:endParaRPr sz="1100">
              <a:latin typeface="Times New Roman"/>
              <a:cs typeface="Times New Roman"/>
            </a:endParaRPr>
          </a:p>
          <a:p>
            <a:pPr marL="92075">
              <a:lnSpc>
                <a:spcPct val="100000"/>
              </a:lnSpc>
            </a:pPr>
            <a:r>
              <a:rPr sz="1100" spc="-10" dirty="0">
                <a:solidFill>
                  <a:srgbClr val="1E293A"/>
                </a:solidFill>
                <a:latin typeface="Times New Roman"/>
                <a:cs typeface="Times New Roman"/>
              </a:rPr>
              <a:t>foreign-</a:t>
            </a:r>
            <a:r>
              <a:rPr sz="1100" dirty="0">
                <a:solidFill>
                  <a:srgbClr val="1E293A"/>
                </a:solidFill>
                <a:latin typeface="Times New Roman"/>
                <a:cs typeface="Times New Roman"/>
              </a:rPr>
              <a:t>key</a:t>
            </a:r>
            <a:r>
              <a:rPr sz="1100" spc="35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100" spc="-10" dirty="0">
                <a:solidFill>
                  <a:srgbClr val="1E293A"/>
                </a:solidFill>
                <a:latin typeface="Times New Roman"/>
                <a:cs typeface="Times New Roman"/>
              </a:rPr>
              <a:t>integrity.</a:t>
            </a:r>
            <a:endParaRPr sz="1100">
              <a:latin typeface="Times New Roman"/>
              <a:cs typeface="Times New Roman"/>
            </a:endParaRPr>
          </a:p>
        </p:txBody>
      </p:sp>
      <p:grpSp>
        <p:nvGrpSpPr>
          <p:cNvPr id="52" name="object 52"/>
          <p:cNvGrpSpPr/>
          <p:nvPr/>
        </p:nvGrpSpPr>
        <p:grpSpPr>
          <a:xfrm>
            <a:off x="137160" y="3941065"/>
            <a:ext cx="4418965" cy="1127125"/>
            <a:chOff x="137160" y="3941065"/>
            <a:chExt cx="4418965" cy="1127125"/>
          </a:xfrm>
        </p:grpSpPr>
        <p:pic>
          <p:nvPicPr>
            <p:cNvPr id="53" name="object 5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7160" y="3941065"/>
              <a:ext cx="4418838" cy="1127023"/>
            </a:xfrm>
            <a:prstGeom prst="rect">
              <a:avLst/>
            </a:prstGeom>
          </p:spPr>
        </p:pic>
        <p:sp>
          <p:nvSpPr>
            <p:cNvPr id="54" name="object 54"/>
            <p:cNvSpPr/>
            <p:nvPr/>
          </p:nvSpPr>
          <p:spPr>
            <a:xfrm>
              <a:off x="274320" y="4023359"/>
              <a:ext cx="4206240" cy="914400"/>
            </a:xfrm>
            <a:custGeom>
              <a:avLst/>
              <a:gdLst/>
              <a:ahLst/>
              <a:cxnLst/>
              <a:rect l="l" t="t" r="r" b="b"/>
              <a:pathLst>
                <a:path w="4206240" h="914400">
                  <a:moveTo>
                    <a:pt x="0" y="914399"/>
                  </a:moveTo>
                  <a:lnTo>
                    <a:pt x="4206240" y="914399"/>
                  </a:lnTo>
                  <a:lnTo>
                    <a:pt x="4206240" y="0"/>
                  </a:lnTo>
                  <a:lnTo>
                    <a:pt x="0" y="0"/>
                  </a:lnTo>
                  <a:lnTo>
                    <a:pt x="0" y="914399"/>
                  </a:lnTo>
                  <a:close/>
                </a:path>
              </a:pathLst>
            </a:custGeom>
            <a:ln w="12700">
              <a:solidFill>
                <a:srgbClr val="E1E8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274320" y="4023359"/>
              <a:ext cx="1097280" cy="914400"/>
            </a:xfrm>
            <a:custGeom>
              <a:avLst/>
              <a:gdLst/>
              <a:ahLst/>
              <a:cxnLst/>
              <a:rect l="l" t="t" r="r" b="b"/>
              <a:pathLst>
                <a:path w="1097280" h="914400">
                  <a:moveTo>
                    <a:pt x="1097280" y="0"/>
                  </a:moveTo>
                  <a:lnTo>
                    <a:pt x="0" y="0"/>
                  </a:lnTo>
                  <a:lnTo>
                    <a:pt x="0" y="914399"/>
                  </a:lnTo>
                  <a:lnTo>
                    <a:pt x="1097280" y="914399"/>
                  </a:lnTo>
                  <a:lnTo>
                    <a:pt x="1097280" y="0"/>
                  </a:lnTo>
                  <a:close/>
                </a:path>
              </a:pathLst>
            </a:custGeom>
            <a:solidFill>
              <a:srgbClr val="EE4444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274320" y="4023359"/>
              <a:ext cx="1097280" cy="914400"/>
            </a:xfrm>
            <a:custGeom>
              <a:avLst/>
              <a:gdLst/>
              <a:ahLst/>
              <a:cxnLst/>
              <a:rect l="l" t="t" r="r" b="b"/>
              <a:pathLst>
                <a:path w="1097280" h="914400">
                  <a:moveTo>
                    <a:pt x="0" y="914399"/>
                  </a:moveTo>
                  <a:lnTo>
                    <a:pt x="1097280" y="914399"/>
                  </a:lnTo>
                  <a:lnTo>
                    <a:pt x="1097280" y="0"/>
                  </a:lnTo>
                  <a:lnTo>
                    <a:pt x="0" y="0"/>
                  </a:lnTo>
                  <a:lnTo>
                    <a:pt x="0" y="914399"/>
                  </a:lnTo>
                  <a:close/>
                </a:path>
              </a:pathLst>
            </a:custGeom>
            <a:ln w="12700">
              <a:solidFill>
                <a:srgbClr val="EE444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7" name="object 57"/>
          <p:cNvSpPr txBox="1"/>
          <p:nvPr/>
        </p:nvSpPr>
        <p:spPr>
          <a:xfrm>
            <a:off x="320040" y="4069079"/>
            <a:ext cx="1005840" cy="365760"/>
          </a:xfrm>
          <a:prstGeom prst="rect">
            <a:avLst/>
          </a:prstGeom>
          <a:solidFill>
            <a:srgbClr val="EFF4F8"/>
          </a:solidFill>
        </p:spPr>
        <p:txBody>
          <a:bodyPr vert="horz" wrap="square" lIns="0" tIns="80010" rIns="0" bIns="0" rtlCol="0">
            <a:spAutoFit/>
          </a:bodyPr>
          <a:lstStyle/>
          <a:p>
            <a:pPr marL="144780">
              <a:lnSpc>
                <a:spcPct val="100000"/>
              </a:lnSpc>
              <a:spcBef>
                <a:spcPts val="630"/>
              </a:spcBef>
            </a:pPr>
            <a:r>
              <a:rPr sz="1300" b="1" spc="-10" dirty="0">
                <a:solidFill>
                  <a:srgbClr val="EE4444"/>
                </a:solidFill>
                <a:latin typeface="Times New Roman"/>
                <a:cs typeface="Times New Roman"/>
              </a:rPr>
              <a:t>Hibernate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503021" y="4560214"/>
            <a:ext cx="640080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FFFFFF"/>
                </a:solidFill>
                <a:latin typeface="Times New Roman"/>
                <a:cs typeface="Times New Roman"/>
              </a:rPr>
              <a:t>ORM</a:t>
            </a:r>
            <a:r>
              <a:rPr sz="9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900" spc="-10" dirty="0">
                <a:solidFill>
                  <a:srgbClr val="FFFFFF"/>
                </a:solidFill>
                <a:latin typeface="Times New Roman"/>
                <a:cs typeface="Times New Roman"/>
              </a:rPr>
              <a:t>Engine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1371600" y="4023359"/>
            <a:ext cx="3108960" cy="914400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4191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330"/>
              </a:spcBef>
            </a:pPr>
            <a:endParaRPr sz="1100">
              <a:latin typeface="Times New Roman"/>
              <a:cs typeface="Times New Roman"/>
            </a:endParaRPr>
          </a:p>
          <a:p>
            <a:pPr marL="91440" marR="256540">
              <a:lnSpc>
                <a:spcPct val="100000"/>
              </a:lnSpc>
            </a:pPr>
            <a:r>
              <a:rPr sz="1100" dirty="0">
                <a:solidFill>
                  <a:srgbClr val="1E293A"/>
                </a:solidFill>
                <a:latin typeface="Times New Roman"/>
                <a:cs typeface="Times New Roman"/>
              </a:rPr>
              <a:t>Translates</a:t>
            </a:r>
            <a:r>
              <a:rPr sz="1100" spc="-45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1E293A"/>
                </a:solidFill>
                <a:latin typeface="Times New Roman"/>
                <a:cs typeface="Times New Roman"/>
              </a:rPr>
              <a:t>Java</a:t>
            </a:r>
            <a:r>
              <a:rPr sz="1100" spc="-20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1E293A"/>
                </a:solidFill>
                <a:latin typeface="Times New Roman"/>
                <a:cs typeface="Times New Roman"/>
              </a:rPr>
              <a:t>entity</a:t>
            </a:r>
            <a:r>
              <a:rPr sz="1100" spc="-40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1E293A"/>
                </a:solidFill>
                <a:latin typeface="Times New Roman"/>
                <a:cs typeface="Times New Roman"/>
              </a:rPr>
              <a:t>classes</a:t>
            </a:r>
            <a:r>
              <a:rPr sz="1100" spc="-30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1E293A"/>
                </a:solidFill>
                <a:latin typeface="Times New Roman"/>
                <a:cs typeface="Times New Roman"/>
              </a:rPr>
              <a:t>to</a:t>
            </a:r>
            <a:r>
              <a:rPr sz="1100" spc="-25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1E293A"/>
                </a:solidFill>
                <a:latin typeface="Times New Roman"/>
                <a:cs typeface="Times New Roman"/>
              </a:rPr>
              <a:t>database</a:t>
            </a:r>
            <a:r>
              <a:rPr sz="1100" spc="-30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100" spc="-10" dirty="0">
                <a:solidFill>
                  <a:srgbClr val="1E293A"/>
                </a:solidFill>
                <a:latin typeface="Times New Roman"/>
                <a:cs typeface="Times New Roman"/>
              </a:rPr>
              <a:t>tables, </a:t>
            </a:r>
            <a:r>
              <a:rPr sz="1100" dirty="0">
                <a:solidFill>
                  <a:srgbClr val="1E293A"/>
                </a:solidFill>
                <a:latin typeface="Times New Roman"/>
                <a:cs typeface="Times New Roman"/>
              </a:rPr>
              <a:t>manages</a:t>
            </a:r>
            <a:r>
              <a:rPr sz="1100" spc="-10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1E293A"/>
                </a:solidFill>
                <a:latin typeface="Times New Roman"/>
                <a:cs typeface="Times New Roman"/>
              </a:rPr>
              <a:t>entity</a:t>
            </a:r>
            <a:r>
              <a:rPr sz="1100" spc="-50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1E293A"/>
                </a:solidFill>
                <a:latin typeface="Times New Roman"/>
                <a:cs typeface="Times New Roman"/>
              </a:rPr>
              <a:t>states,</a:t>
            </a:r>
            <a:r>
              <a:rPr sz="1100" spc="-50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1E293A"/>
                </a:solidFill>
                <a:latin typeface="Times New Roman"/>
                <a:cs typeface="Times New Roman"/>
              </a:rPr>
              <a:t>and</a:t>
            </a:r>
            <a:r>
              <a:rPr sz="1100" spc="-20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1E293A"/>
                </a:solidFill>
                <a:latin typeface="Times New Roman"/>
                <a:cs typeface="Times New Roman"/>
              </a:rPr>
              <a:t>generates</a:t>
            </a:r>
            <a:r>
              <a:rPr sz="1100" spc="-40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1E293A"/>
                </a:solidFill>
                <a:latin typeface="Times New Roman"/>
                <a:cs typeface="Times New Roman"/>
              </a:rPr>
              <a:t>SQL </a:t>
            </a:r>
            <a:r>
              <a:rPr sz="1100" spc="-10" dirty="0">
                <a:solidFill>
                  <a:srgbClr val="1E293A"/>
                </a:solidFill>
                <a:latin typeface="Times New Roman"/>
                <a:cs typeface="Times New Roman"/>
              </a:rPr>
              <a:t>queries automatically.</a:t>
            </a:r>
            <a:endParaRPr sz="1100">
              <a:latin typeface="Times New Roman"/>
              <a:cs typeface="Times New Roman"/>
            </a:endParaRPr>
          </a:p>
        </p:txBody>
      </p:sp>
      <p:grpSp>
        <p:nvGrpSpPr>
          <p:cNvPr id="60" name="object 60"/>
          <p:cNvGrpSpPr/>
          <p:nvPr/>
        </p:nvGrpSpPr>
        <p:grpSpPr>
          <a:xfrm>
            <a:off x="4572000" y="3941065"/>
            <a:ext cx="4418965" cy="1127125"/>
            <a:chOff x="4572000" y="3941065"/>
            <a:chExt cx="4418965" cy="1127125"/>
          </a:xfrm>
        </p:grpSpPr>
        <p:pic>
          <p:nvPicPr>
            <p:cNvPr id="61" name="object 6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572000" y="3941065"/>
              <a:ext cx="4418838" cy="1127023"/>
            </a:xfrm>
            <a:prstGeom prst="rect">
              <a:avLst/>
            </a:prstGeom>
          </p:spPr>
        </p:pic>
        <p:sp>
          <p:nvSpPr>
            <p:cNvPr id="62" name="object 62"/>
            <p:cNvSpPr/>
            <p:nvPr/>
          </p:nvSpPr>
          <p:spPr>
            <a:xfrm>
              <a:off x="4709160" y="4023359"/>
              <a:ext cx="4206240" cy="914400"/>
            </a:xfrm>
            <a:custGeom>
              <a:avLst/>
              <a:gdLst/>
              <a:ahLst/>
              <a:cxnLst/>
              <a:rect l="l" t="t" r="r" b="b"/>
              <a:pathLst>
                <a:path w="4206240" h="914400">
                  <a:moveTo>
                    <a:pt x="0" y="914399"/>
                  </a:moveTo>
                  <a:lnTo>
                    <a:pt x="4206240" y="914399"/>
                  </a:lnTo>
                  <a:lnTo>
                    <a:pt x="4206240" y="0"/>
                  </a:lnTo>
                  <a:lnTo>
                    <a:pt x="0" y="0"/>
                  </a:lnTo>
                  <a:lnTo>
                    <a:pt x="0" y="914399"/>
                  </a:lnTo>
                  <a:close/>
                </a:path>
              </a:pathLst>
            </a:custGeom>
            <a:ln w="12700">
              <a:solidFill>
                <a:srgbClr val="E1E8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4709160" y="4023359"/>
              <a:ext cx="1097280" cy="914400"/>
            </a:xfrm>
            <a:custGeom>
              <a:avLst/>
              <a:gdLst/>
              <a:ahLst/>
              <a:cxnLst/>
              <a:rect l="l" t="t" r="r" b="b"/>
              <a:pathLst>
                <a:path w="1097279" h="914400">
                  <a:moveTo>
                    <a:pt x="1097280" y="0"/>
                  </a:moveTo>
                  <a:lnTo>
                    <a:pt x="0" y="0"/>
                  </a:lnTo>
                  <a:lnTo>
                    <a:pt x="0" y="914399"/>
                  </a:lnTo>
                  <a:lnTo>
                    <a:pt x="1097280" y="914399"/>
                  </a:lnTo>
                  <a:lnTo>
                    <a:pt x="1097280" y="0"/>
                  </a:lnTo>
                  <a:close/>
                </a:path>
              </a:pathLst>
            </a:custGeom>
            <a:solidFill>
              <a:srgbClr val="0FB881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4709160" y="4023359"/>
              <a:ext cx="1097280" cy="914400"/>
            </a:xfrm>
            <a:custGeom>
              <a:avLst/>
              <a:gdLst/>
              <a:ahLst/>
              <a:cxnLst/>
              <a:rect l="l" t="t" r="r" b="b"/>
              <a:pathLst>
                <a:path w="1097279" h="914400">
                  <a:moveTo>
                    <a:pt x="0" y="914399"/>
                  </a:moveTo>
                  <a:lnTo>
                    <a:pt x="1097280" y="914399"/>
                  </a:lnTo>
                  <a:lnTo>
                    <a:pt x="1097280" y="0"/>
                  </a:lnTo>
                  <a:lnTo>
                    <a:pt x="0" y="0"/>
                  </a:lnTo>
                  <a:lnTo>
                    <a:pt x="0" y="914399"/>
                  </a:lnTo>
                  <a:close/>
                </a:path>
              </a:pathLst>
            </a:custGeom>
            <a:ln w="12699">
              <a:solidFill>
                <a:srgbClr val="0FB88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5" name="object 65"/>
          <p:cNvSpPr txBox="1"/>
          <p:nvPr/>
        </p:nvSpPr>
        <p:spPr>
          <a:xfrm>
            <a:off x="4754879" y="4069079"/>
            <a:ext cx="1005840" cy="365760"/>
          </a:xfrm>
          <a:prstGeom prst="rect">
            <a:avLst/>
          </a:prstGeom>
          <a:solidFill>
            <a:srgbClr val="EFF4F8"/>
          </a:solidFill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410"/>
              </a:lnSpc>
            </a:pPr>
            <a:r>
              <a:rPr sz="1300" b="1" spc="-10" dirty="0">
                <a:solidFill>
                  <a:srgbClr val="0FB881"/>
                </a:solidFill>
                <a:latin typeface="Times New Roman"/>
                <a:cs typeface="Times New Roman"/>
              </a:rPr>
              <a:t>@Transactio</a:t>
            </a:r>
            <a:endParaRPr sz="1300">
              <a:latin typeface="Times New Roman"/>
              <a:cs typeface="Times New Roman"/>
            </a:endParaRPr>
          </a:p>
          <a:p>
            <a:pPr algn="ctr">
              <a:lnSpc>
                <a:spcPts val="1470"/>
              </a:lnSpc>
            </a:pPr>
            <a:r>
              <a:rPr sz="1300" b="1" spc="-25" dirty="0">
                <a:solidFill>
                  <a:srgbClr val="0FB881"/>
                </a:solidFill>
                <a:latin typeface="Times New Roman"/>
                <a:cs typeface="Times New Roman"/>
              </a:rPr>
              <a:t>nal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66" name="object 66"/>
          <p:cNvSpPr txBox="1"/>
          <p:nvPr/>
        </p:nvSpPr>
        <p:spPr>
          <a:xfrm>
            <a:off x="4927853" y="4560214"/>
            <a:ext cx="662940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FFFFFF"/>
                </a:solidFill>
                <a:latin typeface="Times New Roman"/>
                <a:cs typeface="Times New Roman"/>
              </a:rPr>
              <a:t>Data</a:t>
            </a:r>
            <a:r>
              <a:rPr sz="9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900" spc="-10" dirty="0">
                <a:solidFill>
                  <a:srgbClr val="FFFFFF"/>
                </a:solidFill>
                <a:latin typeface="Times New Roman"/>
                <a:cs typeface="Times New Roman"/>
              </a:rPr>
              <a:t>Integrity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67" name="object 67"/>
          <p:cNvSpPr txBox="1"/>
          <p:nvPr/>
        </p:nvSpPr>
        <p:spPr>
          <a:xfrm>
            <a:off x="5806440" y="4023359"/>
            <a:ext cx="3108960" cy="914400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4191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330"/>
              </a:spcBef>
            </a:pPr>
            <a:endParaRPr sz="1100">
              <a:latin typeface="Times New Roman"/>
              <a:cs typeface="Times New Roman"/>
            </a:endParaRPr>
          </a:p>
          <a:p>
            <a:pPr marL="92075" marR="104139">
              <a:lnSpc>
                <a:spcPct val="100000"/>
              </a:lnSpc>
            </a:pPr>
            <a:r>
              <a:rPr sz="1100" dirty="0">
                <a:solidFill>
                  <a:srgbClr val="1E293A"/>
                </a:solidFill>
                <a:latin typeface="Times New Roman"/>
                <a:cs typeface="Times New Roman"/>
              </a:rPr>
              <a:t>Wraps</a:t>
            </a:r>
            <a:r>
              <a:rPr sz="1100" spc="-25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100" spc="-10" dirty="0">
                <a:solidFill>
                  <a:srgbClr val="1E293A"/>
                </a:solidFill>
                <a:latin typeface="Times New Roman"/>
                <a:cs typeface="Times New Roman"/>
              </a:rPr>
              <a:t>multi-</a:t>
            </a:r>
            <a:r>
              <a:rPr sz="1100" dirty="0">
                <a:solidFill>
                  <a:srgbClr val="1E293A"/>
                </a:solidFill>
                <a:latin typeface="Times New Roman"/>
                <a:cs typeface="Times New Roman"/>
              </a:rPr>
              <a:t>step</a:t>
            </a:r>
            <a:r>
              <a:rPr sz="1100" spc="-20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1E293A"/>
                </a:solidFill>
                <a:latin typeface="Times New Roman"/>
                <a:cs typeface="Times New Roman"/>
              </a:rPr>
              <a:t>operations</a:t>
            </a:r>
            <a:r>
              <a:rPr sz="1100" spc="-35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1E293A"/>
                </a:solidFill>
                <a:latin typeface="Times New Roman"/>
                <a:cs typeface="Times New Roman"/>
              </a:rPr>
              <a:t>in atomic</a:t>
            </a:r>
            <a:r>
              <a:rPr sz="1100" spc="-10" dirty="0">
                <a:solidFill>
                  <a:srgbClr val="1E293A"/>
                </a:solidFill>
                <a:latin typeface="Times New Roman"/>
                <a:cs typeface="Times New Roman"/>
              </a:rPr>
              <a:t> database transactions.</a:t>
            </a:r>
            <a:r>
              <a:rPr sz="1100" spc="-25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1E293A"/>
                </a:solidFill>
                <a:latin typeface="Times New Roman"/>
                <a:cs typeface="Times New Roman"/>
              </a:rPr>
              <a:t>Ensures rollback</a:t>
            </a:r>
            <a:r>
              <a:rPr sz="1100" spc="-15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1E293A"/>
                </a:solidFill>
                <a:latin typeface="Times New Roman"/>
                <a:cs typeface="Times New Roman"/>
              </a:rPr>
              <a:t>on</a:t>
            </a:r>
            <a:r>
              <a:rPr sz="1100" spc="5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1E293A"/>
                </a:solidFill>
                <a:latin typeface="Times New Roman"/>
                <a:cs typeface="Times New Roman"/>
              </a:rPr>
              <a:t>failure,</a:t>
            </a:r>
            <a:r>
              <a:rPr sz="1100" spc="-15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100" spc="-10" dirty="0">
                <a:solidFill>
                  <a:srgbClr val="1E293A"/>
                </a:solidFill>
                <a:latin typeface="Times New Roman"/>
                <a:cs typeface="Times New Roman"/>
              </a:rPr>
              <a:t>preventing </a:t>
            </a:r>
            <a:r>
              <a:rPr sz="1100" dirty="0">
                <a:solidFill>
                  <a:srgbClr val="1E293A"/>
                </a:solidFill>
                <a:latin typeface="Times New Roman"/>
                <a:cs typeface="Times New Roman"/>
              </a:rPr>
              <a:t>partial</a:t>
            </a:r>
            <a:r>
              <a:rPr sz="1100" spc="-30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1E293A"/>
                </a:solidFill>
                <a:latin typeface="Times New Roman"/>
                <a:cs typeface="Times New Roman"/>
              </a:rPr>
              <a:t>state</a:t>
            </a:r>
            <a:r>
              <a:rPr sz="1100" spc="-20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100" spc="-10" dirty="0">
                <a:solidFill>
                  <a:srgbClr val="1E293A"/>
                </a:solidFill>
                <a:latin typeface="Times New Roman"/>
                <a:cs typeface="Times New Roman"/>
              </a:rPr>
              <a:t>corruption.</a:t>
            </a:r>
            <a:endParaRPr sz="11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Architecture</a:t>
            </a:r>
            <a:r>
              <a:rPr spc="-50" dirty="0"/>
              <a:t> </a:t>
            </a:r>
            <a:r>
              <a:rPr spc="-20" dirty="0"/>
              <a:t>Type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44500" y="670305"/>
            <a:ext cx="2453640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i="1" dirty="0">
                <a:solidFill>
                  <a:srgbClr val="0891B1"/>
                </a:solidFill>
                <a:latin typeface="Times New Roman"/>
                <a:cs typeface="Times New Roman"/>
              </a:rPr>
              <a:t>MVC</a:t>
            </a:r>
            <a:r>
              <a:rPr sz="1300" i="1" spc="-25" dirty="0">
                <a:solidFill>
                  <a:srgbClr val="0891B1"/>
                </a:solidFill>
                <a:latin typeface="Times New Roman"/>
                <a:cs typeface="Times New Roman"/>
              </a:rPr>
              <a:t> </a:t>
            </a:r>
            <a:r>
              <a:rPr sz="1300" i="1" dirty="0">
                <a:solidFill>
                  <a:srgbClr val="0891B1"/>
                </a:solidFill>
                <a:latin typeface="Times New Roman"/>
                <a:cs typeface="Times New Roman"/>
              </a:rPr>
              <a:t>+</a:t>
            </a:r>
            <a:r>
              <a:rPr sz="1300" i="1" spc="-25" dirty="0">
                <a:solidFill>
                  <a:srgbClr val="0891B1"/>
                </a:solidFill>
                <a:latin typeface="Times New Roman"/>
                <a:cs typeface="Times New Roman"/>
              </a:rPr>
              <a:t> </a:t>
            </a:r>
            <a:r>
              <a:rPr sz="1300" i="1" dirty="0">
                <a:solidFill>
                  <a:srgbClr val="0891B1"/>
                </a:solidFill>
                <a:latin typeface="Times New Roman"/>
                <a:cs typeface="Times New Roman"/>
              </a:rPr>
              <a:t>Layered</a:t>
            </a:r>
            <a:r>
              <a:rPr sz="1300" i="1" spc="-30" dirty="0">
                <a:solidFill>
                  <a:srgbClr val="0891B1"/>
                </a:solidFill>
                <a:latin typeface="Times New Roman"/>
                <a:cs typeface="Times New Roman"/>
              </a:rPr>
              <a:t> </a:t>
            </a:r>
            <a:r>
              <a:rPr sz="1300" i="1" spc="-10" dirty="0">
                <a:solidFill>
                  <a:srgbClr val="0891B1"/>
                </a:solidFill>
                <a:latin typeface="Times New Roman"/>
                <a:cs typeface="Times New Roman"/>
              </a:rPr>
              <a:t>N-</a:t>
            </a:r>
            <a:r>
              <a:rPr sz="1300" i="1" dirty="0">
                <a:solidFill>
                  <a:srgbClr val="0891B1"/>
                </a:solidFill>
                <a:latin typeface="Times New Roman"/>
                <a:cs typeface="Times New Roman"/>
              </a:rPr>
              <a:t>Tier</a:t>
            </a:r>
            <a:r>
              <a:rPr sz="1300" i="1" spc="-20" dirty="0">
                <a:solidFill>
                  <a:srgbClr val="0891B1"/>
                </a:solidFill>
                <a:latin typeface="Times New Roman"/>
                <a:cs typeface="Times New Roman"/>
              </a:rPr>
              <a:t> </a:t>
            </a:r>
            <a:r>
              <a:rPr sz="1300" i="1" spc="-10" dirty="0">
                <a:solidFill>
                  <a:srgbClr val="0891B1"/>
                </a:solidFill>
                <a:latin typeface="Times New Roman"/>
                <a:cs typeface="Times New Roman"/>
              </a:rPr>
              <a:t>Architecture</a:t>
            </a:r>
            <a:endParaRPr sz="13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7160" y="923505"/>
            <a:ext cx="8807958" cy="852716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274320" y="1005839"/>
            <a:ext cx="8595360" cy="640080"/>
          </a:xfrm>
          <a:prstGeom prst="rect">
            <a:avLst/>
          </a:prstGeom>
          <a:solidFill>
            <a:srgbClr val="0D1B2A"/>
          </a:solidFill>
          <a:ln w="12700">
            <a:solidFill>
              <a:srgbClr val="E1E8EF"/>
            </a:solidFill>
          </a:ln>
        </p:spPr>
        <p:txBody>
          <a:bodyPr vert="horz" wrap="square" lIns="0" tIns="191770" rIns="0" bIns="0" rtlCol="0">
            <a:spAutoFit/>
          </a:bodyPr>
          <a:lstStyle/>
          <a:p>
            <a:pPr marL="635" algn="ctr">
              <a:lnSpc>
                <a:spcPct val="100000"/>
              </a:lnSpc>
              <a:spcBef>
                <a:spcPts val="1510"/>
              </a:spcBef>
            </a:pPr>
            <a:r>
              <a:rPr sz="16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Model–View–Controller</a:t>
            </a:r>
            <a:r>
              <a:rPr sz="1600" b="1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b="1" dirty="0">
                <a:solidFill>
                  <a:srgbClr val="FFFFFF"/>
                </a:solidFill>
                <a:latin typeface="Times New Roman"/>
                <a:cs typeface="Times New Roman"/>
              </a:rPr>
              <a:t>(MVC)</a:t>
            </a:r>
            <a:r>
              <a:rPr sz="1600" b="1" spc="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b="1" dirty="0">
                <a:solidFill>
                  <a:srgbClr val="FFFFFF"/>
                </a:solidFill>
                <a:latin typeface="Times New Roman"/>
                <a:cs typeface="Times New Roman"/>
              </a:rPr>
              <a:t>with</a:t>
            </a:r>
            <a:r>
              <a:rPr sz="1600" b="1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b="1" spc="-30" dirty="0">
                <a:solidFill>
                  <a:srgbClr val="FFFFFF"/>
                </a:solidFill>
                <a:latin typeface="Times New Roman"/>
                <a:cs typeface="Times New Roman"/>
              </a:rPr>
              <a:t>4-</a:t>
            </a:r>
            <a:r>
              <a:rPr sz="1600" b="1" dirty="0">
                <a:solidFill>
                  <a:srgbClr val="FFFFFF"/>
                </a:solidFill>
                <a:latin typeface="Times New Roman"/>
                <a:cs typeface="Times New Roman"/>
              </a:rPr>
              <a:t>Layer</a:t>
            </a:r>
            <a:r>
              <a:rPr sz="1600" b="1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N-</a:t>
            </a:r>
            <a:r>
              <a:rPr sz="1600" b="1" spc="-20" dirty="0">
                <a:solidFill>
                  <a:srgbClr val="FFFFFF"/>
                </a:solidFill>
                <a:latin typeface="Times New Roman"/>
                <a:cs typeface="Times New Roman"/>
              </a:rPr>
              <a:t>Tier</a:t>
            </a:r>
            <a:r>
              <a:rPr sz="1600" b="1" spc="-10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Architecture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645920" y="1828800"/>
            <a:ext cx="5852160" cy="658495"/>
          </a:xfrm>
          <a:custGeom>
            <a:avLst/>
            <a:gdLst/>
            <a:ahLst/>
            <a:cxnLst/>
            <a:rect l="l" t="t" r="r" b="b"/>
            <a:pathLst>
              <a:path w="5852159" h="658494">
                <a:moveTo>
                  <a:pt x="0" y="658368"/>
                </a:moveTo>
                <a:lnTo>
                  <a:pt x="5852159" y="658368"/>
                </a:lnTo>
                <a:lnTo>
                  <a:pt x="5852159" y="0"/>
                </a:lnTo>
                <a:lnTo>
                  <a:pt x="0" y="0"/>
                </a:lnTo>
                <a:lnTo>
                  <a:pt x="0" y="658368"/>
                </a:lnTo>
                <a:close/>
              </a:path>
            </a:pathLst>
          </a:custGeom>
          <a:ln w="12699">
            <a:solidFill>
              <a:srgbClr val="0891B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639570" y="1822450"/>
            <a:ext cx="5864860" cy="671195"/>
          </a:xfrm>
          <a:prstGeom prst="rect">
            <a:avLst/>
          </a:prstGeom>
          <a:solidFill>
            <a:srgbClr val="0891B1"/>
          </a:solidFill>
        </p:spPr>
        <p:txBody>
          <a:bodyPr vert="horz" wrap="square" lIns="0" tIns="99060" rIns="0" bIns="0" rtlCol="0">
            <a:spAutoFit/>
          </a:bodyPr>
          <a:lstStyle/>
          <a:p>
            <a:pPr marL="1270" algn="ctr">
              <a:lnSpc>
                <a:spcPct val="100000"/>
              </a:lnSpc>
              <a:spcBef>
                <a:spcPts val="780"/>
              </a:spcBef>
            </a:pPr>
            <a:r>
              <a:rPr sz="13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PRESENTATION</a:t>
            </a:r>
            <a:r>
              <a:rPr sz="1300" b="1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3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LAYER</a:t>
            </a:r>
            <a:endParaRPr sz="13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800"/>
              </a:spcBef>
            </a:pPr>
            <a:r>
              <a:rPr sz="1050" i="1" dirty="0">
                <a:solidFill>
                  <a:srgbClr val="FFFFFF"/>
                </a:solidFill>
                <a:latin typeface="Times New Roman"/>
                <a:cs typeface="Times New Roman"/>
              </a:rPr>
              <a:t>Thymeleaf</a:t>
            </a:r>
            <a:r>
              <a:rPr sz="1050" i="1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050" i="1" dirty="0">
                <a:solidFill>
                  <a:srgbClr val="FFFFFF"/>
                </a:solidFill>
                <a:latin typeface="Times New Roman"/>
                <a:cs typeface="Times New Roman"/>
              </a:rPr>
              <a:t>Views</a:t>
            </a:r>
            <a:r>
              <a:rPr sz="1050" i="1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050" i="1" dirty="0">
                <a:solidFill>
                  <a:srgbClr val="FFFFFF"/>
                </a:solidFill>
                <a:latin typeface="Times New Roman"/>
                <a:cs typeface="Times New Roman"/>
              </a:rPr>
              <a:t>(HTML</a:t>
            </a:r>
            <a:r>
              <a:rPr sz="1050" i="1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050" i="1" spc="-10" dirty="0">
                <a:solidFill>
                  <a:srgbClr val="FFFFFF"/>
                </a:solidFill>
                <a:latin typeface="Times New Roman"/>
                <a:cs typeface="Times New Roman"/>
              </a:rPr>
              <a:t>Templates)</a:t>
            </a:r>
            <a:endParaRPr sz="1050">
              <a:latin typeface="Times New Roman"/>
              <a:cs typeface="Times New Roman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1639570" y="2480817"/>
            <a:ext cx="5864860" cy="835660"/>
            <a:chOff x="1639570" y="2480817"/>
            <a:chExt cx="5864860" cy="835660"/>
          </a:xfrm>
        </p:grpSpPr>
        <p:sp>
          <p:nvSpPr>
            <p:cNvPr id="9" name="object 9"/>
            <p:cNvSpPr/>
            <p:nvPr/>
          </p:nvSpPr>
          <p:spPr>
            <a:xfrm>
              <a:off x="4480560" y="2487167"/>
              <a:ext cx="182880" cy="165100"/>
            </a:xfrm>
            <a:custGeom>
              <a:avLst/>
              <a:gdLst/>
              <a:ahLst/>
              <a:cxnLst/>
              <a:rect l="l" t="t" r="r" b="b"/>
              <a:pathLst>
                <a:path w="182879" h="165100">
                  <a:moveTo>
                    <a:pt x="182879" y="0"/>
                  </a:moveTo>
                  <a:lnTo>
                    <a:pt x="0" y="0"/>
                  </a:lnTo>
                  <a:lnTo>
                    <a:pt x="0" y="164592"/>
                  </a:lnTo>
                  <a:lnTo>
                    <a:pt x="182879" y="164592"/>
                  </a:lnTo>
                  <a:lnTo>
                    <a:pt x="182879" y="0"/>
                  </a:lnTo>
                  <a:close/>
                </a:path>
              </a:pathLst>
            </a:custGeom>
            <a:solidFill>
              <a:srgbClr val="93A2B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480560" y="2487167"/>
              <a:ext cx="182880" cy="165100"/>
            </a:xfrm>
            <a:custGeom>
              <a:avLst/>
              <a:gdLst/>
              <a:ahLst/>
              <a:cxnLst/>
              <a:rect l="l" t="t" r="r" b="b"/>
              <a:pathLst>
                <a:path w="182879" h="165100">
                  <a:moveTo>
                    <a:pt x="0" y="164592"/>
                  </a:moveTo>
                  <a:lnTo>
                    <a:pt x="182879" y="164592"/>
                  </a:lnTo>
                  <a:lnTo>
                    <a:pt x="182879" y="0"/>
                  </a:lnTo>
                  <a:lnTo>
                    <a:pt x="0" y="0"/>
                  </a:lnTo>
                  <a:lnTo>
                    <a:pt x="0" y="164592"/>
                  </a:lnTo>
                  <a:close/>
                </a:path>
              </a:pathLst>
            </a:custGeom>
            <a:ln w="12700">
              <a:solidFill>
                <a:srgbClr val="93A2B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645920" y="2651759"/>
              <a:ext cx="5852160" cy="658495"/>
            </a:xfrm>
            <a:custGeom>
              <a:avLst/>
              <a:gdLst/>
              <a:ahLst/>
              <a:cxnLst/>
              <a:rect l="l" t="t" r="r" b="b"/>
              <a:pathLst>
                <a:path w="5852159" h="658495">
                  <a:moveTo>
                    <a:pt x="0" y="658368"/>
                  </a:moveTo>
                  <a:lnTo>
                    <a:pt x="5852159" y="658368"/>
                  </a:lnTo>
                  <a:lnTo>
                    <a:pt x="5852159" y="0"/>
                  </a:lnTo>
                  <a:lnTo>
                    <a:pt x="0" y="0"/>
                  </a:lnTo>
                  <a:lnTo>
                    <a:pt x="0" y="658368"/>
                  </a:lnTo>
                  <a:close/>
                </a:path>
              </a:pathLst>
            </a:custGeom>
            <a:ln w="12699">
              <a:solidFill>
                <a:srgbClr val="8A5CF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1639570" y="2645410"/>
            <a:ext cx="5864860" cy="671195"/>
          </a:xfrm>
          <a:prstGeom prst="rect">
            <a:avLst/>
          </a:prstGeom>
          <a:solidFill>
            <a:srgbClr val="8A5CF6"/>
          </a:solidFill>
        </p:spPr>
        <p:txBody>
          <a:bodyPr vert="horz" wrap="square" lIns="0" tIns="99695" rIns="0" bIns="0" rtlCol="0">
            <a:spAutoFit/>
          </a:bodyPr>
          <a:lstStyle/>
          <a:p>
            <a:pPr marL="1270" algn="ctr">
              <a:lnSpc>
                <a:spcPct val="100000"/>
              </a:lnSpc>
              <a:spcBef>
                <a:spcPts val="785"/>
              </a:spcBef>
            </a:pPr>
            <a:r>
              <a:rPr sz="13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CONTROLLER</a:t>
            </a:r>
            <a:r>
              <a:rPr sz="1300" b="1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3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LAYER</a:t>
            </a:r>
            <a:endParaRPr sz="1300">
              <a:latin typeface="Times New Roman"/>
              <a:cs typeface="Times New Roman"/>
            </a:endParaRPr>
          </a:p>
          <a:p>
            <a:pPr marL="1905" algn="ctr">
              <a:lnSpc>
                <a:spcPct val="100000"/>
              </a:lnSpc>
              <a:spcBef>
                <a:spcPts val="795"/>
              </a:spcBef>
            </a:pPr>
            <a:r>
              <a:rPr sz="1050" i="1" dirty="0">
                <a:solidFill>
                  <a:srgbClr val="FFFFFF"/>
                </a:solidFill>
                <a:latin typeface="Times New Roman"/>
                <a:cs typeface="Times New Roman"/>
              </a:rPr>
              <a:t>Spring</a:t>
            </a:r>
            <a:r>
              <a:rPr sz="1050" i="1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050" i="1" dirty="0">
                <a:solidFill>
                  <a:srgbClr val="FFFFFF"/>
                </a:solidFill>
                <a:latin typeface="Times New Roman"/>
                <a:cs typeface="Times New Roman"/>
              </a:rPr>
              <a:t>MVC</a:t>
            </a:r>
            <a:r>
              <a:rPr sz="1050" i="1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050" i="1" spc="-10" dirty="0">
                <a:solidFill>
                  <a:srgbClr val="FFFFFF"/>
                </a:solidFill>
                <a:latin typeface="Times New Roman"/>
                <a:cs typeface="Times New Roman"/>
              </a:rPr>
              <a:t>@Controller</a:t>
            </a:r>
            <a:endParaRPr sz="1050">
              <a:latin typeface="Times New Roman"/>
              <a:cs typeface="Times New Roman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4474209" y="3303778"/>
            <a:ext cx="195580" cy="177800"/>
            <a:chOff x="4474209" y="3303778"/>
            <a:chExt cx="195580" cy="177800"/>
          </a:xfrm>
        </p:grpSpPr>
        <p:sp>
          <p:nvSpPr>
            <p:cNvPr id="14" name="object 14"/>
            <p:cNvSpPr/>
            <p:nvPr/>
          </p:nvSpPr>
          <p:spPr>
            <a:xfrm>
              <a:off x="4480559" y="3310128"/>
              <a:ext cx="182880" cy="165100"/>
            </a:xfrm>
            <a:custGeom>
              <a:avLst/>
              <a:gdLst/>
              <a:ahLst/>
              <a:cxnLst/>
              <a:rect l="l" t="t" r="r" b="b"/>
              <a:pathLst>
                <a:path w="182879" h="165100">
                  <a:moveTo>
                    <a:pt x="182879" y="0"/>
                  </a:moveTo>
                  <a:lnTo>
                    <a:pt x="0" y="0"/>
                  </a:lnTo>
                  <a:lnTo>
                    <a:pt x="0" y="164592"/>
                  </a:lnTo>
                  <a:lnTo>
                    <a:pt x="182879" y="164592"/>
                  </a:lnTo>
                  <a:lnTo>
                    <a:pt x="182879" y="0"/>
                  </a:lnTo>
                  <a:close/>
                </a:path>
              </a:pathLst>
            </a:custGeom>
            <a:solidFill>
              <a:srgbClr val="93A2B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480559" y="3310128"/>
              <a:ext cx="182880" cy="165100"/>
            </a:xfrm>
            <a:custGeom>
              <a:avLst/>
              <a:gdLst/>
              <a:ahLst/>
              <a:cxnLst/>
              <a:rect l="l" t="t" r="r" b="b"/>
              <a:pathLst>
                <a:path w="182879" h="165100">
                  <a:moveTo>
                    <a:pt x="0" y="164592"/>
                  </a:moveTo>
                  <a:lnTo>
                    <a:pt x="182879" y="164592"/>
                  </a:lnTo>
                  <a:lnTo>
                    <a:pt x="182879" y="0"/>
                  </a:lnTo>
                  <a:lnTo>
                    <a:pt x="0" y="0"/>
                  </a:lnTo>
                  <a:lnTo>
                    <a:pt x="0" y="164592"/>
                  </a:lnTo>
                  <a:close/>
                </a:path>
              </a:pathLst>
            </a:custGeom>
            <a:ln w="12700">
              <a:solidFill>
                <a:srgbClr val="93A2B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1639570" y="3468370"/>
            <a:ext cx="5864860" cy="671195"/>
          </a:xfrm>
          <a:prstGeom prst="rect">
            <a:avLst/>
          </a:prstGeom>
          <a:solidFill>
            <a:srgbClr val="0FB881"/>
          </a:solidFill>
          <a:ln w="3175">
            <a:solidFill>
              <a:srgbClr val="0FB881"/>
            </a:solidFill>
          </a:ln>
        </p:spPr>
        <p:txBody>
          <a:bodyPr vert="horz" wrap="square" lIns="0" tIns="9969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785"/>
              </a:spcBef>
            </a:pPr>
            <a:r>
              <a:rPr sz="13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SERVICE</a:t>
            </a:r>
            <a:r>
              <a:rPr sz="1300" b="1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300" b="1" spc="-20" dirty="0">
                <a:solidFill>
                  <a:srgbClr val="FFFFFF"/>
                </a:solidFill>
                <a:latin typeface="Times New Roman"/>
                <a:cs typeface="Times New Roman"/>
              </a:rPr>
              <a:t>LAYER</a:t>
            </a:r>
            <a:endParaRPr sz="1300">
              <a:latin typeface="Times New Roman"/>
              <a:cs typeface="Times New Roman"/>
            </a:endParaRPr>
          </a:p>
          <a:p>
            <a:pPr marL="1270" algn="ctr">
              <a:lnSpc>
                <a:spcPct val="100000"/>
              </a:lnSpc>
              <a:spcBef>
                <a:spcPts val="795"/>
              </a:spcBef>
            </a:pPr>
            <a:r>
              <a:rPr sz="1050" i="1" dirty="0">
                <a:solidFill>
                  <a:srgbClr val="FFFFFF"/>
                </a:solidFill>
                <a:latin typeface="Times New Roman"/>
                <a:cs typeface="Times New Roman"/>
              </a:rPr>
              <a:t>@Service</a:t>
            </a:r>
            <a:r>
              <a:rPr sz="1050" i="1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050" i="1" dirty="0">
                <a:solidFill>
                  <a:srgbClr val="FFFFFF"/>
                </a:solidFill>
                <a:latin typeface="Times New Roman"/>
                <a:cs typeface="Times New Roman"/>
              </a:rPr>
              <a:t>+ @Business</a:t>
            </a:r>
            <a:r>
              <a:rPr sz="1050" i="1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050" i="1" spc="-20" dirty="0">
                <a:solidFill>
                  <a:srgbClr val="FFFFFF"/>
                </a:solidFill>
                <a:latin typeface="Times New Roman"/>
                <a:cs typeface="Times New Roman"/>
              </a:rPr>
              <a:t>Logic</a:t>
            </a:r>
            <a:endParaRPr sz="1050">
              <a:latin typeface="Times New Roman"/>
              <a:cs typeface="Times New Roman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4474209" y="4126738"/>
            <a:ext cx="195580" cy="177800"/>
            <a:chOff x="4474209" y="4126738"/>
            <a:chExt cx="195580" cy="177800"/>
          </a:xfrm>
        </p:grpSpPr>
        <p:sp>
          <p:nvSpPr>
            <p:cNvPr id="18" name="object 18"/>
            <p:cNvSpPr/>
            <p:nvPr/>
          </p:nvSpPr>
          <p:spPr>
            <a:xfrm>
              <a:off x="4480559" y="4133088"/>
              <a:ext cx="182880" cy="165100"/>
            </a:xfrm>
            <a:custGeom>
              <a:avLst/>
              <a:gdLst/>
              <a:ahLst/>
              <a:cxnLst/>
              <a:rect l="l" t="t" r="r" b="b"/>
              <a:pathLst>
                <a:path w="182879" h="165100">
                  <a:moveTo>
                    <a:pt x="182879" y="0"/>
                  </a:moveTo>
                  <a:lnTo>
                    <a:pt x="0" y="0"/>
                  </a:lnTo>
                  <a:lnTo>
                    <a:pt x="0" y="164592"/>
                  </a:lnTo>
                  <a:lnTo>
                    <a:pt x="182879" y="164592"/>
                  </a:lnTo>
                  <a:lnTo>
                    <a:pt x="182879" y="0"/>
                  </a:lnTo>
                  <a:close/>
                </a:path>
              </a:pathLst>
            </a:custGeom>
            <a:solidFill>
              <a:srgbClr val="93A2B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4480559" y="4133088"/>
              <a:ext cx="182880" cy="165100"/>
            </a:xfrm>
            <a:custGeom>
              <a:avLst/>
              <a:gdLst/>
              <a:ahLst/>
              <a:cxnLst/>
              <a:rect l="l" t="t" r="r" b="b"/>
              <a:pathLst>
                <a:path w="182879" h="165100">
                  <a:moveTo>
                    <a:pt x="0" y="164592"/>
                  </a:moveTo>
                  <a:lnTo>
                    <a:pt x="182879" y="164592"/>
                  </a:lnTo>
                  <a:lnTo>
                    <a:pt x="182879" y="0"/>
                  </a:lnTo>
                  <a:lnTo>
                    <a:pt x="0" y="0"/>
                  </a:lnTo>
                  <a:lnTo>
                    <a:pt x="0" y="164592"/>
                  </a:lnTo>
                  <a:close/>
                </a:path>
              </a:pathLst>
            </a:custGeom>
            <a:ln w="12700">
              <a:solidFill>
                <a:srgbClr val="93A2B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1639570" y="4291329"/>
            <a:ext cx="5864860" cy="671195"/>
          </a:xfrm>
          <a:prstGeom prst="rect">
            <a:avLst/>
          </a:prstGeom>
          <a:solidFill>
            <a:srgbClr val="F59E0A"/>
          </a:solidFill>
          <a:ln w="3175">
            <a:solidFill>
              <a:srgbClr val="F59E0A"/>
            </a:solidFill>
          </a:ln>
        </p:spPr>
        <p:txBody>
          <a:bodyPr vert="horz" wrap="square" lIns="0" tIns="9969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785"/>
              </a:spcBef>
            </a:pPr>
            <a:r>
              <a:rPr sz="1300" b="1" dirty="0">
                <a:solidFill>
                  <a:srgbClr val="FFFFFF"/>
                </a:solidFill>
                <a:latin typeface="Times New Roman"/>
                <a:cs typeface="Times New Roman"/>
              </a:rPr>
              <a:t>DATA</a:t>
            </a:r>
            <a:r>
              <a:rPr sz="1300" b="1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300" b="1" dirty="0">
                <a:solidFill>
                  <a:srgbClr val="FFFFFF"/>
                </a:solidFill>
                <a:latin typeface="Times New Roman"/>
                <a:cs typeface="Times New Roman"/>
              </a:rPr>
              <a:t>ACCESS</a:t>
            </a:r>
            <a:r>
              <a:rPr sz="1300" b="1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3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LAYER</a:t>
            </a:r>
            <a:endParaRPr sz="13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800"/>
              </a:spcBef>
            </a:pPr>
            <a:r>
              <a:rPr sz="1050" i="1" dirty="0">
                <a:solidFill>
                  <a:srgbClr val="FFFFFF"/>
                </a:solidFill>
                <a:latin typeface="Times New Roman"/>
                <a:cs typeface="Times New Roman"/>
              </a:rPr>
              <a:t>Spring</a:t>
            </a:r>
            <a:r>
              <a:rPr sz="1050" i="1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050" i="1" dirty="0">
                <a:solidFill>
                  <a:srgbClr val="FFFFFF"/>
                </a:solidFill>
                <a:latin typeface="Times New Roman"/>
                <a:cs typeface="Times New Roman"/>
              </a:rPr>
              <a:t>Data</a:t>
            </a:r>
            <a:r>
              <a:rPr sz="1050" i="1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050" i="1" dirty="0">
                <a:solidFill>
                  <a:srgbClr val="FFFFFF"/>
                </a:solidFill>
                <a:latin typeface="Times New Roman"/>
                <a:cs typeface="Times New Roman"/>
              </a:rPr>
              <a:t>JPA</a:t>
            </a:r>
            <a:r>
              <a:rPr sz="1050" i="1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050" i="1" dirty="0">
                <a:solidFill>
                  <a:srgbClr val="FFFFFF"/>
                </a:solidFill>
                <a:latin typeface="Times New Roman"/>
                <a:cs typeface="Times New Roman"/>
              </a:rPr>
              <a:t>Repositories</a:t>
            </a:r>
            <a:r>
              <a:rPr sz="1050" i="1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050" i="1" dirty="0">
                <a:solidFill>
                  <a:srgbClr val="FFFFFF"/>
                </a:solidFill>
                <a:latin typeface="Times New Roman"/>
                <a:cs typeface="Times New Roman"/>
              </a:rPr>
              <a:t>+</a:t>
            </a:r>
            <a:r>
              <a:rPr sz="1050" i="1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050" i="1" dirty="0">
                <a:solidFill>
                  <a:srgbClr val="FFFFFF"/>
                </a:solidFill>
                <a:latin typeface="Times New Roman"/>
                <a:cs typeface="Times New Roman"/>
              </a:rPr>
              <a:t>Hibernate</a:t>
            </a:r>
            <a:r>
              <a:rPr sz="1050" i="1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050" i="1" dirty="0">
                <a:solidFill>
                  <a:srgbClr val="FFFFFF"/>
                </a:solidFill>
                <a:latin typeface="Times New Roman"/>
                <a:cs typeface="Times New Roman"/>
              </a:rPr>
              <a:t>+ </a:t>
            </a:r>
            <a:r>
              <a:rPr sz="1050" i="1" spc="-10" dirty="0">
                <a:solidFill>
                  <a:srgbClr val="FFFFFF"/>
                </a:solidFill>
                <a:latin typeface="Times New Roman"/>
                <a:cs typeface="Times New Roman"/>
              </a:rPr>
              <a:t>MySQL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397560" y="2016378"/>
            <a:ext cx="48514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103505">
              <a:lnSpc>
                <a:spcPct val="100000"/>
              </a:lnSpc>
              <a:spcBef>
                <a:spcPts val="95"/>
              </a:spcBef>
            </a:pPr>
            <a:r>
              <a:rPr sz="1000" b="1" spc="-20" dirty="0">
                <a:solidFill>
                  <a:srgbClr val="0891B1"/>
                </a:solidFill>
                <a:latin typeface="Times New Roman"/>
                <a:cs typeface="Times New Roman"/>
              </a:rPr>
              <a:t>User </a:t>
            </a:r>
            <a:r>
              <a:rPr sz="1000" b="1" spc="-10" dirty="0">
                <a:solidFill>
                  <a:srgbClr val="0891B1"/>
                </a:solidFill>
                <a:latin typeface="Times New Roman"/>
                <a:cs typeface="Times New Roman"/>
              </a:rPr>
              <a:t>Browser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8149843" y="4458411"/>
            <a:ext cx="526415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4450">
              <a:lnSpc>
                <a:spcPct val="100000"/>
              </a:lnSpc>
              <a:spcBef>
                <a:spcPts val="95"/>
              </a:spcBef>
            </a:pPr>
            <a:r>
              <a:rPr sz="1000" b="1" spc="-10" dirty="0">
                <a:solidFill>
                  <a:srgbClr val="F59E0A"/>
                </a:solidFill>
                <a:latin typeface="Times New Roman"/>
                <a:cs typeface="Times New Roman"/>
              </a:rPr>
              <a:t>MySQL</a:t>
            </a:r>
            <a:endParaRPr sz="1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000" b="1" spc="-10" dirty="0">
                <a:solidFill>
                  <a:srgbClr val="F59E0A"/>
                </a:solidFill>
                <a:latin typeface="Times New Roman"/>
                <a:cs typeface="Times New Roman"/>
              </a:rPr>
              <a:t>Database</a:t>
            </a:r>
            <a:endParaRPr sz="1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4000" y="0"/>
                </a:moveTo>
                <a:lnTo>
                  <a:pt x="0" y="0"/>
                </a:lnTo>
                <a:lnTo>
                  <a:pt x="0" y="5143500"/>
                </a:lnTo>
                <a:lnTo>
                  <a:pt x="9144000" y="5143500"/>
                </a:lnTo>
                <a:lnTo>
                  <a:pt x="9144000" y="0"/>
                </a:lnTo>
                <a:close/>
              </a:path>
            </a:pathLst>
          </a:custGeom>
          <a:solidFill>
            <a:srgbClr val="EFF4F8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-6350" y="-6350"/>
            <a:ext cx="9156700" cy="86360"/>
            <a:chOff x="-6350" y="-6350"/>
            <a:chExt cx="9156700" cy="86360"/>
          </a:xfrm>
        </p:grpSpPr>
        <p:sp>
          <p:nvSpPr>
            <p:cNvPr id="4" name="object 4"/>
            <p:cNvSpPr/>
            <p:nvPr/>
          </p:nvSpPr>
          <p:spPr>
            <a:xfrm>
              <a:off x="0" y="0"/>
              <a:ext cx="9144000" cy="73660"/>
            </a:xfrm>
            <a:custGeom>
              <a:avLst/>
              <a:gdLst/>
              <a:ahLst/>
              <a:cxnLst/>
              <a:rect l="l" t="t" r="r" b="b"/>
              <a:pathLst>
                <a:path w="9144000" h="73660">
                  <a:moveTo>
                    <a:pt x="9144000" y="0"/>
                  </a:moveTo>
                  <a:lnTo>
                    <a:pt x="0" y="0"/>
                  </a:lnTo>
                  <a:lnTo>
                    <a:pt x="0" y="73151"/>
                  </a:lnTo>
                  <a:lnTo>
                    <a:pt x="9144000" y="73151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F59E0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0"/>
              <a:ext cx="9144000" cy="73660"/>
            </a:xfrm>
            <a:custGeom>
              <a:avLst/>
              <a:gdLst/>
              <a:ahLst/>
              <a:cxnLst/>
              <a:rect l="l" t="t" r="r" b="b"/>
              <a:pathLst>
                <a:path w="9144000" h="73660">
                  <a:moveTo>
                    <a:pt x="0" y="73151"/>
                  </a:moveTo>
                  <a:lnTo>
                    <a:pt x="9144000" y="73151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73151"/>
                  </a:lnTo>
                  <a:close/>
                </a:path>
              </a:pathLst>
            </a:custGeom>
            <a:ln w="12700">
              <a:solidFill>
                <a:srgbClr val="F59E0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444500" y="55297"/>
            <a:ext cx="4243705" cy="792480"/>
          </a:xfrm>
          <a:prstGeom prst="rect">
            <a:avLst/>
          </a:prstGeom>
        </p:spPr>
        <p:txBody>
          <a:bodyPr vert="horz" wrap="square" lIns="0" tIns="1282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10"/>
              </a:spcBef>
            </a:pPr>
            <a:r>
              <a:rPr dirty="0">
                <a:solidFill>
                  <a:srgbClr val="000000"/>
                </a:solidFill>
              </a:rPr>
              <a:t>System</a:t>
            </a:r>
            <a:r>
              <a:rPr spc="-35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Architecture</a:t>
            </a:r>
            <a:r>
              <a:rPr spc="-45" dirty="0">
                <a:solidFill>
                  <a:srgbClr val="000000"/>
                </a:solidFill>
              </a:rPr>
              <a:t> </a:t>
            </a:r>
            <a:r>
              <a:rPr spc="-10" dirty="0">
                <a:solidFill>
                  <a:srgbClr val="000000"/>
                </a:solidFill>
              </a:rPr>
              <a:t>Diagram</a:t>
            </a:r>
          </a:p>
          <a:p>
            <a:pPr marL="12700">
              <a:lnSpc>
                <a:spcPct val="100000"/>
              </a:lnSpc>
              <a:spcBef>
                <a:spcPts val="445"/>
              </a:spcBef>
            </a:pPr>
            <a:r>
              <a:rPr sz="1300" b="0" i="1" spc="-10" dirty="0">
                <a:solidFill>
                  <a:srgbClr val="05B6D3"/>
                </a:solidFill>
                <a:latin typeface="Times New Roman"/>
                <a:cs typeface="Times New Roman"/>
              </a:rPr>
              <a:t>End-to-</a:t>
            </a:r>
            <a:r>
              <a:rPr sz="1300" b="0" i="1" dirty="0">
                <a:solidFill>
                  <a:srgbClr val="05B6D3"/>
                </a:solidFill>
                <a:latin typeface="Times New Roman"/>
                <a:cs typeface="Times New Roman"/>
              </a:rPr>
              <a:t>End</a:t>
            </a:r>
            <a:r>
              <a:rPr sz="1300" b="0" i="1" spc="-5" dirty="0">
                <a:solidFill>
                  <a:srgbClr val="05B6D3"/>
                </a:solidFill>
                <a:latin typeface="Times New Roman"/>
                <a:cs typeface="Times New Roman"/>
              </a:rPr>
              <a:t> </a:t>
            </a:r>
            <a:r>
              <a:rPr sz="1300" b="0" i="1" dirty="0">
                <a:solidFill>
                  <a:srgbClr val="05B6D3"/>
                </a:solidFill>
                <a:latin typeface="Times New Roman"/>
                <a:cs typeface="Times New Roman"/>
              </a:rPr>
              <a:t>System</a:t>
            </a:r>
            <a:r>
              <a:rPr sz="1300" b="0" i="1" spc="-30" dirty="0">
                <a:solidFill>
                  <a:srgbClr val="05B6D3"/>
                </a:solidFill>
                <a:latin typeface="Times New Roman"/>
                <a:cs typeface="Times New Roman"/>
              </a:rPr>
              <a:t> </a:t>
            </a:r>
            <a:r>
              <a:rPr sz="1300" b="0" i="1" dirty="0">
                <a:solidFill>
                  <a:srgbClr val="05B6D3"/>
                </a:solidFill>
                <a:latin typeface="Times New Roman"/>
                <a:cs typeface="Times New Roman"/>
              </a:rPr>
              <a:t>Communication</a:t>
            </a:r>
            <a:r>
              <a:rPr sz="1300" b="0" i="1" spc="-15" dirty="0">
                <a:solidFill>
                  <a:srgbClr val="05B6D3"/>
                </a:solidFill>
                <a:latin typeface="Times New Roman"/>
                <a:cs typeface="Times New Roman"/>
              </a:rPr>
              <a:t> </a:t>
            </a:r>
            <a:r>
              <a:rPr sz="1300" b="0" i="1" spc="-20" dirty="0">
                <a:solidFill>
                  <a:srgbClr val="05B6D3"/>
                </a:solidFill>
                <a:latin typeface="Times New Roman"/>
                <a:cs typeface="Times New Roman"/>
              </a:rPr>
              <a:t>Flow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37160" y="1489328"/>
            <a:ext cx="1554480" cy="777240"/>
          </a:xfrm>
          <a:prstGeom prst="rect">
            <a:avLst/>
          </a:prstGeom>
          <a:solidFill>
            <a:srgbClr val="0891B1"/>
          </a:solidFill>
          <a:ln w="12700">
            <a:solidFill>
              <a:srgbClr val="05B6D3"/>
            </a:solidFill>
          </a:ln>
        </p:spPr>
        <p:txBody>
          <a:bodyPr vert="horz" wrap="square" lIns="0" tIns="26034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04"/>
              </a:spcBef>
            </a:pPr>
            <a:endParaRPr sz="1200">
              <a:latin typeface="Times New Roman"/>
              <a:cs typeface="Times New Roman"/>
            </a:endParaRPr>
          </a:p>
          <a:p>
            <a:pPr marL="502920" marR="495934" indent="74295">
              <a:lnSpc>
                <a:spcPct val="100000"/>
              </a:lnSpc>
            </a:pPr>
            <a:r>
              <a:rPr sz="12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Client Browser</a:t>
            </a:r>
            <a:endParaRPr sz="1200">
              <a:latin typeface="Times New Roman"/>
              <a:cs typeface="Times New Roman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1685289" y="1812163"/>
            <a:ext cx="835660" cy="58419"/>
            <a:chOff x="1685289" y="1812163"/>
            <a:chExt cx="835660" cy="58419"/>
          </a:xfrm>
        </p:grpSpPr>
        <p:sp>
          <p:nvSpPr>
            <p:cNvPr id="9" name="object 9"/>
            <p:cNvSpPr/>
            <p:nvPr/>
          </p:nvSpPr>
          <p:spPr>
            <a:xfrm>
              <a:off x="1691639" y="1818513"/>
              <a:ext cx="822960" cy="45720"/>
            </a:xfrm>
            <a:custGeom>
              <a:avLst/>
              <a:gdLst/>
              <a:ahLst/>
              <a:cxnLst/>
              <a:rect l="l" t="t" r="r" b="b"/>
              <a:pathLst>
                <a:path w="822960" h="45719">
                  <a:moveTo>
                    <a:pt x="822960" y="0"/>
                  </a:moveTo>
                  <a:lnTo>
                    <a:pt x="0" y="0"/>
                  </a:lnTo>
                  <a:lnTo>
                    <a:pt x="0" y="45720"/>
                  </a:lnTo>
                  <a:lnTo>
                    <a:pt x="822960" y="45720"/>
                  </a:lnTo>
                  <a:lnTo>
                    <a:pt x="822960" y="0"/>
                  </a:lnTo>
                  <a:close/>
                </a:path>
              </a:pathLst>
            </a:custGeom>
            <a:solidFill>
              <a:srgbClr val="93A2B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691639" y="1818513"/>
              <a:ext cx="822960" cy="45720"/>
            </a:xfrm>
            <a:custGeom>
              <a:avLst/>
              <a:gdLst/>
              <a:ahLst/>
              <a:cxnLst/>
              <a:rect l="l" t="t" r="r" b="b"/>
              <a:pathLst>
                <a:path w="822960" h="45719">
                  <a:moveTo>
                    <a:pt x="0" y="45720"/>
                  </a:moveTo>
                  <a:lnTo>
                    <a:pt x="822960" y="45720"/>
                  </a:lnTo>
                  <a:lnTo>
                    <a:pt x="822960" y="0"/>
                  </a:lnTo>
                  <a:lnTo>
                    <a:pt x="0" y="0"/>
                  </a:lnTo>
                  <a:lnTo>
                    <a:pt x="0" y="45720"/>
                  </a:lnTo>
                  <a:close/>
                </a:path>
              </a:pathLst>
            </a:custGeom>
            <a:ln w="12700">
              <a:solidFill>
                <a:srgbClr val="93A2B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1948052" y="1650872"/>
            <a:ext cx="30861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20" dirty="0">
                <a:solidFill>
                  <a:srgbClr val="93A2B8"/>
                </a:solidFill>
                <a:latin typeface="Times New Roman"/>
                <a:cs typeface="Times New Roman"/>
              </a:rPr>
              <a:t>HTTP</a:t>
            </a:r>
            <a:endParaRPr sz="900">
              <a:latin typeface="Times New Roman"/>
              <a:cs typeface="Times New Roman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2505075" y="1251203"/>
            <a:ext cx="1939289" cy="1344930"/>
            <a:chOff x="2505075" y="1251203"/>
            <a:chExt cx="1939289" cy="1344930"/>
          </a:xfrm>
        </p:grpSpPr>
        <p:sp>
          <p:nvSpPr>
            <p:cNvPr id="13" name="object 13"/>
            <p:cNvSpPr/>
            <p:nvPr/>
          </p:nvSpPr>
          <p:spPr>
            <a:xfrm>
              <a:off x="2514600" y="1260728"/>
              <a:ext cx="1920239" cy="1325880"/>
            </a:xfrm>
            <a:custGeom>
              <a:avLst/>
              <a:gdLst/>
              <a:ahLst/>
              <a:cxnLst/>
              <a:rect l="l" t="t" r="r" b="b"/>
              <a:pathLst>
                <a:path w="1920239" h="1325880">
                  <a:moveTo>
                    <a:pt x="1920239" y="0"/>
                  </a:moveTo>
                  <a:lnTo>
                    <a:pt x="0" y="0"/>
                  </a:lnTo>
                  <a:lnTo>
                    <a:pt x="0" y="1325880"/>
                  </a:lnTo>
                  <a:lnTo>
                    <a:pt x="1920239" y="1325880"/>
                  </a:lnTo>
                  <a:lnTo>
                    <a:pt x="1920239" y="0"/>
                  </a:lnTo>
                  <a:close/>
                </a:path>
              </a:pathLst>
            </a:custGeom>
            <a:solidFill>
              <a:srgbClr val="1B2A3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2514600" y="1260728"/>
              <a:ext cx="1920239" cy="1325880"/>
            </a:xfrm>
            <a:custGeom>
              <a:avLst/>
              <a:gdLst/>
              <a:ahLst/>
              <a:cxnLst/>
              <a:rect l="l" t="t" r="r" b="b"/>
              <a:pathLst>
                <a:path w="1920239" h="1325880">
                  <a:moveTo>
                    <a:pt x="0" y="1325880"/>
                  </a:moveTo>
                  <a:lnTo>
                    <a:pt x="1920239" y="1325880"/>
                  </a:lnTo>
                  <a:lnTo>
                    <a:pt x="1920239" y="0"/>
                  </a:lnTo>
                  <a:lnTo>
                    <a:pt x="0" y="0"/>
                  </a:lnTo>
                  <a:lnTo>
                    <a:pt x="0" y="1325880"/>
                  </a:lnTo>
                  <a:close/>
                </a:path>
              </a:pathLst>
            </a:custGeom>
            <a:ln w="19050">
              <a:solidFill>
                <a:srgbClr val="0891B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2908173" y="1373505"/>
            <a:ext cx="1132205" cy="3613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indent="167640">
              <a:lnSpc>
                <a:spcPct val="100000"/>
              </a:lnSpc>
              <a:spcBef>
                <a:spcPts val="105"/>
              </a:spcBef>
            </a:pPr>
            <a:r>
              <a:rPr sz="1100" b="1" dirty="0">
                <a:solidFill>
                  <a:srgbClr val="05B6D3"/>
                </a:solidFill>
                <a:latin typeface="Times New Roman"/>
                <a:cs typeface="Times New Roman"/>
              </a:rPr>
              <a:t>Spring</a:t>
            </a:r>
            <a:r>
              <a:rPr sz="1100" b="1" spc="-25" dirty="0">
                <a:solidFill>
                  <a:srgbClr val="05B6D3"/>
                </a:solidFill>
                <a:latin typeface="Times New Roman"/>
                <a:cs typeface="Times New Roman"/>
              </a:rPr>
              <a:t> MVC </a:t>
            </a:r>
            <a:r>
              <a:rPr sz="1100" b="1" dirty="0">
                <a:solidFill>
                  <a:srgbClr val="05B6D3"/>
                </a:solidFill>
                <a:latin typeface="Times New Roman"/>
                <a:cs typeface="Times New Roman"/>
              </a:rPr>
              <a:t>Dispatcher</a:t>
            </a:r>
            <a:r>
              <a:rPr sz="1100" b="1" spc="-50" dirty="0">
                <a:solidFill>
                  <a:srgbClr val="05B6D3"/>
                </a:solidFill>
                <a:latin typeface="Times New Roman"/>
                <a:cs typeface="Times New Roman"/>
              </a:rPr>
              <a:t> </a:t>
            </a:r>
            <a:r>
              <a:rPr sz="1100" b="1" spc="-10" dirty="0">
                <a:solidFill>
                  <a:srgbClr val="05B6D3"/>
                </a:solidFill>
                <a:latin typeface="Times New Roman"/>
                <a:cs typeface="Times New Roman"/>
              </a:rPr>
              <a:t>Servlet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651760" y="1827657"/>
            <a:ext cx="1645920" cy="256540"/>
          </a:xfrm>
          <a:prstGeom prst="rect">
            <a:avLst/>
          </a:prstGeom>
          <a:solidFill>
            <a:srgbClr val="0891B1">
              <a:alpha val="79998"/>
            </a:srgbClr>
          </a:solidFill>
          <a:ln w="12700">
            <a:solidFill>
              <a:srgbClr val="0891B1"/>
            </a:solidFill>
          </a:ln>
        </p:spPr>
        <p:txBody>
          <a:bodyPr vert="horz" wrap="square" lIns="0" tIns="46990" rIns="0" bIns="0" rtlCol="0">
            <a:spAutoFit/>
          </a:bodyPr>
          <a:lstStyle/>
          <a:p>
            <a:pPr marL="503555">
              <a:lnSpc>
                <a:spcPct val="100000"/>
              </a:lnSpc>
              <a:spcBef>
                <a:spcPts val="370"/>
              </a:spcBef>
            </a:pPr>
            <a:r>
              <a:rPr sz="1000" spc="-10" dirty="0">
                <a:solidFill>
                  <a:srgbClr val="FFFFFF"/>
                </a:solidFill>
                <a:latin typeface="Times New Roman"/>
                <a:cs typeface="Times New Roman"/>
              </a:rPr>
              <a:t>@Controller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651760" y="2138552"/>
            <a:ext cx="1645920" cy="256540"/>
          </a:xfrm>
          <a:prstGeom prst="rect">
            <a:avLst/>
          </a:prstGeom>
          <a:solidFill>
            <a:srgbClr val="0891B1">
              <a:alpha val="59999"/>
            </a:srgbClr>
          </a:solidFill>
          <a:ln w="12700">
            <a:solidFill>
              <a:srgbClr val="0891B1"/>
            </a:solidFill>
          </a:ln>
        </p:spPr>
        <p:txBody>
          <a:bodyPr vert="horz" wrap="square" lIns="0" tIns="46990" rIns="0" bIns="0" rtlCol="0">
            <a:spAutoFit/>
          </a:bodyPr>
          <a:lstStyle/>
          <a:p>
            <a:pPr marL="395605">
              <a:lnSpc>
                <a:spcPct val="100000"/>
              </a:lnSpc>
              <a:spcBef>
                <a:spcPts val="370"/>
              </a:spcBef>
            </a:pPr>
            <a:r>
              <a:rPr sz="1000" dirty="0">
                <a:solidFill>
                  <a:srgbClr val="FFFFFF"/>
                </a:solidFill>
                <a:latin typeface="Times New Roman"/>
                <a:cs typeface="Times New Roman"/>
              </a:rPr>
              <a:t>Thymeleaf</a:t>
            </a:r>
            <a:r>
              <a:rPr sz="10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000" spc="-20" dirty="0">
                <a:solidFill>
                  <a:srgbClr val="FFFFFF"/>
                </a:solidFill>
                <a:latin typeface="Times New Roman"/>
                <a:cs typeface="Times New Roman"/>
              </a:rPr>
              <a:t>View</a:t>
            </a:r>
            <a:endParaRPr sz="1000">
              <a:latin typeface="Times New Roman"/>
              <a:cs typeface="Times New Roman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4428490" y="1257172"/>
            <a:ext cx="2553335" cy="1457960"/>
            <a:chOff x="4428490" y="1257172"/>
            <a:chExt cx="2553335" cy="1457960"/>
          </a:xfrm>
        </p:grpSpPr>
        <p:sp>
          <p:nvSpPr>
            <p:cNvPr id="19" name="object 19"/>
            <p:cNvSpPr/>
            <p:nvPr/>
          </p:nvSpPr>
          <p:spPr>
            <a:xfrm>
              <a:off x="4434840" y="1818512"/>
              <a:ext cx="617220" cy="45720"/>
            </a:xfrm>
            <a:custGeom>
              <a:avLst/>
              <a:gdLst/>
              <a:ahLst/>
              <a:cxnLst/>
              <a:rect l="l" t="t" r="r" b="b"/>
              <a:pathLst>
                <a:path w="617220" h="45719">
                  <a:moveTo>
                    <a:pt x="0" y="45720"/>
                  </a:moveTo>
                  <a:lnTo>
                    <a:pt x="617220" y="45720"/>
                  </a:lnTo>
                  <a:lnTo>
                    <a:pt x="617220" y="0"/>
                  </a:lnTo>
                  <a:lnTo>
                    <a:pt x="0" y="0"/>
                  </a:lnTo>
                  <a:lnTo>
                    <a:pt x="0" y="45720"/>
                  </a:lnTo>
                  <a:close/>
                </a:path>
              </a:pathLst>
            </a:custGeom>
            <a:solidFill>
              <a:srgbClr val="93A2B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4434840" y="1818512"/>
              <a:ext cx="640080" cy="45720"/>
            </a:xfrm>
            <a:custGeom>
              <a:avLst/>
              <a:gdLst/>
              <a:ahLst/>
              <a:cxnLst/>
              <a:rect l="l" t="t" r="r" b="b"/>
              <a:pathLst>
                <a:path w="640079" h="45719">
                  <a:moveTo>
                    <a:pt x="0" y="45720"/>
                  </a:moveTo>
                  <a:lnTo>
                    <a:pt x="640079" y="45720"/>
                  </a:lnTo>
                  <a:lnTo>
                    <a:pt x="640079" y="0"/>
                  </a:lnTo>
                  <a:lnTo>
                    <a:pt x="0" y="0"/>
                  </a:lnTo>
                  <a:lnTo>
                    <a:pt x="0" y="45720"/>
                  </a:lnTo>
                  <a:close/>
                </a:path>
              </a:pathLst>
            </a:custGeom>
            <a:ln w="12700">
              <a:solidFill>
                <a:srgbClr val="93A2B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5052060" y="1266697"/>
              <a:ext cx="1920239" cy="1438910"/>
            </a:xfrm>
            <a:custGeom>
              <a:avLst/>
              <a:gdLst/>
              <a:ahLst/>
              <a:cxnLst/>
              <a:rect l="l" t="t" r="r" b="b"/>
              <a:pathLst>
                <a:path w="1920240" h="1438910">
                  <a:moveTo>
                    <a:pt x="1920239" y="0"/>
                  </a:moveTo>
                  <a:lnTo>
                    <a:pt x="0" y="0"/>
                  </a:lnTo>
                  <a:lnTo>
                    <a:pt x="0" y="1438783"/>
                  </a:lnTo>
                  <a:lnTo>
                    <a:pt x="1920239" y="1438783"/>
                  </a:lnTo>
                  <a:lnTo>
                    <a:pt x="1920239" y="0"/>
                  </a:lnTo>
                  <a:close/>
                </a:path>
              </a:pathLst>
            </a:custGeom>
            <a:solidFill>
              <a:srgbClr val="1B2A3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5052060" y="1266697"/>
              <a:ext cx="1920239" cy="1438910"/>
            </a:xfrm>
            <a:custGeom>
              <a:avLst/>
              <a:gdLst/>
              <a:ahLst/>
              <a:cxnLst/>
              <a:rect l="l" t="t" r="r" b="b"/>
              <a:pathLst>
                <a:path w="1920240" h="1438910">
                  <a:moveTo>
                    <a:pt x="0" y="1438783"/>
                  </a:moveTo>
                  <a:lnTo>
                    <a:pt x="1920239" y="1438783"/>
                  </a:lnTo>
                  <a:lnTo>
                    <a:pt x="1920239" y="0"/>
                  </a:lnTo>
                  <a:lnTo>
                    <a:pt x="0" y="0"/>
                  </a:lnTo>
                  <a:lnTo>
                    <a:pt x="0" y="1438783"/>
                  </a:lnTo>
                  <a:close/>
                </a:path>
              </a:pathLst>
            </a:custGeom>
            <a:ln w="19050">
              <a:solidFill>
                <a:srgbClr val="8A5CF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5540502" y="1373505"/>
            <a:ext cx="989965" cy="3613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indent="68580">
              <a:lnSpc>
                <a:spcPct val="100000"/>
              </a:lnSpc>
              <a:spcBef>
                <a:spcPts val="105"/>
              </a:spcBef>
            </a:pPr>
            <a:r>
              <a:rPr sz="1100" b="1" dirty="0">
                <a:solidFill>
                  <a:srgbClr val="8A5CF6"/>
                </a:solidFill>
                <a:latin typeface="Times New Roman"/>
                <a:cs typeface="Times New Roman"/>
              </a:rPr>
              <a:t>Service</a:t>
            </a:r>
            <a:r>
              <a:rPr sz="1100" b="1" spc="-40" dirty="0">
                <a:solidFill>
                  <a:srgbClr val="8A5CF6"/>
                </a:solidFill>
                <a:latin typeface="Times New Roman"/>
                <a:cs typeface="Times New Roman"/>
              </a:rPr>
              <a:t> </a:t>
            </a:r>
            <a:r>
              <a:rPr sz="1100" b="1" spc="-20" dirty="0">
                <a:solidFill>
                  <a:srgbClr val="8A5CF6"/>
                </a:solidFill>
                <a:latin typeface="Times New Roman"/>
                <a:cs typeface="Times New Roman"/>
              </a:rPr>
              <a:t>Layer </a:t>
            </a:r>
            <a:r>
              <a:rPr sz="1100" b="1" spc="-10" dirty="0">
                <a:solidFill>
                  <a:srgbClr val="8A5CF6"/>
                </a:solidFill>
                <a:latin typeface="Times New Roman"/>
                <a:cs typeface="Times New Roman"/>
              </a:rPr>
              <a:t>@Transactional</a:t>
            </a:r>
            <a:endParaRPr sz="1100">
              <a:latin typeface="Times New Roman"/>
              <a:cs typeface="Times New Roman"/>
            </a:endParaRPr>
          </a:p>
        </p:txBody>
      </p:sp>
      <p:graphicFrame>
        <p:nvGraphicFramePr>
          <p:cNvPr id="24" name="object 24"/>
          <p:cNvGraphicFramePr>
            <a:graphicFrameLocks noGrp="1"/>
          </p:cNvGraphicFramePr>
          <p:nvPr/>
        </p:nvGraphicFramePr>
        <p:xfrm>
          <a:off x="5205729" y="1784730"/>
          <a:ext cx="1645920" cy="84835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05104"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900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InventoryService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12700">
                      <a:solidFill>
                        <a:srgbClr val="8A5CF6"/>
                      </a:solidFill>
                      <a:prstDash val="solid"/>
                    </a:lnL>
                    <a:lnR w="12700">
                      <a:solidFill>
                        <a:srgbClr val="8A5CF6"/>
                      </a:solidFill>
                      <a:prstDash val="solid"/>
                    </a:lnR>
                    <a:lnT w="12700">
                      <a:solidFill>
                        <a:srgbClr val="8A5CF6"/>
                      </a:solidFill>
                      <a:prstDash val="solid"/>
                    </a:lnT>
                    <a:lnB w="12700">
                      <a:solidFill>
                        <a:srgbClr val="8A5CF6"/>
                      </a:solidFill>
                      <a:prstDash val="solid"/>
                    </a:lnB>
                    <a:solidFill>
                      <a:srgbClr val="8A5CF6">
                        <a:alpha val="50195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9075"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900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OrderService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8A5CF6"/>
                      </a:solidFill>
                      <a:prstDash val="solid"/>
                    </a:lnL>
                    <a:lnR w="12700">
                      <a:solidFill>
                        <a:srgbClr val="8A5CF6"/>
                      </a:solidFill>
                      <a:prstDash val="solid"/>
                    </a:lnR>
                    <a:lnT w="12700">
                      <a:solidFill>
                        <a:srgbClr val="8A5CF6"/>
                      </a:solidFill>
                      <a:prstDash val="solid"/>
                    </a:lnT>
                    <a:lnB w="12700">
                      <a:solidFill>
                        <a:srgbClr val="8A5CF6"/>
                      </a:solidFill>
                      <a:prstDash val="solid"/>
                    </a:lnB>
                    <a:solidFill>
                      <a:srgbClr val="8A5CF6">
                        <a:alpha val="50195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907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900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SimulationSvc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8A5CF6"/>
                      </a:solidFill>
                      <a:prstDash val="solid"/>
                    </a:lnL>
                    <a:lnR w="12700">
                      <a:solidFill>
                        <a:srgbClr val="8A5CF6"/>
                      </a:solidFill>
                      <a:prstDash val="solid"/>
                    </a:lnR>
                    <a:lnT w="12700">
                      <a:solidFill>
                        <a:srgbClr val="8A5CF6"/>
                      </a:solidFill>
                      <a:prstDash val="solid"/>
                    </a:lnT>
                    <a:lnB w="12700">
                      <a:solidFill>
                        <a:srgbClr val="8A5CF6"/>
                      </a:solidFill>
                      <a:prstDash val="solid"/>
                    </a:lnB>
                    <a:solidFill>
                      <a:srgbClr val="8A5CF6">
                        <a:alpha val="50195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5104"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900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ReportService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8A5CF6"/>
                      </a:solidFill>
                      <a:prstDash val="solid"/>
                    </a:lnL>
                    <a:lnR w="12700">
                      <a:solidFill>
                        <a:srgbClr val="8A5CF6"/>
                      </a:solidFill>
                      <a:prstDash val="solid"/>
                    </a:lnR>
                    <a:lnT w="12700">
                      <a:solidFill>
                        <a:srgbClr val="8A5CF6"/>
                      </a:solidFill>
                      <a:prstDash val="solid"/>
                    </a:lnT>
                    <a:lnB w="12700">
                      <a:solidFill>
                        <a:srgbClr val="8A5CF6"/>
                      </a:solidFill>
                      <a:prstDash val="solid"/>
                    </a:lnB>
                    <a:solidFill>
                      <a:srgbClr val="8A5CF6">
                        <a:alpha val="50195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pSp>
        <p:nvGrpSpPr>
          <p:cNvPr id="25" name="object 25"/>
          <p:cNvGrpSpPr/>
          <p:nvPr/>
        </p:nvGrpSpPr>
        <p:grpSpPr>
          <a:xfrm>
            <a:off x="6988809" y="1812163"/>
            <a:ext cx="652780" cy="58419"/>
            <a:chOff x="6988809" y="1812163"/>
            <a:chExt cx="652780" cy="58419"/>
          </a:xfrm>
        </p:grpSpPr>
        <p:sp>
          <p:nvSpPr>
            <p:cNvPr id="26" name="object 26"/>
            <p:cNvSpPr/>
            <p:nvPr/>
          </p:nvSpPr>
          <p:spPr>
            <a:xfrm>
              <a:off x="6995159" y="1818513"/>
              <a:ext cx="640080" cy="45720"/>
            </a:xfrm>
            <a:custGeom>
              <a:avLst/>
              <a:gdLst/>
              <a:ahLst/>
              <a:cxnLst/>
              <a:rect l="l" t="t" r="r" b="b"/>
              <a:pathLst>
                <a:path w="640079" h="45719">
                  <a:moveTo>
                    <a:pt x="640079" y="0"/>
                  </a:moveTo>
                  <a:lnTo>
                    <a:pt x="0" y="0"/>
                  </a:lnTo>
                  <a:lnTo>
                    <a:pt x="0" y="45720"/>
                  </a:lnTo>
                  <a:lnTo>
                    <a:pt x="640079" y="45720"/>
                  </a:lnTo>
                  <a:lnTo>
                    <a:pt x="640079" y="0"/>
                  </a:lnTo>
                  <a:close/>
                </a:path>
              </a:pathLst>
            </a:custGeom>
            <a:solidFill>
              <a:srgbClr val="93A2B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6995159" y="1818513"/>
              <a:ext cx="640080" cy="45720"/>
            </a:xfrm>
            <a:custGeom>
              <a:avLst/>
              <a:gdLst/>
              <a:ahLst/>
              <a:cxnLst/>
              <a:rect l="l" t="t" r="r" b="b"/>
              <a:pathLst>
                <a:path w="640079" h="45719">
                  <a:moveTo>
                    <a:pt x="0" y="45720"/>
                  </a:moveTo>
                  <a:lnTo>
                    <a:pt x="640079" y="45720"/>
                  </a:lnTo>
                  <a:lnTo>
                    <a:pt x="640079" y="0"/>
                  </a:lnTo>
                  <a:lnTo>
                    <a:pt x="0" y="0"/>
                  </a:lnTo>
                  <a:lnTo>
                    <a:pt x="0" y="45720"/>
                  </a:lnTo>
                  <a:close/>
                </a:path>
              </a:pathLst>
            </a:custGeom>
            <a:ln w="12700">
              <a:solidFill>
                <a:srgbClr val="93A2B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7635240" y="1260728"/>
            <a:ext cx="1371600" cy="640080"/>
          </a:xfrm>
          <a:prstGeom prst="rect">
            <a:avLst/>
          </a:prstGeom>
          <a:solidFill>
            <a:srgbClr val="1B2A3D"/>
          </a:solidFill>
          <a:ln w="19050">
            <a:solidFill>
              <a:srgbClr val="0FB881"/>
            </a:solidFill>
          </a:ln>
        </p:spPr>
        <p:txBody>
          <a:bodyPr vert="horz" wrap="square" lIns="0" tIns="148590" rIns="0" bIns="0" rtlCol="0">
            <a:spAutoFit/>
          </a:bodyPr>
          <a:lstStyle/>
          <a:p>
            <a:pPr marL="1270" algn="ctr">
              <a:lnSpc>
                <a:spcPct val="100000"/>
              </a:lnSpc>
              <a:spcBef>
                <a:spcPts val="1170"/>
              </a:spcBef>
            </a:pPr>
            <a:r>
              <a:rPr sz="1100" b="1" spc="-25" dirty="0">
                <a:solidFill>
                  <a:srgbClr val="0FB881"/>
                </a:solidFill>
                <a:latin typeface="Times New Roman"/>
                <a:cs typeface="Times New Roman"/>
              </a:rPr>
              <a:t>JPA</a:t>
            </a:r>
            <a:endParaRPr sz="1100">
              <a:latin typeface="Times New Roman"/>
              <a:cs typeface="Times New Roman"/>
            </a:endParaRPr>
          </a:p>
          <a:p>
            <a:pPr marL="1905" algn="ctr">
              <a:lnSpc>
                <a:spcPct val="100000"/>
              </a:lnSpc>
            </a:pPr>
            <a:r>
              <a:rPr sz="1100" b="1" spc="-10" dirty="0">
                <a:solidFill>
                  <a:srgbClr val="0FB881"/>
                </a:solidFill>
                <a:latin typeface="Times New Roman"/>
                <a:cs typeface="Times New Roman"/>
              </a:rPr>
              <a:t>Repository</a:t>
            </a:r>
            <a:endParaRPr sz="1100">
              <a:latin typeface="Times New Roman"/>
              <a:cs typeface="Times New Roman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7674609" y="2222500"/>
            <a:ext cx="1292860" cy="772160"/>
            <a:chOff x="7674609" y="2222500"/>
            <a:chExt cx="1292860" cy="772160"/>
          </a:xfrm>
        </p:grpSpPr>
        <p:sp>
          <p:nvSpPr>
            <p:cNvPr id="30" name="object 30"/>
            <p:cNvSpPr/>
            <p:nvPr/>
          </p:nvSpPr>
          <p:spPr>
            <a:xfrm>
              <a:off x="7680959" y="2228850"/>
              <a:ext cx="1280160" cy="256540"/>
            </a:xfrm>
            <a:custGeom>
              <a:avLst/>
              <a:gdLst/>
              <a:ahLst/>
              <a:cxnLst/>
              <a:rect l="l" t="t" r="r" b="b"/>
              <a:pathLst>
                <a:path w="1280159" h="256539">
                  <a:moveTo>
                    <a:pt x="640080" y="0"/>
                  </a:moveTo>
                  <a:lnTo>
                    <a:pt x="565421" y="860"/>
                  </a:lnTo>
                  <a:lnTo>
                    <a:pt x="493296" y="3379"/>
                  </a:lnTo>
                  <a:lnTo>
                    <a:pt x="424182" y="7459"/>
                  </a:lnTo>
                  <a:lnTo>
                    <a:pt x="358562" y="13005"/>
                  </a:lnTo>
                  <a:lnTo>
                    <a:pt x="296913" y="19921"/>
                  </a:lnTo>
                  <a:lnTo>
                    <a:pt x="239716" y="28111"/>
                  </a:lnTo>
                  <a:lnTo>
                    <a:pt x="187451" y="37480"/>
                  </a:lnTo>
                  <a:lnTo>
                    <a:pt x="140598" y="47932"/>
                  </a:lnTo>
                  <a:lnTo>
                    <a:pt x="99637" y="59371"/>
                  </a:lnTo>
                  <a:lnTo>
                    <a:pt x="37309" y="84826"/>
                  </a:lnTo>
                  <a:lnTo>
                    <a:pt x="4305" y="113079"/>
                  </a:lnTo>
                  <a:lnTo>
                    <a:pt x="0" y="128016"/>
                  </a:lnTo>
                  <a:lnTo>
                    <a:pt x="4305" y="142952"/>
                  </a:lnTo>
                  <a:lnTo>
                    <a:pt x="37309" y="171205"/>
                  </a:lnTo>
                  <a:lnTo>
                    <a:pt x="99637" y="196660"/>
                  </a:lnTo>
                  <a:lnTo>
                    <a:pt x="140598" y="208099"/>
                  </a:lnTo>
                  <a:lnTo>
                    <a:pt x="187451" y="218551"/>
                  </a:lnTo>
                  <a:lnTo>
                    <a:pt x="239716" y="227920"/>
                  </a:lnTo>
                  <a:lnTo>
                    <a:pt x="296913" y="236110"/>
                  </a:lnTo>
                  <a:lnTo>
                    <a:pt x="358562" y="243026"/>
                  </a:lnTo>
                  <a:lnTo>
                    <a:pt x="424182" y="248572"/>
                  </a:lnTo>
                  <a:lnTo>
                    <a:pt x="493296" y="252652"/>
                  </a:lnTo>
                  <a:lnTo>
                    <a:pt x="565421" y="255171"/>
                  </a:lnTo>
                  <a:lnTo>
                    <a:pt x="640080" y="256031"/>
                  </a:lnTo>
                  <a:lnTo>
                    <a:pt x="714738" y="255171"/>
                  </a:lnTo>
                  <a:lnTo>
                    <a:pt x="786863" y="252652"/>
                  </a:lnTo>
                  <a:lnTo>
                    <a:pt x="855977" y="248572"/>
                  </a:lnTo>
                  <a:lnTo>
                    <a:pt x="921597" y="243026"/>
                  </a:lnTo>
                  <a:lnTo>
                    <a:pt x="983246" y="236110"/>
                  </a:lnTo>
                  <a:lnTo>
                    <a:pt x="1040443" y="227920"/>
                  </a:lnTo>
                  <a:lnTo>
                    <a:pt x="1092708" y="218551"/>
                  </a:lnTo>
                  <a:lnTo>
                    <a:pt x="1139561" y="208099"/>
                  </a:lnTo>
                  <a:lnTo>
                    <a:pt x="1180522" y="196660"/>
                  </a:lnTo>
                  <a:lnTo>
                    <a:pt x="1242850" y="171205"/>
                  </a:lnTo>
                  <a:lnTo>
                    <a:pt x="1275854" y="142952"/>
                  </a:lnTo>
                  <a:lnTo>
                    <a:pt x="1280160" y="128016"/>
                  </a:lnTo>
                  <a:lnTo>
                    <a:pt x="1275854" y="113079"/>
                  </a:lnTo>
                  <a:lnTo>
                    <a:pt x="1242850" y="84826"/>
                  </a:lnTo>
                  <a:lnTo>
                    <a:pt x="1180522" y="59371"/>
                  </a:lnTo>
                  <a:lnTo>
                    <a:pt x="1139561" y="47932"/>
                  </a:lnTo>
                  <a:lnTo>
                    <a:pt x="1092708" y="37480"/>
                  </a:lnTo>
                  <a:lnTo>
                    <a:pt x="1040443" y="28111"/>
                  </a:lnTo>
                  <a:lnTo>
                    <a:pt x="983246" y="19921"/>
                  </a:lnTo>
                  <a:lnTo>
                    <a:pt x="921597" y="13005"/>
                  </a:lnTo>
                  <a:lnTo>
                    <a:pt x="855977" y="7459"/>
                  </a:lnTo>
                  <a:lnTo>
                    <a:pt x="786863" y="3379"/>
                  </a:lnTo>
                  <a:lnTo>
                    <a:pt x="714738" y="860"/>
                  </a:lnTo>
                  <a:lnTo>
                    <a:pt x="640080" y="0"/>
                  </a:lnTo>
                  <a:close/>
                </a:path>
              </a:pathLst>
            </a:custGeom>
            <a:solidFill>
              <a:srgbClr val="F59E0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7680959" y="2228850"/>
              <a:ext cx="1280160" cy="256540"/>
            </a:xfrm>
            <a:custGeom>
              <a:avLst/>
              <a:gdLst/>
              <a:ahLst/>
              <a:cxnLst/>
              <a:rect l="l" t="t" r="r" b="b"/>
              <a:pathLst>
                <a:path w="1280159" h="256539">
                  <a:moveTo>
                    <a:pt x="0" y="128016"/>
                  </a:moveTo>
                  <a:lnTo>
                    <a:pt x="37309" y="84826"/>
                  </a:lnTo>
                  <a:lnTo>
                    <a:pt x="99637" y="59371"/>
                  </a:lnTo>
                  <a:lnTo>
                    <a:pt x="140598" y="47932"/>
                  </a:lnTo>
                  <a:lnTo>
                    <a:pt x="187451" y="37480"/>
                  </a:lnTo>
                  <a:lnTo>
                    <a:pt x="239716" y="28111"/>
                  </a:lnTo>
                  <a:lnTo>
                    <a:pt x="296913" y="19921"/>
                  </a:lnTo>
                  <a:lnTo>
                    <a:pt x="358562" y="13005"/>
                  </a:lnTo>
                  <a:lnTo>
                    <a:pt x="424182" y="7459"/>
                  </a:lnTo>
                  <a:lnTo>
                    <a:pt x="493296" y="3379"/>
                  </a:lnTo>
                  <a:lnTo>
                    <a:pt x="565421" y="860"/>
                  </a:lnTo>
                  <a:lnTo>
                    <a:pt x="640080" y="0"/>
                  </a:lnTo>
                  <a:lnTo>
                    <a:pt x="714738" y="860"/>
                  </a:lnTo>
                  <a:lnTo>
                    <a:pt x="786863" y="3379"/>
                  </a:lnTo>
                  <a:lnTo>
                    <a:pt x="855977" y="7459"/>
                  </a:lnTo>
                  <a:lnTo>
                    <a:pt x="921597" y="13005"/>
                  </a:lnTo>
                  <a:lnTo>
                    <a:pt x="983246" y="19921"/>
                  </a:lnTo>
                  <a:lnTo>
                    <a:pt x="1040443" y="28111"/>
                  </a:lnTo>
                  <a:lnTo>
                    <a:pt x="1092708" y="37480"/>
                  </a:lnTo>
                  <a:lnTo>
                    <a:pt x="1139561" y="47932"/>
                  </a:lnTo>
                  <a:lnTo>
                    <a:pt x="1180522" y="59371"/>
                  </a:lnTo>
                  <a:lnTo>
                    <a:pt x="1242850" y="84826"/>
                  </a:lnTo>
                  <a:lnTo>
                    <a:pt x="1275854" y="113079"/>
                  </a:lnTo>
                  <a:lnTo>
                    <a:pt x="1280160" y="128016"/>
                  </a:lnTo>
                  <a:lnTo>
                    <a:pt x="1275854" y="142952"/>
                  </a:lnTo>
                  <a:lnTo>
                    <a:pt x="1242850" y="171205"/>
                  </a:lnTo>
                  <a:lnTo>
                    <a:pt x="1180522" y="196660"/>
                  </a:lnTo>
                  <a:lnTo>
                    <a:pt x="1139561" y="208099"/>
                  </a:lnTo>
                  <a:lnTo>
                    <a:pt x="1092708" y="218551"/>
                  </a:lnTo>
                  <a:lnTo>
                    <a:pt x="1040443" y="227920"/>
                  </a:lnTo>
                  <a:lnTo>
                    <a:pt x="983246" y="236110"/>
                  </a:lnTo>
                  <a:lnTo>
                    <a:pt x="921597" y="243026"/>
                  </a:lnTo>
                  <a:lnTo>
                    <a:pt x="855977" y="248572"/>
                  </a:lnTo>
                  <a:lnTo>
                    <a:pt x="786863" y="252652"/>
                  </a:lnTo>
                  <a:lnTo>
                    <a:pt x="714738" y="255171"/>
                  </a:lnTo>
                  <a:lnTo>
                    <a:pt x="640080" y="256031"/>
                  </a:lnTo>
                  <a:lnTo>
                    <a:pt x="565421" y="255171"/>
                  </a:lnTo>
                  <a:lnTo>
                    <a:pt x="493296" y="252652"/>
                  </a:lnTo>
                  <a:lnTo>
                    <a:pt x="424182" y="248572"/>
                  </a:lnTo>
                  <a:lnTo>
                    <a:pt x="358562" y="243026"/>
                  </a:lnTo>
                  <a:lnTo>
                    <a:pt x="296913" y="236110"/>
                  </a:lnTo>
                  <a:lnTo>
                    <a:pt x="239716" y="227920"/>
                  </a:lnTo>
                  <a:lnTo>
                    <a:pt x="187451" y="218551"/>
                  </a:lnTo>
                  <a:lnTo>
                    <a:pt x="140598" y="208099"/>
                  </a:lnTo>
                  <a:lnTo>
                    <a:pt x="99637" y="196660"/>
                  </a:lnTo>
                  <a:lnTo>
                    <a:pt x="37309" y="171205"/>
                  </a:lnTo>
                  <a:lnTo>
                    <a:pt x="4305" y="142952"/>
                  </a:lnTo>
                  <a:lnTo>
                    <a:pt x="0" y="128016"/>
                  </a:lnTo>
                  <a:close/>
                </a:path>
              </a:pathLst>
            </a:custGeom>
            <a:ln w="12700">
              <a:solidFill>
                <a:srgbClr val="F59E0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7680959" y="2356865"/>
              <a:ext cx="1280160" cy="502920"/>
            </a:xfrm>
            <a:custGeom>
              <a:avLst/>
              <a:gdLst/>
              <a:ahLst/>
              <a:cxnLst/>
              <a:rect l="l" t="t" r="r" b="b"/>
              <a:pathLst>
                <a:path w="1280159" h="502919">
                  <a:moveTo>
                    <a:pt x="1280159" y="0"/>
                  </a:moveTo>
                  <a:lnTo>
                    <a:pt x="0" y="0"/>
                  </a:lnTo>
                  <a:lnTo>
                    <a:pt x="0" y="502919"/>
                  </a:lnTo>
                  <a:lnTo>
                    <a:pt x="1280159" y="502919"/>
                  </a:lnTo>
                  <a:lnTo>
                    <a:pt x="1280159" y="0"/>
                  </a:lnTo>
                  <a:close/>
                </a:path>
              </a:pathLst>
            </a:custGeom>
            <a:solidFill>
              <a:srgbClr val="F59E0A">
                <a:alpha val="79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7680959" y="2356865"/>
              <a:ext cx="1280160" cy="502920"/>
            </a:xfrm>
            <a:custGeom>
              <a:avLst/>
              <a:gdLst/>
              <a:ahLst/>
              <a:cxnLst/>
              <a:rect l="l" t="t" r="r" b="b"/>
              <a:pathLst>
                <a:path w="1280159" h="502919">
                  <a:moveTo>
                    <a:pt x="0" y="502919"/>
                  </a:moveTo>
                  <a:lnTo>
                    <a:pt x="1280159" y="502919"/>
                  </a:lnTo>
                  <a:lnTo>
                    <a:pt x="1280159" y="0"/>
                  </a:lnTo>
                  <a:lnTo>
                    <a:pt x="0" y="0"/>
                  </a:lnTo>
                  <a:lnTo>
                    <a:pt x="0" y="502919"/>
                  </a:lnTo>
                  <a:close/>
                </a:path>
              </a:pathLst>
            </a:custGeom>
            <a:ln w="12700">
              <a:solidFill>
                <a:srgbClr val="F59E0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7680959" y="2731769"/>
              <a:ext cx="1280160" cy="256540"/>
            </a:xfrm>
            <a:custGeom>
              <a:avLst/>
              <a:gdLst/>
              <a:ahLst/>
              <a:cxnLst/>
              <a:rect l="l" t="t" r="r" b="b"/>
              <a:pathLst>
                <a:path w="1280159" h="256539">
                  <a:moveTo>
                    <a:pt x="640080" y="0"/>
                  </a:moveTo>
                  <a:lnTo>
                    <a:pt x="565421" y="860"/>
                  </a:lnTo>
                  <a:lnTo>
                    <a:pt x="493296" y="3379"/>
                  </a:lnTo>
                  <a:lnTo>
                    <a:pt x="424182" y="7459"/>
                  </a:lnTo>
                  <a:lnTo>
                    <a:pt x="358562" y="13005"/>
                  </a:lnTo>
                  <a:lnTo>
                    <a:pt x="296913" y="19921"/>
                  </a:lnTo>
                  <a:lnTo>
                    <a:pt x="239716" y="28111"/>
                  </a:lnTo>
                  <a:lnTo>
                    <a:pt x="187451" y="37480"/>
                  </a:lnTo>
                  <a:lnTo>
                    <a:pt x="140598" y="47932"/>
                  </a:lnTo>
                  <a:lnTo>
                    <a:pt x="99637" y="59371"/>
                  </a:lnTo>
                  <a:lnTo>
                    <a:pt x="37309" y="84826"/>
                  </a:lnTo>
                  <a:lnTo>
                    <a:pt x="4305" y="113079"/>
                  </a:lnTo>
                  <a:lnTo>
                    <a:pt x="0" y="128016"/>
                  </a:lnTo>
                  <a:lnTo>
                    <a:pt x="4305" y="142952"/>
                  </a:lnTo>
                  <a:lnTo>
                    <a:pt x="37309" y="171205"/>
                  </a:lnTo>
                  <a:lnTo>
                    <a:pt x="99637" y="196660"/>
                  </a:lnTo>
                  <a:lnTo>
                    <a:pt x="140598" y="208099"/>
                  </a:lnTo>
                  <a:lnTo>
                    <a:pt x="187451" y="218551"/>
                  </a:lnTo>
                  <a:lnTo>
                    <a:pt x="239716" y="227920"/>
                  </a:lnTo>
                  <a:lnTo>
                    <a:pt x="296913" y="236110"/>
                  </a:lnTo>
                  <a:lnTo>
                    <a:pt x="358562" y="243026"/>
                  </a:lnTo>
                  <a:lnTo>
                    <a:pt x="424182" y="248572"/>
                  </a:lnTo>
                  <a:lnTo>
                    <a:pt x="493296" y="252652"/>
                  </a:lnTo>
                  <a:lnTo>
                    <a:pt x="565421" y="255171"/>
                  </a:lnTo>
                  <a:lnTo>
                    <a:pt x="640080" y="256031"/>
                  </a:lnTo>
                  <a:lnTo>
                    <a:pt x="714738" y="255171"/>
                  </a:lnTo>
                  <a:lnTo>
                    <a:pt x="786863" y="252652"/>
                  </a:lnTo>
                  <a:lnTo>
                    <a:pt x="855977" y="248572"/>
                  </a:lnTo>
                  <a:lnTo>
                    <a:pt x="921597" y="243026"/>
                  </a:lnTo>
                  <a:lnTo>
                    <a:pt x="983246" y="236110"/>
                  </a:lnTo>
                  <a:lnTo>
                    <a:pt x="1040443" y="227920"/>
                  </a:lnTo>
                  <a:lnTo>
                    <a:pt x="1092708" y="218551"/>
                  </a:lnTo>
                  <a:lnTo>
                    <a:pt x="1139561" y="208099"/>
                  </a:lnTo>
                  <a:lnTo>
                    <a:pt x="1180522" y="196660"/>
                  </a:lnTo>
                  <a:lnTo>
                    <a:pt x="1242850" y="171205"/>
                  </a:lnTo>
                  <a:lnTo>
                    <a:pt x="1275854" y="142952"/>
                  </a:lnTo>
                  <a:lnTo>
                    <a:pt x="1280160" y="128016"/>
                  </a:lnTo>
                  <a:lnTo>
                    <a:pt x="1275854" y="113079"/>
                  </a:lnTo>
                  <a:lnTo>
                    <a:pt x="1242850" y="84826"/>
                  </a:lnTo>
                  <a:lnTo>
                    <a:pt x="1180522" y="59371"/>
                  </a:lnTo>
                  <a:lnTo>
                    <a:pt x="1139561" y="47932"/>
                  </a:lnTo>
                  <a:lnTo>
                    <a:pt x="1092708" y="37480"/>
                  </a:lnTo>
                  <a:lnTo>
                    <a:pt x="1040443" y="28111"/>
                  </a:lnTo>
                  <a:lnTo>
                    <a:pt x="983246" y="19921"/>
                  </a:lnTo>
                  <a:lnTo>
                    <a:pt x="921597" y="13005"/>
                  </a:lnTo>
                  <a:lnTo>
                    <a:pt x="855977" y="7459"/>
                  </a:lnTo>
                  <a:lnTo>
                    <a:pt x="786863" y="3379"/>
                  </a:lnTo>
                  <a:lnTo>
                    <a:pt x="714738" y="860"/>
                  </a:lnTo>
                  <a:lnTo>
                    <a:pt x="640080" y="0"/>
                  </a:lnTo>
                  <a:close/>
                </a:path>
              </a:pathLst>
            </a:custGeom>
            <a:solidFill>
              <a:srgbClr val="F59E0A">
                <a:alpha val="79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7680959" y="2731769"/>
              <a:ext cx="1280160" cy="256540"/>
            </a:xfrm>
            <a:custGeom>
              <a:avLst/>
              <a:gdLst/>
              <a:ahLst/>
              <a:cxnLst/>
              <a:rect l="l" t="t" r="r" b="b"/>
              <a:pathLst>
                <a:path w="1280159" h="256539">
                  <a:moveTo>
                    <a:pt x="0" y="128016"/>
                  </a:moveTo>
                  <a:lnTo>
                    <a:pt x="37309" y="84826"/>
                  </a:lnTo>
                  <a:lnTo>
                    <a:pt x="99637" y="59371"/>
                  </a:lnTo>
                  <a:lnTo>
                    <a:pt x="140598" y="47932"/>
                  </a:lnTo>
                  <a:lnTo>
                    <a:pt x="187451" y="37480"/>
                  </a:lnTo>
                  <a:lnTo>
                    <a:pt x="239716" y="28111"/>
                  </a:lnTo>
                  <a:lnTo>
                    <a:pt x="296913" y="19921"/>
                  </a:lnTo>
                  <a:lnTo>
                    <a:pt x="358562" y="13005"/>
                  </a:lnTo>
                  <a:lnTo>
                    <a:pt x="424182" y="7459"/>
                  </a:lnTo>
                  <a:lnTo>
                    <a:pt x="493296" y="3379"/>
                  </a:lnTo>
                  <a:lnTo>
                    <a:pt x="565421" y="860"/>
                  </a:lnTo>
                  <a:lnTo>
                    <a:pt x="640080" y="0"/>
                  </a:lnTo>
                  <a:lnTo>
                    <a:pt x="714738" y="860"/>
                  </a:lnTo>
                  <a:lnTo>
                    <a:pt x="786863" y="3379"/>
                  </a:lnTo>
                  <a:lnTo>
                    <a:pt x="855977" y="7459"/>
                  </a:lnTo>
                  <a:lnTo>
                    <a:pt x="921597" y="13005"/>
                  </a:lnTo>
                  <a:lnTo>
                    <a:pt x="983246" y="19921"/>
                  </a:lnTo>
                  <a:lnTo>
                    <a:pt x="1040443" y="28111"/>
                  </a:lnTo>
                  <a:lnTo>
                    <a:pt x="1092708" y="37480"/>
                  </a:lnTo>
                  <a:lnTo>
                    <a:pt x="1139561" y="47932"/>
                  </a:lnTo>
                  <a:lnTo>
                    <a:pt x="1180522" y="59371"/>
                  </a:lnTo>
                  <a:lnTo>
                    <a:pt x="1242850" y="84826"/>
                  </a:lnTo>
                  <a:lnTo>
                    <a:pt x="1275854" y="113079"/>
                  </a:lnTo>
                  <a:lnTo>
                    <a:pt x="1280160" y="128016"/>
                  </a:lnTo>
                  <a:lnTo>
                    <a:pt x="1275854" y="142952"/>
                  </a:lnTo>
                  <a:lnTo>
                    <a:pt x="1242850" y="171205"/>
                  </a:lnTo>
                  <a:lnTo>
                    <a:pt x="1180522" y="196660"/>
                  </a:lnTo>
                  <a:lnTo>
                    <a:pt x="1139561" y="208099"/>
                  </a:lnTo>
                  <a:lnTo>
                    <a:pt x="1092708" y="218551"/>
                  </a:lnTo>
                  <a:lnTo>
                    <a:pt x="1040443" y="227920"/>
                  </a:lnTo>
                  <a:lnTo>
                    <a:pt x="983246" y="236110"/>
                  </a:lnTo>
                  <a:lnTo>
                    <a:pt x="921597" y="243026"/>
                  </a:lnTo>
                  <a:lnTo>
                    <a:pt x="855977" y="248572"/>
                  </a:lnTo>
                  <a:lnTo>
                    <a:pt x="786863" y="252652"/>
                  </a:lnTo>
                  <a:lnTo>
                    <a:pt x="714738" y="255171"/>
                  </a:lnTo>
                  <a:lnTo>
                    <a:pt x="640080" y="256031"/>
                  </a:lnTo>
                  <a:lnTo>
                    <a:pt x="565421" y="255171"/>
                  </a:lnTo>
                  <a:lnTo>
                    <a:pt x="493296" y="252652"/>
                  </a:lnTo>
                  <a:lnTo>
                    <a:pt x="424182" y="248572"/>
                  </a:lnTo>
                  <a:lnTo>
                    <a:pt x="358562" y="243026"/>
                  </a:lnTo>
                  <a:lnTo>
                    <a:pt x="296913" y="236110"/>
                  </a:lnTo>
                  <a:lnTo>
                    <a:pt x="239716" y="227920"/>
                  </a:lnTo>
                  <a:lnTo>
                    <a:pt x="187451" y="218551"/>
                  </a:lnTo>
                  <a:lnTo>
                    <a:pt x="140598" y="208099"/>
                  </a:lnTo>
                  <a:lnTo>
                    <a:pt x="99637" y="196660"/>
                  </a:lnTo>
                  <a:lnTo>
                    <a:pt x="37309" y="171205"/>
                  </a:lnTo>
                  <a:lnTo>
                    <a:pt x="4305" y="142952"/>
                  </a:lnTo>
                  <a:lnTo>
                    <a:pt x="0" y="128016"/>
                  </a:lnTo>
                  <a:close/>
                </a:path>
              </a:pathLst>
            </a:custGeom>
            <a:ln w="12700">
              <a:solidFill>
                <a:srgbClr val="F59E0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6" name="object 36"/>
          <p:cNvSpPr txBox="1"/>
          <p:nvPr/>
        </p:nvSpPr>
        <p:spPr>
          <a:xfrm>
            <a:off x="7986776" y="2474467"/>
            <a:ext cx="66929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dirty="0">
                <a:solidFill>
                  <a:srgbClr val="FFFFFF"/>
                </a:solidFill>
                <a:latin typeface="Times New Roman"/>
                <a:cs typeface="Times New Roman"/>
              </a:rPr>
              <a:t>MySQL</a:t>
            </a:r>
            <a:r>
              <a:rPr sz="1000" b="1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000" b="1" spc="-25" dirty="0">
                <a:solidFill>
                  <a:srgbClr val="FFFFFF"/>
                </a:solidFill>
                <a:latin typeface="Times New Roman"/>
                <a:cs typeface="Times New Roman"/>
              </a:rPr>
              <a:t>DB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237743" y="3529584"/>
            <a:ext cx="1298575" cy="439420"/>
          </a:xfrm>
          <a:prstGeom prst="rect">
            <a:avLst/>
          </a:prstGeom>
          <a:solidFill>
            <a:srgbClr val="0891B1">
              <a:alpha val="79998"/>
            </a:srgbClr>
          </a:solidFill>
          <a:ln w="12700">
            <a:solidFill>
              <a:srgbClr val="0891B1"/>
            </a:solidFill>
          </a:ln>
        </p:spPr>
        <p:txBody>
          <a:bodyPr vert="horz" wrap="square" lIns="0" tIns="444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35"/>
              </a:spcBef>
            </a:pPr>
            <a:endParaRPr sz="950">
              <a:latin typeface="Times New Roman"/>
              <a:cs typeface="Times New Roman"/>
            </a:endParaRPr>
          </a:p>
          <a:p>
            <a:pPr marL="227965">
              <a:lnSpc>
                <a:spcPct val="100000"/>
              </a:lnSpc>
            </a:pPr>
            <a:r>
              <a:rPr sz="950" b="1" dirty="0">
                <a:solidFill>
                  <a:srgbClr val="FFFFFF"/>
                </a:solidFill>
                <a:latin typeface="Times New Roman"/>
                <a:cs typeface="Times New Roman"/>
              </a:rPr>
              <a:t>Product</a:t>
            </a:r>
            <a:r>
              <a:rPr sz="950" b="1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95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Module</a:t>
            </a:r>
            <a:endParaRPr sz="950">
              <a:latin typeface="Times New Roman"/>
              <a:cs typeface="Times New Roman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1682495" y="3529584"/>
            <a:ext cx="1298575" cy="439420"/>
          </a:xfrm>
          <a:prstGeom prst="rect">
            <a:avLst/>
          </a:prstGeom>
          <a:solidFill>
            <a:srgbClr val="0FB881">
              <a:alpha val="79998"/>
            </a:srgbClr>
          </a:solidFill>
          <a:ln w="12700">
            <a:solidFill>
              <a:srgbClr val="0FB881"/>
            </a:solidFill>
          </a:ln>
        </p:spPr>
        <p:txBody>
          <a:bodyPr vert="horz" wrap="square" lIns="0" tIns="444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35"/>
              </a:spcBef>
            </a:pPr>
            <a:endParaRPr sz="950">
              <a:latin typeface="Times New Roman"/>
              <a:cs typeface="Times New Roman"/>
            </a:endParaRPr>
          </a:p>
          <a:p>
            <a:pPr marL="291465">
              <a:lnSpc>
                <a:spcPct val="100000"/>
              </a:lnSpc>
            </a:pPr>
            <a:r>
              <a:rPr sz="950" b="1" dirty="0">
                <a:solidFill>
                  <a:srgbClr val="FFFFFF"/>
                </a:solidFill>
                <a:latin typeface="Times New Roman"/>
                <a:cs typeface="Times New Roman"/>
              </a:rPr>
              <a:t>Stock</a:t>
            </a:r>
            <a:r>
              <a:rPr sz="950" b="1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95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Module</a:t>
            </a:r>
            <a:endParaRPr sz="950">
              <a:latin typeface="Times New Roman"/>
              <a:cs typeface="Times New Roman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3127248" y="3529584"/>
            <a:ext cx="1298575" cy="439420"/>
          </a:xfrm>
          <a:prstGeom prst="rect">
            <a:avLst/>
          </a:prstGeom>
          <a:solidFill>
            <a:srgbClr val="8A5CF6">
              <a:alpha val="79998"/>
            </a:srgbClr>
          </a:solidFill>
          <a:ln w="12700">
            <a:solidFill>
              <a:srgbClr val="8A5CF6"/>
            </a:solidFill>
          </a:ln>
        </p:spPr>
        <p:txBody>
          <a:bodyPr vert="horz" wrap="square" lIns="0" tIns="444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35"/>
              </a:spcBef>
            </a:pPr>
            <a:endParaRPr sz="950">
              <a:latin typeface="Times New Roman"/>
              <a:cs typeface="Times New Roman"/>
            </a:endParaRPr>
          </a:p>
          <a:p>
            <a:pPr marL="194310">
              <a:lnSpc>
                <a:spcPct val="100000"/>
              </a:lnSpc>
            </a:pPr>
            <a:r>
              <a:rPr sz="950" b="1" dirty="0">
                <a:solidFill>
                  <a:srgbClr val="FFFFFF"/>
                </a:solidFill>
                <a:latin typeface="Times New Roman"/>
                <a:cs typeface="Times New Roman"/>
              </a:rPr>
              <a:t>Analytics</a:t>
            </a:r>
            <a:r>
              <a:rPr sz="950" b="1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95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Module</a:t>
            </a:r>
            <a:endParaRPr sz="950">
              <a:latin typeface="Times New Roman"/>
              <a:cs typeface="Times New Roman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4572000" y="3529584"/>
            <a:ext cx="1298575" cy="439420"/>
          </a:xfrm>
          <a:prstGeom prst="rect">
            <a:avLst/>
          </a:prstGeom>
          <a:solidFill>
            <a:srgbClr val="F87316">
              <a:alpha val="79998"/>
            </a:srgbClr>
          </a:solidFill>
          <a:ln w="12700">
            <a:solidFill>
              <a:srgbClr val="F87316"/>
            </a:solidFill>
          </a:ln>
        </p:spPr>
        <p:txBody>
          <a:bodyPr vert="horz" wrap="square" lIns="0" tIns="444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35"/>
              </a:spcBef>
            </a:pPr>
            <a:endParaRPr sz="950">
              <a:latin typeface="Times New Roman"/>
              <a:cs typeface="Times New Roman"/>
            </a:endParaRPr>
          </a:p>
          <a:p>
            <a:pPr marL="312420">
              <a:lnSpc>
                <a:spcPct val="100000"/>
              </a:lnSpc>
            </a:pPr>
            <a:r>
              <a:rPr sz="950" b="1" dirty="0">
                <a:solidFill>
                  <a:srgbClr val="FFFFFF"/>
                </a:solidFill>
                <a:latin typeface="Times New Roman"/>
                <a:cs typeface="Times New Roman"/>
              </a:rPr>
              <a:t>Logs</a:t>
            </a:r>
            <a:r>
              <a:rPr sz="950" b="1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95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Module</a:t>
            </a:r>
            <a:endParaRPr sz="950">
              <a:latin typeface="Times New Roman"/>
              <a:cs typeface="Times New Roman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6016752" y="3529584"/>
            <a:ext cx="1298575" cy="439420"/>
          </a:xfrm>
          <a:prstGeom prst="rect">
            <a:avLst/>
          </a:prstGeom>
          <a:solidFill>
            <a:srgbClr val="EE4444">
              <a:alpha val="79998"/>
            </a:srgbClr>
          </a:solidFill>
          <a:ln w="12700">
            <a:solidFill>
              <a:srgbClr val="EE4444"/>
            </a:solidFill>
          </a:ln>
        </p:spPr>
        <p:txBody>
          <a:bodyPr vert="horz" wrap="square" lIns="0" tIns="444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35"/>
              </a:spcBef>
            </a:pPr>
            <a:endParaRPr sz="950">
              <a:latin typeface="Times New Roman"/>
              <a:cs typeface="Times New Roman"/>
            </a:endParaRPr>
          </a:p>
          <a:p>
            <a:pPr marL="156845">
              <a:lnSpc>
                <a:spcPct val="100000"/>
              </a:lnSpc>
            </a:pPr>
            <a:r>
              <a:rPr sz="950" b="1" dirty="0">
                <a:solidFill>
                  <a:srgbClr val="FFFFFF"/>
                </a:solidFill>
                <a:latin typeface="Times New Roman"/>
                <a:cs typeface="Times New Roman"/>
              </a:rPr>
              <a:t>Simulation</a:t>
            </a:r>
            <a:r>
              <a:rPr sz="950" b="1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95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Module</a:t>
            </a:r>
            <a:endParaRPr sz="950">
              <a:latin typeface="Times New Roman"/>
              <a:cs typeface="Times New Roman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7461504" y="3529584"/>
            <a:ext cx="1298575" cy="439420"/>
          </a:xfrm>
          <a:prstGeom prst="rect">
            <a:avLst/>
          </a:prstGeom>
          <a:solidFill>
            <a:srgbClr val="F59E0A">
              <a:alpha val="79998"/>
            </a:srgbClr>
          </a:solidFill>
          <a:ln w="12700">
            <a:solidFill>
              <a:srgbClr val="F59E0A"/>
            </a:solidFill>
          </a:ln>
        </p:spPr>
        <p:txBody>
          <a:bodyPr vert="horz" wrap="square" lIns="0" tIns="444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35"/>
              </a:spcBef>
            </a:pPr>
            <a:endParaRPr sz="950">
              <a:latin typeface="Times New Roman"/>
              <a:cs typeface="Times New Roman"/>
            </a:endParaRPr>
          </a:p>
          <a:p>
            <a:pPr marL="255904">
              <a:lnSpc>
                <a:spcPct val="100000"/>
              </a:lnSpc>
            </a:pPr>
            <a:r>
              <a:rPr sz="950" b="1" dirty="0">
                <a:solidFill>
                  <a:srgbClr val="FFFFFF"/>
                </a:solidFill>
                <a:latin typeface="Times New Roman"/>
                <a:cs typeface="Times New Roman"/>
              </a:rPr>
              <a:t>Report</a:t>
            </a:r>
            <a:r>
              <a:rPr sz="950" b="1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95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Module</a:t>
            </a:r>
            <a:endParaRPr sz="950">
              <a:latin typeface="Times New Roman"/>
              <a:cs typeface="Times New Roman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3781425" y="4042359"/>
            <a:ext cx="1507490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i="1" dirty="0">
                <a:solidFill>
                  <a:srgbClr val="93A2B8"/>
                </a:solidFill>
                <a:latin typeface="Times New Roman"/>
                <a:cs typeface="Times New Roman"/>
              </a:rPr>
              <a:t>Core</a:t>
            </a:r>
            <a:r>
              <a:rPr sz="1100" i="1" spc="-25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100" i="1" dirty="0">
                <a:solidFill>
                  <a:srgbClr val="93A2B8"/>
                </a:solidFill>
                <a:latin typeface="Times New Roman"/>
                <a:cs typeface="Times New Roman"/>
              </a:rPr>
              <a:t>Application</a:t>
            </a:r>
            <a:r>
              <a:rPr sz="1100" i="1" spc="-50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100" i="1" spc="-10" dirty="0">
                <a:solidFill>
                  <a:srgbClr val="93A2B8"/>
                </a:solidFill>
                <a:latin typeface="Times New Roman"/>
                <a:cs typeface="Times New Roman"/>
              </a:rPr>
              <a:t>Modules</a:t>
            </a:r>
            <a:endParaRPr sz="11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Layered</a:t>
            </a:r>
            <a:r>
              <a:rPr spc="-155" dirty="0"/>
              <a:t> </a:t>
            </a:r>
            <a:r>
              <a:rPr spc="-10" dirty="0"/>
              <a:t>Architecture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44500" y="670305"/>
            <a:ext cx="3300729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i="1" dirty="0">
                <a:solidFill>
                  <a:srgbClr val="0891B1"/>
                </a:solidFill>
                <a:latin typeface="Times New Roman"/>
                <a:cs typeface="Times New Roman"/>
              </a:rPr>
              <a:t>Separation</a:t>
            </a:r>
            <a:r>
              <a:rPr sz="1300" i="1" spc="-30" dirty="0">
                <a:solidFill>
                  <a:srgbClr val="0891B1"/>
                </a:solidFill>
                <a:latin typeface="Times New Roman"/>
                <a:cs typeface="Times New Roman"/>
              </a:rPr>
              <a:t> </a:t>
            </a:r>
            <a:r>
              <a:rPr sz="1300" i="1" dirty="0">
                <a:solidFill>
                  <a:srgbClr val="0891B1"/>
                </a:solidFill>
                <a:latin typeface="Times New Roman"/>
                <a:cs typeface="Times New Roman"/>
              </a:rPr>
              <a:t>of</a:t>
            </a:r>
            <a:r>
              <a:rPr sz="1300" i="1" spc="-30" dirty="0">
                <a:solidFill>
                  <a:srgbClr val="0891B1"/>
                </a:solidFill>
                <a:latin typeface="Times New Roman"/>
                <a:cs typeface="Times New Roman"/>
              </a:rPr>
              <a:t> </a:t>
            </a:r>
            <a:r>
              <a:rPr sz="1300" i="1" dirty="0">
                <a:solidFill>
                  <a:srgbClr val="0891B1"/>
                </a:solidFill>
                <a:latin typeface="Times New Roman"/>
                <a:cs typeface="Times New Roman"/>
              </a:rPr>
              <a:t>Concerns</a:t>
            </a:r>
            <a:r>
              <a:rPr sz="1300" i="1" spc="-50" dirty="0">
                <a:solidFill>
                  <a:srgbClr val="0891B1"/>
                </a:solidFill>
                <a:latin typeface="Times New Roman"/>
                <a:cs typeface="Times New Roman"/>
              </a:rPr>
              <a:t> </a:t>
            </a:r>
            <a:r>
              <a:rPr sz="1300" i="1" dirty="0">
                <a:solidFill>
                  <a:srgbClr val="0891B1"/>
                </a:solidFill>
                <a:latin typeface="Times New Roman"/>
                <a:cs typeface="Times New Roman"/>
              </a:rPr>
              <a:t>Across</a:t>
            </a:r>
            <a:r>
              <a:rPr sz="1300" i="1" spc="-40" dirty="0">
                <a:solidFill>
                  <a:srgbClr val="0891B1"/>
                </a:solidFill>
                <a:latin typeface="Times New Roman"/>
                <a:cs typeface="Times New Roman"/>
              </a:rPr>
              <a:t> </a:t>
            </a:r>
            <a:r>
              <a:rPr sz="1300" i="1" dirty="0">
                <a:solidFill>
                  <a:srgbClr val="0891B1"/>
                </a:solidFill>
                <a:latin typeface="Times New Roman"/>
                <a:cs typeface="Times New Roman"/>
              </a:rPr>
              <a:t>All</a:t>
            </a:r>
            <a:r>
              <a:rPr sz="1300" i="1" spc="-25" dirty="0">
                <a:solidFill>
                  <a:srgbClr val="0891B1"/>
                </a:solidFill>
                <a:latin typeface="Times New Roman"/>
                <a:cs typeface="Times New Roman"/>
              </a:rPr>
              <a:t> </a:t>
            </a:r>
            <a:r>
              <a:rPr sz="1300" i="1" dirty="0">
                <a:solidFill>
                  <a:srgbClr val="0891B1"/>
                </a:solidFill>
                <a:latin typeface="Times New Roman"/>
                <a:cs typeface="Times New Roman"/>
              </a:rPr>
              <a:t>System</a:t>
            </a:r>
            <a:r>
              <a:rPr sz="1300" i="1" spc="-40" dirty="0">
                <a:solidFill>
                  <a:srgbClr val="0891B1"/>
                </a:solidFill>
                <a:latin typeface="Times New Roman"/>
                <a:cs typeface="Times New Roman"/>
              </a:rPr>
              <a:t> </a:t>
            </a:r>
            <a:r>
              <a:rPr sz="1300" i="1" spc="-10" dirty="0">
                <a:solidFill>
                  <a:srgbClr val="0891B1"/>
                </a:solidFill>
                <a:latin typeface="Times New Roman"/>
                <a:cs typeface="Times New Roman"/>
              </a:rPr>
              <a:t>Layers</a:t>
            </a:r>
            <a:endParaRPr sz="1300">
              <a:latin typeface="Times New Roman"/>
              <a:cs typeface="Times New Roman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266700" y="952500"/>
            <a:ext cx="8610600" cy="820419"/>
            <a:chOff x="266700" y="952500"/>
            <a:chExt cx="8610600" cy="820419"/>
          </a:xfrm>
        </p:grpSpPr>
        <p:sp>
          <p:nvSpPr>
            <p:cNvPr id="5" name="object 5"/>
            <p:cNvSpPr/>
            <p:nvPr/>
          </p:nvSpPr>
          <p:spPr>
            <a:xfrm>
              <a:off x="2194560" y="960120"/>
              <a:ext cx="6675120" cy="805180"/>
            </a:xfrm>
            <a:custGeom>
              <a:avLst/>
              <a:gdLst/>
              <a:ahLst/>
              <a:cxnLst/>
              <a:rect l="l" t="t" r="r" b="b"/>
              <a:pathLst>
                <a:path w="6675120" h="805180">
                  <a:moveTo>
                    <a:pt x="0" y="804672"/>
                  </a:moveTo>
                  <a:lnTo>
                    <a:pt x="6675120" y="804672"/>
                  </a:lnTo>
                  <a:lnTo>
                    <a:pt x="6675120" y="0"/>
                  </a:lnTo>
                  <a:lnTo>
                    <a:pt x="0" y="0"/>
                  </a:lnTo>
                  <a:lnTo>
                    <a:pt x="0" y="804672"/>
                  </a:lnTo>
                  <a:close/>
                </a:path>
              </a:pathLst>
            </a:custGeom>
            <a:solidFill>
              <a:srgbClr val="0891B1">
                <a:alpha val="12156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74320" y="960120"/>
              <a:ext cx="8595360" cy="805180"/>
            </a:xfrm>
            <a:custGeom>
              <a:avLst/>
              <a:gdLst/>
              <a:ahLst/>
              <a:cxnLst/>
              <a:rect l="l" t="t" r="r" b="b"/>
              <a:pathLst>
                <a:path w="8595360" h="805180">
                  <a:moveTo>
                    <a:pt x="0" y="804672"/>
                  </a:moveTo>
                  <a:lnTo>
                    <a:pt x="8595360" y="804672"/>
                  </a:lnTo>
                  <a:lnTo>
                    <a:pt x="8595360" y="0"/>
                  </a:lnTo>
                  <a:lnTo>
                    <a:pt x="0" y="0"/>
                  </a:lnTo>
                  <a:lnTo>
                    <a:pt x="0" y="804672"/>
                  </a:lnTo>
                  <a:close/>
                </a:path>
              </a:pathLst>
            </a:custGeom>
            <a:ln w="15240">
              <a:solidFill>
                <a:srgbClr val="0891B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74320" y="960120"/>
              <a:ext cx="1920239" cy="805180"/>
            </a:xfrm>
            <a:custGeom>
              <a:avLst/>
              <a:gdLst/>
              <a:ahLst/>
              <a:cxnLst/>
              <a:rect l="l" t="t" r="r" b="b"/>
              <a:pathLst>
                <a:path w="1920239" h="805180">
                  <a:moveTo>
                    <a:pt x="0" y="804672"/>
                  </a:moveTo>
                  <a:lnTo>
                    <a:pt x="1920239" y="804672"/>
                  </a:lnTo>
                  <a:lnTo>
                    <a:pt x="1920239" y="0"/>
                  </a:lnTo>
                  <a:lnTo>
                    <a:pt x="0" y="0"/>
                  </a:lnTo>
                  <a:lnTo>
                    <a:pt x="0" y="804672"/>
                  </a:lnTo>
                  <a:close/>
                </a:path>
              </a:pathLst>
            </a:custGeom>
            <a:ln w="12700">
              <a:solidFill>
                <a:srgbClr val="0891B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274320" y="960119"/>
            <a:ext cx="1920239" cy="805180"/>
          </a:xfrm>
          <a:prstGeom prst="rect">
            <a:avLst/>
          </a:prstGeom>
          <a:solidFill>
            <a:srgbClr val="0891B1"/>
          </a:solidFill>
        </p:spPr>
        <p:txBody>
          <a:bodyPr vert="horz" wrap="square" lIns="0" tIns="9461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745"/>
              </a:spcBef>
            </a:pPr>
            <a:endParaRPr sz="12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sz="1200" b="1" dirty="0">
                <a:solidFill>
                  <a:srgbClr val="FFFFFF"/>
                </a:solidFill>
                <a:latin typeface="Times New Roman"/>
                <a:cs typeface="Times New Roman"/>
              </a:rPr>
              <a:t>Presentation</a:t>
            </a:r>
            <a:r>
              <a:rPr sz="1200" b="1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200" b="1" spc="-20" dirty="0">
                <a:solidFill>
                  <a:srgbClr val="FFFFFF"/>
                </a:solidFill>
                <a:latin typeface="Times New Roman"/>
                <a:cs typeface="Times New Roman"/>
              </a:rPr>
              <a:t>Layer</a:t>
            </a:r>
            <a:endParaRPr sz="12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509"/>
              </a:spcBef>
            </a:pPr>
            <a:r>
              <a:rPr sz="950" i="1" dirty="0">
                <a:solidFill>
                  <a:srgbClr val="FFFFFF"/>
                </a:solidFill>
                <a:latin typeface="Times New Roman"/>
                <a:cs typeface="Times New Roman"/>
              </a:rPr>
              <a:t>Thymeleaf</a:t>
            </a:r>
            <a:r>
              <a:rPr sz="950" i="1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950" i="1" spc="-10" dirty="0">
                <a:solidFill>
                  <a:srgbClr val="FFFFFF"/>
                </a:solidFill>
                <a:latin typeface="Times New Roman"/>
                <a:cs typeface="Times New Roman"/>
              </a:rPr>
              <a:t>Templates</a:t>
            </a:r>
            <a:endParaRPr sz="950">
              <a:latin typeface="Times New Roman"/>
              <a:cs typeface="Times New Roman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2325370" y="1273810"/>
            <a:ext cx="4923155" cy="159385"/>
            <a:chOff x="2325370" y="1273810"/>
            <a:chExt cx="4923155" cy="159385"/>
          </a:xfrm>
        </p:grpSpPr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325370" y="1273810"/>
              <a:ext cx="122428" cy="122427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925570" y="1310386"/>
              <a:ext cx="122427" cy="122427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525770" y="1273810"/>
              <a:ext cx="122427" cy="122427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125970" y="1273810"/>
              <a:ext cx="122427" cy="122427"/>
            </a:xfrm>
            <a:prstGeom prst="rect">
              <a:avLst/>
            </a:prstGeom>
          </p:spPr>
        </p:pic>
      </p:grpSp>
      <p:sp>
        <p:nvSpPr>
          <p:cNvPr id="14" name="object 14"/>
          <p:cNvSpPr txBox="1"/>
          <p:nvPr/>
        </p:nvSpPr>
        <p:spPr>
          <a:xfrm>
            <a:off x="2487422" y="1202181"/>
            <a:ext cx="95631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1000" dirty="0">
                <a:solidFill>
                  <a:srgbClr val="1E293A"/>
                </a:solidFill>
                <a:latin typeface="Times New Roman"/>
                <a:cs typeface="Times New Roman"/>
              </a:rPr>
              <a:t>product.html,</a:t>
            </a:r>
            <a:r>
              <a:rPr sz="1000" spc="-45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000" spc="-20" dirty="0">
                <a:solidFill>
                  <a:srgbClr val="1E293A"/>
                </a:solidFill>
                <a:latin typeface="Times New Roman"/>
                <a:cs typeface="Times New Roman"/>
              </a:rPr>
              <a:t>add-</a:t>
            </a:r>
            <a:endParaRPr sz="1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r>
              <a:rPr sz="1000" spc="-10" dirty="0">
                <a:solidFill>
                  <a:srgbClr val="1E293A"/>
                </a:solidFill>
                <a:latin typeface="Times New Roman"/>
                <a:cs typeface="Times New Roman"/>
              </a:rPr>
              <a:t>product.html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088003" y="1278381"/>
            <a:ext cx="134175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1000" dirty="0">
                <a:solidFill>
                  <a:srgbClr val="1E293A"/>
                </a:solidFill>
                <a:latin typeface="Times New Roman"/>
                <a:cs typeface="Times New Roman"/>
              </a:rPr>
              <a:t>Bootstrap</a:t>
            </a:r>
            <a:r>
              <a:rPr sz="1000" spc="-40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1E293A"/>
                </a:solidFill>
                <a:latin typeface="Times New Roman"/>
                <a:cs typeface="Times New Roman"/>
              </a:rPr>
              <a:t>5</a:t>
            </a:r>
            <a:r>
              <a:rPr sz="1000" spc="-40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1E293A"/>
                </a:solidFill>
                <a:latin typeface="Times New Roman"/>
                <a:cs typeface="Times New Roman"/>
              </a:rPr>
              <a:t>responsive</a:t>
            </a:r>
            <a:r>
              <a:rPr sz="1000" spc="-10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000" spc="-25" dirty="0">
                <a:solidFill>
                  <a:srgbClr val="1E293A"/>
                </a:solidFill>
                <a:latin typeface="Times New Roman"/>
                <a:cs typeface="Times New Roman"/>
              </a:rPr>
              <a:t>UI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688457" y="1202181"/>
            <a:ext cx="128524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1000" dirty="0">
                <a:solidFill>
                  <a:srgbClr val="1E293A"/>
                </a:solidFill>
                <a:latin typeface="Times New Roman"/>
                <a:cs typeface="Times New Roman"/>
              </a:rPr>
              <a:t>Thymeleaf</a:t>
            </a:r>
            <a:r>
              <a:rPr sz="1000" spc="-45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1E293A"/>
                </a:solidFill>
                <a:latin typeface="Times New Roman"/>
                <a:cs typeface="Times New Roman"/>
              </a:rPr>
              <a:t>fragments</a:t>
            </a:r>
            <a:r>
              <a:rPr sz="1000" spc="-40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000" spc="-25" dirty="0">
                <a:solidFill>
                  <a:srgbClr val="1E293A"/>
                </a:solidFill>
                <a:latin typeface="Times New Roman"/>
                <a:cs typeface="Times New Roman"/>
              </a:rPr>
              <a:t>for</a:t>
            </a:r>
            <a:endParaRPr sz="1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r>
              <a:rPr sz="1000" spc="-10" dirty="0">
                <a:solidFill>
                  <a:srgbClr val="1E293A"/>
                </a:solidFill>
                <a:latin typeface="Times New Roman"/>
                <a:cs typeface="Times New Roman"/>
              </a:rPr>
              <a:t>reuse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7289038" y="1202181"/>
            <a:ext cx="1196975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1000" dirty="0">
                <a:solidFill>
                  <a:srgbClr val="1E293A"/>
                </a:solidFill>
                <a:latin typeface="Times New Roman"/>
                <a:cs typeface="Times New Roman"/>
              </a:rPr>
              <a:t>Model</a:t>
            </a:r>
            <a:r>
              <a:rPr sz="1000" spc="-40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1E293A"/>
                </a:solidFill>
                <a:latin typeface="Times New Roman"/>
                <a:cs typeface="Times New Roman"/>
              </a:rPr>
              <a:t>attributes</a:t>
            </a:r>
            <a:r>
              <a:rPr sz="1000" spc="-30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000" spc="-10" dirty="0">
                <a:solidFill>
                  <a:srgbClr val="1E293A"/>
                </a:solidFill>
                <a:latin typeface="Times New Roman"/>
                <a:cs typeface="Times New Roman"/>
              </a:rPr>
              <a:t>bound</a:t>
            </a:r>
            <a:endParaRPr sz="1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r>
              <a:rPr sz="1000" dirty="0">
                <a:solidFill>
                  <a:srgbClr val="1E293A"/>
                </a:solidFill>
                <a:latin typeface="Times New Roman"/>
                <a:cs typeface="Times New Roman"/>
              </a:rPr>
              <a:t>from</a:t>
            </a:r>
            <a:r>
              <a:rPr sz="1000" spc="-30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000" spc="-10" dirty="0">
                <a:solidFill>
                  <a:srgbClr val="1E293A"/>
                </a:solidFill>
                <a:latin typeface="Times New Roman"/>
                <a:cs typeface="Times New Roman"/>
              </a:rPr>
              <a:t>controllers</a:t>
            </a:r>
            <a:endParaRPr sz="1000">
              <a:latin typeface="Times New Roman"/>
              <a:cs typeface="Times New Roman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266700" y="1912620"/>
            <a:ext cx="8610600" cy="820419"/>
            <a:chOff x="266700" y="1912620"/>
            <a:chExt cx="8610600" cy="820419"/>
          </a:xfrm>
        </p:grpSpPr>
        <p:sp>
          <p:nvSpPr>
            <p:cNvPr id="19" name="object 19"/>
            <p:cNvSpPr/>
            <p:nvPr/>
          </p:nvSpPr>
          <p:spPr>
            <a:xfrm>
              <a:off x="2194560" y="1920240"/>
              <a:ext cx="6675120" cy="805180"/>
            </a:xfrm>
            <a:custGeom>
              <a:avLst/>
              <a:gdLst/>
              <a:ahLst/>
              <a:cxnLst/>
              <a:rect l="l" t="t" r="r" b="b"/>
              <a:pathLst>
                <a:path w="6675120" h="805180">
                  <a:moveTo>
                    <a:pt x="0" y="804672"/>
                  </a:moveTo>
                  <a:lnTo>
                    <a:pt x="6675120" y="804672"/>
                  </a:lnTo>
                  <a:lnTo>
                    <a:pt x="6675120" y="0"/>
                  </a:lnTo>
                  <a:lnTo>
                    <a:pt x="0" y="0"/>
                  </a:lnTo>
                  <a:lnTo>
                    <a:pt x="0" y="804672"/>
                  </a:lnTo>
                  <a:close/>
                </a:path>
              </a:pathLst>
            </a:custGeom>
            <a:solidFill>
              <a:srgbClr val="8A5CF6">
                <a:alpha val="12156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274320" y="1920240"/>
              <a:ext cx="8595360" cy="805180"/>
            </a:xfrm>
            <a:custGeom>
              <a:avLst/>
              <a:gdLst/>
              <a:ahLst/>
              <a:cxnLst/>
              <a:rect l="l" t="t" r="r" b="b"/>
              <a:pathLst>
                <a:path w="8595360" h="805180">
                  <a:moveTo>
                    <a:pt x="0" y="804672"/>
                  </a:moveTo>
                  <a:lnTo>
                    <a:pt x="8595360" y="804672"/>
                  </a:lnTo>
                  <a:lnTo>
                    <a:pt x="8595360" y="0"/>
                  </a:lnTo>
                  <a:lnTo>
                    <a:pt x="0" y="0"/>
                  </a:lnTo>
                  <a:lnTo>
                    <a:pt x="0" y="804672"/>
                  </a:lnTo>
                  <a:close/>
                </a:path>
              </a:pathLst>
            </a:custGeom>
            <a:ln w="15240">
              <a:solidFill>
                <a:srgbClr val="8A5CF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274320" y="1920240"/>
              <a:ext cx="1920239" cy="805180"/>
            </a:xfrm>
            <a:custGeom>
              <a:avLst/>
              <a:gdLst/>
              <a:ahLst/>
              <a:cxnLst/>
              <a:rect l="l" t="t" r="r" b="b"/>
              <a:pathLst>
                <a:path w="1920239" h="805180">
                  <a:moveTo>
                    <a:pt x="0" y="804672"/>
                  </a:moveTo>
                  <a:lnTo>
                    <a:pt x="1920239" y="804672"/>
                  </a:lnTo>
                  <a:lnTo>
                    <a:pt x="1920239" y="0"/>
                  </a:lnTo>
                  <a:lnTo>
                    <a:pt x="0" y="0"/>
                  </a:lnTo>
                  <a:lnTo>
                    <a:pt x="0" y="804672"/>
                  </a:lnTo>
                  <a:close/>
                </a:path>
              </a:pathLst>
            </a:custGeom>
            <a:ln w="12700">
              <a:solidFill>
                <a:srgbClr val="8A5CF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274320" y="1920239"/>
            <a:ext cx="1920239" cy="805180"/>
          </a:xfrm>
          <a:prstGeom prst="rect">
            <a:avLst/>
          </a:prstGeom>
          <a:solidFill>
            <a:srgbClr val="8A5CF6"/>
          </a:solidFill>
        </p:spPr>
        <p:txBody>
          <a:bodyPr vert="horz" wrap="square" lIns="0" tIns="9461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745"/>
              </a:spcBef>
            </a:pPr>
            <a:endParaRPr sz="12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sz="1200" b="1" dirty="0">
                <a:solidFill>
                  <a:srgbClr val="FFFFFF"/>
                </a:solidFill>
                <a:latin typeface="Times New Roman"/>
                <a:cs typeface="Times New Roman"/>
              </a:rPr>
              <a:t>Controller</a:t>
            </a:r>
            <a:r>
              <a:rPr sz="1200" b="1" spc="-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200" b="1" spc="-20" dirty="0">
                <a:solidFill>
                  <a:srgbClr val="FFFFFF"/>
                </a:solidFill>
                <a:latin typeface="Times New Roman"/>
                <a:cs typeface="Times New Roman"/>
              </a:rPr>
              <a:t>Layer</a:t>
            </a:r>
            <a:endParaRPr sz="12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505"/>
              </a:spcBef>
            </a:pPr>
            <a:r>
              <a:rPr sz="950" i="1" spc="-10" dirty="0">
                <a:solidFill>
                  <a:srgbClr val="FFFFFF"/>
                </a:solidFill>
                <a:latin typeface="Times New Roman"/>
                <a:cs typeface="Times New Roman"/>
              </a:rPr>
              <a:t>@Controller</a:t>
            </a:r>
            <a:r>
              <a:rPr sz="950" i="1" spc="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950" i="1" dirty="0">
                <a:solidFill>
                  <a:srgbClr val="FFFFFF"/>
                </a:solidFill>
                <a:latin typeface="Times New Roman"/>
                <a:cs typeface="Times New Roman"/>
              </a:rPr>
              <a:t>/</a:t>
            </a:r>
            <a:r>
              <a:rPr sz="950" i="1" spc="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950" i="1" spc="-10" dirty="0">
                <a:solidFill>
                  <a:srgbClr val="FFFFFF"/>
                </a:solidFill>
                <a:latin typeface="Times New Roman"/>
                <a:cs typeface="Times New Roman"/>
              </a:rPr>
              <a:t>@RestController</a:t>
            </a:r>
            <a:endParaRPr sz="950">
              <a:latin typeface="Times New Roman"/>
              <a:cs typeface="Times New Roman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2325370" y="2233929"/>
            <a:ext cx="4923155" cy="159385"/>
            <a:chOff x="2325370" y="2233929"/>
            <a:chExt cx="4923155" cy="159385"/>
          </a:xfrm>
        </p:grpSpPr>
        <p:pic>
          <p:nvPicPr>
            <p:cNvPr id="24" name="object 2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325370" y="2233929"/>
              <a:ext cx="122428" cy="122427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925570" y="2270505"/>
              <a:ext cx="122427" cy="122427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525770" y="2233929"/>
              <a:ext cx="122427" cy="122427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125970" y="2233929"/>
              <a:ext cx="122427" cy="122427"/>
            </a:xfrm>
            <a:prstGeom prst="rect">
              <a:avLst/>
            </a:prstGeom>
          </p:spPr>
        </p:pic>
      </p:grpSp>
      <p:sp>
        <p:nvSpPr>
          <p:cNvPr id="28" name="object 28"/>
          <p:cNvSpPr txBox="1"/>
          <p:nvPr/>
        </p:nvSpPr>
        <p:spPr>
          <a:xfrm>
            <a:off x="2487422" y="2162682"/>
            <a:ext cx="1050925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1000" dirty="0">
                <a:solidFill>
                  <a:srgbClr val="1E293A"/>
                </a:solidFill>
                <a:latin typeface="Times New Roman"/>
                <a:cs typeface="Times New Roman"/>
              </a:rPr>
              <a:t>Handles</a:t>
            </a:r>
            <a:r>
              <a:rPr sz="1000" spc="-25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000" spc="-20" dirty="0">
                <a:solidFill>
                  <a:srgbClr val="1E293A"/>
                </a:solidFill>
                <a:latin typeface="Times New Roman"/>
                <a:cs typeface="Times New Roman"/>
              </a:rPr>
              <a:t>HTTP</a:t>
            </a:r>
            <a:endParaRPr sz="1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r>
              <a:rPr sz="1000" dirty="0">
                <a:solidFill>
                  <a:srgbClr val="1E293A"/>
                </a:solidFill>
                <a:latin typeface="Times New Roman"/>
                <a:cs typeface="Times New Roman"/>
              </a:rPr>
              <a:t>GET/POST</a:t>
            </a:r>
            <a:r>
              <a:rPr sz="1000" spc="-45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000" spc="-10" dirty="0">
                <a:solidFill>
                  <a:srgbClr val="1E293A"/>
                </a:solidFill>
                <a:latin typeface="Times New Roman"/>
                <a:cs typeface="Times New Roman"/>
              </a:rPr>
              <a:t>requests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4088003" y="2238882"/>
            <a:ext cx="112522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1000" dirty="0">
                <a:solidFill>
                  <a:srgbClr val="1E293A"/>
                </a:solidFill>
                <a:latin typeface="Times New Roman"/>
                <a:cs typeface="Times New Roman"/>
              </a:rPr>
              <a:t>Calls</a:t>
            </a:r>
            <a:r>
              <a:rPr sz="1000" spc="-40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1E293A"/>
                </a:solidFill>
                <a:latin typeface="Times New Roman"/>
                <a:cs typeface="Times New Roman"/>
              </a:rPr>
              <a:t>service</a:t>
            </a:r>
            <a:r>
              <a:rPr sz="1000" spc="-20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000" spc="-10" dirty="0">
                <a:solidFill>
                  <a:srgbClr val="1E293A"/>
                </a:solidFill>
                <a:latin typeface="Times New Roman"/>
                <a:cs typeface="Times New Roman"/>
              </a:rPr>
              <a:t>methods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5688457" y="2162682"/>
            <a:ext cx="126365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R="5080">
              <a:lnSpc>
                <a:spcPct val="100000"/>
              </a:lnSpc>
              <a:spcBef>
                <a:spcPts val="95"/>
              </a:spcBef>
            </a:pPr>
            <a:r>
              <a:rPr sz="1000" dirty="0">
                <a:solidFill>
                  <a:srgbClr val="1E293A"/>
                </a:solidFill>
                <a:latin typeface="Times New Roman"/>
                <a:cs typeface="Times New Roman"/>
              </a:rPr>
              <a:t>Adds</a:t>
            </a:r>
            <a:r>
              <a:rPr sz="1000" spc="-35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1E293A"/>
                </a:solidFill>
                <a:latin typeface="Times New Roman"/>
                <a:cs typeface="Times New Roman"/>
              </a:rPr>
              <a:t>model</a:t>
            </a:r>
            <a:r>
              <a:rPr sz="1000" spc="-30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1E293A"/>
                </a:solidFill>
                <a:latin typeface="Times New Roman"/>
                <a:cs typeface="Times New Roman"/>
              </a:rPr>
              <a:t>attributes</a:t>
            </a:r>
            <a:r>
              <a:rPr sz="1000" spc="-30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000" spc="-25" dirty="0">
                <a:solidFill>
                  <a:srgbClr val="1E293A"/>
                </a:solidFill>
                <a:latin typeface="Times New Roman"/>
                <a:cs typeface="Times New Roman"/>
              </a:rPr>
              <a:t>to </a:t>
            </a:r>
            <a:r>
              <a:rPr sz="1000" spc="-20" dirty="0">
                <a:solidFill>
                  <a:srgbClr val="1E293A"/>
                </a:solidFill>
                <a:latin typeface="Times New Roman"/>
                <a:cs typeface="Times New Roman"/>
              </a:rPr>
              <a:t>view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7289038" y="2162682"/>
            <a:ext cx="100584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R="5080">
              <a:lnSpc>
                <a:spcPct val="100000"/>
              </a:lnSpc>
              <a:spcBef>
                <a:spcPts val="95"/>
              </a:spcBef>
            </a:pPr>
            <a:r>
              <a:rPr sz="1000" dirty="0">
                <a:solidFill>
                  <a:srgbClr val="1E293A"/>
                </a:solidFill>
                <a:latin typeface="Times New Roman"/>
                <a:cs typeface="Times New Roman"/>
              </a:rPr>
              <a:t>Input</a:t>
            </a:r>
            <a:r>
              <a:rPr sz="1000" spc="-30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1E293A"/>
                </a:solidFill>
                <a:latin typeface="Times New Roman"/>
                <a:cs typeface="Times New Roman"/>
              </a:rPr>
              <a:t>validation</a:t>
            </a:r>
            <a:r>
              <a:rPr sz="1000" spc="-35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000" spc="-25" dirty="0">
                <a:solidFill>
                  <a:srgbClr val="1E293A"/>
                </a:solidFill>
                <a:latin typeface="Times New Roman"/>
                <a:cs typeface="Times New Roman"/>
              </a:rPr>
              <a:t>via </a:t>
            </a:r>
            <a:r>
              <a:rPr sz="1000" spc="-10" dirty="0">
                <a:solidFill>
                  <a:srgbClr val="1E293A"/>
                </a:solidFill>
                <a:latin typeface="Times New Roman"/>
                <a:cs typeface="Times New Roman"/>
              </a:rPr>
              <a:t>@Valid</a:t>
            </a:r>
            <a:endParaRPr sz="1000">
              <a:latin typeface="Times New Roman"/>
              <a:cs typeface="Times New Roman"/>
            </a:endParaRPr>
          </a:p>
        </p:txBody>
      </p:sp>
      <p:graphicFrame>
        <p:nvGraphicFramePr>
          <p:cNvPr id="32" name="object 32"/>
          <p:cNvGraphicFramePr>
            <a:graphicFrameLocks noGrp="1"/>
          </p:cNvGraphicFramePr>
          <p:nvPr/>
        </p:nvGraphicFramePr>
        <p:xfrm>
          <a:off x="266700" y="2872739"/>
          <a:ext cx="8595993" cy="8039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92023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710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125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3479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573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9339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750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Service</a:t>
                      </a:r>
                      <a:r>
                        <a:rPr sz="1200" b="1" spc="-3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Layer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95250" marB="0">
                    <a:lnL w="19050">
                      <a:solidFill>
                        <a:srgbClr val="0FB881"/>
                      </a:solidFill>
                      <a:prstDash val="solid"/>
                    </a:lnL>
                    <a:lnR w="12700">
                      <a:solidFill>
                        <a:srgbClr val="0FB881"/>
                      </a:solidFill>
                      <a:prstDash val="solid"/>
                    </a:lnR>
                    <a:lnT w="19050">
                      <a:solidFill>
                        <a:srgbClr val="0FB881"/>
                      </a:solidFill>
                      <a:prstDash val="solid"/>
                    </a:lnT>
                    <a:solidFill>
                      <a:srgbClr val="0FB881"/>
                    </a:solidFill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marL="292735">
                        <a:lnSpc>
                          <a:spcPct val="100000"/>
                        </a:lnSpc>
                      </a:pPr>
                      <a:r>
                        <a:rPr sz="1000" dirty="0">
                          <a:solidFill>
                            <a:srgbClr val="1E293A"/>
                          </a:solidFill>
                          <a:latin typeface="Times New Roman"/>
                          <a:cs typeface="Times New Roman"/>
                        </a:rPr>
                        <a:t>Contains</a:t>
                      </a:r>
                      <a:r>
                        <a:rPr sz="1000" spc="-20" dirty="0">
                          <a:solidFill>
                            <a:srgbClr val="1E293A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dirty="0">
                          <a:solidFill>
                            <a:srgbClr val="1E293A"/>
                          </a:solidFill>
                          <a:latin typeface="Times New Roman"/>
                          <a:cs typeface="Times New Roman"/>
                        </a:rPr>
                        <a:t>all</a:t>
                      </a:r>
                      <a:r>
                        <a:rPr sz="1000" spc="-40" dirty="0">
                          <a:solidFill>
                            <a:srgbClr val="1E293A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dirty="0">
                          <a:solidFill>
                            <a:srgbClr val="1E293A"/>
                          </a:solidFill>
                          <a:latin typeface="Times New Roman"/>
                          <a:cs typeface="Times New Roman"/>
                        </a:rPr>
                        <a:t>business</a:t>
                      </a:r>
                      <a:r>
                        <a:rPr sz="1000" spc="-20" dirty="0">
                          <a:solidFill>
                            <a:srgbClr val="1E293A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spc="-10" dirty="0">
                          <a:solidFill>
                            <a:srgbClr val="1E293A"/>
                          </a:solidFill>
                          <a:latin typeface="Times New Roman"/>
                          <a:cs typeface="Times New Roman"/>
                        </a:rPr>
                        <a:t>logic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FB881"/>
                      </a:solidFill>
                      <a:prstDash val="solid"/>
                    </a:lnL>
                    <a:lnT w="19050">
                      <a:solidFill>
                        <a:srgbClr val="0FB881"/>
                      </a:solidFill>
                      <a:prstDash val="solid"/>
                    </a:lnT>
                    <a:lnB w="19050">
                      <a:solidFill>
                        <a:srgbClr val="0FB881"/>
                      </a:solidFill>
                      <a:prstDash val="solid"/>
                    </a:lnB>
                    <a:solidFill>
                      <a:srgbClr val="0FB881">
                        <a:alpha val="12156"/>
                      </a:srgbClr>
                    </a:solidFill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855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marL="122555" marR="203200">
                        <a:lnSpc>
                          <a:spcPct val="100000"/>
                        </a:lnSpc>
                      </a:pPr>
                      <a:r>
                        <a:rPr sz="1000" spc="-10" dirty="0">
                          <a:solidFill>
                            <a:srgbClr val="1E293A"/>
                          </a:solidFill>
                          <a:latin typeface="Times New Roman"/>
                          <a:cs typeface="Times New Roman"/>
                        </a:rPr>
                        <a:t>Orchestrates</a:t>
                      </a:r>
                      <a:r>
                        <a:rPr sz="1000" spc="114" dirty="0">
                          <a:solidFill>
                            <a:srgbClr val="1E293A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spc="-20" dirty="0">
                          <a:solidFill>
                            <a:srgbClr val="1E293A"/>
                          </a:solidFill>
                          <a:latin typeface="Times New Roman"/>
                          <a:cs typeface="Times New Roman"/>
                        </a:rPr>
                        <a:t>multi-step </a:t>
                      </a:r>
                      <a:r>
                        <a:rPr sz="1000" spc="-10" dirty="0">
                          <a:solidFill>
                            <a:srgbClr val="1E293A"/>
                          </a:solidFill>
                          <a:latin typeface="Times New Roman"/>
                          <a:cs typeface="Times New Roman"/>
                        </a:rPr>
                        <a:t>operations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108585" marB="0">
                    <a:lnT w="19050">
                      <a:solidFill>
                        <a:srgbClr val="0FB881"/>
                      </a:solidFill>
                      <a:prstDash val="solid"/>
                    </a:lnT>
                    <a:lnB w="19050">
                      <a:solidFill>
                        <a:srgbClr val="0FB881"/>
                      </a:solidFill>
                      <a:prstDash val="solid"/>
                    </a:lnB>
                    <a:solidFill>
                      <a:srgbClr val="0FB881">
                        <a:alpha val="12156"/>
                      </a:srgbClr>
                    </a:solidFill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855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marL="210820" marR="268605">
                        <a:lnSpc>
                          <a:spcPct val="100000"/>
                        </a:lnSpc>
                      </a:pPr>
                      <a:r>
                        <a:rPr sz="1000" dirty="0">
                          <a:solidFill>
                            <a:srgbClr val="1E293A"/>
                          </a:solidFill>
                          <a:latin typeface="Times New Roman"/>
                          <a:cs typeface="Times New Roman"/>
                        </a:rPr>
                        <a:t>Manages</a:t>
                      </a:r>
                      <a:r>
                        <a:rPr sz="1000" spc="-40" dirty="0">
                          <a:solidFill>
                            <a:srgbClr val="1E293A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spc="-10" dirty="0">
                          <a:solidFill>
                            <a:srgbClr val="1E293A"/>
                          </a:solidFill>
                          <a:latin typeface="Times New Roman"/>
                          <a:cs typeface="Times New Roman"/>
                        </a:rPr>
                        <a:t>transaction boundaries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108585" marB="0">
                    <a:lnT w="19050">
                      <a:solidFill>
                        <a:srgbClr val="0FB881"/>
                      </a:solidFill>
                      <a:prstDash val="solid"/>
                    </a:lnT>
                    <a:lnB w="19050">
                      <a:solidFill>
                        <a:srgbClr val="0FB881"/>
                      </a:solidFill>
                      <a:prstDash val="solid"/>
                    </a:lnB>
                    <a:solidFill>
                      <a:srgbClr val="0FB881">
                        <a:alpha val="12156"/>
                      </a:srgbClr>
                    </a:solidFill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855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marL="276225" marR="565150">
                        <a:lnSpc>
                          <a:spcPct val="100000"/>
                        </a:lnSpc>
                      </a:pPr>
                      <a:r>
                        <a:rPr sz="1000" dirty="0">
                          <a:solidFill>
                            <a:srgbClr val="1E293A"/>
                          </a:solidFill>
                          <a:latin typeface="Times New Roman"/>
                          <a:cs typeface="Times New Roman"/>
                        </a:rPr>
                        <a:t>Simulation</a:t>
                      </a:r>
                      <a:r>
                        <a:rPr sz="1000" spc="-25" dirty="0">
                          <a:solidFill>
                            <a:srgbClr val="1E293A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dirty="0">
                          <a:solidFill>
                            <a:srgbClr val="1E293A"/>
                          </a:solidFill>
                          <a:latin typeface="Times New Roman"/>
                          <a:cs typeface="Times New Roman"/>
                        </a:rPr>
                        <a:t>&amp;</a:t>
                      </a:r>
                      <a:r>
                        <a:rPr sz="1000" spc="-30" dirty="0">
                          <a:solidFill>
                            <a:srgbClr val="1E293A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spc="-20" dirty="0">
                          <a:solidFill>
                            <a:srgbClr val="1E293A"/>
                          </a:solidFill>
                          <a:latin typeface="Times New Roman"/>
                          <a:cs typeface="Times New Roman"/>
                        </a:rPr>
                        <a:t>risk </a:t>
                      </a:r>
                      <a:r>
                        <a:rPr sz="1000" dirty="0">
                          <a:solidFill>
                            <a:srgbClr val="1E293A"/>
                          </a:solidFill>
                          <a:latin typeface="Times New Roman"/>
                          <a:cs typeface="Times New Roman"/>
                        </a:rPr>
                        <a:t>threshold</a:t>
                      </a:r>
                      <a:r>
                        <a:rPr sz="1000" spc="-30" dirty="0">
                          <a:solidFill>
                            <a:srgbClr val="1E293A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dirty="0">
                          <a:solidFill>
                            <a:srgbClr val="1E293A"/>
                          </a:solidFill>
                          <a:latin typeface="Times New Roman"/>
                          <a:cs typeface="Times New Roman"/>
                        </a:rPr>
                        <a:t>logic</a:t>
                      </a:r>
                      <a:r>
                        <a:rPr sz="1000" spc="-35" dirty="0">
                          <a:solidFill>
                            <a:srgbClr val="1E293A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spc="-20" dirty="0">
                          <a:solidFill>
                            <a:srgbClr val="1E293A"/>
                          </a:solidFill>
                          <a:latin typeface="Times New Roman"/>
                          <a:cs typeface="Times New Roman"/>
                        </a:rPr>
                        <a:t>here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108585" marB="0">
                    <a:lnR w="19050">
                      <a:solidFill>
                        <a:srgbClr val="0FB881"/>
                      </a:solidFill>
                      <a:prstDash val="solid"/>
                    </a:lnR>
                    <a:lnT w="19050">
                      <a:solidFill>
                        <a:srgbClr val="0FB881"/>
                      </a:solidFill>
                      <a:prstDash val="solid"/>
                    </a:lnT>
                    <a:lnB w="19050">
                      <a:solidFill>
                        <a:srgbClr val="0FB881"/>
                      </a:solidFill>
                      <a:prstDash val="solid"/>
                    </a:lnB>
                    <a:solidFill>
                      <a:srgbClr val="0FB881">
                        <a:alpha val="1215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51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950" i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@Service</a:t>
                      </a:r>
                      <a:r>
                        <a:rPr sz="950" i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i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+</a:t>
                      </a:r>
                      <a:r>
                        <a:rPr sz="950" i="1" spc="-2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i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@Transactional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T="24130" marB="0">
                    <a:lnL w="19050">
                      <a:solidFill>
                        <a:srgbClr val="0FB881"/>
                      </a:solidFill>
                      <a:prstDash val="solid"/>
                    </a:lnL>
                    <a:lnR w="12700">
                      <a:solidFill>
                        <a:srgbClr val="0FB881"/>
                      </a:solidFill>
                      <a:prstDash val="solid"/>
                    </a:lnR>
                    <a:lnB w="19050">
                      <a:solidFill>
                        <a:srgbClr val="0FB881"/>
                      </a:solidFill>
                      <a:prstDash val="solid"/>
                    </a:lnB>
                    <a:solidFill>
                      <a:srgbClr val="0FB88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0FB881"/>
                      </a:solidFill>
                      <a:prstDash val="solid"/>
                    </a:lnL>
                    <a:lnT w="19050">
                      <a:solidFill>
                        <a:srgbClr val="0FB881"/>
                      </a:solidFill>
                      <a:prstDash val="solid"/>
                    </a:lnT>
                    <a:lnB w="19050">
                      <a:solidFill>
                        <a:srgbClr val="0FB881"/>
                      </a:solidFill>
                      <a:prstDash val="solid"/>
                    </a:lnB>
                    <a:solidFill>
                      <a:srgbClr val="0FB881">
                        <a:alpha val="12156"/>
                      </a:srgb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08585" marB="0">
                    <a:lnT w="19050">
                      <a:solidFill>
                        <a:srgbClr val="0FB881"/>
                      </a:solidFill>
                      <a:prstDash val="solid"/>
                    </a:lnT>
                    <a:lnB w="19050">
                      <a:solidFill>
                        <a:srgbClr val="0FB881"/>
                      </a:solidFill>
                      <a:prstDash val="solid"/>
                    </a:lnB>
                    <a:solidFill>
                      <a:srgbClr val="0FB881">
                        <a:alpha val="12156"/>
                      </a:srgb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08585" marB="0">
                    <a:lnT w="19050">
                      <a:solidFill>
                        <a:srgbClr val="0FB881"/>
                      </a:solidFill>
                      <a:prstDash val="solid"/>
                    </a:lnT>
                    <a:lnB w="19050">
                      <a:solidFill>
                        <a:srgbClr val="0FB881"/>
                      </a:solidFill>
                      <a:prstDash val="solid"/>
                    </a:lnB>
                    <a:solidFill>
                      <a:srgbClr val="0FB881">
                        <a:alpha val="12156"/>
                      </a:srgb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08585" marB="0">
                    <a:lnR w="19050">
                      <a:solidFill>
                        <a:srgbClr val="0FB881"/>
                      </a:solidFill>
                      <a:prstDash val="solid"/>
                    </a:lnR>
                    <a:lnT w="19050">
                      <a:solidFill>
                        <a:srgbClr val="0FB881"/>
                      </a:solidFill>
                      <a:prstDash val="solid"/>
                    </a:lnT>
                    <a:lnB w="19050">
                      <a:solidFill>
                        <a:srgbClr val="0FB881"/>
                      </a:solidFill>
                      <a:prstDash val="solid"/>
                    </a:lnB>
                    <a:solidFill>
                      <a:srgbClr val="0FB881">
                        <a:alpha val="1215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33" name="object 33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325370" y="3240151"/>
            <a:ext cx="122428" cy="122428"/>
          </a:xfrm>
          <a:prstGeom prst="rect">
            <a:avLst/>
          </a:prstGeom>
        </p:spPr>
      </p:pic>
      <p:pic>
        <p:nvPicPr>
          <p:cNvPr id="34" name="object 34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925570" y="3194050"/>
            <a:ext cx="122427" cy="122427"/>
          </a:xfrm>
          <a:prstGeom prst="rect">
            <a:avLst/>
          </a:prstGeom>
        </p:spPr>
      </p:pic>
      <p:pic>
        <p:nvPicPr>
          <p:cNvPr id="35" name="object 35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525770" y="3194050"/>
            <a:ext cx="122427" cy="122427"/>
          </a:xfrm>
          <a:prstGeom prst="rect">
            <a:avLst/>
          </a:prstGeom>
        </p:spPr>
      </p:pic>
      <p:pic>
        <p:nvPicPr>
          <p:cNvPr id="36" name="object 3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125969" y="3194050"/>
            <a:ext cx="122427" cy="122427"/>
          </a:xfrm>
          <a:prstGeom prst="rect">
            <a:avLst/>
          </a:prstGeom>
        </p:spPr>
      </p:pic>
      <p:graphicFrame>
        <p:nvGraphicFramePr>
          <p:cNvPr id="37" name="object 37"/>
          <p:cNvGraphicFramePr>
            <a:graphicFrameLocks noGrp="1"/>
          </p:cNvGraphicFramePr>
          <p:nvPr/>
        </p:nvGraphicFramePr>
        <p:xfrm>
          <a:off x="266700" y="3832859"/>
          <a:ext cx="8595357" cy="81470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92023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598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06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9354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3100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2959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750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Repository</a:t>
                      </a:r>
                      <a:r>
                        <a:rPr sz="1200" b="1" spc="-5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Layer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95250" marB="0">
                    <a:lnL w="19050">
                      <a:solidFill>
                        <a:srgbClr val="F59E0A"/>
                      </a:solidFill>
                      <a:prstDash val="solid"/>
                    </a:lnL>
                    <a:lnR w="12700">
                      <a:solidFill>
                        <a:srgbClr val="F59E0A"/>
                      </a:solidFill>
                      <a:prstDash val="solid"/>
                    </a:lnR>
                    <a:lnT w="19050">
                      <a:solidFill>
                        <a:srgbClr val="F59E0A"/>
                      </a:solidFill>
                      <a:prstDash val="solid"/>
                    </a:lnT>
                    <a:solidFill>
                      <a:srgbClr val="F59E0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marL="292735" marR="22542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000" spc="-10" dirty="0">
                          <a:solidFill>
                            <a:srgbClr val="1E293A"/>
                          </a:solidFill>
                          <a:latin typeface="Times New Roman"/>
                          <a:cs typeface="Times New Roman"/>
                        </a:rPr>
                        <a:t>Extends JpaRepository&lt;Entity,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F59E0A"/>
                      </a:solidFill>
                      <a:prstDash val="solid"/>
                    </a:lnL>
                    <a:lnT w="19050">
                      <a:solidFill>
                        <a:srgbClr val="F59E0A"/>
                      </a:solidFill>
                      <a:prstDash val="solid"/>
                    </a:lnT>
                    <a:solidFill>
                      <a:srgbClr val="F59E0A">
                        <a:alpha val="1215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655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marL="233045" marR="23495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000" dirty="0">
                          <a:solidFill>
                            <a:srgbClr val="1E293A"/>
                          </a:solidFill>
                          <a:latin typeface="Times New Roman"/>
                          <a:cs typeface="Times New Roman"/>
                        </a:rPr>
                        <a:t>Custom</a:t>
                      </a:r>
                      <a:r>
                        <a:rPr sz="1000" spc="-40" dirty="0">
                          <a:solidFill>
                            <a:srgbClr val="1E293A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dirty="0">
                          <a:solidFill>
                            <a:srgbClr val="1E293A"/>
                          </a:solidFill>
                          <a:latin typeface="Times New Roman"/>
                          <a:cs typeface="Times New Roman"/>
                        </a:rPr>
                        <a:t>@Query</a:t>
                      </a:r>
                      <a:r>
                        <a:rPr sz="1000" spc="-15" dirty="0">
                          <a:solidFill>
                            <a:srgbClr val="1E293A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spc="-20" dirty="0">
                          <a:solidFill>
                            <a:srgbClr val="1E293A"/>
                          </a:solidFill>
                          <a:latin typeface="Times New Roman"/>
                          <a:cs typeface="Times New Roman"/>
                        </a:rPr>
                        <a:t>with </a:t>
                      </a:r>
                      <a:r>
                        <a:rPr sz="1000" spc="-10" dirty="0">
                          <a:solidFill>
                            <a:srgbClr val="1E293A"/>
                          </a:solidFill>
                          <a:latin typeface="Times New Roman"/>
                          <a:cs typeface="Times New Roman"/>
                        </a:rPr>
                        <a:t>JPQL/SQL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83185" marB="0">
                    <a:lnT w="19050">
                      <a:solidFill>
                        <a:srgbClr val="F59E0A"/>
                      </a:solidFill>
                      <a:prstDash val="solid"/>
                    </a:lnT>
                    <a:solidFill>
                      <a:srgbClr val="F59E0A">
                        <a:alpha val="1215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655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marL="242570" marR="14224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000" dirty="0">
                          <a:solidFill>
                            <a:srgbClr val="1E293A"/>
                          </a:solidFill>
                          <a:latin typeface="Times New Roman"/>
                          <a:cs typeface="Times New Roman"/>
                        </a:rPr>
                        <a:t>Hibernate</a:t>
                      </a:r>
                      <a:r>
                        <a:rPr sz="1000" spc="-50" dirty="0">
                          <a:solidFill>
                            <a:srgbClr val="1E293A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dirty="0">
                          <a:solidFill>
                            <a:srgbClr val="1E293A"/>
                          </a:solidFill>
                          <a:latin typeface="Times New Roman"/>
                          <a:cs typeface="Times New Roman"/>
                        </a:rPr>
                        <a:t>manages</a:t>
                      </a:r>
                      <a:r>
                        <a:rPr sz="1000" spc="-20" dirty="0">
                          <a:solidFill>
                            <a:srgbClr val="1E293A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spc="-10" dirty="0">
                          <a:solidFill>
                            <a:srgbClr val="1E293A"/>
                          </a:solidFill>
                          <a:latin typeface="Times New Roman"/>
                          <a:cs typeface="Times New Roman"/>
                        </a:rPr>
                        <a:t>entity lifecycle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83185" marB="0">
                    <a:lnT w="19050">
                      <a:solidFill>
                        <a:srgbClr val="F59E0A"/>
                      </a:solidFill>
                      <a:prstDash val="solid"/>
                    </a:lnT>
                    <a:solidFill>
                      <a:srgbClr val="F59E0A">
                        <a:alpha val="1215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655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marL="149860" marR="23304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000" dirty="0">
                          <a:solidFill>
                            <a:srgbClr val="1E293A"/>
                          </a:solidFill>
                          <a:latin typeface="Times New Roman"/>
                          <a:cs typeface="Times New Roman"/>
                        </a:rPr>
                        <a:t>Direct</a:t>
                      </a:r>
                      <a:r>
                        <a:rPr sz="1000" spc="-35" dirty="0">
                          <a:solidFill>
                            <a:srgbClr val="1E293A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dirty="0">
                          <a:solidFill>
                            <a:srgbClr val="1E293A"/>
                          </a:solidFill>
                          <a:latin typeface="Times New Roman"/>
                          <a:cs typeface="Times New Roman"/>
                        </a:rPr>
                        <a:t>MySQL</a:t>
                      </a:r>
                      <a:r>
                        <a:rPr sz="1000" spc="-15" dirty="0">
                          <a:solidFill>
                            <a:srgbClr val="1E293A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spc="-10" dirty="0">
                          <a:solidFill>
                            <a:srgbClr val="1E293A"/>
                          </a:solidFill>
                          <a:latin typeface="Times New Roman"/>
                          <a:cs typeface="Times New Roman"/>
                        </a:rPr>
                        <a:t>interaction </a:t>
                      </a:r>
                      <a:r>
                        <a:rPr sz="1000" dirty="0">
                          <a:solidFill>
                            <a:srgbClr val="1E293A"/>
                          </a:solidFill>
                          <a:latin typeface="Times New Roman"/>
                          <a:cs typeface="Times New Roman"/>
                        </a:rPr>
                        <a:t>via</a:t>
                      </a:r>
                      <a:r>
                        <a:rPr sz="1000" spc="-15" dirty="0">
                          <a:solidFill>
                            <a:srgbClr val="1E293A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spc="-20" dirty="0">
                          <a:solidFill>
                            <a:srgbClr val="1E293A"/>
                          </a:solidFill>
                          <a:latin typeface="Times New Roman"/>
                          <a:cs typeface="Times New Roman"/>
                        </a:rPr>
                        <a:t>JDBC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83185" marB="0">
                    <a:lnR w="19050">
                      <a:solidFill>
                        <a:srgbClr val="F59E0A"/>
                      </a:solidFill>
                      <a:prstDash val="solid"/>
                    </a:lnR>
                    <a:lnT w="19050">
                      <a:solidFill>
                        <a:srgbClr val="F59E0A"/>
                      </a:solidFill>
                      <a:prstDash val="solid"/>
                    </a:lnT>
                    <a:solidFill>
                      <a:srgbClr val="F59E0A">
                        <a:alpha val="1215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>
                        <a:lnSpc>
                          <a:spcPts val="1050"/>
                        </a:lnSpc>
                      </a:pPr>
                      <a:r>
                        <a:rPr sz="950" i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JpaRepository</a:t>
                      </a:r>
                      <a:r>
                        <a:rPr sz="950" i="1" spc="-3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i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+</a:t>
                      </a:r>
                      <a:r>
                        <a:rPr sz="950" i="1" spc="-3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i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Hibernate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F59E0A"/>
                      </a:solidFill>
                      <a:prstDash val="solid"/>
                    </a:lnL>
                    <a:lnR w="12700">
                      <a:solidFill>
                        <a:srgbClr val="F59E0A"/>
                      </a:solidFill>
                      <a:prstDash val="solid"/>
                    </a:lnR>
                    <a:lnB w="19050">
                      <a:solidFill>
                        <a:srgbClr val="F59E0A"/>
                      </a:solidFill>
                      <a:prstDash val="solid"/>
                    </a:lnB>
                    <a:solidFill>
                      <a:srgbClr val="F59E0A"/>
                    </a:solidFill>
                  </a:tcPr>
                </a:tc>
                <a:tc>
                  <a:txBody>
                    <a:bodyPr/>
                    <a:lstStyle/>
                    <a:p>
                      <a:pPr marL="292735">
                        <a:lnSpc>
                          <a:spcPts val="835"/>
                        </a:lnSpc>
                      </a:pPr>
                      <a:r>
                        <a:rPr sz="1000" spc="-25" dirty="0">
                          <a:solidFill>
                            <a:srgbClr val="1E293A"/>
                          </a:solidFill>
                          <a:latin typeface="Times New Roman"/>
                          <a:cs typeface="Times New Roman"/>
                        </a:rPr>
                        <a:t>ID&gt;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59E0A"/>
                      </a:solidFill>
                      <a:prstDash val="solid"/>
                    </a:lnL>
                    <a:lnB w="19050">
                      <a:solidFill>
                        <a:srgbClr val="F59E0A"/>
                      </a:solidFill>
                      <a:prstDash val="solid"/>
                    </a:lnB>
                    <a:solidFill>
                      <a:srgbClr val="F59E0A">
                        <a:alpha val="1215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19050">
                      <a:solidFill>
                        <a:srgbClr val="F59E0A"/>
                      </a:solidFill>
                      <a:prstDash val="solid"/>
                    </a:lnB>
                    <a:solidFill>
                      <a:srgbClr val="F59E0A">
                        <a:alpha val="1215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19050">
                      <a:solidFill>
                        <a:srgbClr val="F59E0A"/>
                      </a:solidFill>
                      <a:prstDash val="solid"/>
                    </a:lnB>
                    <a:solidFill>
                      <a:srgbClr val="F59E0A">
                        <a:alpha val="1215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9050">
                      <a:solidFill>
                        <a:srgbClr val="F59E0A"/>
                      </a:solidFill>
                      <a:prstDash val="solid"/>
                    </a:lnR>
                    <a:lnB w="19050">
                      <a:solidFill>
                        <a:srgbClr val="F59E0A"/>
                      </a:solidFill>
                      <a:prstDash val="solid"/>
                    </a:lnB>
                    <a:solidFill>
                      <a:srgbClr val="F59E0A">
                        <a:alpha val="1215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38" name="object 3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325370" y="4154170"/>
            <a:ext cx="122428" cy="122428"/>
          </a:xfrm>
          <a:prstGeom prst="rect">
            <a:avLst/>
          </a:prstGeom>
        </p:spPr>
      </p:pic>
      <p:pic>
        <p:nvPicPr>
          <p:cNvPr id="39" name="object 39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925570" y="4154170"/>
            <a:ext cx="122427" cy="122428"/>
          </a:xfrm>
          <a:prstGeom prst="rect">
            <a:avLst/>
          </a:prstGeom>
        </p:spPr>
      </p:pic>
      <p:pic>
        <p:nvPicPr>
          <p:cNvPr id="40" name="object 40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5525770" y="4154170"/>
            <a:ext cx="122427" cy="122428"/>
          </a:xfrm>
          <a:prstGeom prst="rect">
            <a:avLst/>
          </a:prstGeom>
        </p:spPr>
      </p:pic>
      <p:pic>
        <p:nvPicPr>
          <p:cNvPr id="41" name="object 41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7125969" y="4154170"/>
            <a:ext cx="122427" cy="12242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Controller</a:t>
            </a:r>
            <a:r>
              <a:rPr spc="-35" dirty="0"/>
              <a:t> </a:t>
            </a:r>
            <a:r>
              <a:rPr spc="-10" dirty="0"/>
              <a:t>Layer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44500" y="670305"/>
            <a:ext cx="3804920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i="1" dirty="0">
                <a:solidFill>
                  <a:srgbClr val="0891B1"/>
                </a:solidFill>
                <a:latin typeface="Times New Roman"/>
                <a:cs typeface="Times New Roman"/>
              </a:rPr>
              <a:t>Spring</a:t>
            </a:r>
            <a:r>
              <a:rPr sz="1300" i="1" spc="-30" dirty="0">
                <a:solidFill>
                  <a:srgbClr val="0891B1"/>
                </a:solidFill>
                <a:latin typeface="Times New Roman"/>
                <a:cs typeface="Times New Roman"/>
              </a:rPr>
              <a:t> </a:t>
            </a:r>
            <a:r>
              <a:rPr sz="1300" i="1" dirty="0">
                <a:solidFill>
                  <a:srgbClr val="0891B1"/>
                </a:solidFill>
                <a:latin typeface="Times New Roman"/>
                <a:cs typeface="Times New Roman"/>
              </a:rPr>
              <a:t>MVC</a:t>
            </a:r>
            <a:r>
              <a:rPr sz="1300" i="1" spc="-25" dirty="0">
                <a:solidFill>
                  <a:srgbClr val="0891B1"/>
                </a:solidFill>
                <a:latin typeface="Times New Roman"/>
                <a:cs typeface="Times New Roman"/>
              </a:rPr>
              <a:t> </a:t>
            </a:r>
            <a:r>
              <a:rPr sz="1300" i="1" dirty="0">
                <a:solidFill>
                  <a:srgbClr val="0891B1"/>
                </a:solidFill>
                <a:latin typeface="Times New Roman"/>
                <a:cs typeface="Times New Roman"/>
              </a:rPr>
              <a:t>Controllers</a:t>
            </a:r>
            <a:r>
              <a:rPr sz="1300" i="1" spc="-25" dirty="0">
                <a:solidFill>
                  <a:srgbClr val="0891B1"/>
                </a:solidFill>
                <a:latin typeface="Times New Roman"/>
                <a:cs typeface="Times New Roman"/>
              </a:rPr>
              <a:t> </a:t>
            </a:r>
            <a:r>
              <a:rPr sz="1300" i="1" dirty="0">
                <a:solidFill>
                  <a:srgbClr val="0891B1"/>
                </a:solidFill>
                <a:latin typeface="Times New Roman"/>
                <a:cs typeface="Times New Roman"/>
              </a:rPr>
              <a:t>—</a:t>
            </a:r>
            <a:r>
              <a:rPr sz="1300" i="1" spc="-35" dirty="0">
                <a:solidFill>
                  <a:srgbClr val="0891B1"/>
                </a:solidFill>
                <a:latin typeface="Times New Roman"/>
                <a:cs typeface="Times New Roman"/>
              </a:rPr>
              <a:t> </a:t>
            </a:r>
            <a:r>
              <a:rPr sz="1300" i="1" dirty="0">
                <a:solidFill>
                  <a:srgbClr val="0891B1"/>
                </a:solidFill>
                <a:latin typeface="Times New Roman"/>
                <a:cs typeface="Times New Roman"/>
              </a:rPr>
              <a:t>Request</a:t>
            </a:r>
            <a:r>
              <a:rPr sz="1300" i="1" spc="-25" dirty="0">
                <a:solidFill>
                  <a:srgbClr val="0891B1"/>
                </a:solidFill>
                <a:latin typeface="Times New Roman"/>
                <a:cs typeface="Times New Roman"/>
              </a:rPr>
              <a:t> </a:t>
            </a:r>
            <a:r>
              <a:rPr sz="1300" i="1" dirty="0">
                <a:solidFill>
                  <a:srgbClr val="0891B1"/>
                </a:solidFill>
                <a:latin typeface="Times New Roman"/>
                <a:cs typeface="Times New Roman"/>
              </a:rPr>
              <a:t>Handling</a:t>
            </a:r>
            <a:r>
              <a:rPr sz="1300" i="1" spc="-25" dirty="0">
                <a:solidFill>
                  <a:srgbClr val="0891B1"/>
                </a:solidFill>
                <a:latin typeface="Times New Roman"/>
                <a:cs typeface="Times New Roman"/>
              </a:rPr>
              <a:t> </a:t>
            </a:r>
            <a:r>
              <a:rPr sz="1300" i="1" dirty="0">
                <a:solidFill>
                  <a:srgbClr val="0891B1"/>
                </a:solidFill>
                <a:latin typeface="Times New Roman"/>
                <a:cs typeface="Times New Roman"/>
              </a:rPr>
              <a:t>&amp;</a:t>
            </a:r>
            <a:r>
              <a:rPr sz="1300" i="1" spc="-25" dirty="0">
                <a:solidFill>
                  <a:srgbClr val="0891B1"/>
                </a:solidFill>
                <a:latin typeface="Times New Roman"/>
                <a:cs typeface="Times New Roman"/>
              </a:rPr>
              <a:t> </a:t>
            </a:r>
            <a:r>
              <a:rPr sz="1300" i="1" spc="-10" dirty="0">
                <a:solidFill>
                  <a:srgbClr val="0891B1"/>
                </a:solidFill>
                <a:latin typeface="Times New Roman"/>
                <a:cs typeface="Times New Roman"/>
              </a:rPr>
              <a:t>Routing</a:t>
            </a:r>
            <a:endParaRPr sz="1300">
              <a:latin typeface="Times New Roman"/>
              <a:cs typeface="Times New Roman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37160" y="905255"/>
            <a:ext cx="4327525" cy="4053204"/>
            <a:chOff x="137160" y="905255"/>
            <a:chExt cx="4327525" cy="4053204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7160" y="905255"/>
              <a:ext cx="4327398" cy="4053078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274320" y="1371600"/>
              <a:ext cx="4114800" cy="3456940"/>
            </a:xfrm>
            <a:custGeom>
              <a:avLst/>
              <a:gdLst/>
              <a:ahLst/>
              <a:cxnLst/>
              <a:rect l="l" t="t" r="r" b="b"/>
              <a:pathLst>
                <a:path w="4114800" h="3456940">
                  <a:moveTo>
                    <a:pt x="0" y="3456432"/>
                  </a:moveTo>
                  <a:lnTo>
                    <a:pt x="4114800" y="3456432"/>
                  </a:lnTo>
                  <a:lnTo>
                    <a:pt x="4114800" y="0"/>
                  </a:lnTo>
                  <a:lnTo>
                    <a:pt x="0" y="0"/>
                  </a:lnTo>
                  <a:lnTo>
                    <a:pt x="0" y="345643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74320" y="987551"/>
              <a:ext cx="4114800" cy="3840479"/>
            </a:xfrm>
            <a:custGeom>
              <a:avLst/>
              <a:gdLst/>
              <a:ahLst/>
              <a:cxnLst/>
              <a:rect l="l" t="t" r="r" b="b"/>
              <a:pathLst>
                <a:path w="4114800" h="3840479">
                  <a:moveTo>
                    <a:pt x="0" y="3840479"/>
                  </a:moveTo>
                  <a:lnTo>
                    <a:pt x="4114800" y="3840479"/>
                  </a:lnTo>
                  <a:lnTo>
                    <a:pt x="4114800" y="0"/>
                  </a:lnTo>
                  <a:lnTo>
                    <a:pt x="0" y="0"/>
                  </a:lnTo>
                  <a:lnTo>
                    <a:pt x="0" y="3840479"/>
                  </a:lnTo>
                  <a:close/>
                </a:path>
              </a:pathLst>
            </a:custGeom>
            <a:ln w="12700">
              <a:solidFill>
                <a:srgbClr val="E1E8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274320" y="987552"/>
            <a:ext cx="4114800" cy="384175"/>
          </a:xfrm>
          <a:prstGeom prst="rect">
            <a:avLst/>
          </a:prstGeom>
          <a:solidFill>
            <a:srgbClr val="8A5CF6"/>
          </a:solidFill>
          <a:ln w="12700">
            <a:solidFill>
              <a:srgbClr val="8A5CF6"/>
            </a:solidFill>
          </a:ln>
        </p:spPr>
        <p:txBody>
          <a:bodyPr vert="horz" wrap="square" lIns="0" tIns="80010" rIns="0" bIns="0" rtlCol="0">
            <a:spAutoFit/>
          </a:bodyPr>
          <a:lstStyle/>
          <a:p>
            <a:pPr marL="45085">
              <a:lnSpc>
                <a:spcPct val="100000"/>
              </a:lnSpc>
              <a:spcBef>
                <a:spcPts val="630"/>
              </a:spcBef>
            </a:pPr>
            <a:r>
              <a:rPr sz="1400" b="1" dirty="0">
                <a:solidFill>
                  <a:srgbClr val="FFFFFF"/>
                </a:solidFill>
                <a:latin typeface="Times New Roman"/>
                <a:cs typeface="Times New Roman"/>
              </a:rPr>
              <a:t>Role</a:t>
            </a:r>
            <a:r>
              <a:rPr sz="1400" b="1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b="1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1400" b="1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Controllers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84047" y="1508760"/>
            <a:ext cx="1234440" cy="292735"/>
          </a:xfrm>
          <a:prstGeom prst="rect">
            <a:avLst/>
          </a:prstGeom>
          <a:solidFill>
            <a:srgbClr val="8A5CF6">
              <a:alpha val="85096"/>
            </a:srgbClr>
          </a:solidFill>
          <a:ln w="12700">
            <a:solidFill>
              <a:srgbClr val="8A5CF6"/>
            </a:solidFill>
          </a:ln>
        </p:spPr>
        <p:txBody>
          <a:bodyPr vert="horz" wrap="square" lIns="0" tIns="65405" rIns="0" bIns="0" rtlCol="0">
            <a:spAutoFit/>
          </a:bodyPr>
          <a:lstStyle/>
          <a:p>
            <a:pPr marL="271780">
              <a:lnSpc>
                <a:spcPct val="100000"/>
              </a:lnSpc>
              <a:spcBef>
                <a:spcPts val="515"/>
              </a:spcBef>
            </a:pPr>
            <a:r>
              <a:rPr sz="10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@Controller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679194" y="1478407"/>
            <a:ext cx="2426335" cy="3467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1050" dirty="0">
                <a:solidFill>
                  <a:srgbClr val="1E293A"/>
                </a:solidFill>
                <a:latin typeface="Times New Roman"/>
                <a:cs typeface="Times New Roman"/>
              </a:rPr>
              <a:t>Returns</a:t>
            </a:r>
            <a:r>
              <a:rPr sz="1050" spc="-30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050" dirty="0">
                <a:solidFill>
                  <a:srgbClr val="1E293A"/>
                </a:solidFill>
                <a:latin typeface="Times New Roman"/>
                <a:cs typeface="Times New Roman"/>
              </a:rPr>
              <a:t>view</a:t>
            </a:r>
            <a:r>
              <a:rPr sz="1050" spc="-25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050" dirty="0">
                <a:solidFill>
                  <a:srgbClr val="1E293A"/>
                </a:solidFill>
                <a:latin typeface="Times New Roman"/>
                <a:cs typeface="Times New Roman"/>
              </a:rPr>
              <a:t>name</a:t>
            </a:r>
            <a:r>
              <a:rPr sz="1050" spc="-10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050" dirty="0">
                <a:solidFill>
                  <a:srgbClr val="1E293A"/>
                </a:solidFill>
                <a:latin typeface="Times New Roman"/>
                <a:cs typeface="Times New Roman"/>
              </a:rPr>
              <a:t>for</a:t>
            </a:r>
            <a:r>
              <a:rPr sz="1050" spc="-20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050" dirty="0">
                <a:solidFill>
                  <a:srgbClr val="1E293A"/>
                </a:solidFill>
                <a:latin typeface="Times New Roman"/>
                <a:cs typeface="Times New Roman"/>
              </a:rPr>
              <a:t>Thymeleaf</a:t>
            </a:r>
            <a:r>
              <a:rPr sz="1050" spc="-20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050" spc="-10" dirty="0">
                <a:solidFill>
                  <a:srgbClr val="1E293A"/>
                </a:solidFill>
                <a:latin typeface="Times New Roman"/>
                <a:cs typeface="Times New Roman"/>
              </a:rPr>
              <a:t>templates, </a:t>
            </a:r>
            <a:r>
              <a:rPr sz="1050" dirty="0">
                <a:solidFill>
                  <a:srgbClr val="1E293A"/>
                </a:solidFill>
                <a:latin typeface="Times New Roman"/>
                <a:cs typeface="Times New Roman"/>
              </a:rPr>
              <a:t>adds</a:t>
            </a:r>
            <a:r>
              <a:rPr sz="1050" spc="-20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050" dirty="0">
                <a:solidFill>
                  <a:srgbClr val="1E293A"/>
                </a:solidFill>
                <a:latin typeface="Times New Roman"/>
                <a:cs typeface="Times New Roman"/>
              </a:rPr>
              <a:t>model</a:t>
            </a:r>
            <a:r>
              <a:rPr sz="1050" spc="-10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050" spc="-20" dirty="0">
                <a:solidFill>
                  <a:srgbClr val="1E293A"/>
                </a:solidFill>
                <a:latin typeface="Times New Roman"/>
                <a:cs typeface="Times New Roman"/>
              </a:rPr>
              <a:t>data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84047" y="1965960"/>
            <a:ext cx="1234440" cy="292735"/>
          </a:xfrm>
          <a:prstGeom prst="rect">
            <a:avLst/>
          </a:prstGeom>
          <a:solidFill>
            <a:srgbClr val="8A5CF6">
              <a:alpha val="85096"/>
            </a:srgbClr>
          </a:solidFill>
          <a:ln w="12700">
            <a:solidFill>
              <a:srgbClr val="8A5CF6"/>
            </a:solidFill>
          </a:ln>
        </p:spPr>
        <p:txBody>
          <a:bodyPr vert="horz" wrap="square" lIns="0" tIns="65405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515"/>
              </a:spcBef>
            </a:pPr>
            <a:r>
              <a:rPr sz="10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@RequestMapping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679194" y="1935607"/>
            <a:ext cx="1990725" cy="3467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1050" dirty="0">
                <a:solidFill>
                  <a:srgbClr val="1E293A"/>
                </a:solidFill>
                <a:latin typeface="Times New Roman"/>
                <a:cs typeface="Times New Roman"/>
              </a:rPr>
              <a:t>Maps</a:t>
            </a:r>
            <a:r>
              <a:rPr sz="1050" spc="-5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050" dirty="0">
                <a:solidFill>
                  <a:srgbClr val="1E293A"/>
                </a:solidFill>
                <a:latin typeface="Times New Roman"/>
                <a:cs typeface="Times New Roman"/>
              </a:rPr>
              <a:t>URL</a:t>
            </a:r>
            <a:r>
              <a:rPr sz="1050" spc="-25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050" dirty="0">
                <a:solidFill>
                  <a:srgbClr val="1E293A"/>
                </a:solidFill>
                <a:latin typeface="Times New Roman"/>
                <a:cs typeface="Times New Roman"/>
              </a:rPr>
              <a:t>paths</a:t>
            </a:r>
            <a:r>
              <a:rPr sz="1050" spc="-15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050" dirty="0">
                <a:solidFill>
                  <a:srgbClr val="1E293A"/>
                </a:solidFill>
                <a:latin typeface="Times New Roman"/>
                <a:cs typeface="Times New Roman"/>
              </a:rPr>
              <a:t>to</a:t>
            </a:r>
            <a:r>
              <a:rPr sz="1050" spc="-20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050" dirty="0">
                <a:solidFill>
                  <a:srgbClr val="1E293A"/>
                </a:solidFill>
                <a:latin typeface="Times New Roman"/>
                <a:cs typeface="Times New Roman"/>
              </a:rPr>
              <a:t>handler</a:t>
            </a:r>
            <a:r>
              <a:rPr sz="1050" spc="-20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050" spc="-10" dirty="0">
                <a:solidFill>
                  <a:srgbClr val="1E293A"/>
                </a:solidFill>
                <a:latin typeface="Times New Roman"/>
                <a:cs typeface="Times New Roman"/>
              </a:rPr>
              <a:t>methods (GET/POST)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84047" y="2423160"/>
            <a:ext cx="1234440" cy="292735"/>
          </a:xfrm>
          <a:prstGeom prst="rect">
            <a:avLst/>
          </a:prstGeom>
          <a:solidFill>
            <a:srgbClr val="8A5CF6">
              <a:alpha val="85096"/>
            </a:srgbClr>
          </a:solidFill>
          <a:ln w="12700">
            <a:solidFill>
              <a:srgbClr val="8A5CF6"/>
            </a:solidFill>
          </a:ln>
        </p:spPr>
        <p:txBody>
          <a:bodyPr vert="horz" wrap="square" lIns="0" tIns="65405" rIns="0" bIns="0" rtlCol="0">
            <a:spAutoFit/>
          </a:bodyPr>
          <a:lstStyle/>
          <a:p>
            <a:pPr marL="193675">
              <a:lnSpc>
                <a:spcPct val="100000"/>
              </a:lnSpc>
              <a:spcBef>
                <a:spcPts val="515"/>
              </a:spcBef>
            </a:pPr>
            <a:r>
              <a:rPr sz="10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@PathVariable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679194" y="2392502"/>
            <a:ext cx="1974850" cy="34734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dirty="0">
                <a:solidFill>
                  <a:srgbClr val="1E293A"/>
                </a:solidFill>
                <a:latin typeface="Times New Roman"/>
                <a:cs typeface="Times New Roman"/>
              </a:rPr>
              <a:t>Extracts</a:t>
            </a:r>
            <a:r>
              <a:rPr sz="1050" spc="-45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050" dirty="0">
                <a:solidFill>
                  <a:srgbClr val="1E293A"/>
                </a:solidFill>
                <a:latin typeface="Times New Roman"/>
                <a:cs typeface="Times New Roman"/>
              </a:rPr>
              <a:t>dynamic</a:t>
            </a:r>
            <a:r>
              <a:rPr sz="1050" spc="-5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050" dirty="0">
                <a:solidFill>
                  <a:srgbClr val="1E293A"/>
                </a:solidFill>
                <a:latin typeface="Times New Roman"/>
                <a:cs typeface="Times New Roman"/>
              </a:rPr>
              <a:t>path</a:t>
            </a:r>
            <a:r>
              <a:rPr sz="1050" spc="-30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050" dirty="0">
                <a:solidFill>
                  <a:srgbClr val="1E293A"/>
                </a:solidFill>
                <a:latin typeface="Times New Roman"/>
                <a:cs typeface="Times New Roman"/>
              </a:rPr>
              <a:t>segments</a:t>
            </a:r>
            <a:r>
              <a:rPr sz="1050" spc="-20" dirty="0">
                <a:solidFill>
                  <a:srgbClr val="1E293A"/>
                </a:solidFill>
                <a:latin typeface="Times New Roman"/>
                <a:cs typeface="Times New Roman"/>
              </a:rPr>
              <a:t> like</a:t>
            </a:r>
            <a:endParaRPr sz="10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050" spc="-10" dirty="0">
                <a:solidFill>
                  <a:srgbClr val="1E293A"/>
                </a:solidFill>
                <a:latin typeface="Times New Roman"/>
                <a:cs typeface="Times New Roman"/>
              </a:rPr>
              <a:t>/product/{id}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84047" y="2880360"/>
            <a:ext cx="1234440" cy="292735"/>
          </a:xfrm>
          <a:prstGeom prst="rect">
            <a:avLst/>
          </a:prstGeom>
          <a:solidFill>
            <a:srgbClr val="8A5CF6">
              <a:alpha val="85096"/>
            </a:srgbClr>
          </a:solidFill>
          <a:ln w="12700">
            <a:solidFill>
              <a:srgbClr val="8A5CF6"/>
            </a:solidFill>
          </a:ln>
        </p:spPr>
        <p:txBody>
          <a:bodyPr vert="horz" wrap="square" lIns="0" tIns="66040" rIns="0" bIns="0" rtlCol="0">
            <a:spAutoFit/>
          </a:bodyPr>
          <a:lstStyle/>
          <a:p>
            <a:pPr marL="129539">
              <a:lnSpc>
                <a:spcPct val="100000"/>
              </a:lnSpc>
              <a:spcBef>
                <a:spcPts val="520"/>
              </a:spcBef>
            </a:pPr>
            <a:r>
              <a:rPr sz="10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@ModelAttribute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679194" y="2929839"/>
            <a:ext cx="2456180" cy="1873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dirty="0">
                <a:solidFill>
                  <a:srgbClr val="1E293A"/>
                </a:solidFill>
                <a:latin typeface="Times New Roman"/>
                <a:cs typeface="Times New Roman"/>
              </a:rPr>
              <a:t>Binds</a:t>
            </a:r>
            <a:r>
              <a:rPr sz="1050" spc="-25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050" dirty="0">
                <a:solidFill>
                  <a:srgbClr val="1E293A"/>
                </a:solidFill>
                <a:latin typeface="Times New Roman"/>
                <a:cs typeface="Times New Roman"/>
              </a:rPr>
              <a:t>form</a:t>
            </a:r>
            <a:r>
              <a:rPr sz="1050" spc="-10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050" dirty="0">
                <a:solidFill>
                  <a:srgbClr val="1E293A"/>
                </a:solidFill>
                <a:latin typeface="Times New Roman"/>
                <a:cs typeface="Times New Roman"/>
              </a:rPr>
              <a:t>data</a:t>
            </a:r>
            <a:r>
              <a:rPr sz="1050" spc="-25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050" dirty="0">
                <a:solidFill>
                  <a:srgbClr val="1E293A"/>
                </a:solidFill>
                <a:latin typeface="Times New Roman"/>
                <a:cs typeface="Times New Roman"/>
              </a:rPr>
              <a:t>to</a:t>
            </a:r>
            <a:r>
              <a:rPr sz="1050" spc="-5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050" dirty="0">
                <a:solidFill>
                  <a:srgbClr val="1E293A"/>
                </a:solidFill>
                <a:latin typeface="Times New Roman"/>
                <a:cs typeface="Times New Roman"/>
              </a:rPr>
              <a:t>Java</a:t>
            </a:r>
            <a:r>
              <a:rPr sz="1050" spc="-15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050" dirty="0">
                <a:solidFill>
                  <a:srgbClr val="1E293A"/>
                </a:solidFill>
                <a:latin typeface="Times New Roman"/>
                <a:cs typeface="Times New Roman"/>
              </a:rPr>
              <a:t>objects</a:t>
            </a:r>
            <a:r>
              <a:rPr sz="1050" spc="-15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050" spc="-10" dirty="0">
                <a:solidFill>
                  <a:srgbClr val="1E293A"/>
                </a:solidFill>
                <a:latin typeface="Times New Roman"/>
                <a:cs typeface="Times New Roman"/>
              </a:rPr>
              <a:t>automatically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84047" y="3337559"/>
            <a:ext cx="1234440" cy="292735"/>
          </a:xfrm>
          <a:prstGeom prst="rect">
            <a:avLst/>
          </a:prstGeom>
          <a:solidFill>
            <a:srgbClr val="8A5CF6">
              <a:alpha val="85096"/>
            </a:srgbClr>
          </a:solidFill>
          <a:ln w="12700">
            <a:solidFill>
              <a:srgbClr val="8A5CF6"/>
            </a:solidFill>
          </a:ln>
        </p:spPr>
        <p:txBody>
          <a:bodyPr vert="horz" wrap="square" lIns="0" tIns="65405" rIns="0" bIns="0" rtlCol="0">
            <a:spAutoFit/>
          </a:bodyPr>
          <a:lstStyle/>
          <a:p>
            <a:pPr marL="410209">
              <a:lnSpc>
                <a:spcPct val="100000"/>
              </a:lnSpc>
              <a:spcBef>
                <a:spcPts val="515"/>
              </a:spcBef>
            </a:pPr>
            <a:r>
              <a:rPr sz="10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@Valid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679194" y="3307460"/>
            <a:ext cx="2402205" cy="3467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dirty="0">
                <a:solidFill>
                  <a:srgbClr val="1E293A"/>
                </a:solidFill>
                <a:latin typeface="Times New Roman"/>
                <a:cs typeface="Times New Roman"/>
              </a:rPr>
              <a:t>Triggers</a:t>
            </a:r>
            <a:r>
              <a:rPr sz="1050" spc="-15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050" dirty="0">
                <a:solidFill>
                  <a:srgbClr val="1E293A"/>
                </a:solidFill>
                <a:latin typeface="Times New Roman"/>
                <a:cs typeface="Times New Roman"/>
              </a:rPr>
              <a:t>Bean</a:t>
            </a:r>
            <a:r>
              <a:rPr sz="1050" spc="-20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050" dirty="0">
                <a:solidFill>
                  <a:srgbClr val="1E293A"/>
                </a:solidFill>
                <a:latin typeface="Times New Roman"/>
                <a:cs typeface="Times New Roman"/>
              </a:rPr>
              <a:t>Validation</a:t>
            </a:r>
            <a:r>
              <a:rPr sz="1050" spc="-35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050" dirty="0">
                <a:solidFill>
                  <a:srgbClr val="1E293A"/>
                </a:solidFill>
                <a:latin typeface="Times New Roman"/>
                <a:cs typeface="Times New Roman"/>
              </a:rPr>
              <a:t>on</a:t>
            </a:r>
            <a:r>
              <a:rPr sz="1050" spc="5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050" spc="-10" dirty="0">
                <a:solidFill>
                  <a:srgbClr val="1E293A"/>
                </a:solidFill>
                <a:latin typeface="Times New Roman"/>
                <a:cs typeface="Times New Roman"/>
              </a:rPr>
              <a:t>form-submitted</a:t>
            </a:r>
            <a:endParaRPr sz="10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050" spc="-10" dirty="0">
                <a:solidFill>
                  <a:srgbClr val="1E293A"/>
                </a:solidFill>
                <a:latin typeface="Times New Roman"/>
                <a:cs typeface="Times New Roman"/>
              </a:rPr>
              <a:t>objects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84047" y="3794759"/>
            <a:ext cx="1234440" cy="292735"/>
          </a:xfrm>
          <a:prstGeom prst="rect">
            <a:avLst/>
          </a:prstGeom>
          <a:solidFill>
            <a:srgbClr val="8A5CF6">
              <a:alpha val="85096"/>
            </a:srgbClr>
          </a:solidFill>
          <a:ln w="12700">
            <a:solidFill>
              <a:srgbClr val="8A5CF6"/>
            </a:solidFill>
          </a:ln>
        </p:spPr>
        <p:txBody>
          <a:bodyPr vert="horz" wrap="square" lIns="0" tIns="66040" rIns="0" bIns="0" rtlCol="0">
            <a:spAutoFit/>
          </a:bodyPr>
          <a:lstStyle/>
          <a:p>
            <a:pPr marL="228600">
              <a:lnSpc>
                <a:spcPct val="100000"/>
              </a:lnSpc>
              <a:spcBef>
                <a:spcPts val="520"/>
              </a:spcBef>
            </a:pPr>
            <a:r>
              <a:rPr sz="10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BindingResult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679194" y="3764991"/>
            <a:ext cx="2362200" cy="3467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1050" dirty="0">
                <a:solidFill>
                  <a:srgbClr val="1E293A"/>
                </a:solidFill>
                <a:latin typeface="Times New Roman"/>
                <a:cs typeface="Times New Roman"/>
              </a:rPr>
              <a:t>Captures</a:t>
            </a:r>
            <a:r>
              <a:rPr sz="1050" spc="-50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050" dirty="0">
                <a:solidFill>
                  <a:srgbClr val="1E293A"/>
                </a:solidFill>
                <a:latin typeface="Times New Roman"/>
                <a:cs typeface="Times New Roman"/>
              </a:rPr>
              <a:t>validation</a:t>
            </a:r>
            <a:r>
              <a:rPr sz="1050" spc="-30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050" dirty="0">
                <a:solidFill>
                  <a:srgbClr val="1E293A"/>
                </a:solidFill>
                <a:latin typeface="Times New Roman"/>
                <a:cs typeface="Times New Roman"/>
              </a:rPr>
              <a:t>errors</a:t>
            </a:r>
            <a:r>
              <a:rPr sz="1050" spc="-20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050" dirty="0">
                <a:solidFill>
                  <a:srgbClr val="1E293A"/>
                </a:solidFill>
                <a:latin typeface="Times New Roman"/>
                <a:cs typeface="Times New Roman"/>
              </a:rPr>
              <a:t>without</a:t>
            </a:r>
            <a:r>
              <a:rPr sz="1050" spc="-20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050" spc="-10" dirty="0">
                <a:solidFill>
                  <a:srgbClr val="1E293A"/>
                </a:solidFill>
                <a:latin typeface="Times New Roman"/>
                <a:cs typeface="Times New Roman"/>
              </a:rPr>
              <a:t>throwing exceptions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384047" y="4251959"/>
            <a:ext cx="1234440" cy="292735"/>
          </a:xfrm>
          <a:prstGeom prst="rect">
            <a:avLst/>
          </a:prstGeom>
          <a:solidFill>
            <a:srgbClr val="8A5CF6">
              <a:alpha val="85096"/>
            </a:srgbClr>
          </a:solidFill>
          <a:ln w="12700">
            <a:solidFill>
              <a:srgbClr val="8A5CF6"/>
            </a:solidFill>
          </a:ln>
        </p:spPr>
        <p:txBody>
          <a:bodyPr vert="horz" wrap="square" lIns="0" tIns="66040" rIns="0" bIns="0" rtlCol="0">
            <a:spAutoFit/>
          </a:bodyPr>
          <a:lstStyle/>
          <a:p>
            <a:pPr marL="105410">
              <a:lnSpc>
                <a:spcPct val="100000"/>
              </a:lnSpc>
              <a:spcBef>
                <a:spcPts val="520"/>
              </a:spcBef>
            </a:pPr>
            <a:r>
              <a:rPr sz="10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RedirectAttributes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679194" y="4302353"/>
            <a:ext cx="2062480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dirty="0">
                <a:solidFill>
                  <a:srgbClr val="1E293A"/>
                </a:solidFill>
                <a:latin typeface="Times New Roman"/>
                <a:cs typeface="Times New Roman"/>
              </a:rPr>
              <a:t>Passes</a:t>
            </a:r>
            <a:r>
              <a:rPr sz="1050" spc="-40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050" dirty="0">
                <a:solidFill>
                  <a:srgbClr val="1E293A"/>
                </a:solidFill>
                <a:latin typeface="Times New Roman"/>
                <a:cs typeface="Times New Roman"/>
              </a:rPr>
              <a:t>flash</a:t>
            </a:r>
            <a:r>
              <a:rPr sz="1050" spc="-25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050" dirty="0">
                <a:solidFill>
                  <a:srgbClr val="1E293A"/>
                </a:solidFill>
                <a:latin typeface="Times New Roman"/>
                <a:cs typeface="Times New Roman"/>
              </a:rPr>
              <a:t>messages</a:t>
            </a:r>
            <a:r>
              <a:rPr sz="1050" spc="-25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050" dirty="0">
                <a:solidFill>
                  <a:srgbClr val="1E293A"/>
                </a:solidFill>
                <a:latin typeface="Times New Roman"/>
                <a:cs typeface="Times New Roman"/>
              </a:rPr>
              <a:t>across</a:t>
            </a:r>
            <a:r>
              <a:rPr sz="1050" spc="-45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050" spc="-10" dirty="0">
                <a:solidFill>
                  <a:srgbClr val="1E293A"/>
                </a:solidFill>
                <a:latin typeface="Times New Roman"/>
                <a:cs typeface="Times New Roman"/>
              </a:rPr>
              <a:t>redirects</a:t>
            </a:r>
            <a:endParaRPr sz="1050">
              <a:latin typeface="Times New Roman"/>
              <a:cs typeface="Times New Roman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4526279" y="905255"/>
            <a:ext cx="4418965" cy="1383030"/>
            <a:chOff x="4526279" y="905255"/>
            <a:chExt cx="4418965" cy="1383030"/>
          </a:xfrm>
        </p:grpSpPr>
        <p:pic>
          <p:nvPicPr>
            <p:cNvPr id="24" name="object 2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526279" y="905255"/>
              <a:ext cx="4418837" cy="1383030"/>
            </a:xfrm>
            <a:prstGeom prst="rect">
              <a:avLst/>
            </a:prstGeom>
          </p:spPr>
        </p:pic>
        <p:sp>
          <p:nvSpPr>
            <p:cNvPr id="25" name="object 25"/>
            <p:cNvSpPr/>
            <p:nvPr/>
          </p:nvSpPr>
          <p:spPr>
            <a:xfrm>
              <a:off x="4663439" y="987551"/>
              <a:ext cx="4206240" cy="1170940"/>
            </a:xfrm>
            <a:custGeom>
              <a:avLst/>
              <a:gdLst/>
              <a:ahLst/>
              <a:cxnLst/>
              <a:rect l="l" t="t" r="r" b="b"/>
              <a:pathLst>
                <a:path w="4206240" h="1170939">
                  <a:moveTo>
                    <a:pt x="4206240" y="0"/>
                  </a:moveTo>
                  <a:lnTo>
                    <a:pt x="0" y="0"/>
                  </a:lnTo>
                  <a:lnTo>
                    <a:pt x="0" y="1170432"/>
                  </a:lnTo>
                  <a:lnTo>
                    <a:pt x="4206240" y="1170432"/>
                  </a:lnTo>
                  <a:lnTo>
                    <a:pt x="420624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4663439" y="987551"/>
              <a:ext cx="4206240" cy="1170940"/>
            </a:xfrm>
            <a:custGeom>
              <a:avLst/>
              <a:gdLst/>
              <a:ahLst/>
              <a:cxnLst/>
              <a:rect l="l" t="t" r="r" b="b"/>
              <a:pathLst>
                <a:path w="4206240" h="1170939">
                  <a:moveTo>
                    <a:pt x="0" y="1170432"/>
                  </a:moveTo>
                  <a:lnTo>
                    <a:pt x="4206240" y="1170432"/>
                  </a:lnTo>
                  <a:lnTo>
                    <a:pt x="4206240" y="0"/>
                  </a:lnTo>
                  <a:lnTo>
                    <a:pt x="0" y="0"/>
                  </a:lnTo>
                  <a:lnTo>
                    <a:pt x="0" y="1170432"/>
                  </a:lnTo>
                  <a:close/>
                </a:path>
              </a:pathLst>
            </a:custGeom>
            <a:ln w="12700">
              <a:solidFill>
                <a:srgbClr val="E1E8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/>
          <p:cNvSpPr txBox="1"/>
          <p:nvPr/>
        </p:nvSpPr>
        <p:spPr>
          <a:xfrm>
            <a:off x="4663440" y="987552"/>
            <a:ext cx="4206240" cy="320040"/>
          </a:xfrm>
          <a:prstGeom prst="rect">
            <a:avLst/>
          </a:prstGeom>
          <a:solidFill>
            <a:srgbClr val="8A5CF6">
              <a:alpha val="79998"/>
            </a:srgbClr>
          </a:solidFill>
          <a:ln w="12700">
            <a:solidFill>
              <a:srgbClr val="8A5CF6"/>
            </a:solidFill>
          </a:ln>
        </p:spPr>
        <p:txBody>
          <a:bodyPr vert="horz" wrap="square" lIns="0" tIns="64135" rIns="0" bIns="0" rtlCol="0">
            <a:spAutoFit/>
          </a:bodyPr>
          <a:lstStyle/>
          <a:p>
            <a:pPr marL="122555">
              <a:lnSpc>
                <a:spcPct val="100000"/>
              </a:lnSpc>
              <a:spcBef>
                <a:spcPts val="505"/>
              </a:spcBef>
            </a:pPr>
            <a:r>
              <a:rPr sz="1200" b="1" spc="-10" dirty="0">
                <a:solidFill>
                  <a:srgbClr val="8A5CF6"/>
                </a:solidFill>
                <a:latin typeface="Times New Roman"/>
                <a:cs typeface="Times New Roman"/>
              </a:rPr>
              <a:t>AuthController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4669790" y="1313941"/>
            <a:ext cx="4193540" cy="838200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95250" rIns="0" bIns="0" rtlCol="0">
            <a:spAutoFit/>
          </a:bodyPr>
          <a:lstStyle/>
          <a:p>
            <a:pPr marL="85725" marR="2391410">
              <a:lnSpc>
                <a:spcPct val="100000"/>
              </a:lnSpc>
              <a:spcBef>
                <a:spcPts val="750"/>
              </a:spcBef>
            </a:pPr>
            <a:r>
              <a:rPr sz="1000" dirty="0">
                <a:solidFill>
                  <a:srgbClr val="1E293A"/>
                </a:solidFill>
                <a:latin typeface="Times New Roman"/>
                <a:cs typeface="Times New Roman"/>
              </a:rPr>
              <a:t>GET</a:t>
            </a:r>
            <a:r>
              <a:rPr sz="1000" spc="-25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1E293A"/>
                </a:solidFill>
                <a:latin typeface="Times New Roman"/>
                <a:cs typeface="Times New Roman"/>
              </a:rPr>
              <a:t>/login</a:t>
            </a:r>
            <a:r>
              <a:rPr sz="1000" spc="-15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1E293A"/>
                </a:solidFill>
                <a:latin typeface="Times New Roman"/>
                <a:cs typeface="Times New Roman"/>
              </a:rPr>
              <a:t>—</a:t>
            </a:r>
            <a:r>
              <a:rPr sz="1000" spc="-25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1E293A"/>
                </a:solidFill>
                <a:latin typeface="Times New Roman"/>
                <a:cs typeface="Times New Roman"/>
              </a:rPr>
              <a:t>show</a:t>
            </a:r>
            <a:r>
              <a:rPr sz="1000" spc="-10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1E293A"/>
                </a:solidFill>
                <a:latin typeface="Times New Roman"/>
                <a:cs typeface="Times New Roman"/>
              </a:rPr>
              <a:t>login</a:t>
            </a:r>
            <a:r>
              <a:rPr sz="1000" spc="-20" dirty="0">
                <a:solidFill>
                  <a:srgbClr val="1E293A"/>
                </a:solidFill>
                <a:latin typeface="Times New Roman"/>
                <a:cs typeface="Times New Roman"/>
              </a:rPr>
              <a:t> page </a:t>
            </a:r>
            <a:r>
              <a:rPr sz="1000" dirty="0">
                <a:solidFill>
                  <a:srgbClr val="1E293A"/>
                </a:solidFill>
                <a:latin typeface="Times New Roman"/>
                <a:cs typeface="Times New Roman"/>
              </a:rPr>
              <a:t>GET</a:t>
            </a:r>
            <a:r>
              <a:rPr sz="1000" spc="-30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1E293A"/>
                </a:solidFill>
                <a:latin typeface="Times New Roman"/>
                <a:cs typeface="Times New Roman"/>
              </a:rPr>
              <a:t>/register</a:t>
            </a:r>
            <a:r>
              <a:rPr sz="1000" spc="5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1E293A"/>
                </a:solidFill>
                <a:latin typeface="Times New Roman"/>
                <a:cs typeface="Times New Roman"/>
              </a:rPr>
              <a:t>—</a:t>
            </a:r>
            <a:r>
              <a:rPr sz="1000" spc="-30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1E293A"/>
                </a:solidFill>
                <a:latin typeface="Times New Roman"/>
                <a:cs typeface="Times New Roman"/>
              </a:rPr>
              <a:t>user</a:t>
            </a:r>
            <a:r>
              <a:rPr sz="1000" spc="-10" dirty="0">
                <a:solidFill>
                  <a:srgbClr val="1E293A"/>
                </a:solidFill>
                <a:latin typeface="Times New Roman"/>
                <a:cs typeface="Times New Roman"/>
              </a:rPr>
              <a:t> registration </a:t>
            </a:r>
            <a:r>
              <a:rPr sz="1000" dirty="0">
                <a:solidFill>
                  <a:srgbClr val="1E293A"/>
                </a:solidFill>
                <a:latin typeface="Times New Roman"/>
                <a:cs typeface="Times New Roman"/>
              </a:rPr>
              <a:t>GET</a:t>
            </a:r>
            <a:r>
              <a:rPr sz="1000" spc="-20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1E293A"/>
                </a:solidFill>
                <a:latin typeface="Times New Roman"/>
                <a:cs typeface="Times New Roman"/>
              </a:rPr>
              <a:t>/logout</a:t>
            </a:r>
            <a:r>
              <a:rPr sz="1000" spc="-10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1E293A"/>
                </a:solidFill>
                <a:latin typeface="Times New Roman"/>
                <a:cs typeface="Times New Roman"/>
              </a:rPr>
              <a:t>—</a:t>
            </a:r>
            <a:r>
              <a:rPr sz="1000" spc="-25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1E293A"/>
                </a:solidFill>
                <a:latin typeface="Times New Roman"/>
                <a:cs typeface="Times New Roman"/>
              </a:rPr>
              <a:t>logout</a:t>
            </a:r>
            <a:r>
              <a:rPr sz="1000" spc="-30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000" spc="-20" dirty="0">
                <a:solidFill>
                  <a:srgbClr val="1E293A"/>
                </a:solidFill>
                <a:latin typeface="Times New Roman"/>
                <a:cs typeface="Times New Roman"/>
              </a:rPr>
              <a:t>user</a:t>
            </a:r>
            <a:endParaRPr sz="1000">
              <a:latin typeface="Times New Roman"/>
              <a:cs typeface="Times New Roman"/>
            </a:endParaRPr>
          </a:p>
          <a:p>
            <a:pPr marL="85725">
              <a:lnSpc>
                <a:spcPct val="100000"/>
              </a:lnSpc>
              <a:spcBef>
                <a:spcPts val="5"/>
              </a:spcBef>
            </a:pPr>
            <a:r>
              <a:rPr sz="1000" dirty="0">
                <a:solidFill>
                  <a:srgbClr val="1E293A"/>
                </a:solidFill>
                <a:latin typeface="Times New Roman"/>
                <a:cs typeface="Times New Roman"/>
              </a:rPr>
              <a:t>Purpose</a:t>
            </a:r>
            <a:r>
              <a:rPr sz="1000" spc="-40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1E293A"/>
                </a:solidFill>
                <a:latin typeface="Times New Roman"/>
                <a:cs typeface="Times New Roman"/>
              </a:rPr>
              <a:t>:</a:t>
            </a:r>
            <a:r>
              <a:rPr sz="1000" spc="-50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1E293A"/>
                </a:solidFill>
                <a:latin typeface="Times New Roman"/>
                <a:cs typeface="Times New Roman"/>
              </a:rPr>
              <a:t>Handles</a:t>
            </a:r>
            <a:r>
              <a:rPr sz="1000" spc="-15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1E293A"/>
                </a:solidFill>
                <a:latin typeface="Times New Roman"/>
                <a:cs typeface="Times New Roman"/>
              </a:rPr>
              <a:t>authentication</a:t>
            </a:r>
            <a:r>
              <a:rPr sz="1000" spc="-5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1E293A"/>
                </a:solidFill>
                <a:latin typeface="Times New Roman"/>
                <a:cs typeface="Times New Roman"/>
              </a:rPr>
              <a:t>and</a:t>
            </a:r>
            <a:r>
              <a:rPr sz="1000" spc="-25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1E293A"/>
                </a:solidFill>
                <a:latin typeface="Times New Roman"/>
                <a:cs typeface="Times New Roman"/>
              </a:rPr>
              <a:t>user</a:t>
            </a:r>
            <a:r>
              <a:rPr sz="1000" spc="-20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000" spc="-10" dirty="0">
                <a:solidFill>
                  <a:srgbClr val="1E293A"/>
                </a:solidFill>
                <a:latin typeface="Times New Roman"/>
                <a:cs typeface="Times New Roman"/>
              </a:rPr>
              <a:t>access</a:t>
            </a:r>
            <a:endParaRPr sz="1000">
              <a:latin typeface="Times New Roman"/>
              <a:cs typeface="Times New Roman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4526279" y="2185416"/>
            <a:ext cx="4418965" cy="1383030"/>
            <a:chOff x="4526279" y="2185416"/>
            <a:chExt cx="4418965" cy="1383030"/>
          </a:xfrm>
        </p:grpSpPr>
        <p:pic>
          <p:nvPicPr>
            <p:cNvPr id="30" name="object 3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526279" y="2185416"/>
              <a:ext cx="4418837" cy="1383030"/>
            </a:xfrm>
            <a:prstGeom prst="rect">
              <a:avLst/>
            </a:prstGeom>
          </p:spPr>
        </p:pic>
        <p:sp>
          <p:nvSpPr>
            <p:cNvPr id="31" name="object 31"/>
            <p:cNvSpPr/>
            <p:nvPr/>
          </p:nvSpPr>
          <p:spPr>
            <a:xfrm>
              <a:off x="4663439" y="2267712"/>
              <a:ext cx="4206240" cy="1170940"/>
            </a:xfrm>
            <a:custGeom>
              <a:avLst/>
              <a:gdLst/>
              <a:ahLst/>
              <a:cxnLst/>
              <a:rect l="l" t="t" r="r" b="b"/>
              <a:pathLst>
                <a:path w="4206240" h="1170939">
                  <a:moveTo>
                    <a:pt x="4206240" y="0"/>
                  </a:moveTo>
                  <a:lnTo>
                    <a:pt x="0" y="0"/>
                  </a:lnTo>
                  <a:lnTo>
                    <a:pt x="0" y="1170432"/>
                  </a:lnTo>
                  <a:lnTo>
                    <a:pt x="4206240" y="1170432"/>
                  </a:lnTo>
                  <a:lnTo>
                    <a:pt x="420624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4663439" y="2267712"/>
              <a:ext cx="4206240" cy="1170940"/>
            </a:xfrm>
            <a:custGeom>
              <a:avLst/>
              <a:gdLst/>
              <a:ahLst/>
              <a:cxnLst/>
              <a:rect l="l" t="t" r="r" b="b"/>
              <a:pathLst>
                <a:path w="4206240" h="1170939">
                  <a:moveTo>
                    <a:pt x="0" y="1170432"/>
                  </a:moveTo>
                  <a:lnTo>
                    <a:pt x="4206240" y="1170432"/>
                  </a:lnTo>
                  <a:lnTo>
                    <a:pt x="4206240" y="0"/>
                  </a:lnTo>
                  <a:lnTo>
                    <a:pt x="0" y="0"/>
                  </a:lnTo>
                  <a:lnTo>
                    <a:pt x="0" y="1170432"/>
                  </a:lnTo>
                  <a:close/>
                </a:path>
              </a:pathLst>
            </a:custGeom>
            <a:ln w="12700">
              <a:solidFill>
                <a:srgbClr val="E1E8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3" name="object 33"/>
          <p:cNvSpPr txBox="1"/>
          <p:nvPr/>
        </p:nvSpPr>
        <p:spPr>
          <a:xfrm>
            <a:off x="4663440" y="2267711"/>
            <a:ext cx="4206240" cy="320040"/>
          </a:xfrm>
          <a:prstGeom prst="rect">
            <a:avLst/>
          </a:prstGeom>
          <a:solidFill>
            <a:srgbClr val="8A5CF6">
              <a:alpha val="79998"/>
            </a:srgbClr>
          </a:solidFill>
          <a:ln w="12700">
            <a:solidFill>
              <a:srgbClr val="8A5CF6"/>
            </a:solidFill>
          </a:ln>
        </p:spPr>
        <p:txBody>
          <a:bodyPr vert="horz" wrap="square" lIns="0" tIns="64135" rIns="0" bIns="0" rtlCol="0">
            <a:spAutoFit/>
          </a:bodyPr>
          <a:lstStyle/>
          <a:p>
            <a:pPr marL="46355">
              <a:lnSpc>
                <a:spcPct val="100000"/>
              </a:lnSpc>
              <a:spcBef>
                <a:spcPts val="505"/>
              </a:spcBef>
            </a:pPr>
            <a:r>
              <a:rPr sz="1200" b="1" spc="-10" dirty="0">
                <a:solidFill>
                  <a:srgbClr val="8A5CF6"/>
                </a:solidFill>
                <a:latin typeface="Times New Roman"/>
                <a:cs typeface="Times New Roman"/>
              </a:rPr>
              <a:t>InventoryController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4669790" y="2594101"/>
            <a:ext cx="4193540" cy="838200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0" rIns="0" bIns="0" rtlCol="0">
            <a:spAutoFit/>
          </a:bodyPr>
          <a:lstStyle/>
          <a:p>
            <a:pPr marL="85725">
              <a:lnSpc>
                <a:spcPts val="755"/>
              </a:lnSpc>
            </a:pPr>
            <a:r>
              <a:rPr sz="1000" dirty="0">
                <a:solidFill>
                  <a:srgbClr val="1E293A"/>
                </a:solidFill>
                <a:latin typeface="Times New Roman"/>
                <a:cs typeface="Times New Roman"/>
              </a:rPr>
              <a:t>GET</a:t>
            </a:r>
            <a:r>
              <a:rPr sz="1000" spc="-25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1E293A"/>
                </a:solidFill>
                <a:latin typeface="Times New Roman"/>
                <a:cs typeface="Times New Roman"/>
              </a:rPr>
              <a:t>/dashboard</a:t>
            </a:r>
            <a:r>
              <a:rPr sz="1000" spc="-5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1E293A"/>
                </a:solidFill>
                <a:latin typeface="Times New Roman"/>
                <a:cs typeface="Times New Roman"/>
              </a:rPr>
              <a:t>—</a:t>
            </a:r>
            <a:r>
              <a:rPr sz="1000" spc="-30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1E293A"/>
                </a:solidFill>
                <a:latin typeface="Times New Roman"/>
                <a:cs typeface="Times New Roman"/>
              </a:rPr>
              <a:t>main</a:t>
            </a:r>
            <a:r>
              <a:rPr sz="1000" spc="-15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000" spc="-10" dirty="0">
                <a:solidFill>
                  <a:srgbClr val="1E293A"/>
                </a:solidFill>
                <a:latin typeface="Times New Roman"/>
                <a:cs typeface="Times New Roman"/>
              </a:rPr>
              <a:t>dashboard</a:t>
            </a:r>
            <a:endParaRPr sz="1000">
              <a:latin typeface="Times New Roman"/>
              <a:cs typeface="Times New Roman"/>
            </a:endParaRPr>
          </a:p>
          <a:p>
            <a:pPr marL="85725">
              <a:lnSpc>
                <a:spcPct val="100000"/>
              </a:lnSpc>
            </a:pPr>
            <a:r>
              <a:rPr sz="1000" dirty="0">
                <a:solidFill>
                  <a:srgbClr val="1E293A"/>
                </a:solidFill>
                <a:latin typeface="Times New Roman"/>
                <a:cs typeface="Times New Roman"/>
              </a:rPr>
              <a:t>GET/products</a:t>
            </a:r>
            <a:r>
              <a:rPr sz="1000" spc="-25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1E293A"/>
                </a:solidFill>
                <a:latin typeface="Times New Roman"/>
                <a:cs typeface="Times New Roman"/>
              </a:rPr>
              <a:t>—</a:t>
            </a:r>
            <a:r>
              <a:rPr sz="1000" spc="-30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1E293A"/>
                </a:solidFill>
                <a:latin typeface="Times New Roman"/>
                <a:cs typeface="Times New Roman"/>
              </a:rPr>
              <a:t>view</a:t>
            </a:r>
            <a:r>
              <a:rPr sz="1000" spc="-20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1E293A"/>
                </a:solidFill>
                <a:latin typeface="Times New Roman"/>
                <a:cs typeface="Times New Roman"/>
              </a:rPr>
              <a:t>all</a:t>
            </a:r>
            <a:r>
              <a:rPr sz="1000" spc="-25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000" spc="-10" dirty="0">
                <a:solidFill>
                  <a:srgbClr val="1E293A"/>
                </a:solidFill>
                <a:latin typeface="Times New Roman"/>
                <a:cs typeface="Times New Roman"/>
              </a:rPr>
              <a:t>products</a:t>
            </a:r>
            <a:endParaRPr sz="1000">
              <a:latin typeface="Times New Roman"/>
              <a:cs typeface="Times New Roman"/>
            </a:endParaRPr>
          </a:p>
          <a:p>
            <a:pPr marL="85725" marR="1888489">
              <a:lnSpc>
                <a:spcPct val="100000"/>
              </a:lnSpc>
            </a:pPr>
            <a:r>
              <a:rPr sz="1000" dirty="0">
                <a:solidFill>
                  <a:srgbClr val="1E293A"/>
                </a:solidFill>
                <a:latin typeface="Times New Roman"/>
                <a:cs typeface="Times New Roman"/>
              </a:rPr>
              <a:t>POST</a:t>
            </a:r>
            <a:r>
              <a:rPr sz="1000" spc="-30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000" spc="-10" dirty="0">
                <a:solidFill>
                  <a:srgbClr val="1E293A"/>
                </a:solidFill>
                <a:latin typeface="Times New Roman"/>
                <a:cs typeface="Times New Roman"/>
              </a:rPr>
              <a:t>/add-</a:t>
            </a:r>
            <a:r>
              <a:rPr sz="1000" dirty="0">
                <a:solidFill>
                  <a:srgbClr val="1E293A"/>
                </a:solidFill>
                <a:latin typeface="Times New Roman"/>
                <a:cs typeface="Times New Roman"/>
              </a:rPr>
              <a:t>product —</a:t>
            </a:r>
            <a:r>
              <a:rPr sz="1000" spc="-15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1E293A"/>
                </a:solidFill>
                <a:latin typeface="Times New Roman"/>
                <a:cs typeface="Times New Roman"/>
              </a:rPr>
              <a:t>add</a:t>
            </a:r>
            <a:r>
              <a:rPr sz="1000" spc="-15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1E293A"/>
                </a:solidFill>
                <a:latin typeface="Times New Roman"/>
                <a:cs typeface="Times New Roman"/>
              </a:rPr>
              <a:t>new </a:t>
            </a:r>
            <a:r>
              <a:rPr sz="1000" spc="-10" dirty="0">
                <a:solidFill>
                  <a:srgbClr val="1E293A"/>
                </a:solidFill>
                <a:latin typeface="Times New Roman"/>
                <a:cs typeface="Times New Roman"/>
              </a:rPr>
              <a:t>product </a:t>
            </a:r>
            <a:r>
              <a:rPr sz="1000" dirty="0">
                <a:solidFill>
                  <a:srgbClr val="1E293A"/>
                </a:solidFill>
                <a:latin typeface="Times New Roman"/>
                <a:cs typeface="Times New Roman"/>
              </a:rPr>
              <a:t>POST</a:t>
            </a:r>
            <a:r>
              <a:rPr sz="1000" spc="-40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1E293A"/>
                </a:solidFill>
                <a:latin typeface="Times New Roman"/>
                <a:cs typeface="Times New Roman"/>
              </a:rPr>
              <a:t>/increase/{id}</a:t>
            </a:r>
            <a:r>
              <a:rPr sz="1000" spc="-10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1E293A"/>
                </a:solidFill>
                <a:latin typeface="Times New Roman"/>
                <a:cs typeface="Times New Roman"/>
              </a:rPr>
              <a:t>—</a:t>
            </a:r>
            <a:r>
              <a:rPr sz="1000" spc="-20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1E293A"/>
                </a:solidFill>
                <a:latin typeface="Times New Roman"/>
                <a:cs typeface="Times New Roman"/>
              </a:rPr>
              <a:t>increase</a:t>
            </a:r>
            <a:r>
              <a:rPr sz="1000" spc="-10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1E293A"/>
                </a:solidFill>
                <a:latin typeface="Times New Roman"/>
                <a:cs typeface="Times New Roman"/>
              </a:rPr>
              <a:t>stock</a:t>
            </a:r>
            <a:r>
              <a:rPr sz="1000" spc="-25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1E293A"/>
                </a:solidFill>
                <a:latin typeface="Times New Roman"/>
                <a:cs typeface="Times New Roman"/>
              </a:rPr>
              <a:t>by</a:t>
            </a:r>
            <a:r>
              <a:rPr sz="1000" spc="-25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000" spc="-50" dirty="0">
                <a:solidFill>
                  <a:srgbClr val="1E293A"/>
                </a:solidFill>
                <a:latin typeface="Times New Roman"/>
                <a:cs typeface="Times New Roman"/>
              </a:rPr>
              <a:t>1</a:t>
            </a:r>
            <a:endParaRPr sz="1000">
              <a:latin typeface="Times New Roman"/>
              <a:cs typeface="Times New Roman"/>
            </a:endParaRPr>
          </a:p>
          <a:p>
            <a:pPr marL="85725">
              <a:lnSpc>
                <a:spcPct val="100000"/>
              </a:lnSpc>
            </a:pPr>
            <a:r>
              <a:rPr sz="1000" dirty="0">
                <a:solidFill>
                  <a:srgbClr val="1E293A"/>
                </a:solidFill>
                <a:latin typeface="Times New Roman"/>
                <a:cs typeface="Times New Roman"/>
              </a:rPr>
              <a:t>POST</a:t>
            </a:r>
            <a:r>
              <a:rPr sz="1000" spc="-40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1E293A"/>
                </a:solidFill>
                <a:latin typeface="Times New Roman"/>
                <a:cs typeface="Times New Roman"/>
              </a:rPr>
              <a:t>/decrease/{id}</a:t>
            </a:r>
            <a:r>
              <a:rPr sz="1000" spc="-15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1E293A"/>
                </a:solidFill>
                <a:latin typeface="Times New Roman"/>
                <a:cs typeface="Times New Roman"/>
              </a:rPr>
              <a:t>—</a:t>
            </a:r>
            <a:r>
              <a:rPr sz="1000" spc="-30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1E293A"/>
                </a:solidFill>
                <a:latin typeface="Times New Roman"/>
                <a:cs typeface="Times New Roman"/>
              </a:rPr>
              <a:t>decrease stock</a:t>
            </a:r>
            <a:r>
              <a:rPr sz="1000" spc="-35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1E293A"/>
                </a:solidFill>
                <a:latin typeface="Times New Roman"/>
                <a:cs typeface="Times New Roman"/>
              </a:rPr>
              <a:t>by</a:t>
            </a:r>
            <a:r>
              <a:rPr sz="1000" spc="-20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000" spc="-50" dirty="0">
                <a:solidFill>
                  <a:srgbClr val="1E293A"/>
                </a:solidFill>
                <a:latin typeface="Times New Roman"/>
                <a:cs typeface="Times New Roman"/>
              </a:rPr>
              <a:t>1</a:t>
            </a:r>
            <a:endParaRPr sz="1000">
              <a:latin typeface="Times New Roman"/>
              <a:cs typeface="Times New Roman"/>
            </a:endParaRPr>
          </a:p>
        </p:txBody>
      </p:sp>
      <p:grpSp>
        <p:nvGrpSpPr>
          <p:cNvPr id="35" name="object 35"/>
          <p:cNvGrpSpPr/>
          <p:nvPr/>
        </p:nvGrpSpPr>
        <p:grpSpPr>
          <a:xfrm>
            <a:off x="4526279" y="3465550"/>
            <a:ext cx="4418965" cy="1383030"/>
            <a:chOff x="4526279" y="3465550"/>
            <a:chExt cx="4418965" cy="1383030"/>
          </a:xfrm>
        </p:grpSpPr>
        <p:pic>
          <p:nvPicPr>
            <p:cNvPr id="36" name="object 3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526279" y="3465550"/>
              <a:ext cx="4418837" cy="1383030"/>
            </a:xfrm>
            <a:prstGeom prst="rect">
              <a:avLst/>
            </a:prstGeom>
          </p:spPr>
        </p:pic>
        <p:sp>
          <p:nvSpPr>
            <p:cNvPr id="37" name="object 37"/>
            <p:cNvSpPr/>
            <p:nvPr/>
          </p:nvSpPr>
          <p:spPr>
            <a:xfrm>
              <a:off x="4663439" y="3547871"/>
              <a:ext cx="4206240" cy="1170940"/>
            </a:xfrm>
            <a:custGeom>
              <a:avLst/>
              <a:gdLst/>
              <a:ahLst/>
              <a:cxnLst/>
              <a:rect l="l" t="t" r="r" b="b"/>
              <a:pathLst>
                <a:path w="4206240" h="1170939">
                  <a:moveTo>
                    <a:pt x="4206240" y="0"/>
                  </a:moveTo>
                  <a:lnTo>
                    <a:pt x="0" y="0"/>
                  </a:lnTo>
                  <a:lnTo>
                    <a:pt x="0" y="1170432"/>
                  </a:lnTo>
                  <a:lnTo>
                    <a:pt x="4206240" y="1170432"/>
                  </a:lnTo>
                  <a:lnTo>
                    <a:pt x="420624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4663439" y="3547871"/>
              <a:ext cx="4206240" cy="1170940"/>
            </a:xfrm>
            <a:custGeom>
              <a:avLst/>
              <a:gdLst/>
              <a:ahLst/>
              <a:cxnLst/>
              <a:rect l="l" t="t" r="r" b="b"/>
              <a:pathLst>
                <a:path w="4206240" h="1170939">
                  <a:moveTo>
                    <a:pt x="0" y="1170432"/>
                  </a:moveTo>
                  <a:lnTo>
                    <a:pt x="4206240" y="1170432"/>
                  </a:lnTo>
                  <a:lnTo>
                    <a:pt x="4206240" y="0"/>
                  </a:lnTo>
                  <a:lnTo>
                    <a:pt x="0" y="0"/>
                  </a:lnTo>
                  <a:lnTo>
                    <a:pt x="0" y="1170432"/>
                  </a:lnTo>
                  <a:close/>
                </a:path>
              </a:pathLst>
            </a:custGeom>
            <a:ln w="12700">
              <a:solidFill>
                <a:srgbClr val="E1E8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9" name="object 39"/>
          <p:cNvSpPr txBox="1"/>
          <p:nvPr/>
        </p:nvSpPr>
        <p:spPr>
          <a:xfrm>
            <a:off x="4663440" y="3547871"/>
            <a:ext cx="4206240" cy="320040"/>
          </a:xfrm>
          <a:prstGeom prst="rect">
            <a:avLst/>
          </a:prstGeom>
          <a:solidFill>
            <a:srgbClr val="8A5CF6">
              <a:alpha val="79998"/>
            </a:srgbClr>
          </a:solidFill>
          <a:ln w="12700">
            <a:solidFill>
              <a:srgbClr val="8A5CF6"/>
            </a:solidFill>
          </a:ln>
        </p:spPr>
        <p:txBody>
          <a:bodyPr vert="horz" wrap="square" lIns="0" tIns="64769" rIns="0" bIns="0" rtlCol="0">
            <a:spAutoFit/>
          </a:bodyPr>
          <a:lstStyle/>
          <a:p>
            <a:pPr marL="46355">
              <a:lnSpc>
                <a:spcPct val="100000"/>
              </a:lnSpc>
              <a:spcBef>
                <a:spcPts val="509"/>
              </a:spcBef>
            </a:pPr>
            <a:r>
              <a:rPr sz="1200" b="1" dirty="0">
                <a:solidFill>
                  <a:srgbClr val="8A5CF6"/>
                </a:solidFill>
                <a:latin typeface="Times New Roman"/>
                <a:cs typeface="Times New Roman"/>
              </a:rPr>
              <a:t>StockController</a:t>
            </a:r>
            <a:r>
              <a:rPr sz="1200" b="1" spc="250" dirty="0">
                <a:solidFill>
                  <a:srgbClr val="8A5CF6"/>
                </a:solidFill>
                <a:latin typeface="Times New Roman"/>
                <a:cs typeface="Times New Roman"/>
              </a:rPr>
              <a:t> </a:t>
            </a:r>
            <a:r>
              <a:rPr sz="1200" b="1" spc="-10" dirty="0">
                <a:solidFill>
                  <a:srgbClr val="8A5CF6"/>
                </a:solidFill>
                <a:latin typeface="Times New Roman"/>
                <a:cs typeface="Times New Roman"/>
              </a:rPr>
              <a:t>/stock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4669790" y="3874261"/>
            <a:ext cx="4193540" cy="838200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26034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04"/>
              </a:spcBef>
            </a:pPr>
            <a:endParaRPr sz="1000">
              <a:latin typeface="Times New Roman"/>
              <a:cs typeface="Times New Roman"/>
            </a:endParaRPr>
          </a:p>
          <a:p>
            <a:pPr marL="85725">
              <a:lnSpc>
                <a:spcPct val="100000"/>
              </a:lnSpc>
              <a:spcBef>
                <a:spcPts val="5"/>
              </a:spcBef>
            </a:pPr>
            <a:r>
              <a:rPr sz="1000" dirty="0">
                <a:solidFill>
                  <a:srgbClr val="1E293A"/>
                </a:solidFill>
                <a:latin typeface="Times New Roman"/>
                <a:cs typeface="Times New Roman"/>
              </a:rPr>
              <a:t>GET</a:t>
            </a:r>
            <a:r>
              <a:rPr sz="1000" spc="-20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1E293A"/>
                </a:solidFill>
                <a:latin typeface="Times New Roman"/>
                <a:cs typeface="Times New Roman"/>
              </a:rPr>
              <a:t>/stock</a:t>
            </a:r>
            <a:r>
              <a:rPr sz="1000" spc="-15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1E293A"/>
                </a:solidFill>
                <a:latin typeface="Times New Roman"/>
                <a:cs typeface="Times New Roman"/>
              </a:rPr>
              <a:t>—</a:t>
            </a:r>
            <a:r>
              <a:rPr sz="1000" spc="-20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1E293A"/>
                </a:solidFill>
                <a:latin typeface="Times New Roman"/>
                <a:cs typeface="Times New Roman"/>
              </a:rPr>
              <a:t>view all</a:t>
            </a:r>
            <a:r>
              <a:rPr sz="1000" spc="-25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000" spc="-10" dirty="0">
                <a:solidFill>
                  <a:srgbClr val="1E293A"/>
                </a:solidFill>
                <a:latin typeface="Times New Roman"/>
                <a:cs typeface="Times New Roman"/>
              </a:rPr>
              <a:t>stock</a:t>
            </a:r>
            <a:endParaRPr sz="1000">
              <a:latin typeface="Times New Roman"/>
              <a:cs typeface="Times New Roman"/>
            </a:endParaRPr>
          </a:p>
          <a:p>
            <a:pPr marL="85725" marR="2217420">
              <a:lnSpc>
                <a:spcPct val="100000"/>
              </a:lnSpc>
            </a:pPr>
            <a:r>
              <a:rPr sz="1000" dirty="0">
                <a:solidFill>
                  <a:srgbClr val="1E293A"/>
                </a:solidFill>
                <a:latin typeface="Times New Roman"/>
                <a:cs typeface="Times New Roman"/>
              </a:rPr>
              <a:t>POST</a:t>
            </a:r>
            <a:r>
              <a:rPr sz="1000" spc="-50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1E293A"/>
                </a:solidFill>
                <a:latin typeface="Times New Roman"/>
                <a:cs typeface="Times New Roman"/>
              </a:rPr>
              <a:t>/stock/adjust</a:t>
            </a:r>
            <a:r>
              <a:rPr sz="1000" spc="-25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1E293A"/>
                </a:solidFill>
                <a:latin typeface="Times New Roman"/>
                <a:cs typeface="Times New Roman"/>
              </a:rPr>
              <a:t>—</a:t>
            </a:r>
            <a:r>
              <a:rPr sz="1000" spc="-35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1E293A"/>
                </a:solidFill>
                <a:latin typeface="Times New Roman"/>
                <a:cs typeface="Times New Roman"/>
              </a:rPr>
              <a:t>manual</a:t>
            </a:r>
            <a:r>
              <a:rPr sz="1000" spc="-10" dirty="0">
                <a:solidFill>
                  <a:srgbClr val="1E293A"/>
                </a:solidFill>
                <a:latin typeface="Times New Roman"/>
                <a:cs typeface="Times New Roman"/>
              </a:rPr>
              <a:t> adjust </a:t>
            </a:r>
            <a:r>
              <a:rPr sz="1000" dirty="0">
                <a:solidFill>
                  <a:srgbClr val="1E293A"/>
                </a:solidFill>
                <a:latin typeface="Times New Roman"/>
                <a:cs typeface="Times New Roman"/>
              </a:rPr>
              <a:t>GET</a:t>
            </a:r>
            <a:r>
              <a:rPr sz="1000" spc="-30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1E293A"/>
                </a:solidFill>
                <a:latin typeface="Times New Roman"/>
                <a:cs typeface="Times New Roman"/>
              </a:rPr>
              <a:t>/stock/alerts</a:t>
            </a:r>
            <a:r>
              <a:rPr sz="1000" spc="-5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1E293A"/>
                </a:solidFill>
                <a:latin typeface="Times New Roman"/>
                <a:cs typeface="Times New Roman"/>
              </a:rPr>
              <a:t>—</a:t>
            </a:r>
            <a:r>
              <a:rPr sz="1000" spc="-30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1E293A"/>
                </a:solidFill>
                <a:latin typeface="Times New Roman"/>
                <a:cs typeface="Times New Roman"/>
              </a:rPr>
              <a:t>low</a:t>
            </a:r>
            <a:r>
              <a:rPr sz="1000" spc="-30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1E293A"/>
                </a:solidFill>
                <a:latin typeface="Times New Roman"/>
                <a:cs typeface="Times New Roman"/>
              </a:rPr>
              <a:t>stock</a:t>
            </a:r>
            <a:r>
              <a:rPr sz="1000" spc="-25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000" spc="-20" dirty="0">
                <a:solidFill>
                  <a:srgbClr val="1E293A"/>
                </a:solidFill>
                <a:latin typeface="Times New Roman"/>
                <a:cs typeface="Times New Roman"/>
              </a:rPr>
              <a:t>list</a:t>
            </a:r>
            <a:endParaRPr sz="1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Service</a:t>
            </a:r>
            <a:r>
              <a:rPr spc="-25" dirty="0"/>
              <a:t> </a:t>
            </a:r>
            <a:r>
              <a:rPr spc="-10" dirty="0"/>
              <a:t>Layer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44500" y="670305"/>
            <a:ext cx="3935729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i="1" spc="-10" dirty="0">
                <a:solidFill>
                  <a:srgbClr val="0891B1"/>
                </a:solidFill>
                <a:latin typeface="Times New Roman"/>
                <a:cs typeface="Times New Roman"/>
              </a:rPr>
              <a:t>Business</a:t>
            </a:r>
            <a:r>
              <a:rPr sz="1300" i="1" spc="-40" dirty="0">
                <a:solidFill>
                  <a:srgbClr val="0891B1"/>
                </a:solidFill>
                <a:latin typeface="Times New Roman"/>
                <a:cs typeface="Times New Roman"/>
              </a:rPr>
              <a:t> </a:t>
            </a:r>
            <a:r>
              <a:rPr sz="1300" i="1" dirty="0">
                <a:solidFill>
                  <a:srgbClr val="0891B1"/>
                </a:solidFill>
                <a:latin typeface="Times New Roman"/>
                <a:cs typeface="Times New Roman"/>
              </a:rPr>
              <a:t>Logic,</a:t>
            </a:r>
            <a:r>
              <a:rPr sz="1300" i="1" spc="-30" dirty="0">
                <a:solidFill>
                  <a:srgbClr val="0891B1"/>
                </a:solidFill>
                <a:latin typeface="Times New Roman"/>
                <a:cs typeface="Times New Roman"/>
              </a:rPr>
              <a:t> </a:t>
            </a:r>
            <a:r>
              <a:rPr sz="1300" i="1" dirty="0">
                <a:solidFill>
                  <a:srgbClr val="0891B1"/>
                </a:solidFill>
                <a:latin typeface="Times New Roman"/>
                <a:cs typeface="Times New Roman"/>
              </a:rPr>
              <a:t>Transaction</a:t>
            </a:r>
            <a:r>
              <a:rPr sz="1300" i="1" spc="-30" dirty="0">
                <a:solidFill>
                  <a:srgbClr val="0891B1"/>
                </a:solidFill>
                <a:latin typeface="Times New Roman"/>
                <a:cs typeface="Times New Roman"/>
              </a:rPr>
              <a:t> </a:t>
            </a:r>
            <a:r>
              <a:rPr sz="1300" i="1" dirty="0">
                <a:solidFill>
                  <a:srgbClr val="0891B1"/>
                </a:solidFill>
                <a:latin typeface="Times New Roman"/>
                <a:cs typeface="Times New Roman"/>
              </a:rPr>
              <a:t>Management</a:t>
            </a:r>
            <a:r>
              <a:rPr sz="1300" i="1" spc="-20" dirty="0">
                <a:solidFill>
                  <a:srgbClr val="0891B1"/>
                </a:solidFill>
                <a:latin typeface="Times New Roman"/>
                <a:cs typeface="Times New Roman"/>
              </a:rPr>
              <a:t> </a:t>
            </a:r>
            <a:r>
              <a:rPr sz="1300" i="1" dirty="0">
                <a:solidFill>
                  <a:srgbClr val="0891B1"/>
                </a:solidFill>
                <a:latin typeface="Times New Roman"/>
                <a:cs typeface="Times New Roman"/>
              </a:rPr>
              <a:t>&amp;</a:t>
            </a:r>
            <a:r>
              <a:rPr sz="1300" i="1" spc="-35" dirty="0">
                <a:solidFill>
                  <a:srgbClr val="0891B1"/>
                </a:solidFill>
                <a:latin typeface="Times New Roman"/>
                <a:cs typeface="Times New Roman"/>
              </a:rPr>
              <a:t> </a:t>
            </a:r>
            <a:r>
              <a:rPr sz="1300" i="1" spc="-10" dirty="0">
                <a:solidFill>
                  <a:srgbClr val="0891B1"/>
                </a:solidFill>
                <a:latin typeface="Times New Roman"/>
                <a:cs typeface="Times New Roman"/>
              </a:rPr>
              <a:t>Orchestration</a:t>
            </a:r>
            <a:endParaRPr sz="1300">
              <a:latin typeface="Times New Roman"/>
              <a:cs typeface="Times New Roman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37160" y="877824"/>
            <a:ext cx="2224405" cy="1584325"/>
            <a:chOff x="137160" y="877824"/>
            <a:chExt cx="2224405" cy="158432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7160" y="877824"/>
              <a:ext cx="2224278" cy="1584198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274320" y="960120"/>
              <a:ext cx="2011680" cy="1371600"/>
            </a:xfrm>
            <a:custGeom>
              <a:avLst/>
              <a:gdLst/>
              <a:ahLst/>
              <a:cxnLst/>
              <a:rect l="l" t="t" r="r" b="b"/>
              <a:pathLst>
                <a:path w="2011680" h="1371600">
                  <a:moveTo>
                    <a:pt x="0" y="1371599"/>
                  </a:moveTo>
                  <a:lnTo>
                    <a:pt x="2011680" y="1371599"/>
                  </a:lnTo>
                  <a:lnTo>
                    <a:pt x="2011680" y="0"/>
                  </a:lnTo>
                  <a:lnTo>
                    <a:pt x="0" y="0"/>
                  </a:lnTo>
                  <a:lnTo>
                    <a:pt x="0" y="1371599"/>
                  </a:lnTo>
                  <a:close/>
                </a:path>
              </a:pathLst>
            </a:custGeom>
            <a:ln w="12700">
              <a:solidFill>
                <a:srgbClr val="E1E8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274320" y="960119"/>
            <a:ext cx="2011680" cy="347980"/>
          </a:xfrm>
          <a:prstGeom prst="rect">
            <a:avLst/>
          </a:prstGeom>
          <a:solidFill>
            <a:srgbClr val="0FB881"/>
          </a:solidFill>
          <a:ln w="12700">
            <a:solidFill>
              <a:srgbClr val="0FB881"/>
            </a:solidFill>
          </a:ln>
        </p:spPr>
        <p:txBody>
          <a:bodyPr vert="horz" wrap="square" lIns="0" tIns="6985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550"/>
              </a:spcBef>
            </a:pPr>
            <a:r>
              <a:rPr sz="13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@Service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74320" y="1307591"/>
            <a:ext cx="2011680" cy="1024255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2159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70"/>
              </a:spcBef>
            </a:pPr>
            <a:endParaRPr sz="1100">
              <a:latin typeface="Times New Roman"/>
              <a:cs typeface="Times New Roman"/>
            </a:endParaRPr>
          </a:p>
          <a:p>
            <a:pPr marL="90805" marR="114300">
              <a:lnSpc>
                <a:spcPct val="100000"/>
              </a:lnSpc>
            </a:pPr>
            <a:r>
              <a:rPr sz="1100" dirty="0">
                <a:solidFill>
                  <a:srgbClr val="93A2B8"/>
                </a:solidFill>
                <a:latin typeface="Times New Roman"/>
                <a:cs typeface="Times New Roman"/>
              </a:rPr>
              <a:t>Marks</a:t>
            </a:r>
            <a:r>
              <a:rPr sz="1100" spc="-25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93A2B8"/>
                </a:solidFill>
                <a:latin typeface="Times New Roman"/>
                <a:cs typeface="Times New Roman"/>
              </a:rPr>
              <a:t>class</a:t>
            </a:r>
            <a:r>
              <a:rPr sz="1100" spc="-35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93A2B8"/>
                </a:solidFill>
                <a:latin typeface="Times New Roman"/>
                <a:cs typeface="Times New Roman"/>
              </a:rPr>
              <a:t>as</a:t>
            </a:r>
            <a:r>
              <a:rPr sz="1100" spc="-10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93A2B8"/>
                </a:solidFill>
                <a:latin typeface="Times New Roman"/>
                <a:cs typeface="Times New Roman"/>
              </a:rPr>
              <a:t>a </a:t>
            </a:r>
            <a:r>
              <a:rPr sz="1100" spc="-10" dirty="0">
                <a:solidFill>
                  <a:srgbClr val="93A2B8"/>
                </a:solidFill>
                <a:latin typeface="Times New Roman"/>
                <a:cs typeface="Times New Roman"/>
              </a:rPr>
              <a:t>Spring- </a:t>
            </a:r>
            <a:r>
              <a:rPr sz="1100" dirty="0">
                <a:solidFill>
                  <a:srgbClr val="93A2B8"/>
                </a:solidFill>
                <a:latin typeface="Times New Roman"/>
                <a:cs typeface="Times New Roman"/>
              </a:rPr>
              <a:t>managed</a:t>
            </a:r>
            <a:r>
              <a:rPr sz="1100" spc="-10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93A2B8"/>
                </a:solidFill>
                <a:latin typeface="Times New Roman"/>
                <a:cs typeface="Times New Roman"/>
              </a:rPr>
              <a:t>service</a:t>
            </a:r>
            <a:r>
              <a:rPr sz="1100" spc="-45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93A2B8"/>
                </a:solidFill>
                <a:latin typeface="Times New Roman"/>
                <a:cs typeface="Times New Roman"/>
              </a:rPr>
              <a:t>bean.</a:t>
            </a:r>
            <a:r>
              <a:rPr sz="1100" spc="-25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100" spc="-10" dirty="0">
                <a:solidFill>
                  <a:srgbClr val="93A2B8"/>
                </a:solidFill>
                <a:latin typeface="Times New Roman"/>
                <a:cs typeface="Times New Roman"/>
              </a:rPr>
              <a:t>Detected </a:t>
            </a:r>
            <a:r>
              <a:rPr sz="1100" dirty="0">
                <a:solidFill>
                  <a:srgbClr val="93A2B8"/>
                </a:solidFill>
                <a:latin typeface="Times New Roman"/>
                <a:cs typeface="Times New Roman"/>
              </a:rPr>
              <a:t>by</a:t>
            </a:r>
            <a:r>
              <a:rPr sz="1100" spc="-15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93A2B8"/>
                </a:solidFill>
                <a:latin typeface="Times New Roman"/>
                <a:cs typeface="Times New Roman"/>
              </a:rPr>
              <a:t>component</a:t>
            </a:r>
            <a:r>
              <a:rPr sz="1100" spc="-25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93A2B8"/>
                </a:solidFill>
                <a:latin typeface="Times New Roman"/>
                <a:cs typeface="Times New Roman"/>
              </a:rPr>
              <a:t>scan</a:t>
            </a:r>
            <a:r>
              <a:rPr sz="1100" spc="-25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93A2B8"/>
                </a:solidFill>
                <a:latin typeface="Times New Roman"/>
                <a:cs typeface="Times New Roman"/>
              </a:rPr>
              <a:t>and</a:t>
            </a:r>
            <a:r>
              <a:rPr sz="1100" spc="-15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100" spc="-10" dirty="0">
                <a:solidFill>
                  <a:srgbClr val="93A2B8"/>
                </a:solidFill>
                <a:latin typeface="Times New Roman"/>
                <a:cs typeface="Times New Roman"/>
              </a:rPr>
              <a:t>injected </a:t>
            </a:r>
            <a:r>
              <a:rPr sz="1100" dirty="0">
                <a:solidFill>
                  <a:srgbClr val="93A2B8"/>
                </a:solidFill>
                <a:latin typeface="Times New Roman"/>
                <a:cs typeface="Times New Roman"/>
              </a:rPr>
              <a:t>via</a:t>
            </a:r>
            <a:r>
              <a:rPr sz="1100" spc="-20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100" spc="-10" dirty="0">
                <a:solidFill>
                  <a:srgbClr val="93A2B8"/>
                </a:solidFill>
                <a:latin typeface="Times New Roman"/>
                <a:cs typeface="Times New Roman"/>
              </a:rPr>
              <a:t>@Autowired.</a:t>
            </a:r>
            <a:endParaRPr sz="1100">
              <a:latin typeface="Times New Roman"/>
              <a:cs typeface="Times New Roman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2286000" y="877824"/>
            <a:ext cx="2224405" cy="1584325"/>
            <a:chOff x="2286000" y="877824"/>
            <a:chExt cx="2224405" cy="1584325"/>
          </a:xfrm>
        </p:grpSpPr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286000" y="877824"/>
              <a:ext cx="2224278" cy="1584198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2423160" y="960120"/>
              <a:ext cx="2011680" cy="1371600"/>
            </a:xfrm>
            <a:custGeom>
              <a:avLst/>
              <a:gdLst/>
              <a:ahLst/>
              <a:cxnLst/>
              <a:rect l="l" t="t" r="r" b="b"/>
              <a:pathLst>
                <a:path w="2011679" h="1371600">
                  <a:moveTo>
                    <a:pt x="0" y="1371599"/>
                  </a:moveTo>
                  <a:lnTo>
                    <a:pt x="2011680" y="1371599"/>
                  </a:lnTo>
                  <a:lnTo>
                    <a:pt x="2011680" y="0"/>
                  </a:lnTo>
                  <a:lnTo>
                    <a:pt x="0" y="0"/>
                  </a:lnTo>
                  <a:lnTo>
                    <a:pt x="0" y="1371599"/>
                  </a:lnTo>
                  <a:close/>
                </a:path>
              </a:pathLst>
            </a:custGeom>
            <a:ln w="12700">
              <a:solidFill>
                <a:srgbClr val="E1E8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2423160" y="960119"/>
            <a:ext cx="2011680" cy="347980"/>
          </a:xfrm>
          <a:prstGeom prst="rect">
            <a:avLst/>
          </a:prstGeom>
          <a:solidFill>
            <a:srgbClr val="0891B1"/>
          </a:solidFill>
          <a:ln w="12700">
            <a:solidFill>
              <a:srgbClr val="0891B1"/>
            </a:solidFill>
          </a:ln>
        </p:spPr>
        <p:txBody>
          <a:bodyPr vert="horz" wrap="square" lIns="0" tIns="69850" rIns="0" bIns="0" rtlCol="0">
            <a:spAutoFit/>
          </a:bodyPr>
          <a:lstStyle/>
          <a:p>
            <a:pPr marL="447040">
              <a:lnSpc>
                <a:spcPct val="100000"/>
              </a:lnSpc>
              <a:spcBef>
                <a:spcPts val="550"/>
              </a:spcBef>
            </a:pPr>
            <a:r>
              <a:rPr sz="13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@Transactional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423160" y="1307591"/>
            <a:ext cx="2011680" cy="1024255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2159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70"/>
              </a:spcBef>
            </a:pPr>
            <a:endParaRPr sz="1100">
              <a:latin typeface="Times New Roman"/>
              <a:cs typeface="Times New Roman"/>
            </a:endParaRPr>
          </a:p>
          <a:p>
            <a:pPr marL="91440">
              <a:lnSpc>
                <a:spcPct val="100000"/>
              </a:lnSpc>
            </a:pPr>
            <a:r>
              <a:rPr sz="1100" dirty="0">
                <a:solidFill>
                  <a:srgbClr val="93A2B8"/>
                </a:solidFill>
                <a:latin typeface="Times New Roman"/>
                <a:cs typeface="Times New Roman"/>
              </a:rPr>
              <a:t>Wraps</a:t>
            </a:r>
            <a:r>
              <a:rPr sz="1100" spc="-35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93A2B8"/>
                </a:solidFill>
                <a:latin typeface="Times New Roman"/>
                <a:cs typeface="Times New Roman"/>
              </a:rPr>
              <a:t>entire</a:t>
            </a:r>
            <a:r>
              <a:rPr sz="1100" spc="-30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93A2B8"/>
                </a:solidFill>
                <a:latin typeface="Times New Roman"/>
                <a:cs typeface="Times New Roman"/>
              </a:rPr>
              <a:t>method</a:t>
            </a:r>
            <a:r>
              <a:rPr sz="1100" spc="-10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93A2B8"/>
                </a:solidFill>
                <a:latin typeface="Times New Roman"/>
                <a:cs typeface="Times New Roman"/>
              </a:rPr>
              <a:t>in</a:t>
            </a:r>
            <a:r>
              <a:rPr sz="1100" spc="-20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100" spc="-50" dirty="0">
                <a:solidFill>
                  <a:srgbClr val="93A2B8"/>
                </a:solidFill>
                <a:latin typeface="Times New Roman"/>
                <a:cs typeface="Times New Roman"/>
              </a:rPr>
              <a:t>a</a:t>
            </a:r>
            <a:endParaRPr sz="1100">
              <a:latin typeface="Times New Roman"/>
              <a:cs typeface="Times New Roman"/>
            </a:endParaRPr>
          </a:p>
          <a:p>
            <a:pPr marL="91440" marR="125730">
              <a:lnSpc>
                <a:spcPct val="100000"/>
              </a:lnSpc>
            </a:pPr>
            <a:r>
              <a:rPr sz="1100" dirty="0">
                <a:solidFill>
                  <a:srgbClr val="93A2B8"/>
                </a:solidFill>
                <a:latin typeface="Times New Roman"/>
                <a:cs typeface="Times New Roman"/>
              </a:rPr>
              <a:t>database</a:t>
            </a:r>
            <a:r>
              <a:rPr sz="1100" spc="-50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93A2B8"/>
                </a:solidFill>
                <a:latin typeface="Times New Roman"/>
                <a:cs typeface="Times New Roman"/>
              </a:rPr>
              <a:t>transaction.</a:t>
            </a:r>
            <a:r>
              <a:rPr sz="1100" spc="-45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93A2B8"/>
                </a:solidFill>
                <a:latin typeface="Times New Roman"/>
                <a:cs typeface="Times New Roman"/>
              </a:rPr>
              <a:t>Rolls</a:t>
            </a:r>
            <a:r>
              <a:rPr sz="1100" spc="-30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100" spc="-20" dirty="0">
                <a:solidFill>
                  <a:srgbClr val="93A2B8"/>
                </a:solidFill>
                <a:latin typeface="Times New Roman"/>
                <a:cs typeface="Times New Roman"/>
              </a:rPr>
              <a:t>back </a:t>
            </a:r>
            <a:r>
              <a:rPr sz="1100" dirty="0">
                <a:solidFill>
                  <a:srgbClr val="93A2B8"/>
                </a:solidFill>
                <a:latin typeface="Times New Roman"/>
                <a:cs typeface="Times New Roman"/>
              </a:rPr>
              <a:t>on</a:t>
            </a:r>
            <a:r>
              <a:rPr sz="1100" spc="-15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93A2B8"/>
                </a:solidFill>
                <a:latin typeface="Times New Roman"/>
                <a:cs typeface="Times New Roman"/>
              </a:rPr>
              <a:t>RuntimeException</a:t>
            </a:r>
            <a:r>
              <a:rPr sz="1100" spc="-55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100" spc="-10" dirty="0">
                <a:solidFill>
                  <a:srgbClr val="93A2B8"/>
                </a:solidFill>
                <a:latin typeface="Times New Roman"/>
                <a:cs typeface="Times New Roman"/>
              </a:rPr>
              <a:t>ensuring </a:t>
            </a:r>
            <a:r>
              <a:rPr sz="1100" dirty="0">
                <a:solidFill>
                  <a:srgbClr val="93A2B8"/>
                </a:solidFill>
                <a:latin typeface="Times New Roman"/>
                <a:cs typeface="Times New Roman"/>
              </a:rPr>
              <a:t>data</a:t>
            </a:r>
            <a:r>
              <a:rPr sz="1100" spc="-20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100" spc="-10" dirty="0">
                <a:solidFill>
                  <a:srgbClr val="93A2B8"/>
                </a:solidFill>
                <a:latin typeface="Times New Roman"/>
                <a:cs typeface="Times New Roman"/>
              </a:rPr>
              <a:t>consistency.</a:t>
            </a:r>
            <a:endParaRPr sz="1100">
              <a:latin typeface="Times New Roman"/>
              <a:cs typeface="Times New Roman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4434840" y="877824"/>
            <a:ext cx="2224405" cy="1584325"/>
            <a:chOff x="4434840" y="877824"/>
            <a:chExt cx="2224405" cy="1584325"/>
          </a:xfrm>
        </p:grpSpPr>
        <p:pic>
          <p:nvPicPr>
            <p:cNvPr id="15" name="object 1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434840" y="877824"/>
              <a:ext cx="2224277" cy="1584198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4572000" y="960120"/>
              <a:ext cx="2011680" cy="1371600"/>
            </a:xfrm>
            <a:custGeom>
              <a:avLst/>
              <a:gdLst/>
              <a:ahLst/>
              <a:cxnLst/>
              <a:rect l="l" t="t" r="r" b="b"/>
              <a:pathLst>
                <a:path w="2011679" h="1371600">
                  <a:moveTo>
                    <a:pt x="0" y="1371599"/>
                  </a:moveTo>
                  <a:lnTo>
                    <a:pt x="2011679" y="1371599"/>
                  </a:lnTo>
                  <a:lnTo>
                    <a:pt x="2011679" y="0"/>
                  </a:lnTo>
                  <a:lnTo>
                    <a:pt x="0" y="0"/>
                  </a:lnTo>
                  <a:lnTo>
                    <a:pt x="0" y="1371599"/>
                  </a:lnTo>
                  <a:close/>
                </a:path>
              </a:pathLst>
            </a:custGeom>
            <a:ln w="12700">
              <a:solidFill>
                <a:srgbClr val="E1E8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4572000" y="960119"/>
            <a:ext cx="2011680" cy="347980"/>
          </a:xfrm>
          <a:prstGeom prst="rect">
            <a:avLst/>
          </a:prstGeom>
          <a:solidFill>
            <a:srgbClr val="8A5CF6"/>
          </a:solidFill>
          <a:ln w="12700">
            <a:solidFill>
              <a:srgbClr val="8A5CF6"/>
            </a:solidFill>
          </a:ln>
        </p:spPr>
        <p:txBody>
          <a:bodyPr vert="horz" wrap="square" lIns="0" tIns="69850" rIns="0" bIns="0" rtlCol="0">
            <a:spAutoFit/>
          </a:bodyPr>
          <a:lstStyle/>
          <a:p>
            <a:pPr marL="487045">
              <a:lnSpc>
                <a:spcPct val="100000"/>
              </a:lnSpc>
              <a:spcBef>
                <a:spcPts val="550"/>
              </a:spcBef>
            </a:pPr>
            <a:r>
              <a:rPr sz="1300" b="1" dirty="0">
                <a:solidFill>
                  <a:srgbClr val="FFFFFF"/>
                </a:solidFill>
                <a:latin typeface="Times New Roman"/>
                <a:cs typeface="Times New Roman"/>
              </a:rPr>
              <a:t>Business</a:t>
            </a:r>
            <a:r>
              <a:rPr sz="1300" b="1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3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Logic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572000" y="1307591"/>
            <a:ext cx="2011680" cy="1024255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2159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70"/>
              </a:spcBef>
            </a:pPr>
            <a:endParaRPr sz="1100">
              <a:latin typeface="Times New Roman"/>
              <a:cs typeface="Times New Roman"/>
            </a:endParaRPr>
          </a:p>
          <a:p>
            <a:pPr marL="92075" marR="82550">
              <a:lnSpc>
                <a:spcPct val="100000"/>
              </a:lnSpc>
            </a:pPr>
            <a:r>
              <a:rPr sz="1100" dirty="0">
                <a:solidFill>
                  <a:srgbClr val="93A2B8"/>
                </a:solidFill>
                <a:latin typeface="Times New Roman"/>
                <a:cs typeface="Times New Roman"/>
              </a:rPr>
              <a:t>Centralized</a:t>
            </a:r>
            <a:r>
              <a:rPr sz="1100" spc="-35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93A2B8"/>
                </a:solidFill>
                <a:latin typeface="Times New Roman"/>
                <a:cs typeface="Times New Roman"/>
              </a:rPr>
              <a:t>domain</a:t>
            </a:r>
            <a:r>
              <a:rPr sz="1100" spc="-15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93A2B8"/>
                </a:solidFill>
                <a:latin typeface="Times New Roman"/>
                <a:cs typeface="Times New Roman"/>
              </a:rPr>
              <a:t>rules:</a:t>
            </a:r>
            <a:r>
              <a:rPr sz="1100" spc="-45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100" spc="-10" dirty="0">
                <a:solidFill>
                  <a:srgbClr val="93A2B8"/>
                </a:solidFill>
                <a:latin typeface="Times New Roman"/>
                <a:cs typeface="Times New Roman"/>
              </a:rPr>
              <a:t>price </a:t>
            </a:r>
            <a:r>
              <a:rPr sz="1100" dirty="0">
                <a:solidFill>
                  <a:srgbClr val="93A2B8"/>
                </a:solidFill>
                <a:latin typeface="Times New Roman"/>
                <a:cs typeface="Times New Roman"/>
              </a:rPr>
              <a:t>calculation,</a:t>
            </a:r>
            <a:r>
              <a:rPr sz="1100" spc="-45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93A2B8"/>
                </a:solidFill>
                <a:latin typeface="Times New Roman"/>
                <a:cs typeface="Times New Roman"/>
              </a:rPr>
              <a:t>discount</a:t>
            </a:r>
            <a:r>
              <a:rPr sz="1100" spc="-45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93A2B8"/>
                </a:solidFill>
                <a:latin typeface="Times New Roman"/>
                <a:cs typeface="Times New Roman"/>
              </a:rPr>
              <a:t>logic,</a:t>
            </a:r>
            <a:r>
              <a:rPr sz="1100" spc="-25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100" spc="-10" dirty="0">
                <a:solidFill>
                  <a:srgbClr val="93A2B8"/>
                </a:solidFill>
                <a:latin typeface="Times New Roman"/>
                <a:cs typeface="Times New Roman"/>
              </a:rPr>
              <a:t>stock </a:t>
            </a:r>
            <a:r>
              <a:rPr sz="1100" dirty="0">
                <a:solidFill>
                  <a:srgbClr val="93A2B8"/>
                </a:solidFill>
                <a:latin typeface="Times New Roman"/>
                <a:cs typeface="Times New Roman"/>
              </a:rPr>
              <a:t>deduction,</a:t>
            </a:r>
            <a:r>
              <a:rPr sz="1100" spc="-40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93A2B8"/>
                </a:solidFill>
                <a:latin typeface="Times New Roman"/>
                <a:cs typeface="Times New Roman"/>
              </a:rPr>
              <a:t>reorder</a:t>
            </a:r>
            <a:r>
              <a:rPr sz="1100" spc="-25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100" spc="-10" dirty="0">
                <a:solidFill>
                  <a:srgbClr val="93A2B8"/>
                </a:solidFill>
                <a:latin typeface="Times New Roman"/>
                <a:cs typeface="Times New Roman"/>
              </a:rPr>
              <a:t>point evaluation.</a:t>
            </a:r>
            <a:endParaRPr sz="1100">
              <a:latin typeface="Times New Roman"/>
              <a:cs typeface="Times New Roman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6583680" y="877824"/>
            <a:ext cx="2224405" cy="1584325"/>
            <a:chOff x="6583680" y="877824"/>
            <a:chExt cx="2224405" cy="1584325"/>
          </a:xfrm>
        </p:grpSpPr>
        <p:pic>
          <p:nvPicPr>
            <p:cNvPr id="20" name="object 2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583680" y="877824"/>
              <a:ext cx="2224278" cy="1584198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6720840" y="960120"/>
              <a:ext cx="2011680" cy="1371600"/>
            </a:xfrm>
            <a:custGeom>
              <a:avLst/>
              <a:gdLst/>
              <a:ahLst/>
              <a:cxnLst/>
              <a:rect l="l" t="t" r="r" b="b"/>
              <a:pathLst>
                <a:path w="2011679" h="1371600">
                  <a:moveTo>
                    <a:pt x="0" y="1371599"/>
                  </a:moveTo>
                  <a:lnTo>
                    <a:pt x="2011679" y="1371599"/>
                  </a:lnTo>
                  <a:lnTo>
                    <a:pt x="2011679" y="0"/>
                  </a:lnTo>
                  <a:lnTo>
                    <a:pt x="0" y="0"/>
                  </a:lnTo>
                  <a:lnTo>
                    <a:pt x="0" y="1371599"/>
                  </a:lnTo>
                  <a:close/>
                </a:path>
              </a:pathLst>
            </a:custGeom>
            <a:ln w="12700">
              <a:solidFill>
                <a:srgbClr val="E1E8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6720840" y="960119"/>
            <a:ext cx="2011680" cy="347980"/>
          </a:xfrm>
          <a:prstGeom prst="rect">
            <a:avLst/>
          </a:prstGeom>
          <a:solidFill>
            <a:srgbClr val="F87316"/>
          </a:solidFill>
          <a:ln w="12700">
            <a:solidFill>
              <a:srgbClr val="F87316"/>
            </a:solidFill>
          </a:ln>
        </p:spPr>
        <p:txBody>
          <a:bodyPr vert="horz" wrap="square" lIns="0" tIns="69850" rIns="0" bIns="0" rtlCol="0">
            <a:spAutoFit/>
          </a:bodyPr>
          <a:lstStyle/>
          <a:p>
            <a:pPr marL="377190">
              <a:lnSpc>
                <a:spcPct val="100000"/>
              </a:lnSpc>
              <a:spcBef>
                <a:spcPts val="550"/>
              </a:spcBef>
            </a:pPr>
            <a:r>
              <a:rPr sz="1300" b="1" dirty="0">
                <a:solidFill>
                  <a:srgbClr val="FFFFFF"/>
                </a:solidFill>
                <a:latin typeface="Times New Roman"/>
                <a:cs typeface="Times New Roman"/>
              </a:rPr>
              <a:t>Service</a:t>
            </a:r>
            <a:r>
              <a:rPr sz="1300" b="1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3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Interfaces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6720840" y="1307591"/>
            <a:ext cx="2011680" cy="1024255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10541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830"/>
              </a:spcBef>
            </a:pPr>
            <a:endParaRPr sz="1100">
              <a:latin typeface="Times New Roman"/>
              <a:cs typeface="Times New Roman"/>
            </a:endParaRPr>
          </a:p>
          <a:p>
            <a:pPr marL="92075" marR="191770" algn="just">
              <a:lnSpc>
                <a:spcPct val="100000"/>
              </a:lnSpc>
            </a:pPr>
            <a:r>
              <a:rPr sz="1100" dirty="0">
                <a:solidFill>
                  <a:srgbClr val="93A2B8"/>
                </a:solidFill>
                <a:latin typeface="Times New Roman"/>
                <a:cs typeface="Times New Roman"/>
              </a:rPr>
              <a:t>Services</a:t>
            </a:r>
            <a:r>
              <a:rPr sz="1100" spc="-50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93A2B8"/>
                </a:solidFill>
                <a:latin typeface="Times New Roman"/>
                <a:cs typeface="Times New Roman"/>
              </a:rPr>
              <a:t>implement</a:t>
            </a:r>
            <a:r>
              <a:rPr sz="1100" spc="-30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100" spc="-10" dirty="0">
                <a:solidFill>
                  <a:srgbClr val="93A2B8"/>
                </a:solidFill>
                <a:latin typeface="Times New Roman"/>
                <a:cs typeface="Times New Roman"/>
              </a:rPr>
              <a:t>interfaces </a:t>
            </a:r>
            <a:r>
              <a:rPr sz="1100" dirty="0">
                <a:solidFill>
                  <a:srgbClr val="93A2B8"/>
                </a:solidFill>
                <a:latin typeface="Times New Roman"/>
                <a:cs typeface="Times New Roman"/>
              </a:rPr>
              <a:t>for</a:t>
            </a:r>
            <a:r>
              <a:rPr sz="1100" spc="-20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93A2B8"/>
                </a:solidFill>
                <a:latin typeface="Times New Roman"/>
                <a:cs typeface="Times New Roman"/>
              </a:rPr>
              <a:t>loose</a:t>
            </a:r>
            <a:r>
              <a:rPr sz="1100" spc="-20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93A2B8"/>
                </a:solidFill>
                <a:latin typeface="Times New Roman"/>
                <a:cs typeface="Times New Roman"/>
              </a:rPr>
              <a:t>coupling,</a:t>
            </a:r>
            <a:r>
              <a:rPr sz="1100" spc="-35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100" spc="-10" dirty="0">
                <a:solidFill>
                  <a:srgbClr val="93A2B8"/>
                </a:solidFill>
                <a:latin typeface="Times New Roman"/>
                <a:cs typeface="Times New Roman"/>
              </a:rPr>
              <a:t>testability, </a:t>
            </a:r>
            <a:r>
              <a:rPr sz="1100" dirty="0">
                <a:solidFill>
                  <a:srgbClr val="93A2B8"/>
                </a:solidFill>
                <a:latin typeface="Times New Roman"/>
                <a:cs typeface="Times New Roman"/>
              </a:rPr>
              <a:t>and</a:t>
            </a:r>
            <a:r>
              <a:rPr sz="1100" spc="-15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93A2B8"/>
                </a:solidFill>
                <a:latin typeface="Times New Roman"/>
                <a:cs typeface="Times New Roman"/>
              </a:rPr>
              <a:t>easy</a:t>
            </a:r>
            <a:r>
              <a:rPr sz="1100" spc="-10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93A2B8"/>
                </a:solidFill>
                <a:latin typeface="Times New Roman"/>
                <a:cs typeface="Times New Roman"/>
              </a:rPr>
              <a:t>mocking</a:t>
            </a:r>
            <a:r>
              <a:rPr sz="1100" spc="-15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93A2B8"/>
                </a:solidFill>
                <a:latin typeface="Times New Roman"/>
                <a:cs typeface="Times New Roman"/>
              </a:rPr>
              <a:t>in</a:t>
            </a:r>
            <a:r>
              <a:rPr sz="1100" spc="-15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93A2B8"/>
                </a:solidFill>
                <a:latin typeface="Times New Roman"/>
                <a:cs typeface="Times New Roman"/>
              </a:rPr>
              <a:t>unit</a:t>
            </a:r>
            <a:r>
              <a:rPr sz="1100" spc="-20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100" spc="-10" dirty="0">
                <a:solidFill>
                  <a:srgbClr val="93A2B8"/>
                </a:solidFill>
                <a:latin typeface="Times New Roman"/>
                <a:cs typeface="Times New Roman"/>
              </a:rPr>
              <a:t>tests.</a:t>
            </a:r>
            <a:endParaRPr sz="1100">
              <a:latin typeface="Times New Roman"/>
              <a:cs typeface="Times New Roman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137160" y="2432315"/>
            <a:ext cx="8808085" cy="2635885"/>
            <a:chOff x="137160" y="2432315"/>
            <a:chExt cx="8808085" cy="2635885"/>
          </a:xfrm>
        </p:grpSpPr>
        <p:pic>
          <p:nvPicPr>
            <p:cNvPr id="25" name="object 2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7160" y="2432315"/>
              <a:ext cx="8807958" cy="2635758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274320" y="2862072"/>
              <a:ext cx="8595360" cy="2075814"/>
            </a:xfrm>
            <a:custGeom>
              <a:avLst/>
              <a:gdLst/>
              <a:ahLst/>
              <a:cxnLst/>
              <a:rect l="l" t="t" r="r" b="b"/>
              <a:pathLst>
                <a:path w="8595360" h="2075814">
                  <a:moveTo>
                    <a:pt x="0" y="2075688"/>
                  </a:moveTo>
                  <a:lnTo>
                    <a:pt x="8595360" y="2075688"/>
                  </a:lnTo>
                  <a:lnTo>
                    <a:pt x="8595360" y="0"/>
                  </a:lnTo>
                  <a:lnTo>
                    <a:pt x="0" y="0"/>
                  </a:lnTo>
                  <a:lnTo>
                    <a:pt x="0" y="207568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274320" y="2514600"/>
              <a:ext cx="8595360" cy="2423160"/>
            </a:xfrm>
            <a:custGeom>
              <a:avLst/>
              <a:gdLst/>
              <a:ahLst/>
              <a:cxnLst/>
              <a:rect l="l" t="t" r="r" b="b"/>
              <a:pathLst>
                <a:path w="8595360" h="2423160">
                  <a:moveTo>
                    <a:pt x="0" y="2423160"/>
                  </a:moveTo>
                  <a:lnTo>
                    <a:pt x="8595360" y="2423160"/>
                  </a:lnTo>
                  <a:lnTo>
                    <a:pt x="8595360" y="0"/>
                  </a:lnTo>
                  <a:lnTo>
                    <a:pt x="0" y="0"/>
                  </a:lnTo>
                  <a:lnTo>
                    <a:pt x="0" y="2423160"/>
                  </a:lnTo>
                  <a:close/>
                </a:path>
              </a:pathLst>
            </a:custGeom>
            <a:ln w="12699">
              <a:solidFill>
                <a:srgbClr val="E1E8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274320" y="2514600"/>
              <a:ext cx="8595360" cy="347980"/>
            </a:xfrm>
            <a:custGeom>
              <a:avLst/>
              <a:gdLst/>
              <a:ahLst/>
              <a:cxnLst/>
              <a:rect l="l" t="t" r="r" b="b"/>
              <a:pathLst>
                <a:path w="8595360" h="347980">
                  <a:moveTo>
                    <a:pt x="8595360" y="0"/>
                  </a:moveTo>
                  <a:lnTo>
                    <a:pt x="0" y="0"/>
                  </a:lnTo>
                  <a:lnTo>
                    <a:pt x="0" y="347472"/>
                  </a:lnTo>
                  <a:lnTo>
                    <a:pt x="8595360" y="347472"/>
                  </a:lnTo>
                  <a:lnTo>
                    <a:pt x="8595360" y="0"/>
                  </a:lnTo>
                  <a:close/>
                </a:path>
              </a:pathLst>
            </a:custGeom>
            <a:solidFill>
              <a:srgbClr val="0FB88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274320" y="2514600"/>
              <a:ext cx="8595360" cy="347980"/>
            </a:xfrm>
            <a:custGeom>
              <a:avLst/>
              <a:gdLst/>
              <a:ahLst/>
              <a:cxnLst/>
              <a:rect l="l" t="t" r="r" b="b"/>
              <a:pathLst>
                <a:path w="8595360" h="347980">
                  <a:moveTo>
                    <a:pt x="0" y="347472"/>
                  </a:moveTo>
                  <a:lnTo>
                    <a:pt x="8595360" y="347472"/>
                  </a:lnTo>
                  <a:lnTo>
                    <a:pt x="8595360" y="0"/>
                  </a:lnTo>
                  <a:lnTo>
                    <a:pt x="0" y="0"/>
                  </a:lnTo>
                  <a:lnTo>
                    <a:pt x="0" y="347472"/>
                  </a:lnTo>
                  <a:close/>
                </a:path>
              </a:pathLst>
            </a:custGeom>
            <a:ln w="12700">
              <a:solidFill>
                <a:srgbClr val="0FB88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307340" y="2563749"/>
            <a:ext cx="230060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solidFill>
                  <a:srgbClr val="FFFFFF"/>
                </a:solidFill>
                <a:latin typeface="Times New Roman"/>
                <a:cs typeface="Times New Roman"/>
              </a:rPr>
              <a:t>Key</a:t>
            </a:r>
            <a:r>
              <a:rPr sz="1400" b="1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b="1" dirty="0">
                <a:solidFill>
                  <a:srgbClr val="FFFFFF"/>
                </a:solidFill>
                <a:latin typeface="Times New Roman"/>
                <a:cs typeface="Times New Roman"/>
              </a:rPr>
              <a:t>Service</a:t>
            </a:r>
            <a:r>
              <a:rPr sz="1400" b="1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b="1" dirty="0">
                <a:solidFill>
                  <a:srgbClr val="FFFFFF"/>
                </a:solidFill>
                <a:latin typeface="Times New Roman"/>
                <a:cs typeface="Times New Roman"/>
              </a:rPr>
              <a:t>Methods</a:t>
            </a:r>
            <a:r>
              <a:rPr sz="1400" b="1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b="1" dirty="0">
                <a:solidFill>
                  <a:srgbClr val="FFFFFF"/>
                </a:solidFill>
                <a:latin typeface="Times New Roman"/>
                <a:cs typeface="Times New Roman"/>
              </a:rPr>
              <a:t>&amp;</a:t>
            </a:r>
            <a:r>
              <a:rPr sz="14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b="1" spc="-20" dirty="0">
                <a:solidFill>
                  <a:srgbClr val="FFFFFF"/>
                </a:solidFill>
                <a:latin typeface="Times New Roman"/>
                <a:cs typeface="Times New Roman"/>
              </a:rPr>
              <a:t>Logic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384047" y="2971800"/>
            <a:ext cx="2743200" cy="329565"/>
          </a:xfrm>
          <a:prstGeom prst="rect">
            <a:avLst/>
          </a:prstGeom>
          <a:solidFill>
            <a:srgbClr val="0FB881">
              <a:alpha val="79998"/>
            </a:srgbClr>
          </a:solidFill>
          <a:ln w="12700">
            <a:solidFill>
              <a:srgbClr val="0FB881"/>
            </a:solidFill>
          </a:ln>
        </p:spPr>
        <p:txBody>
          <a:bodyPr vert="horz" wrap="square" lIns="0" tIns="83820" rIns="0" bIns="0" rtlCol="0">
            <a:spAutoFit/>
          </a:bodyPr>
          <a:lstStyle/>
          <a:p>
            <a:pPr marL="63500">
              <a:lnSpc>
                <a:spcPct val="100000"/>
              </a:lnSpc>
              <a:spcBef>
                <a:spcPts val="660"/>
              </a:spcBef>
            </a:pPr>
            <a:r>
              <a:rPr sz="1000" b="1" spc="-10" dirty="0">
                <a:solidFill>
                  <a:srgbClr val="1E293A"/>
                </a:solidFill>
                <a:latin typeface="Times New Roman"/>
                <a:cs typeface="Times New Roman"/>
              </a:rPr>
              <a:t>processOrder(OrderDTO</a:t>
            </a:r>
            <a:r>
              <a:rPr sz="1000" b="1" spc="95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000" b="1" spc="-20" dirty="0">
                <a:solidFill>
                  <a:srgbClr val="1E293A"/>
                </a:solidFill>
                <a:latin typeface="Times New Roman"/>
                <a:cs typeface="Times New Roman"/>
              </a:rPr>
              <a:t>dto)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3234054" y="2959989"/>
            <a:ext cx="5447665" cy="3467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dirty="0">
                <a:solidFill>
                  <a:srgbClr val="93A2B8"/>
                </a:solidFill>
                <a:latin typeface="Times New Roman"/>
                <a:cs typeface="Times New Roman"/>
              </a:rPr>
              <a:t>Validates</a:t>
            </a:r>
            <a:r>
              <a:rPr sz="1050" spc="-40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050" dirty="0">
                <a:solidFill>
                  <a:srgbClr val="93A2B8"/>
                </a:solidFill>
                <a:latin typeface="Times New Roman"/>
                <a:cs typeface="Times New Roman"/>
              </a:rPr>
              <a:t>stock</a:t>
            </a:r>
            <a:r>
              <a:rPr sz="1050" spc="-25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050" dirty="0">
                <a:solidFill>
                  <a:srgbClr val="93A2B8"/>
                </a:solidFill>
                <a:latin typeface="Times New Roman"/>
                <a:cs typeface="Times New Roman"/>
              </a:rPr>
              <a:t>→</a:t>
            </a:r>
            <a:r>
              <a:rPr sz="1050" spc="-10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050" dirty="0">
                <a:solidFill>
                  <a:srgbClr val="93A2B8"/>
                </a:solidFill>
                <a:latin typeface="Times New Roman"/>
                <a:cs typeface="Times New Roman"/>
              </a:rPr>
              <a:t>deducts</a:t>
            </a:r>
            <a:r>
              <a:rPr sz="1050" spc="-35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050" dirty="0">
                <a:solidFill>
                  <a:srgbClr val="93A2B8"/>
                </a:solidFill>
                <a:latin typeface="Times New Roman"/>
                <a:cs typeface="Times New Roman"/>
              </a:rPr>
              <a:t>quantity</a:t>
            </a:r>
            <a:r>
              <a:rPr sz="1050" spc="-25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050" dirty="0">
                <a:solidFill>
                  <a:srgbClr val="93A2B8"/>
                </a:solidFill>
                <a:latin typeface="Times New Roman"/>
                <a:cs typeface="Times New Roman"/>
              </a:rPr>
              <a:t>→</a:t>
            </a:r>
            <a:r>
              <a:rPr sz="1050" spc="-20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050" dirty="0">
                <a:solidFill>
                  <a:srgbClr val="93A2B8"/>
                </a:solidFill>
                <a:latin typeface="Times New Roman"/>
                <a:cs typeface="Times New Roman"/>
              </a:rPr>
              <a:t>creates</a:t>
            </a:r>
            <a:r>
              <a:rPr sz="1050" spc="-40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050" dirty="0">
                <a:solidFill>
                  <a:srgbClr val="93A2B8"/>
                </a:solidFill>
                <a:latin typeface="Times New Roman"/>
                <a:cs typeface="Times New Roman"/>
              </a:rPr>
              <a:t>order</a:t>
            </a:r>
            <a:r>
              <a:rPr sz="1050" spc="-15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050" dirty="0">
                <a:solidFill>
                  <a:srgbClr val="93A2B8"/>
                </a:solidFill>
                <a:latin typeface="Times New Roman"/>
                <a:cs typeface="Times New Roman"/>
              </a:rPr>
              <a:t>record</a:t>
            </a:r>
            <a:r>
              <a:rPr sz="1050" spc="-30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050" dirty="0">
                <a:solidFill>
                  <a:srgbClr val="93A2B8"/>
                </a:solidFill>
                <a:latin typeface="Times New Roman"/>
                <a:cs typeface="Times New Roman"/>
              </a:rPr>
              <a:t>→</a:t>
            </a:r>
            <a:r>
              <a:rPr sz="1050" spc="-10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050" dirty="0">
                <a:solidFill>
                  <a:srgbClr val="93A2B8"/>
                </a:solidFill>
                <a:latin typeface="Times New Roman"/>
                <a:cs typeface="Times New Roman"/>
              </a:rPr>
              <a:t>updates</a:t>
            </a:r>
            <a:r>
              <a:rPr sz="1050" spc="-40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050" dirty="0">
                <a:solidFill>
                  <a:srgbClr val="93A2B8"/>
                </a:solidFill>
                <a:latin typeface="Times New Roman"/>
                <a:cs typeface="Times New Roman"/>
              </a:rPr>
              <a:t>stock</a:t>
            </a:r>
            <a:r>
              <a:rPr sz="1050" spc="-5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050" dirty="0">
                <a:solidFill>
                  <a:srgbClr val="93A2B8"/>
                </a:solidFill>
                <a:latin typeface="Times New Roman"/>
                <a:cs typeface="Times New Roman"/>
              </a:rPr>
              <a:t>ledger</a:t>
            </a:r>
            <a:r>
              <a:rPr sz="1050" spc="-40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050" dirty="0">
                <a:solidFill>
                  <a:srgbClr val="93A2B8"/>
                </a:solidFill>
                <a:latin typeface="Times New Roman"/>
                <a:cs typeface="Times New Roman"/>
              </a:rPr>
              <a:t>→</a:t>
            </a:r>
            <a:r>
              <a:rPr sz="1050" spc="-10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050" dirty="0">
                <a:solidFill>
                  <a:srgbClr val="93A2B8"/>
                </a:solidFill>
                <a:latin typeface="Times New Roman"/>
                <a:cs typeface="Times New Roman"/>
              </a:rPr>
              <a:t>triggers</a:t>
            </a:r>
            <a:r>
              <a:rPr sz="1050" spc="-20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050" dirty="0">
                <a:solidFill>
                  <a:srgbClr val="93A2B8"/>
                </a:solidFill>
                <a:latin typeface="Times New Roman"/>
                <a:cs typeface="Times New Roman"/>
              </a:rPr>
              <a:t>alert</a:t>
            </a:r>
            <a:r>
              <a:rPr sz="1050" spc="-30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050" spc="-25" dirty="0">
                <a:solidFill>
                  <a:srgbClr val="93A2B8"/>
                </a:solidFill>
                <a:latin typeface="Times New Roman"/>
                <a:cs typeface="Times New Roman"/>
              </a:rPr>
              <a:t>if</a:t>
            </a:r>
            <a:endParaRPr sz="10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050" dirty="0">
                <a:solidFill>
                  <a:srgbClr val="93A2B8"/>
                </a:solidFill>
                <a:latin typeface="Times New Roman"/>
                <a:cs typeface="Times New Roman"/>
              </a:rPr>
              <a:t>below</a:t>
            </a:r>
            <a:r>
              <a:rPr sz="1050" spc="-45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050" dirty="0">
                <a:solidFill>
                  <a:srgbClr val="93A2B8"/>
                </a:solidFill>
                <a:latin typeface="Times New Roman"/>
                <a:cs typeface="Times New Roman"/>
              </a:rPr>
              <a:t>threshold.</a:t>
            </a:r>
            <a:r>
              <a:rPr sz="1050" spc="-35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050" dirty="0">
                <a:solidFill>
                  <a:srgbClr val="93A2B8"/>
                </a:solidFill>
                <a:latin typeface="Times New Roman"/>
                <a:cs typeface="Times New Roman"/>
              </a:rPr>
              <a:t>Fully</a:t>
            </a:r>
            <a:r>
              <a:rPr sz="1050" spc="-15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050" spc="-10" dirty="0">
                <a:solidFill>
                  <a:srgbClr val="93A2B8"/>
                </a:solidFill>
                <a:latin typeface="Times New Roman"/>
                <a:cs typeface="Times New Roman"/>
              </a:rPr>
              <a:t>transactional.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384047" y="3447288"/>
            <a:ext cx="2743200" cy="329565"/>
          </a:xfrm>
          <a:prstGeom prst="rect">
            <a:avLst/>
          </a:prstGeom>
          <a:solidFill>
            <a:srgbClr val="0FB881">
              <a:alpha val="79998"/>
            </a:srgbClr>
          </a:solidFill>
          <a:ln w="12700">
            <a:solidFill>
              <a:srgbClr val="0FB881"/>
            </a:solidFill>
          </a:ln>
        </p:spPr>
        <p:txBody>
          <a:bodyPr vert="horz" wrap="square" lIns="0" tIns="83820" rIns="0" bIns="0" rtlCol="0">
            <a:spAutoFit/>
          </a:bodyPr>
          <a:lstStyle/>
          <a:p>
            <a:pPr marL="63500">
              <a:lnSpc>
                <a:spcPct val="100000"/>
              </a:lnSpc>
              <a:spcBef>
                <a:spcPts val="660"/>
              </a:spcBef>
            </a:pPr>
            <a:r>
              <a:rPr sz="1000" b="1" spc="-10" dirty="0">
                <a:solidFill>
                  <a:srgbClr val="1E293A"/>
                </a:solidFill>
                <a:latin typeface="Times New Roman"/>
                <a:cs typeface="Times New Roman"/>
              </a:rPr>
              <a:t>restockProduct(int</a:t>
            </a:r>
            <a:r>
              <a:rPr sz="1000" b="1" spc="40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000" b="1" dirty="0">
                <a:solidFill>
                  <a:srgbClr val="1E293A"/>
                </a:solidFill>
                <a:latin typeface="Times New Roman"/>
                <a:cs typeface="Times New Roman"/>
              </a:rPr>
              <a:t>id, int</a:t>
            </a:r>
            <a:r>
              <a:rPr sz="1000" b="1" spc="5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000" b="1" spc="-20" dirty="0">
                <a:solidFill>
                  <a:srgbClr val="1E293A"/>
                </a:solidFill>
                <a:latin typeface="Times New Roman"/>
                <a:cs typeface="Times New Roman"/>
              </a:rPr>
              <a:t>qty)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3234054" y="3435477"/>
            <a:ext cx="5187950" cy="34734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1050" dirty="0">
                <a:solidFill>
                  <a:srgbClr val="93A2B8"/>
                </a:solidFill>
                <a:latin typeface="Times New Roman"/>
                <a:cs typeface="Times New Roman"/>
              </a:rPr>
              <a:t>Adds</a:t>
            </a:r>
            <a:r>
              <a:rPr sz="1050" spc="-25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050" dirty="0">
                <a:solidFill>
                  <a:srgbClr val="93A2B8"/>
                </a:solidFill>
                <a:latin typeface="Times New Roman"/>
                <a:cs typeface="Times New Roman"/>
              </a:rPr>
              <a:t>stock</a:t>
            </a:r>
            <a:r>
              <a:rPr sz="1050" spc="-5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050" dirty="0">
                <a:solidFill>
                  <a:srgbClr val="93A2B8"/>
                </a:solidFill>
                <a:latin typeface="Times New Roman"/>
                <a:cs typeface="Times New Roman"/>
              </a:rPr>
              <a:t>to</a:t>
            </a:r>
            <a:r>
              <a:rPr sz="1050" spc="-20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050" dirty="0">
                <a:solidFill>
                  <a:srgbClr val="93A2B8"/>
                </a:solidFill>
                <a:latin typeface="Times New Roman"/>
                <a:cs typeface="Times New Roman"/>
              </a:rPr>
              <a:t>product</a:t>
            </a:r>
            <a:r>
              <a:rPr sz="1050" spc="-30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050" dirty="0">
                <a:solidFill>
                  <a:srgbClr val="93A2B8"/>
                </a:solidFill>
                <a:latin typeface="Times New Roman"/>
                <a:cs typeface="Times New Roman"/>
              </a:rPr>
              <a:t>→</a:t>
            </a:r>
            <a:r>
              <a:rPr sz="1050" spc="-20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050" dirty="0">
                <a:solidFill>
                  <a:srgbClr val="93A2B8"/>
                </a:solidFill>
                <a:latin typeface="Times New Roman"/>
                <a:cs typeface="Times New Roman"/>
              </a:rPr>
              <a:t>logs</a:t>
            </a:r>
            <a:r>
              <a:rPr sz="1050" spc="-5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050" dirty="0">
                <a:solidFill>
                  <a:srgbClr val="93A2B8"/>
                </a:solidFill>
                <a:latin typeface="Times New Roman"/>
                <a:cs typeface="Times New Roman"/>
              </a:rPr>
              <a:t>stock</a:t>
            </a:r>
            <a:r>
              <a:rPr sz="1050" spc="-20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050" dirty="0">
                <a:solidFill>
                  <a:srgbClr val="93A2B8"/>
                </a:solidFill>
                <a:latin typeface="Times New Roman"/>
                <a:cs typeface="Times New Roman"/>
              </a:rPr>
              <a:t>movement</a:t>
            </a:r>
            <a:r>
              <a:rPr sz="1050" spc="-5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050" dirty="0">
                <a:solidFill>
                  <a:srgbClr val="93A2B8"/>
                </a:solidFill>
                <a:latin typeface="Times New Roman"/>
                <a:cs typeface="Times New Roman"/>
              </a:rPr>
              <a:t>→</a:t>
            </a:r>
            <a:r>
              <a:rPr sz="1050" spc="-20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050" dirty="0">
                <a:solidFill>
                  <a:srgbClr val="93A2B8"/>
                </a:solidFill>
                <a:latin typeface="Times New Roman"/>
                <a:cs typeface="Times New Roman"/>
              </a:rPr>
              <a:t>clears</a:t>
            </a:r>
            <a:r>
              <a:rPr sz="1050" spc="-20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050" dirty="0">
                <a:solidFill>
                  <a:srgbClr val="93A2B8"/>
                </a:solidFill>
                <a:latin typeface="Times New Roman"/>
                <a:cs typeface="Times New Roman"/>
              </a:rPr>
              <a:t>any</a:t>
            </a:r>
            <a:r>
              <a:rPr sz="1050" spc="-25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050" spc="-10" dirty="0">
                <a:solidFill>
                  <a:srgbClr val="93A2B8"/>
                </a:solidFill>
                <a:latin typeface="Times New Roman"/>
                <a:cs typeface="Times New Roman"/>
              </a:rPr>
              <a:t>low-</a:t>
            </a:r>
            <a:r>
              <a:rPr sz="1050" dirty="0">
                <a:solidFill>
                  <a:srgbClr val="93A2B8"/>
                </a:solidFill>
                <a:latin typeface="Times New Roman"/>
                <a:cs typeface="Times New Roman"/>
              </a:rPr>
              <a:t>stock</a:t>
            </a:r>
            <a:r>
              <a:rPr sz="1050" spc="5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050" dirty="0">
                <a:solidFill>
                  <a:srgbClr val="93A2B8"/>
                </a:solidFill>
                <a:latin typeface="Times New Roman"/>
                <a:cs typeface="Times New Roman"/>
              </a:rPr>
              <a:t>alert</a:t>
            </a:r>
            <a:r>
              <a:rPr sz="1050" spc="-20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050" dirty="0">
                <a:solidFill>
                  <a:srgbClr val="93A2B8"/>
                </a:solidFill>
                <a:latin typeface="Times New Roman"/>
                <a:cs typeface="Times New Roman"/>
              </a:rPr>
              <a:t>→</a:t>
            </a:r>
            <a:r>
              <a:rPr sz="1050" spc="-25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050" dirty="0">
                <a:solidFill>
                  <a:srgbClr val="93A2B8"/>
                </a:solidFill>
                <a:latin typeface="Times New Roman"/>
                <a:cs typeface="Times New Roman"/>
              </a:rPr>
              <a:t>recalculates</a:t>
            </a:r>
            <a:r>
              <a:rPr sz="1050" spc="-45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050" spc="-10" dirty="0">
                <a:solidFill>
                  <a:srgbClr val="93A2B8"/>
                </a:solidFill>
                <a:latin typeface="Times New Roman"/>
                <a:cs typeface="Times New Roman"/>
              </a:rPr>
              <a:t>total </a:t>
            </a:r>
            <a:r>
              <a:rPr sz="1050" dirty="0">
                <a:solidFill>
                  <a:srgbClr val="93A2B8"/>
                </a:solidFill>
                <a:latin typeface="Times New Roman"/>
                <a:cs typeface="Times New Roman"/>
              </a:rPr>
              <a:t>inventory</a:t>
            </a:r>
            <a:r>
              <a:rPr sz="1050" spc="-40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050" spc="-10" dirty="0">
                <a:solidFill>
                  <a:srgbClr val="93A2B8"/>
                </a:solidFill>
                <a:latin typeface="Times New Roman"/>
                <a:cs typeface="Times New Roman"/>
              </a:rPr>
              <a:t>value.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384047" y="3922776"/>
            <a:ext cx="2743200" cy="329565"/>
          </a:xfrm>
          <a:prstGeom prst="rect">
            <a:avLst/>
          </a:prstGeom>
          <a:solidFill>
            <a:srgbClr val="0FB881">
              <a:alpha val="79998"/>
            </a:srgbClr>
          </a:solidFill>
          <a:ln w="12700">
            <a:solidFill>
              <a:srgbClr val="0FB881"/>
            </a:solidFill>
          </a:ln>
        </p:spPr>
        <p:txBody>
          <a:bodyPr vert="horz" wrap="square" lIns="0" tIns="84455" rIns="0" bIns="0" rtlCol="0">
            <a:spAutoFit/>
          </a:bodyPr>
          <a:lstStyle/>
          <a:p>
            <a:pPr marL="63500">
              <a:lnSpc>
                <a:spcPct val="100000"/>
              </a:lnSpc>
              <a:spcBef>
                <a:spcPts val="665"/>
              </a:spcBef>
            </a:pPr>
            <a:r>
              <a:rPr sz="1000" b="1" spc="-10" dirty="0">
                <a:solidFill>
                  <a:srgbClr val="1E293A"/>
                </a:solidFill>
                <a:latin typeface="Times New Roman"/>
                <a:cs typeface="Times New Roman"/>
              </a:rPr>
              <a:t>evaluateRiskThreshold(Product</a:t>
            </a:r>
            <a:r>
              <a:rPr sz="1000" b="1" spc="114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000" b="1" spc="-25" dirty="0">
                <a:solidFill>
                  <a:srgbClr val="1E293A"/>
                </a:solidFill>
                <a:latin typeface="Times New Roman"/>
                <a:cs typeface="Times New Roman"/>
              </a:rPr>
              <a:t>p)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3234054" y="3911295"/>
            <a:ext cx="5179695" cy="3467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1050" dirty="0">
                <a:solidFill>
                  <a:srgbClr val="93A2B8"/>
                </a:solidFill>
                <a:latin typeface="Times New Roman"/>
                <a:cs typeface="Times New Roman"/>
              </a:rPr>
              <a:t>Compares</a:t>
            </a:r>
            <a:r>
              <a:rPr sz="1050" spc="5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050" dirty="0">
                <a:solidFill>
                  <a:srgbClr val="93A2B8"/>
                </a:solidFill>
                <a:latin typeface="Times New Roman"/>
                <a:cs typeface="Times New Roman"/>
              </a:rPr>
              <a:t>currentStock against</a:t>
            </a:r>
            <a:r>
              <a:rPr sz="1050" spc="5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050" spc="-10" dirty="0">
                <a:solidFill>
                  <a:srgbClr val="93A2B8"/>
                </a:solidFill>
                <a:latin typeface="Times New Roman"/>
                <a:cs typeface="Times New Roman"/>
              </a:rPr>
              <a:t>minimumThreshold.</a:t>
            </a:r>
            <a:r>
              <a:rPr sz="1050" spc="5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050" dirty="0">
                <a:solidFill>
                  <a:srgbClr val="93A2B8"/>
                </a:solidFill>
                <a:latin typeface="Times New Roman"/>
                <a:cs typeface="Times New Roman"/>
              </a:rPr>
              <a:t>Returns</a:t>
            </a:r>
            <a:r>
              <a:rPr sz="1050" spc="10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050" spc="-10" dirty="0">
                <a:solidFill>
                  <a:srgbClr val="93A2B8"/>
                </a:solidFill>
                <a:latin typeface="Times New Roman"/>
                <a:cs typeface="Times New Roman"/>
              </a:rPr>
              <a:t>CRITICAL/WARNING/OK</a:t>
            </a:r>
            <a:r>
              <a:rPr sz="1050" spc="-5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050" spc="-10" dirty="0">
                <a:solidFill>
                  <a:srgbClr val="93A2B8"/>
                </a:solidFill>
                <a:latin typeface="Times New Roman"/>
                <a:cs typeface="Times New Roman"/>
              </a:rPr>
              <a:t>enum. </a:t>
            </a:r>
            <a:r>
              <a:rPr sz="1050" dirty="0">
                <a:solidFill>
                  <a:srgbClr val="93A2B8"/>
                </a:solidFill>
                <a:latin typeface="Times New Roman"/>
                <a:cs typeface="Times New Roman"/>
              </a:rPr>
              <a:t>Called</a:t>
            </a:r>
            <a:r>
              <a:rPr sz="1050" spc="-30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050" dirty="0">
                <a:solidFill>
                  <a:srgbClr val="93A2B8"/>
                </a:solidFill>
                <a:latin typeface="Times New Roman"/>
                <a:cs typeface="Times New Roman"/>
              </a:rPr>
              <a:t>after</a:t>
            </a:r>
            <a:r>
              <a:rPr sz="1050" spc="-20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050" dirty="0">
                <a:solidFill>
                  <a:srgbClr val="93A2B8"/>
                </a:solidFill>
                <a:latin typeface="Times New Roman"/>
                <a:cs typeface="Times New Roman"/>
              </a:rPr>
              <a:t>every</a:t>
            </a:r>
            <a:r>
              <a:rPr sz="1050" spc="-10" dirty="0">
                <a:solidFill>
                  <a:srgbClr val="93A2B8"/>
                </a:solidFill>
                <a:latin typeface="Times New Roman"/>
                <a:cs typeface="Times New Roman"/>
              </a:rPr>
              <a:t> stock-</a:t>
            </a:r>
            <a:r>
              <a:rPr sz="1050" dirty="0">
                <a:solidFill>
                  <a:srgbClr val="93A2B8"/>
                </a:solidFill>
                <a:latin typeface="Times New Roman"/>
                <a:cs typeface="Times New Roman"/>
              </a:rPr>
              <a:t>deducting</a:t>
            </a:r>
            <a:r>
              <a:rPr sz="1050" spc="-30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050" spc="-10" dirty="0">
                <a:solidFill>
                  <a:srgbClr val="93A2B8"/>
                </a:solidFill>
                <a:latin typeface="Times New Roman"/>
                <a:cs typeface="Times New Roman"/>
              </a:rPr>
              <a:t>operation.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384047" y="4398264"/>
            <a:ext cx="2743200" cy="329565"/>
          </a:xfrm>
          <a:prstGeom prst="rect">
            <a:avLst/>
          </a:prstGeom>
          <a:solidFill>
            <a:srgbClr val="0FB881">
              <a:alpha val="79998"/>
            </a:srgbClr>
          </a:solidFill>
          <a:ln w="12700">
            <a:solidFill>
              <a:srgbClr val="0FB881"/>
            </a:solidFill>
          </a:ln>
        </p:spPr>
        <p:txBody>
          <a:bodyPr vert="horz" wrap="square" lIns="0" tIns="84455" rIns="0" bIns="0" rtlCol="0">
            <a:spAutoFit/>
          </a:bodyPr>
          <a:lstStyle/>
          <a:p>
            <a:pPr marL="63500">
              <a:lnSpc>
                <a:spcPct val="100000"/>
              </a:lnSpc>
              <a:spcBef>
                <a:spcPts val="665"/>
              </a:spcBef>
            </a:pPr>
            <a:r>
              <a:rPr sz="1000" b="1" spc="-10" dirty="0">
                <a:solidFill>
                  <a:srgbClr val="1E293A"/>
                </a:solidFill>
                <a:latin typeface="Times New Roman"/>
                <a:cs typeface="Times New Roman"/>
              </a:rPr>
              <a:t>generateInventoryReport()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3234054" y="4386783"/>
            <a:ext cx="5321300" cy="3467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dirty="0">
                <a:solidFill>
                  <a:srgbClr val="93A2B8"/>
                </a:solidFill>
                <a:latin typeface="Times New Roman"/>
                <a:cs typeface="Times New Roman"/>
              </a:rPr>
              <a:t>Aggregates</a:t>
            </a:r>
            <a:r>
              <a:rPr sz="1050" spc="-45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050" dirty="0">
                <a:solidFill>
                  <a:srgbClr val="93A2B8"/>
                </a:solidFill>
                <a:latin typeface="Times New Roman"/>
                <a:cs typeface="Times New Roman"/>
              </a:rPr>
              <a:t>product</a:t>
            </a:r>
            <a:r>
              <a:rPr sz="1050" spc="-40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050" dirty="0">
                <a:solidFill>
                  <a:srgbClr val="93A2B8"/>
                </a:solidFill>
                <a:latin typeface="Times New Roman"/>
                <a:cs typeface="Times New Roman"/>
              </a:rPr>
              <a:t>values,</a:t>
            </a:r>
            <a:r>
              <a:rPr sz="1050" spc="-10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050" dirty="0">
                <a:solidFill>
                  <a:srgbClr val="93A2B8"/>
                </a:solidFill>
                <a:latin typeface="Times New Roman"/>
                <a:cs typeface="Times New Roman"/>
              </a:rPr>
              <a:t>calculates</a:t>
            </a:r>
            <a:r>
              <a:rPr sz="1050" spc="-45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050" dirty="0">
                <a:solidFill>
                  <a:srgbClr val="93A2B8"/>
                </a:solidFill>
                <a:latin typeface="Times New Roman"/>
                <a:cs typeface="Times New Roman"/>
              </a:rPr>
              <a:t>total</a:t>
            </a:r>
            <a:r>
              <a:rPr sz="1050" spc="-30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050" dirty="0">
                <a:solidFill>
                  <a:srgbClr val="93A2B8"/>
                </a:solidFill>
                <a:latin typeface="Times New Roman"/>
                <a:cs typeface="Times New Roman"/>
              </a:rPr>
              <a:t>inventory</a:t>
            </a:r>
            <a:r>
              <a:rPr sz="1050" spc="-25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050" dirty="0">
                <a:solidFill>
                  <a:srgbClr val="93A2B8"/>
                </a:solidFill>
                <a:latin typeface="Times New Roman"/>
                <a:cs typeface="Times New Roman"/>
              </a:rPr>
              <a:t>worth,</a:t>
            </a:r>
            <a:r>
              <a:rPr sz="1050" spc="-15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050" dirty="0">
                <a:solidFill>
                  <a:srgbClr val="93A2B8"/>
                </a:solidFill>
                <a:latin typeface="Times New Roman"/>
                <a:cs typeface="Times New Roman"/>
              </a:rPr>
              <a:t>identifies</a:t>
            </a:r>
            <a:r>
              <a:rPr sz="1050" spc="-25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050" dirty="0">
                <a:solidFill>
                  <a:srgbClr val="93A2B8"/>
                </a:solidFill>
                <a:latin typeface="Times New Roman"/>
                <a:cs typeface="Times New Roman"/>
              </a:rPr>
              <a:t>top</a:t>
            </a:r>
            <a:r>
              <a:rPr sz="1050" spc="-30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050" dirty="0">
                <a:solidFill>
                  <a:srgbClr val="93A2B8"/>
                </a:solidFill>
                <a:latin typeface="Times New Roman"/>
                <a:cs typeface="Times New Roman"/>
              </a:rPr>
              <a:t>movers</a:t>
            </a:r>
            <a:r>
              <a:rPr sz="1050" spc="-5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050" dirty="0">
                <a:solidFill>
                  <a:srgbClr val="93A2B8"/>
                </a:solidFill>
                <a:latin typeface="Times New Roman"/>
                <a:cs typeface="Times New Roman"/>
              </a:rPr>
              <a:t>and</a:t>
            </a:r>
            <a:r>
              <a:rPr sz="1050" spc="-30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050" dirty="0">
                <a:solidFill>
                  <a:srgbClr val="93A2B8"/>
                </a:solidFill>
                <a:latin typeface="Times New Roman"/>
                <a:cs typeface="Times New Roman"/>
              </a:rPr>
              <a:t>critical</a:t>
            </a:r>
            <a:r>
              <a:rPr sz="1050" spc="-30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050" spc="-10" dirty="0">
                <a:solidFill>
                  <a:srgbClr val="93A2B8"/>
                </a:solidFill>
                <a:latin typeface="Times New Roman"/>
                <a:cs typeface="Times New Roman"/>
              </a:rPr>
              <a:t>stock</a:t>
            </a:r>
            <a:endParaRPr sz="10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050" dirty="0">
                <a:solidFill>
                  <a:srgbClr val="93A2B8"/>
                </a:solidFill>
                <a:latin typeface="Times New Roman"/>
                <a:cs typeface="Times New Roman"/>
              </a:rPr>
              <a:t>items</a:t>
            </a:r>
            <a:r>
              <a:rPr sz="1050" spc="-25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050" dirty="0">
                <a:solidFill>
                  <a:srgbClr val="93A2B8"/>
                </a:solidFill>
                <a:latin typeface="Times New Roman"/>
                <a:cs typeface="Times New Roman"/>
              </a:rPr>
              <a:t>for</a:t>
            </a:r>
            <a:r>
              <a:rPr sz="1050" spc="-20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050" dirty="0">
                <a:solidFill>
                  <a:srgbClr val="93A2B8"/>
                </a:solidFill>
                <a:latin typeface="Times New Roman"/>
                <a:cs typeface="Times New Roman"/>
              </a:rPr>
              <a:t>dashboard</a:t>
            </a:r>
            <a:r>
              <a:rPr sz="1050" spc="-30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050" spc="-10" dirty="0">
                <a:solidFill>
                  <a:srgbClr val="93A2B8"/>
                </a:solidFill>
                <a:latin typeface="Times New Roman"/>
                <a:cs typeface="Times New Roman"/>
              </a:rPr>
              <a:t>display.</a:t>
            </a:r>
            <a:endParaRPr sz="10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4000" y="0"/>
                </a:moveTo>
                <a:lnTo>
                  <a:pt x="0" y="0"/>
                </a:lnTo>
                <a:lnTo>
                  <a:pt x="0" y="5143500"/>
                </a:lnTo>
                <a:lnTo>
                  <a:pt x="9144000" y="5143500"/>
                </a:lnTo>
                <a:lnTo>
                  <a:pt x="9144000" y="0"/>
                </a:lnTo>
                <a:close/>
              </a:path>
            </a:pathLst>
          </a:custGeom>
          <a:solidFill>
            <a:srgbClr val="DEEB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-6350" y="-6350"/>
            <a:ext cx="9156700" cy="86360"/>
            <a:chOff x="-6350" y="-6350"/>
            <a:chExt cx="9156700" cy="86360"/>
          </a:xfrm>
        </p:grpSpPr>
        <p:sp>
          <p:nvSpPr>
            <p:cNvPr id="4" name="object 4"/>
            <p:cNvSpPr/>
            <p:nvPr/>
          </p:nvSpPr>
          <p:spPr>
            <a:xfrm>
              <a:off x="0" y="0"/>
              <a:ext cx="9144000" cy="73660"/>
            </a:xfrm>
            <a:custGeom>
              <a:avLst/>
              <a:gdLst/>
              <a:ahLst/>
              <a:cxnLst/>
              <a:rect l="l" t="t" r="r" b="b"/>
              <a:pathLst>
                <a:path w="9144000" h="73660">
                  <a:moveTo>
                    <a:pt x="9144000" y="0"/>
                  </a:moveTo>
                  <a:lnTo>
                    <a:pt x="0" y="0"/>
                  </a:lnTo>
                  <a:lnTo>
                    <a:pt x="0" y="73151"/>
                  </a:lnTo>
                  <a:lnTo>
                    <a:pt x="9144000" y="73151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0FB88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0"/>
              <a:ext cx="9144000" cy="73660"/>
            </a:xfrm>
            <a:custGeom>
              <a:avLst/>
              <a:gdLst/>
              <a:ahLst/>
              <a:cxnLst/>
              <a:rect l="l" t="t" r="r" b="b"/>
              <a:pathLst>
                <a:path w="9144000" h="73660">
                  <a:moveTo>
                    <a:pt x="0" y="73151"/>
                  </a:moveTo>
                  <a:lnTo>
                    <a:pt x="9144000" y="73151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73151"/>
                  </a:lnTo>
                  <a:close/>
                </a:path>
              </a:pathLst>
            </a:custGeom>
            <a:ln w="12700">
              <a:solidFill>
                <a:srgbClr val="0FB88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444500" y="55297"/>
            <a:ext cx="4435475" cy="792480"/>
          </a:xfrm>
          <a:prstGeom prst="rect">
            <a:avLst/>
          </a:prstGeom>
        </p:spPr>
        <p:txBody>
          <a:bodyPr vert="horz" wrap="square" lIns="0" tIns="1282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10"/>
              </a:spcBef>
            </a:pPr>
            <a:r>
              <a:rPr spc="-20" dirty="0">
                <a:solidFill>
                  <a:srgbClr val="000000"/>
                </a:solidFill>
              </a:rPr>
              <a:t>Transaction</a:t>
            </a:r>
            <a:r>
              <a:rPr spc="-45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Service</a:t>
            </a:r>
            <a:r>
              <a:rPr spc="-45" dirty="0">
                <a:solidFill>
                  <a:srgbClr val="000000"/>
                </a:solidFill>
              </a:rPr>
              <a:t> </a:t>
            </a:r>
            <a:r>
              <a:rPr spc="-10" dirty="0">
                <a:solidFill>
                  <a:srgbClr val="000000"/>
                </a:solidFill>
              </a:rPr>
              <a:t>Module</a:t>
            </a:r>
          </a:p>
          <a:p>
            <a:pPr marL="12700">
              <a:lnSpc>
                <a:spcPct val="100000"/>
              </a:lnSpc>
              <a:spcBef>
                <a:spcPts val="445"/>
              </a:spcBef>
            </a:pPr>
            <a:r>
              <a:rPr sz="1300" b="0" i="1" dirty="0">
                <a:solidFill>
                  <a:srgbClr val="05B6D3"/>
                </a:solidFill>
                <a:latin typeface="Times New Roman"/>
                <a:cs typeface="Times New Roman"/>
              </a:rPr>
              <a:t>ACID</a:t>
            </a:r>
            <a:r>
              <a:rPr sz="1300" b="0" i="1" spc="-40" dirty="0">
                <a:solidFill>
                  <a:srgbClr val="05B6D3"/>
                </a:solidFill>
                <a:latin typeface="Times New Roman"/>
                <a:cs typeface="Times New Roman"/>
              </a:rPr>
              <a:t> </a:t>
            </a:r>
            <a:r>
              <a:rPr sz="1300" b="0" i="1" dirty="0">
                <a:solidFill>
                  <a:srgbClr val="05B6D3"/>
                </a:solidFill>
                <a:latin typeface="Times New Roman"/>
                <a:cs typeface="Times New Roman"/>
              </a:rPr>
              <a:t>Compliance,</a:t>
            </a:r>
            <a:r>
              <a:rPr sz="1300" b="0" i="1" spc="-35" dirty="0">
                <a:solidFill>
                  <a:srgbClr val="05B6D3"/>
                </a:solidFill>
                <a:latin typeface="Times New Roman"/>
                <a:cs typeface="Times New Roman"/>
              </a:rPr>
              <a:t> </a:t>
            </a:r>
            <a:r>
              <a:rPr sz="1300" b="0" i="1" spc="-10" dirty="0">
                <a:solidFill>
                  <a:srgbClr val="05B6D3"/>
                </a:solidFill>
                <a:latin typeface="Times New Roman"/>
                <a:cs typeface="Times New Roman"/>
              </a:rPr>
              <a:t>@Transactional</a:t>
            </a:r>
            <a:r>
              <a:rPr sz="1300" b="0" i="1" spc="-15" dirty="0">
                <a:solidFill>
                  <a:srgbClr val="05B6D3"/>
                </a:solidFill>
                <a:latin typeface="Times New Roman"/>
                <a:cs typeface="Times New Roman"/>
              </a:rPr>
              <a:t> </a:t>
            </a:r>
            <a:r>
              <a:rPr sz="1300" b="0" i="1" dirty="0">
                <a:solidFill>
                  <a:srgbClr val="05B6D3"/>
                </a:solidFill>
                <a:latin typeface="Times New Roman"/>
                <a:cs typeface="Times New Roman"/>
              </a:rPr>
              <a:t>Behavior</a:t>
            </a:r>
            <a:r>
              <a:rPr sz="1300" b="0" i="1" spc="-35" dirty="0">
                <a:solidFill>
                  <a:srgbClr val="05B6D3"/>
                </a:solidFill>
                <a:latin typeface="Times New Roman"/>
                <a:cs typeface="Times New Roman"/>
              </a:rPr>
              <a:t> </a:t>
            </a:r>
            <a:r>
              <a:rPr sz="1300" b="0" i="1" dirty="0">
                <a:solidFill>
                  <a:srgbClr val="05B6D3"/>
                </a:solidFill>
                <a:latin typeface="Times New Roman"/>
                <a:cs typeface="Times New Roman"/>
              </a:rPr>
              <a:t>&amp;</a:t>
            </a:r>
            <a:r>
              <a:rPr sz="1300" b="0" i="1" spc="-50" dirty="0">
                <a:solidFill>
                  <a:srgbClr val="05B6D3"/>
                </a:solidFill>
                <a:latin typeface="Times New Roman"/>
                <a:cs typeface="Times New Roman"/>
              </a:rPr>
              <a:t> </a:t>
            </a:r>
            <a:r>
              <a:rPr sz="1300" b="0" i="1" dirty="0">
                <a:solidFill>
                  <a:srgbClr val="05B6D3"/>
                </a:solidFill>
                <a:latin typeface="Times New Roman"/>
                <a:cs typeface="Times New Roman"/>
              </a:rPr>
              <a:t>Rollback</a:t>
            </a:r>
            <a:r>
              <a:rPr sz="1300" b="0" i="1" spc="-30" dirty="0">
                <a:solidFill>
                  <a:srgbClr val="05B6D3"/>
                </a:solidFill>
                <a:latin typeface="Times New Roman"/>
                <a:cs typeface="Times New Roman"/>
              </a:rPr>
              <a:t> </a:t>
            </a:r>
            <a:r>
              <a:rPr sz="1300" b="0" i="1" spc="-10" dirty="0">
                <a:solidFill>
                  <a:srgbClr val="05B6D3"/>
                </a:solidFill>
                <a:latin typeface="Times New Roman"/>
                <a:cs typeface="Times New Roman"/>
              </a:rPr>
              <a:t>Strategy</a:t>
            </a:r>
            <a:endParaRPr sz="1300">
              <a:latin typeface="Times New Roman"/>
              <a:cs typeface="Times New Roman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274320" y="1005839"/>
            <a:ext cx="2011680" cy="1737360"/>
            <a:chOff x="274320" y="1005839"/>
            <a:chExt cx="2011680" cy="1737360"/>
          </a:xfrm>
        </p:grpSpPr>
        <p:sp>
          <p:nvSpPr>
            <p:cNvPr id="8" name="object 8"/>
            <p:cNvSpPr/>
            <p:nvPr/>
          </p:nvSpPr>
          <p:spPr>
            <a:xfrm>
              <a:off x="274320" y="1005839"/>
              <a:ext cx="2011680" cy="1737360"/>
            </a:xfrm>
            <a:custGeom>
              <a:avLst/>
              <a:gdLst/>
              <a:ahLst/>
              <a:cxnLst/>
              <a:rect l="l" t="t" r="r" b="b"/>
              <a:pathLst>
                <a:path w="2011680" h="1737360">
                  <a:moveTo>
                    <a:pt x="2011680" y="0"/>
                  </a:moveTo>
                  <a:lnTo>
                    <a:pt x="0" y="0"/>
                  </a:lnTo>
                  <a:lnTo>
                    <a:pt x="0" y="1737360"/>
                  </a:lnTo>
                  <a:lnTo>
                    <a:pt x="2011680" y="1737360"/>
                  </a:lnTo>
                  <a:lnTo>
                    <a:pt x="2011680" y="0"/>
                  </a:lnTo>
                  <a:close/>
                </a:path>
              </a:pathLst>
            </a:custGeom>
            <a:solidFill>
              <a:srgbClr val="1B2A3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960120" y="1097279"/>
              <a:ext cx="640080" cy="675640"/>
            </a:xfrm>
            <a:custGeom>
              <a:avLst/>
              <a:gdLst/>
              <a:ahLst/>
              <a:cxnLst/>
              <a:rect l="l" t="t" r="r" b="b"/>
              <a:pathLst>
                <a:path w="640080" h="675639">
                  <a:moveTo>
                    <a:pt x="320040" y="0"/>
                  </a:moveTo>
                  <a:lnTo>
                    <a:pt x="272745" y="3663"/>
                  </a:lnTo>
                  <a:lnTo>
                    <a:pt x="227606" y="14303"/>
                  </a:lnTo>
                  <a:lnTo>
                    <a:pt x="185116" y="31399"/>
                  </a:lnTo>
                  <a:lnTo>
                    <a:pt x="145772" y="54427"/>
                  </a:lnTo>
                  <a:lnTo>
                    <a:pt x="110068" y="82864"/>
                  </a:lnTo>
                  <a:lnTo>
                    <a:pt x="78498" y="116189"/>
                  </a:lnTo>
                  <a:lnTo>
                    <a:pt x="51559" y="153877"/>
                  </a:lnTo>
                  <a:lnTo>
                    <a:pt x="29744" y="195407"/>
                  </a:lnTo>
                  <a:lnTo>
                    <a:pt x="13549" y="240256"/>
                  </a:lnTo>
                  <a:lnTo>
                    <a:pt x="3469" y="287901"/>
                  </a:lnTo>
                  <a:lnTo>
                    <a:pt x="0" y="337820"/>
                  </a:lnTo>
                  <a:lnTo>
                    <a:pt x="3469" y="387738"/>
                  </a:lnTo>
                  <a:lnTo>
                    <a:pt x="13549" y="435383"/>
                  </a:lnTo>
                  <a:lnTo>
                    <a:pt x="29744" y="480232"/>
                  </a:lnTo>
                  <a:lnTo>
                    <a:pt x="51559" y="521762"/>
                  </a:lnTo>
                  <a:lnTo>
                    <a:pt x="78498" y="559450"/>
                  </a:lnTo>
                  <a:lnTo>
                    <a:pt x="110068" y="592775"/>
                  </a:lnTo>
                  <a:lnTo>
                    <a:pt x="145772" y="621212"/>
                  </a:lnTo>
                  <a:lnTo>
                    <a:pt x="185116" y="644240"/>
                  </a:lnTo>
                  <a:lnTo>
                    <a:pt x="227606" y="661336"/>
                  </a:lnTo>
                  <a:lnTo>
                    <a:pt x="272745" y="671976"/>
                  </a:lnTo>
                  <a:lnTo>
                    <a:pt x="320040" y="675640"/>
                  </a:lnTo>
                  <a:lnTo>
                    <a:pt x="367340" y="671976"/>
                  </a:lnTo>
                  <a:lnTo>
                    <a:pt x="412483" y="661336"/>
                  </a:lnTo>
                  <a:lnTo>
                    <a:pt x="454974" y="644240"/>
                  </a:lnTo>
                  <a:lnTo>
                    <a:pt x="494318" y="621212"/>
                  </a:lnTo>
                  <a:lnTo>
                    <a:pt x="530022" y="592775"/>
                  </a:lnTo>
                  <a:lnTo>
                    <a:pt x="561589" y="559450"/>
                  </a:lnTo>
                  <a:lnTo>
                    <a:pt x="588527" y="521762"/>
                  </a:lnTo>
                  <a:lnTo>
                    <a:pt x="610339" y="480232"/>
                  </a:lnTo>
                  <a:lnTo>
                    <a:pt x="626532" y="435383"/>
                  </a:lnTo>
                  <a:lnTo>
                    <a:pt x="636610" y="387738"/>
                  </a:lnTo>
                  <a:lnTo>
                    <a:pt x="640080" y="337820"/>
                  </a:lnTo>
                  <a:lnTo>
                    <a:pt x="636610" y="287901"/>
                  </a:lnTo>
                  <a:lnTo>
                    <a:pt x="626532" y="240256"/>
                  </a:lnTo>
                  <a:lnTo>
                    <a:pt x="610339" y="195407"/>
                  </a:lnTo>
                  <a:lnTo>
                    <a:pt x="588527" y="153877"/>
                  </a:lnTo>
                  <a:lnTo>
                    <a:pt x="561589" y="116189"/>
                  </a:lnTo>
                  <a:lnTo>
                    <a:pt x="530022" y="82864"/>
                  </a:lnTo>
                  <a:lnTo>
                    <a:pt x="494318" y="54427"/>
                  </a:lnTo>
                  <a:lnTo>
                    <a:pt x="454974" y="31399"/>
                  </a:lnTo>
                  <a:lnTo>
                    <a:pt x="412483" y="14303"/>
                  </a:lnTo>
                  <a:lnTo>
                    <a:pt x="367340" y="3663"/>
                  </a:lnTo>
                  <a:lnTo>
                    <a:pt x="320040" y="0"/>
                  </a:lnTo>
                  <a:close/>
                </a:path>
              </a:pathLst>
            </a:custGeom>
            <a:solidFill>
              <a:srgbClr val="0891B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960120" y="1097279"/>
              <a:ext cx="640080" cy="675640"/>
            </a:xfrm>
            <a:custGeom>
              <a:avLst/>
              <a:gdLst/>
              <a:ahLst/>
              <a:cxnLst/>
              <a:rect l="l" t="t" r="r" b="b"/>
              <a:pathLst>
                <a:path w="640080" h="675639">
                  <a:moveTo>
                    <a:pt x="0" y="337820"/>
                  </a:moveTo>
                  <a:lnTo>
                    <a:pt x="3469" y="287901"/>
                  </a:lnTo>
                  <a:lnTo>
                    <a:pt x="13549" y="240256"/>
                  </a:lnTo>
                  <a:lnTo>
                    <a:pt x="29744" y="195407"/>
                  </a:lnTo>
                  <a:lnTo>
                    <a:pt x="51559" y="153877"/>
                  </a:lnTo>
                  <a:lnTo>
                    <a:pt x="78498" y="116189"/>
                  </a:lnTo>
                  <a:lnTo>
                    <a:pt x="110068" y="82864"/>
                  </a:lnTo>
                  <a:lnTo>
                    <a:pt x="145772" y="54427"/>
                  </a:lnTo>
                  <a:lnTo>
                    <a:pt x="185116" y="31399"/>
                  </a:lnTo>
                  <a:lnTo>
                    <a:pt x="227606" y="14303"/>
                  </a:lnTo>
                  <a:lnTo>
                    <a:pt x="272745" y="3663"/>
                  </a:lnTo>
                  <a:lnTo>
                    <a:pt x="320040" y="0"/>
                  </a:lnTo>
                  <a:lnTo>
                    <a:pt x="367340" y="3663"/>
                  </a:lnTo>
                  <a:lnTo>
                    <a:pt x="412483" y="14303"/>
                  </a:lnTo>
                  <a:lnTo>
                    <a:pt x="454974" y="31399"/>
                  </a:lnTo>
                  <a:lnTo>
                    <a:pt x="494318" y="54427"/>
                  </a:lnTo>
                  <a:lnTo>
                    <a:pt x="530022" y="82864"/>
                  </a:lnTo>
                  <a:lnTo>
                    <a:pt x="561589" y="116189"/>
                  </a:lnTo>
                  <a:lnTo>
                    <a:pt x="588527" y="153877"/>
                  </a:lnTo>
                  <a:lnTo>
                    <a:pt x="610339" y="195407"/>
                  </a:lnTo>
                  <a:lnTo>
                    <a:pt x="626532" y="240256"/>
                  </a:lnTo>
                  <a:lnTo>
                    <a:pt x="636610" y="287901"/>
                  </a:lnTo>
                  <a:lnTo>
                    <a:pt x="640080" y="337820"/>
                  </a:lnTo>
                  <a:lnTo>
                    <a:pt x="636610" y="387738"/>
                  </a:lnTo>
                  <a:lnTo>
                    <a:pt x="626532" y="435383"/>
                  </a:lnTo>
                  <a:lnTo>
                    <a:pt x="610339" y="480232"/>
                  </a:lnTo>
                  <a:lnTo>
                    <a:pt x="588527" y="521762"/>
                  </a:lnTo>
                  <a:lnTo>
                    <a:pt x="561589" y="559450"/>
                  </a:lnTo>
                  <a:lnTo>
                    <a:pt x="530022" y="592775"/>
                  </a:lnTo>
                  <a:lnTo>
                    <a:pt x="494318" y="621212"/>
                  </a:lnTo>
                  <a:lnTo>
                    <a:pt x="454974" y="644240"/>
                  </a:lnTo>
                  <a:lnTo>
                    <a:pt x="412483" y="661336"/>
                  </a:lnTo>
                  <a:lnTo>
                    <a:pt x="367340" y="671976"/>
                  </a:lnTo>
                  <a:lnTo>
                    <a:pt x="320040" y="675640"/>
                  </a:lnTo>
                  <a:lnTo>
                    <a:pt x="272745" y="671976"/>
                  </a:lnTo>
                  <a:lnTo>
                    <a:pt x="227606" y="661336"/>
                  </a:lnTo>
                  <a:lnTo>
                    <a:pt x="185116" y="644240"/>
                  </a:lnTo>
                  <a:lnTo>
                    <a:pt x="145772" y="621212"/>
                  </a:lnTo>
                  <a:lnTo>
                    <a:pt x="110068" y="592775"/>
                  </a:lnTo>
                  <a:lnTo>
                    <a:pt x="78498" y="559450"/>
                  </a:lnTo>
                  <a:lnTo>
                    <a:pt x="51559" y="521762"/>
                  </a:lnTo>
                  <a:lnTo>
                    <a:pt x="29744" y="480232"/>
                  </a:lnTo>
                  <a:lnTo>
                    <a:pt x="13549" y="435383"/>
                  </a:lnTo>
                  <a:lnTo>
                    <a:pt x="3469" y="387738"/>
                  </a:lnTo>
                  <a:lnTo>
                    <a:pt x="0" y="337820"/>
                  </a:lnTo>
                  <a:close/>
                </a:path>
              </a:pathLst>
            </a:custGeom>
            <a:ln w="12700">
              <a:solidFill>
                <a:srgbClr val="0891B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274320" y="1005839"/>
            <a:ext cx="2011680" cy="1737360"/>
          </a:xfrm>
          <a:prstGeom prst="rect">
            <a:avLst/>
          </a:prstGeom>
          <a:ln w="19050">
            <a:solidFill>
              <a:srgbClr val="0891B1"/>
            </a:solidFill>
          </a:ln>
        </p:spPr>
        <p:txBody>
          <a:bodyPr vert="horz" wrap="square" lIns="0" tIns="252095" rIns="0" bIns="0" rtlCol="0">
            <a:spAutoFit/>
          </a:bodyPr>
          <a:lstStyle/>
          <a:p>
            <a:pPr marL="635" algn="ctr">
              <a:lnSpc>
                <a:spcPct val="100000"/>
              </a:lnSpc>
              <a:spcBef>
                <a:spcPts val="1985"/>
              </a:spcBef>
            </a:pPr>
            <a:r>
              <a:rPr sz="2200" b="1" spc="-50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endParaRPr sz="22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2325"/>
              </a:spcBef>
            </a:pPr>
            <a:r>
              <a:rPr sz="1300" b="1" spc="-10" dirty="0">
                <a:solidFill>
                  <a:srgbClr val="0891B1"/>
                </a:solidFill>
                <a:latin typeface="Times New Roman"/>
                <a:cs typeface="Times New Roman"/>
              </a:rPr>
              <a:t>Atomicity</a:t>
            </a:r>
            <a:endParaRPr sz="1300">
              <a:latin typeface="Times New Roman"/>
              <a:cs typeface="Times New Roman"/>
            </a:endParaRPr>
          </a:p>
          <a:p>
            <a:pPr marL="107950" marR="102870" indent="-1270" algn="ctr">
              <a:lnSpc>
                <a:spcPct val="100000"/>
              </a:lnSpc>
              <a:spcBef>
                <a:spcPts val="630"/>
              </a:spcBef>
            </a:pPr>
            <a:r>
              <a:rPr sz="1000" dirty="0">
                <a:solidFill>
                  <a:srgbClr val="93A2B8"/>
                </a:solidFill>
                <a:latin typeface="Times New Roman"/>
                <a:cs typeface="Times New Roman"/>
              </a:rPr>
              <a:t>All</a:t>
            </a:r>
            <a:r>
              <a:rPr sz="1000" spc="-20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93A2B8"/>
                </a:solidFill>
                <a:latin typeface="Times New Roman"/>
                <a:cs typeface="Times New Roman"/>
              </a:rPr>
              <a:t>steps</a:t>
            </a:r>
            <a:r>
              <a:rPr sz="1000" spc="-15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93A2B8"/>
                </a:solidFill>
                <a:latin typeface="Times New Roman"/>
                <a:cs typeface="Times New Roman"/>
              </a:rPr>
              <a:t>in</a:t>
            </a:r>
            <a:r>
              <a:rPr sz="1000" spc="-30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93A2B8"/>
                </a:solidFill>
                <a:latin typeface="Times New Roman"/>
                <a:cs typeface="Times New Roman"/>
              </a:rPr>
              <a:t>a</a:t>
            </a:r>
            <a:r>
              <a:rPr sz="1000" spc="-20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93A2B8"/>
                </a:solidFill>
                <a:latin typeface="Times New Roman"/>
                <a:cs typeface="Times New Roman"/>
              </a:rPr>
              <a:t>transaction</a:t>
            </a:r>
            <a:r>
              <a:rPr sz="1000" spc="5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000" spc="-10" dirty="0">
                <a:solidFill>
                  <a:srgbClr val="93A2B8"/>
                </a:solidFill>
                <a:latin typeface="Times New Roman"/>
                <a:cs typeface="Times New Roman"/>
              </a:rPr>
              <a:t>succeed</a:t>
            </a:r>
            <a:r>
              <a:rPr sz="1000" spc="500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93A2B8"/>
                </a:solidFill>
                <a:latin typeface="Times New Roman"/>
                <a:cs typeface="Times New Roman"/>
              </a:rPr>
              <a:t>or</a:t>
            </a:r>
            <a:r>
              <a:rPr sz="1000" spc="-30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93A2B8"/>
                </a:solidFill>
                <a:latin typeface="Times New Roman"/>
                <a:cs typeface="Times New Roman"/>
              </a:rPr>
              <a:t>none</a:t>
            </a:r>
            <a:r>
              <a:rPr sz="1000" spc="-20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93A2B8"/>
                </a:solidFill>
                <a:latin typeface="Times New Roman"/>
                <a:cs typeface="Times New Roman"/>
              </a:rPr>
              <a:t>commit. If</a:t>
            </a:r>
            <a:r>
              <a:rPr sz="1000" spc="-25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93A2B8"/>
                </a:solidFill>
                <a:latin typeface="Times New Roman"/>
                <a:cs typeface="Times New Roman"/>
              </a:rPr>
              <a:t>order</a:t>
            </a:r>
            <a:r>
              <a:rPr sz="1000" spc="-25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93A2B8"/>
                </a:solidFill>
                <a:latin typeface="Times New Roman"/>
                <a:cs typeface="Times New Roman"/>
              </a:rPr>
              <a:t>save</a:t>
            </a:r>
            <a:r>
              <a:rPr sz="1000" spc="-5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000" spc="-10" dirty="0">
                <a:solidFill>
                  <a:srgbClr val="93A2B8"/>
                </a:solidFill>
                <a:latin typeface="Times New Roman"/>
                <a:cs typeface="Times New Roman"/>
              </a:rPr>
              <a:t>fails, </a:t>
            </a:r>
            <a:r>
              <a:rPr sz="1000" dirty="0">
                <a:solidFill>
                  <a:srgbClr val="93A2B8"/>
                </a:solidFill>
                <a:latin typeface="Times New Roman"/>
                <a:cs typeface="Times New Roman"/>
              </a:rPr>
              <a:t>stock</a:t>
            </a:r>
            <a:r>
              <a:rPr sz="1000" spc="-25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93A2B8"/>
                </a:solidFill>
                <a:latin typeface="Times New Roman"/>
                <a:cs typeface="Times New Roman"/>
              </a:rPr>
              <a:t>deduction</a:t>
            </a:r>
            <a:r>
              <a:rPr sz="1000" spc="-20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93A2B8"/>
                </a:solidFill>
                <a:latin typeface="Times New Roman"/>
                <a:cs typeface="Times New Roman"/>
              </a:rPr>
              <a:t>is</a:t>
            </a:r>
            <a:r>
              <a:rPr sz="1000" spc="-30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93A2B8"/>
                </a:solidFill>
                <a:latin typeface="Times New Roman"/>
                <a:cs typeface="Times New Roman"/>
              </a:rPr>
              <a:t>rolled</a:t>
            </a:r>
            <a:r>
              <a:rPr sz="1000" spc="-20" dirty="0">
                <a:solidFill>
                  <a:srgbClr val="93A2B8"/>
                </a:solidFill>
                <a:latin typeface="Times New Roman"/>
                <a:cs typeface="Times New Roman"/>
              </a:rPr>
              <a:t> back.</a:t>
            </a:r>
            <a:endParaRPr sz="1000">
              <a:latin typeface="Times New Roman"/>
              <a:cs typeface="Times New Roman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2423160" y="1005839"/>
            <a:ext cx="2011680" cy="1737360"/>
            <a:chOff x="2423160" y="1005839"/>
            <a:chExt cx="2011680" cy="1737360"/>
          </a:xfrm>
        </p:grpSpPr>
        <p:sp>
          <p:nvSpPr>
            <p:cNvPr id="13" name="object 13"/>
            <p:cNvSpPr/>
            <p:nvPr/>
          </p:nvSpPr>
          <p:spPr>
            <a:xfrm>
              <a:off x="2423160" y="1005839"/>
              <a:ext cx="2011680" cy="1737360"/>
            </a:xfrm>
            <a:custGeom>
              <a:avLst/>
              <a:gdLst/>
              <a:ahLst/>
              <a:cxnLst/>
              <a:rect l="l" t="t" r="r" b="b"/>
              <a:pathLst>
                <a:path w="2011679" h="1737360">
                  <a:moveTo>
                    <a:pt x="2011680" y="0"/>
                  </a:moveTo>
                  <a:lnTo>
                    <a:pt x="0" y="0"/>
                  </a:lnTo>
                  <a:lnTo>
                    <a:pt x="0" y="1737360"/>
                  </a:lnTo>
                  <a:lnTo>
                    <a:pt x="2011680" y="1737360"/>
                  </a:lnTo>
                  <a:lnTo>
                    <a:pt x="2011680" y="0"/>
                  </a:lnTo>
                  <a:close/>
                </a:path>
              </a:pathLst>
            </a:custGeom>
            <a:solidFill>
              <a:srgbClr val="1B2A3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108960" y="1097279"/>
              <a:ext cx="640080" cy="675640"/>
            </a:xfrm>
            <a:custGeom>
              <a:avLst/>
              <a:gdLst/>
              <a:ahLst/>
              <a:cxnLst/>
              <a:rect l="l" t="t" r="r" b="b"/>
              <a:pathLst>
                <a:path w="640079" h="675639">
                  <a:moveTo>
                    <a:pt x="320039" y="0"/>
                  </a:moveTo>
                  <a:lnTo>
                    <a:pt x="272739" y="3663"/>
                  </a:lnTo>
                  <a:lnTo>
                    <a:pt x="227596" y="14303"/>
                  </a:lnTo>
                  <a:lnTo>
                    <a:pt x="185105" y="31399"/>
                  </a:lnTo>
                  <a:lnTo>
                    <a:pt x="145761" y="54427"/>
                  </a:lnTo>
                  <a:lnTo>
                    <a:pt x="110057" y="82864"/>
                  </a:lnTo>
                  <a:lnTo>
                    <a:pt x="78490" y="116189"/>
                  </a:lnTo>
                  <a:lnTo>
                    <a:pt x="51552" y="153877"/>
                  </a:lnTo>
                  <a:lnTo>
                    <a:pt x="29740" y="195407"/>
                  </a:lnTo>
                  <a:lnTo>
                    <a:pt x="13547" y="240256"/>
                  </a:lnTo>
                  <a:lnTo>
                    <a:pt x="3469" y="287901"/>
                  </a:lnTo>
                  <a:lnTo>
                    <a:pt x="0" y="337820"/>
                  </a:lnTo>
                  <a:lnTo>
                    <a:pt x="3469" y="387738"/>
                  </a:lnTo>
                  <a:lnTo>
                    <a:pt x="13547" y="435383"/>
                  </a:lnTo>
                  <a:lnTo>
                    <a:pt x="29740" y="480232"/>
                  </a:lnTo>
                  <a:lnTo>
                    <a:pt x="51552" y="521762"/>
                  </a:lnTo>
                  <a:lnTo>
                    <a:pt x="78490" y="559450"/>
                  </a:lnTo>
                  <a:lnTo>
                    <a:pt x="110057" y="592775"/>
                  </a:lnTo>
                  <a:lnTo>
                    <a:pt x="145761" y="621212"/>
                  </a:lnTo>
                  <a:lnTo>
                    <a:pt x="185105" y="644240"/>
                  </a:lnTo>
                  <a:lnTo>
                    <a:pt x="227596" y="661336"/>
                  </a:lnTo>
                  <a:lnTo>
                    <a:pt x="272739" y="671976"/>
                  </a:lnTo>
                  <a:lnTo>
                    <a:pt x="320039" y="675640"/>
                  </a:lnTo>
                  <a:lnTo>
                    <a:pt x="367340" y="671976"/>
                  </a:lnTo>
                  <a:lnTo>
                    <a:pt x="412483" y="661336"/>
                  </a:lnTo>
                  <a:lnTo>
                    <a:pt x="454974" y="644240"/>
                  </a:lnTo>
                  <a:lnTo>
                    <a:pt x="494318" y="621212"/>
                  </a:lnTo>
                  <a:lnTo>
                    <a:pt x="530022" y="592775"/>
                  </a:lnTo>
                  <a:lnTo>
                    <a:pt x="561589" y="559450"/>
                  </a:lnTo>
                  <a:lnTo>
                    <a:pt x="588527" y="521762"/>
                  </a:lnTo>
                  <a:lnTo>
                    <a:pt x="610339" y="480232"/>
                  </a:lnTo>
                  <a:lnTo>
                    <a:pt x="626532" y="435383"/>
                  </a:lnTo>
                  <a:lnTo>
                    <a:pt x="636610" y="387738"/>
                  </a:lnTo>
                  <a:lnTo>
                    <a:pt x="640079" y="337820"/>
                  </a:lnTo>
                  <a:lnTo>
                    <a:pt x="636610" y="287901"/>
                  </a:lnTo>
                  <a:lnTo>
                    <a:pt x="626532" y="240256"/>
                  </a:lnTo>
                  <a:lnTo>
                    <a:pt x="610339" y="195407"/>
                  </a:lnTo>
                  <a:lnTo>
                    <a:pt x="588527" y="153877"/>
                  </a:lnTo>
                  <a:lnTo>
                    <a:pt x="561589" y="116189"/>
                  </a:lnTo>
                  <a:lnTo>
                    <a:pt x="530022" y="82864"/>
                  </a:lnTo>
                  <a:lnTo>
                    <a:pt x="494318" y="54427"/>
                  </a:lnTo>
                  <a:lnTo>
                    <a:pt x="454974" y="31399"/>
                  </a:lnTo>
                  <a:lnTo>
                    <a:pt x="412483" y="14303"/>
                  </a:lnTo>
                  <a:lnTo>
                    <a:pt x="367340" y="3663"/>
                  </a:lnTo>
                  <a:lnTo>
                    <a:pt x="320039" y="0"/>
                  </a:lnTo>
                  <a:close/>
                </a:path>
              </a:pathLst>
            </a:custGeom>
            <a:solidFill>
              <a:srgbClr val="8A5C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3108960" y="1097279"/>
              <a:ext cx="640080" cy="675640"/>
            </a:xfrm>
            <a:custGeom>
              <a:avLst/>
              <a:gdLst/>
              <a:ahLst/>
              <a:cxnLst/>
              <a:rect l="l" t="t" r="r" b="b"/>
              <a:pathLst>
                <a:path w="640079" h="675639">
                  <a:moveTo>
                    <a:pt x="0" y="337820"/>
                  </a:moveTo>
                  <a:lnTo>
                    <a:pt x="3469" y="287901"/>
                  </a:lnTo>
                  <a:lnTo>
                    <a:pt x="13547" y="240256"/>
                  </a:lnTo>
                  <a:lnTo>
                    <a:pt x="29740" y="195407"/>
                  </a:lnTo>
                  <a:lnTo>
                    <a:pt x="51552" y="153877"/>
                  </a:lnTo>
                  <a:lnTo>
                    <a:pt x="78490" y="116189"/>
                  </a:lnTo>
                  <a:lnTo>
                    <a:pt x="110057" y="82864"/>
                  </a:lnTo>
                  <a:lnTo>
                    <a:pt x="145761" y="54427"/>
                  </a:lnTo>
                  <a:lnTo>
                    <a:pt x="185105" y="31399"/>
                  </a:lnTo>
                  <a:lnTo>
                    <a:pt x="227596" y="14303"/>
                  </a:lnTo>
                  <a:lnTo>
                    <a:pt x="272739" y="3663"/>
                  </a:lnTo>
                  <a:lnTo>
                    <a:pt x="320039" y="0"/>
                  </a:lnTo>
                  <a:lnTo>
                    <a:pt x="367340" y="3663"/>
                  </a:lnTo>
                  <a:lnTo>
                    <a:pt x="412483" y="14303"/>
                  </a:lnTo>
                  <a:lnTo>
                    <a:pt x="454974" y="31399"/>
                  </a:lnTo>
                  <a:lnTo>
                    <a:pt x="494318" y="54427"/>
                  </a:lnTo>
                  <a:lnTo>
                    <a:pt x="530022" y="82864"/>
                  </a:lnTo>
                  <a:lnTo>
                    <a:pt x="561589" y="116189"/>
                  </a:lnTo>
                  <a:lnTo>
                    <a:pt x="588527" y="153877"/>
                  </a:lnTo>
                  <a:lnTo>
                    <a:pt x="610339" y="195407"/>
                  </a:lnTo>
                  <a:lnTo>
                    <a:pt x="626532" y="240256"/>
                  </a:lnTo>
                  <a:lnTo>
                    <a:pt x="636610" y="287901"/>
                  </a:lnTo>
                  <a:lnTo>
                    <a:pt x="640079" y="337820"/>
                  </a:lnTo>
                  <a:lnTo>
                    <a:pt x="636610" y="387738"/>
                  </a:lnTo>
                  <a:lnTo>
                    <a:pt x="626532" y="435383"/>
                  </a:lnTo>
                  <a:lnTo>
                    <a:pt x="610339" y="480232"/>
                  </a:lnTo>
                  <a:lnTo>
                    <a:pt x="588527" y="521762"/>
                  </a:lnTo>
                  <a:lnTo>
                    <a:pt x="561589" y="559450"/>
                  </a:lnTo>
                  <a:lnTo>
                    <a:pt x="530022" y="592775"/>
                  </a:lnTo>
                  <a:lnTo>
                    <a:pt x="494318" y="621212"/>
                  </a:lnTo>
                  <a:lnTo>
                    <a:pt x="454974" y="644240"/>
                  </a:lnTo>
                  <a:lnTo>
                    <a:pt x="412483" y="661336"/>
                  </a:lnTo>
                  <a:lnTo>
                    <a:pt x="367340" y="671976"/>
                  </a:lnTo>
                  <a:lnTo>
                    <a:pt x="320039" y="675640"/>
                  </a:lnTo>
                  <a:lnTo>
                    <a:pt x="272739" y="671976"/>
                  </a:lnTo>
                  <a:lnTo>
                    <a:pt x="227596" y="661336"/>
                  </a:lnTo>
                  <a:lnTo>
                    <a:pt x="185105" y="644240"/>
                  </a:lnTo>
                  <a:lnTo>
                    <a:pt x="145761" y="621212"/>
                  </a:lnTo>
                  <a:lnTo>
                    <a:pt x="110057" y="592775"/>
                  </a:lnTo>
                  <a:lnTo>
                    <a:pt x="78490" y="559450"/>
                  </a:lnTo>
                  <a:lnTo>
                    <a:pt x="51552" y="521762"/>
                  </a:lnTo>
                  <a:lnTo>
                    <a:pt x="29740" y="480232"/>
                  </a:lnTo>
                  <a:lnTo>
                    <a:pt x="13547" y="435383"/>
                  </a:lnTo>
                  <a:lnTo>
                    <a:pt x="3469" y="387738"/>
                  </a:lnTo>
                  <a:lnTo>
                    <a:pt x="0" y="337820"/>
                  </a:lnTo>
                  <a:close/>
                </a:path>
              </a:pathLst>
            </a:custGeom>
            <a:ln w="12700">
              <a:solidFill>
                <a:srgbClr val="8A5CF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2423160" y="1005839"/>
            <a:ext cx="2011680" cy="1737360"/>
          </a:xfrm>
          <a:prstGeom prst="rect">
            <a:avLst/>
          </a:prstGeom>
          <a:ln w="19050">
            <a:solidFill>
              <a:srgbClr val="8A5CF6"/>
            </a:solidFill>
          </a:ln>
        </p:spPr>
        <p:txBody>
          <a:bodyPr vert="horz" wrap="square" lIns="0" tIns="252095" rIns="0" bIns="0" rtlCol="0">
            <a:spAutoFit/>
          </a:bodyPr>
          <a:lstStyle/>
          <a:p>
            <a:pPr marL="1270" algn="ctr">
              <a:lnSpc>
                <a:spcPct val="100000"/>
              </a:lnSpc>
              <a:spcBef>
                <a:spcPts val="1985"/>
              </a:spcBef>
            </a:pPr>
            <a:r>
              <a:rPr sz="2200" b="1" spc="-50" dirty="0">
                <a:solidFill>
                  <a:srgbClr val="FFFFFF"/>
                </a:solidFill>
                <a:latin typeface="Times New Roman"/>
                <a:cs typeface="Times New Roman"/>
              </a:rPr>
              <a:t>C</a:t>
            </a:r>
            <a:endParaRPr sz="22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2325"/>
              </a:spcBef>
            </a:pPr>
            <a:r>
              <a:rPr sz="1300" b="1" spc="-10" dirty="0">
                <a:solidFill>
                  <a:srgbClr val="8A5CF6"/>
                </a:solidFill>
                <a:latin typeface="Times New Roman"/>
                <a:cs typeface="Times New Roman"/>
              </a:rPr>
              <a:t>Consistency</a:t>
            </a:r>
            <a:endParaRPr sz="1300">
              <a:latin typeface="Times New Roman"/>
              <a:cs typeface="Times New Roman"/>
            </a:endParaRPr>
          </a:p>
          <a:p>
            <a:pPr marL="151130" marR="144145" indent="-635" algn="ctr">
              <a:lnSpc>
                <a:spcPct val="100000"/>
              </a:lnSpc>
              <a:spcBef>
                <a:spcPts val="30"/>
              </a:spcBef>
            </a:pPr>
            <a:r>
              <a:rPr sz="1000" dirty="0">
                <a:solidFill>
                  <a:srgbClr val="93A2B8"/>
                </a:solidFill>
                <a:latin typeface="Times New Roman"/>
                <a:cs typeface="Times New Roman"/>
              </a:rPr>
              <a:t>Database</a:t>
            </a:r>
            <a:r>
              <a:rPr sz="1000" spc="-20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93A2B8"/>
                </a:solidFill>
                <a:latin typeface="Times New Roman"/>
                <a:cs typeface="Times New Roman"/>
              </a:rPr>
              <a:t>moves</a:t>
            </a:r>
            <a:r>
              <a:rPr sz="1000" spc="-15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93A2B8"/>
                </a:solidFill>
                <a:latin typeface="Times New Roman"/>
                <a:cs typeface="Times New Roman"/>
              </a:rPr>
              <a:t>from</a:t>
            </a:r>
            <a:r>
              <a:rPr sz="1000" spc="-40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93A2B8"/>
                </a:solidFill>
                <a:latin typeface="Times New Roman"/>
                <a:cs typeface="Times New Roman"/>
              </a:rPr>
              <a:t>one</a:t>
            </a:r>
            <a:r>
              <a:rPr sz="1000" spc="-30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000" spc="-20" dirty="0">
                <a:solidFill>
                  <a:srgbClr val="93A2B8"/>
                </a:solidFill>
                <a:latin typeface="Times New Roman"/>
                <a:cs typeface="Times New Roman"/>
              </a:rPr>
              <a:t>valid </a:t>
            </a:r>
            <a:r>
              <a:rPr sz="1000" dirty="0">
                <a:solidFill>
                  <a:srgbClr val="93A2B8"/>
                </a:solidFill>
                <a:latin typeface="Times New Roman"/>
                <a:cs typeface="Times New Roman"/>
              </a:rPr>
              <a:t>state</a:t>
            </a:r>
            <a:r>
              <a:rPr sz="1000" spc="-20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93A2B8"/>
                </a:solidFill>
                <a:latin typeface="Times New Roman"/>
                <a:cs typeface="Times New Roman"/>
              </a:rPr>
              <a:t>to</a:t>
            </a:r>
            <a:r>
              <a:rPr sz="1000" spc="-35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93A2B8"/>
                </a:solidFill>
                <a:latin typeface="Times New Roman"/>
                <a:cs typeface="Times New Roman"/>
              </a:rPr>
              <a:t>another.</a:t>
            </a:r>
            <a:r>
              <a:rPr sz="1000" spc="-10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93A2B8"/>
                </a:solidFill>
                <a:latin typeface="Times New Roman"/>
                <a:cs typeface="Times New Roman"/>
              </a:rPr>
              <a:t>Stock</a:t>
            </a:r>
            <a:r>
              <a:rPr sz="1000" spc="-35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93A2B8"/>
                </a:solidFill>
                <a:latin typeface="Times New Roman"/>
                <a:cs typeface="Times New Roman"/>
              </a:rPr>
              <a:t>never</a:t>
            </a:r>
            <a:r>
              <a:rPr sz="1000" spc="5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000" spc="-20" dirty="0">
                <a:solidFill>
                  <a:srgbClr val="93A2B8"/>
                </a:solidFill>
                <a:latin typeface="Times New Roman"/>
                <a:cs typeface="Times New Roman"/>
              </a:rPr>
              <a:t>goes </a:t>
            </a:r>
            <a:r>
              <a:rPr sz="1000" dirty="0">
                <a:solidFill>
                  <a:srgbClr val="93A2B8"/>
                </a:solidFill>
                <a:latin typeface="Times New Roman"/>
                <a:cs typeface="Times New Roman"/>
              </a:rPr>
              <a:t>negative;</a:t>
            </a:r>
            <a:r>
              <a:rPr sz="1000" spc="-10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93A2B8"/>
                </a:solidFill>
                <a:latin typeface="Times New Roman"/>
                <a:cs typeface="Times New Roman"/>
              </a:rPr>
              <a:t>order</a:t>
            </a:r>
            <a:r>
              <a:rPr sz="1000" spc="-30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93A2B8"/>
                </a:solidFill>
                <a:latin typeface="Times New Roman"/>
                <a:cs typeface="Times New Roman"/>
              </a:rPr>
              <a:t>is</a:t>
            </a:r>
            <a:r>
              <a:rPr sz="1000" spc="-40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93A2B8"/>
                </a:solidFill>
                <a:latin typeface="Times New Roman"/>
                <a:cs typeface="Times New Roman"/>
              </a:rPr>
              <a:t>never</a:t>
            </a:r>
            <a:r>
              <a:rPr sz="1000" spc="-15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000" spc="-10" dirty="0">
                <a:solidFill>
                  <a:srgbClr val="93A2B8"/>
                </a:solidFill>
                <a:latin typeface="Times New Roman"/>
                <a:cs typeface="Times New Roman"/>
              </a:rPr>
              <a:t>created </a:t>
            </a:r>
            <a:r>
              <a:rPr sz="1000" dirty="0">
                <a:solidFill>
                  <a:srgbClr val="93A2B8"/>
                </a:solidFill>
                <a:latin typeface="Times New Roman"/>
                <a:cs typeface="Times New Roman"/>
              </a:rPr>
              <a:t>without</a:t>
            </a:r>
            <a:r>
              <a:rPr sz="1000" spc="-15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93A2B8"/>
                </a:solidFill>
                <a:latin typeface="Times New Roman"/>
                <a:cs typeface="Times New Roman"/>
              </a:rPr>
              <a:t>stock</a:t>
            </a:r>
            <a:r>
              <a:rPr sz="1000" spc="-35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000" spc="-10" dirty="0">
                <a:solidFill>
                  <a:srgbClr val="93A2B8"/>
                </a:solidFill>
                <a:latin typeface="Times New Roman"/>
                <a:cs typeface="Times New Roman"/>
              </a:rPr>
              <a:t>deduction.</a:t>
            </a:r>
            <a:endParaRPr sz="1000">
              <a:latin typeface="Times New Roman"/>
              <a:cs typeface="Times New Roman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4572000" y="1005839"/>
            <a:ext cx="2011680" cy="1737360"/>
            <a:chOff x="4572000" y="1005839"/>
            <a:chExt cx="2011680" cy="1737360"/>
          </a:xfrm>
        </p:grpSpPr>
        <p:sp>
          <p:nvSpPr>
            <p:cNvPr id="18" name="object 18"/>
            <p:cNvSpPr/>
            <p:nvPr/>
          </p:nvSpPr>
          <p:spPr>
            <a:xfrm>
              <a:off x="4572000" y="1005839"/>
              <a:ext cx="2011680" cy="1737360"/>
            </a:xfrm>
            <a:custGeom>
              <a:avLst/>
              <a:gdLst/>
              <a:ahLst/>
              <a:cxnLst/>
              <a:rect l="l" t="t" r="r" b="b"/>
              <a:pathLst>
                <a:path w="2011679" h="1737360">
                  <a:moveTo>
                    <a:pt x="2011679" y="0"/>
                  </a:moveTo>
                  <a:lnTo>
                    <a:pt x="0" y="0"/>
                  </a:lnTo>
                  <a:lnTo>
                    <a:pt x="0" y="1737360"/>
                  </a:lnTo>
                  <a:lnTo>
                    <a:pt x="2011679" y="1737360"/>
                  </a:lnTo>
                  <a:lnTo>
                    <a:pt x="2011679" y="0"/>
                  </a:lnTo>
                  <a:close/>
                </a:path>
              </a:pathLst>
            </a:custGeom>
            <a:solidFill>
              <a:srgbClr val="1B2A3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5257800" y="1097279"/>
              <a:ext cx="640080" cy="675640"/>
            </a:xfrm>
            <a:custGeom>
              <a:avLst/>
              <a:gdLst/>
              <a:ahLst/>
              <a:cxnLst/>
              <a:rect l="l" t="t" r="r" b="b"/>
              <a:pathLst>
                <a:path w="640079" h="675639">
                  <a:moveTo>
                    <a:pt x="320039" y="0"/>
                  </a:moveTo>
                  <a:lnTo>
                    <a:pt x="272739" y="3663"/>
                  </a:lnTo>
                  <a:lnTo>
                    <a:pt x="227596" y="14303"/>
                  </a:lnTo>
                  <a:lnTo>
                    <a:pt x="185105" y="31399"/>
                  </a:lnTo>
                  <a:lnTo>
                    <a:pt x="145761" y="54427"/>
                  </a:lnTo>
                  <a:lnTo>
                    <a:pt x="110057" y="82864"/>
                  </a:lnTo>
                  <a:lnTo>
                    <a:pt x="78490" y="116189"/>
                  </a:lnTo>
                  <a:lnTo>
                    <a:pt x="51552" y="153877"/>
                  </a:lnTo>
                  <a:lnTo>
                    <a:pt x="29740" y="195407"/>
                  </a:lnTo>
                  <a:lnTo>
                    <a:pt x="13547" y="240256"/>
                  </a:lnTo>
                  <a:lnTo>
                    <a:pt x="3469" y="287901"/>
                  </a:lnTo>
                  <a:lnTo>
                    <a:pt x="0" y="337820"/>
                  </a:lnTo>
                  <a:lnTo>
                    <a:pt x="3469" y="387738"/>
                  </a:lnTo>
                  <a:lnTo>
                    <a:pt x="13547" y="435383"/>
                  </a:lnTo>
                  <a:lnTo>
                    <a:pt x="29740" y="480232"/>
                  </a:lnTo>
                  <a:lnTo>
                    <a:pt x="51552" y="521762"/>
                  </a:lnTo>
                  <a:lnTo>
                    <a:pt x="78490" y="559450"/>
                  </a:lnTo>
                  <a:lnTo>
                    <a:pt x="110057" y="592775"/>
                  </a:lnTo>
                  <a:lnTo>
                    <a:pt x="145761" y="621212"/>
                  </a:lnTo>
                  <a:lnTo>
                    <a:pt x="185105" y="644240"/>
                  </a:lnTo>
                  <a:lnTo>
                    <a:pt x="227596" y="661336"/>
                  </a:lnTo>
                  <a:lnTo>
                    <a:pt x="272739" y="671976"/>
                  </a:lnTo>
                  <a:lnTo>
                    <a:pt x="320039" y="675640"/>
                  </a:lnTo>
                  <a:lnTo>
                    <a:pt x="367340" y="671976"/>
                  </a:lnTo>
                  <a:lnTo>
                    <a:pt x="412483" y="661336"/>
                  </a:lnTo>
                  <a:lnTo>
                    <a:pt x="454974" y="644240"/>
                  </a:lnTo>
                  <a:lnTo>
                    <a:pt x="494318" y="621212"/>
                  </a:lnTo>
                  <a:lnTo>
                    <a:pt x="530022" y="592775"/>
                  </a:lnTo>
                  <a:lnTo>
                    <a:pt x="561589" y="559450"/>
                  </a:lnTo>
                  <a:lnTo>
                    <a:pt x="588527" y="521762"/>
                  </a:lnTo>
                  <a:lnTo>
                    <a:pt x="610339" y="480232"/>
                  </a:lnTo>
                  <a:lnTo>
                    <a:pt x="626532" y="435383"/>
                  </a:lnTo>
                  <a:lnTo>
                    <a:pt x="636610" y="387738"/>
                  </a:lnTo>
                  <a:lnTo>
                    <a:pt x="640079" y="337820"/>
                  </a:lnTo>
                  <a:lnTo>
                    <a:pt x="636610" y="287901"/>
                  </a:lnTo>
                  <a:lnTo>
                    <a:pt x="626532" y="240256"/>
                  </a:lnTo>
                  <a:lnTo>
                    <a:pt x="610339" y="195407"/>
                  </a:lnTo>
                  <a:lnTo>
                    <a:pt x="588527" y="153877"/>
                  </a:lnTo>
                  <a:lnTo>
                    <a:pt x="561589" y="116189"/>
                  </a:lnTo>
                  <a:lnTo>
                    <a:pt x="530022" y="82864"/>
                  </a:lnTo>
                  <a:lnTo>
                    <a:pt x="494318" y="54427"/>
                  </a:lnTo>
                  <a:lnTo>
                    <a:pt x="454974" y="31399"/>
                  </a:lnTo>
                  <a:lnTo>
                    <a:pt x="412483" y="14303"/>
                  </a:lnTo>
                  <a:lnTo>
                    <a:pt x="367340" y="3663"/>
                  </a:lnTo>
                  <a:lnTo>
                    <a:pt x="320039" y="0"/>
                  </a:lnTo>
                  <a:close/>
                </a:path>
              </a:pathLst>
            </a:custGeom>
            <a:solidFill>
              <a:srgbClr val="0FB88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5257800" y="1097279"/>
              <a:ext cx="640080" cy="675640"/>
            </a:xfrm>
            <a:custGeom>
              <a:avLst/>
              <a:gdLst/>
              <a:ahLst/>
              <a:cxnLst/>
              <a:rect l="l" t="t" r="r" b="b"/>
              <a:pathLst>
                <a:path w="640079" h="675639">
                  <a:moveTo>
                    <a:pt x="0" y="337820"/>
                  </a:moveTo>
                  <a:lnTo>
                    <a:pt x="3469" y="287901"/>
                  </a:lnTo>
                  <a:lnTo>
                    <a:pt x="13547" y="240256"/>
                  </a:lnTo>
                  <a:lnTo>
                    <a:pt x="29740" y="195407"/>
                  </a:lnTo>
                  <a:lnTo>
                    <a:pt x="51552" y="153877"/>
                  </a:lnTo>
                  <a:lnTo>
                    <a:pt x="78490" y="116189"/>
                  </a:lnTo>
                  <a:lnTo>
                    <a:pt x="110057" y="82864"/>
                  </a:lnTo>
                  <a:lnTo>
                    <a:pt x="145761" y="54427"/>
                  </a:lnTo>
                  <a:lnTo>
                    <a:pt x="185105" y="31399"/>
                  </a:lnTo>
                  <a:lnTo>
                    <a:pt x="227596" y="14303"/>
                  </a:lnTo>
                  <a:lnTo>
                    <a:pt x="272739" y="3663"/>
                  </a:lnTo>
                  <a:lnTo>
                    <a:pt x="320039" y="0"/>
                  </a:lnTo>
                  <a:lnTo>
                    <a:pt x="367340" y="3663"/>
                  </a:lnTo>
                  <a:lnTo>
                    <a:pt x="412483" y="14303"/>
                  </a:lnTo>
                  <a:lnTo>
                    <a:pt x="454974" y="31399"/>
                  </a:lnTo>
                  <a:lnTo>
                    <a:pt x="494318" y="54427"/>
                  </a:lnTo>
                  <a:lnTo>
                    <a:pt x="530022" y="82864"/>
                  </a:lnTo>
                  <a:lnTo>
                    <a:pt x="561589" y="116189"/>
                  </a:lnTo>
                  <a:lnTo>
                    <a:pt x="588527" y="153877"/>
                  </a:lnTo>
                  <a:lnTo>
                    <a:pt x="610339" y="195407"/>
                  </a:lnTo>
                  <a:lnTo>
                    <a:pt x="626532" y="240256"/>
                  </a:lnTo>
                  <a:lnTo>
                    <a:pt x="636610" y="287901"/>
                  </a:lnTo>
                  <a:lnTo>
                    <a:pt x="640079" y="337820"/>
                  </a:lnTo>
                  <a:lnTo>
                    <a:pt x="636610" y="387738"/>
                  </a:lnTo>
                  <a:lnTo>
                    <a:pt x="626532" y="435383"/>
                  </a:lnTo>
                  <a:lnTo>
                    <a:pt x="610339" y="480232"/>
                  </a:lnTo>
                  <a:lnTo>
                    <a:pt x="588527" y="521762"/>
                  </a:lnTo>
                  <a:lnTo>
                    <a:pt x="561589" y="559450"/>
                  </a:lnTo>
                  <a:lnTo>
                    <a:pt x="530022" y="592775"/>
                  </a:lnTo>
                  <a:lnTo>
                    <a:pt x="494318" y="621212"/>
                  </a:lnTo>
                  <a:lnTo>
                    <a:pt x="454974" y="644240"/>
                  </a:lnTo>
                  <a:lnTo>
                    <a:pt x="412483" y="661336"/>
                  </a:lnTo>
                  <a:lnTo>
                    <a:pt x="367340" y="671976"/>
                  </a:lnTo>
                  <a:lnTo>
                    <a:pt x="320039" y="675640"/>
                  </a:lnTo>
                  <a:lnTo>
                    <a:pt x="272739" y="671976"/>
                  </a:lnTo>
                  <a:lnTo>
                    <a:pt x="227596" y="661336"/>
                  </a:lnTo>
                  <a:lnTo>
                    <a:pt x="185105" y="644240"/>
                  </a:lnTo>
                  <a:lnTo>
                    <a:pt x="145761" y="621212"/>
                  </a:lnTo>
                  <a:lnTo>
                    <a:pt x="110057" y="592775"/>
                  </a:lnTo>
                  <a:lnTo>
                    <a:pt x="78490" y="559450"/>
                  </a:lnTo>
                  <a:lnTo>
                    <a:pt x="51552" y="521762"/>
                  </a:lnTo>
                  <a:lnTo>
                    <a:pt x="29740" y="480232"/>
                  </a:lnTo>
                  <a:lnTo>
                    <a:pt x="13547" y="435383"/>
                  </a:lnTo>
                  <a:lnTo>
                    <a:pt x="3469" y="387738"/>
                  </a:lnTo>
                  <a:lnTo>
                    <a:pt x="0" y="337820"/>
                  </a:lnTo>
                  <a:close/>
                </a:path>
              </a:pathLst>
            </a:custGeom>
            <a:ln w="12700">
              <a:solidFill>
                <a:srgbClr val="0FB88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4572000" y="1005839"/>
            <a:ext cx="2011680" cy="1737360"/>
          </a:xfrm>
          <a:prstGeom prst="rect">
            <a:avLst/>
          </a:prstGeom>
          <a:ln w="19050">
            <a:solidFill>
              <a:srgbClr val="0FB881"/>
            </a:solidFill>
          </a:ln>
        </p:spPr>
        <p:txBody>
          <a:bodyPr vert="horz" wrap="square" lIns="0" tIns="25209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985"/>
              </a:spcBef>
            </a:pPr>
            <a:r>
              <a:rPr sz="2200" b="1" spc="-50" dirty="0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endParaRPr sz="2200">
              <a:latin typeface="Times New Roman"/>
              <a:cs typeface="Times New Roman"/>
            </a:endParaRPr>
          </a:p>
          <a:p>
            <a:pPr marL="1270" algn="ctr">
              <a:lnSpc>
                <a:spcPct val="100000"/>
              </a:lnSpc>
              <a:spcBef>
                <a:spcPts val="2325"/>
              </a:spcBef>
            </a:pPr>
            <a:r>
              <a:rPr sz="1300" b="1" spc="-10" dirty="0">
                <a:solidFill>
                  <a:srgbClr val="0FB881"/>
                </a:solidFill>
                <a:latin typeface="Times New Roman"/>
                <a:cs typeface="Times New Roman"/>
              </a:rPr>
              <a:t>Isolation</a:t>
            </a:r>
            <a:endParaRPr sz="1300">
              <a:latin typeface="Times New Roman"/>
              <a:cs typeface="Times New Roman"/>
            </a:endParaRPr>
          </a:p>
          <a:p>
            <a:pPr marL="181610" marR="174625" indent="-635" algn="ctr">
              <a:lnSpc>
                <a:spcPct val="100000"/>
              </a:lnSpc>
              <a:spcBef>
                <a:spcPts val="30"/>
              </a:spcBef>
            </a:pPr>
            <a:r>
              <a:rPr sz="1000" dirty="0">
                <a:solidFill>
                  <a:srgbClr val="93A2B8"/>
                </a:solidFill>
                <a:latin typeface="Times New Roman"/>
                <a:cs typeface="Times New Roman"/>
              </a:rPr>
              <a:t>Concurrent</a:t>
            </a:r>
            <a:r>
              <a:rPr sz="1000" spc="-40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93A2B8"/>
                </a:solidFill>
                <a:latin typeface="Times New Roman"/>
                <a:cs typeface="Times New Roman"/>
              </a:rPr>
              <a:t>transactions</a:t>
            </a:r>
            <a:r>
              <a:rPr sz="1000" spc="-40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000" spc="-20" dirty="0">
                <a:solidFill>
                  <a:srgbClr val="93A2B8"/>
                </a:solidFill>
                <a:latin typeface="Times New Roman"/>
                <a:cs typeface="Times New Roman"/>
              </a:rPr>
              <a:t>don't </a:t>
            </a:r>
            <a:r>
              <a:rPr sz="1000" dirty="0">
                <a:solidFill>
                  <a:srgbClr val="93A2B8"/>
                </a:solidFill>
                <a:latin typeface="Times New Roman"/>
                <a:cs typeface="Times New Roman"/>
              </a:rPr>
              <a:t>interfere.</a:t>
            </a:r>
            <a:r>
              <a:rPr sz="1000" spc="-15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93A2B8"/>
                </a:solidFill>
                <a:latin typeface="Times New Roman"/>
                <a:cs typeface="Times New Roman"/>
              </a:rPr>
              <a:t>Spring</a:t>
            </a:r>
            <a:r>
              <a:rPr sz="1000" spc="-40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93A2B8"/>
                </a:solidFill>
                <a:latin typeface="Times New Roman"/>
                <a:cs typeface="Times New Roman"/>
              </a:rPr>
              <a:t>uses</a:t>
            </a:r>
            <a:r>
              <a:rPr sz="1000" spc="-35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000" spc="-10" dirty="0">
                <a:solidFill>
                  <a:srgbClr val="93A2B8"/>
                </a:solidFill>
                <a:latin typeface="Times New Roman"/>
                <a:cs typeface="Times New Roman"/>
              </a:rPr>
              <a:t>default </a:t>
            </a:r>
            <a:r>
              <a:rPr sz="1000" dirty="0">
                <a:solidFill>
                  <a:srgbClr val="93A2B8"/>
                </a:solidFill>
                <a:latin typeface="Times New Roman"/>
                <a:cs typeface="Times New Roman"/>
              </a:rPr>
              <a:t>READ_COMMITTED</a:t>
            </a:r>
            <a:r>
              <a:rPr sz="1000" spc="-60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000" spc="-10" dirty="0">
                <a:solidFill>
                  <a:srgbClr val="93A2B8"/>
                </a:solidFill>
                <a:latin typeface="Times New Roman"/>
                <a:cs typeface="Times New Roman"/>
              </a:rPr>
              <a:t>isolation </a:t>
            </a:r>
            <a:r>
              <a:rPr sz="1000" dirty="0">
                <a:solidFill>
                  <a:srgbClr val="93A2B8"/>
                </a:solidFill>
                <a:latin typeface="Times New Roman"/>
                <a:cs typeface="Times New Roman"/>
              </a:rPr>
              <a:t>preventing</a:t>
            </a:r>
            <a:r>
              <a:rPr sz="1000" spc="-15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93A2B8"/>
                </a:solidFill>
                <a:latin typeface="Times New Roman"/>
                <a:cs typeface="Times New Roman"/>
              </a:rPr>
              <a:t>dirty</a:t>
            </a:r>
            <a:r>
              <a:rPr sz="1000" spc="-50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000" spc="-10" dirty="0">
                <a:solidFill>
                  <a:srgbClr val="93A2B8"/>
                </a:solidFill>
                <a:latin typeface="Times New Roman"/>
                <a:cs typeface="Times New Roman"/>
              </a:rPr>
              <a:t>reads.</a:t>
            </a:r>
            <a:endParaRPr sz="1000">
              <a:latin typeface="Times New Roman"/>
              <a:cs typeface="Times New Roman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6720840" y="1005839"/>
            <a:ext cx="2011680" cy="1737360"/>
            <a:chOff x="6720840" y="1005839"/>
            <a:chExt cx="2011680" cy="1737360"/>
          </a:xfrm>
        </p:grpSpPr>
        <p:sp>
          <p:nvSpPr>
            <p:cNvPr id="23" name="object 23"/>
            <p:cNvSpPr/>
            <p:nvPr/>
          </p:nvSpPr>
          <p:spPr>
            <a:xfrm>
              <a:off x="6720840" y="1005839"/>
              <a:ext cx="2011680" cy="1737360"/>
            </a:xfrm>
            <a:custGeom>
              <a:avLst/>
              <a:gdLst/>
              <a:ahLst/>
              <a:cxnLst/>
              <a:rect l="l" t="t" r="r" b="b"/>
              <a:pathLst>
                <a:path w="2011679" h="1737360">
                  <a:moveTo>
                    <a:pt x="2011679" y="0"/>
                  </a:moveTo>
                  <a:lnTo>
                    <a:pt x="0" y="0"/>
                  </a:lnTo>
                  <a:lnTo>
                    <a:pt x="0" y="1737360"/>
                  </a:lnTo>
                  <a:lnTo>
                    <a:pt x="2011679" y="1737360"/>
                  </a:lnTo>
                  <a:lnTo>
                    <a:pt x="2011679" y="0"/>
                  </a:lnTo>
                  <a:close/>
                </a:path>
              </a:pathLst>
            </a:custGeom>
            <a:solidFill>
              <a:srgbClr val="1B2A3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7406640" y="1097279"/>
              <a:ext cx="640080" cy="675640"/>
            </a:xfrm>
            <a:custGeom>
              <a:avLst/>
              <a:gdLst/>
              <a:ahLst/>
              <a:cxnLst/>
              <a:rect l="l" t="t" r="r" b="b"/>
              <a:pathLst>
                <a:path w="640079" h="675639">
                  <a:moveTo>
                    <a:pt x="320039" y="0"/>
                  </a:moveTo>
                  <a:lnTo>
                    <a:pt x="272739" y="3663"/>
                  </a:lnTo>
                  <a:lnTo>
                    <a:pt x="227596" y="14303"/>
                  </a:lnTo>
                  <a:lnTo>
                    <a:pt x="185105" y="31399"/>
                  </a:lnTo>
                  <a:lnTo>
                    <a:pt x="145761" y="54427"/>
                  </a:lnTo>
                  <a:lnTo>
                    <a:pt x="110057" y="82864"/>
                  </a:lnTo>
                  <a:lnTo>
                    <a:pt x="78490" y="116189"/>
                  </a:lnTo>
                  <a:lnTo>
                    <a:pt x="51552" y="153877"/>
                  </a:lnTo>
                  <a:lnTo>
                    <a:pt x="29740" y="195407"/>
                  </a:lnTo>
                  <a:lnTo>
                    <a:pt x="13547" y="240256"/>
                  </a:lnTo>
                  <a:lnTo>
                    <a:pt x="3469" y="287901"/>
                  </a:lnTo>
                  <a:lnTo>
                    <a:pt x="0" y="337820"/>
                  </a:lnTo>
                  <a:lnTo>
                    <a:pt x="3469" y="387738"/>
                  </a:lnTo>
                  <a:lnTo>
                    <a:pt x="13547" y="435383"/>
                  </a:lnTo>
                  <a:lnTo>
                    <a:pt x="29740" y="480232"/>
                  </a:lnTo>
                  <a:lnTo>
                    <a:pt x="51552" y="521762"/>
                  </a:lnTo>
                  <a:lnTo>
                    <a:pt x="78490" y="559450"/>
                  </a:lnTo>
                  <a:lnTo>
                    <a:pt x="110057" y="592775"/>
                  </a:lnTo>
                  <a:lnTo>
                    <a:pt x="145761" y="621212"/>
                  </a:lnTo>
                  <a:lnTo>
                    <a:pt x="185105" y="644240"/>
                  </a:lnTo>
                  <a:lnTo>
                    <a:pt x="227596" y="661336"/>
                  </a:lnTo>
                  <a:lnTo>
                    <a:pt x="272739" y="671976"/>
                  </a:lnTo>
                  <a:lnTo>
                    <a:pt x="320039" y="675640"/>
                  </a:lnTo>
                  <a:lnTo>
                    <a:pt x="367340" y="671976"/>
                  </a:lnTo>
                  <a:lnTo>
                    <a:pt x="412483" y="661336"/>
                  </a:lnTo>
                  <a:lnTo>
                    <a:pt x="454974" y="644240"/>
                  </a:lnTo>
                  <a:lnTo>
                    <a:pt x="494318" y="621212"/>
                  </a:lnTo>
                  <a:lnTo>
                    <a:pt x="530022" y="592775"/>
                  </a:lnTo>
                  <a:lnTo>
                    <a:pt x="561589" y="559450"/>
                  </a:lnTo>
                  <a:lnTo>
                    <a:pt x="588527" y="521762"/>
                  </a:lnTo>
                  <a:lnTo>
                    <a:pt x="610339" y="480232"/>
                  </a:lnTo>
                  <a:lnTo>
                    <a:pt x="626532" y="435383"/>
                  </a:lnTo>
                  <a:lnTo>
                    <a:pt x="636610" y="387738"/>
                  </a:lnTo>
                  <a:lnTo>
                    <a:pt x="640079" y="337820"/>
                  </a:lnTo>
                  <a:lnTo>
                    <a:pt x="636610" y="287901"/>
                  </a:lnTo>
                  <a:lnTo>
                    <a:pt x="626532" y="240256"/>
                  </a:lnTo>
                  <a:lnTo>
                    <a:pt x="610339" y="195407"/>
                  </a:lnTo>
                  <a:lnTo>
                    <a:pt x="588527" y="153877"/>
                  </a:lnTo>
                  <a:lnTo>
                    <a:pt x="561589" y="116189"/>
                  </a:lnTo>
                  <a:lnTo>
                    <a:pt x="530022" y="82864"/>
                  </a:lnTo>
                  <a:lnTo>
                    <a:pt x="494318" y="54427"/>
                  </a:lnTo>
                  <a:lnTo>
                    <a:pt x="454974" y="31399"/>
                  </a:lnTo>
                  <a:lnTo>
                    <a:pt x="412483" y="14303"/>
                  </a:lnTo>
                  <a:lnTo>
                    <a:pt x="367340" y="3663"/>
                  </a:lnTo>
                  <a:lnTo>
                    <a:pt x="320039" y="0"/>
                  </a:lnTo>
                  <a:close/>
                </a:path>
              </a:pathLst>
            </a:custGeom>
            <a:solidFill>
              <a:srgbClr val="F59E0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7406640" y="1097279"/>
              <a:ext cx="640080" cy="675640"/>
            </a:xfrm>
            <a:custGeom>
              <a:avLst/>
              <a:gdLst/>
              <a:ahLst/>
              <a:cxnLst/>
              <a:rect l="l" t="t" r="r" b="b"/>
              <a:pathLst>
                <a:path w="640079" h="675639">
                  <a:moveTo>
                    <a:pt x="0" y="337820"/>
                  </a:moveTo>
                  <a:lnTo>
                    <a:pt x="3469" y="287901"/>
                  </a:lnTo>
                  <a:lnTo>
                    <a:pt x="13547" y="240256"/>
                  </a:lnTo>
                  <a:lnTo>
                    <a:pt x="29740" y="195407"/>
                  </a:lnTo>
                  <a:lnTo>
                    <a:pt x="51552" y="153877"/>
                  </a:lnTo>
                  <a:lnTo>
                    <a:pt x="78490" y="116189"/>
                  </a:lnTo>
                  <a:lnTo>
                    <a:pt x="110057" y="82864"/>
                  </a:lnTo>
                  <a:lnTo>
                    <a:pt x="145761" y="54427"/>
                  </a:lnTo>
                  <a:lnTo>
                    <a:pt x="185105" y="31399"/>
                  </a:lnTo>
                  <a:lnTo>
                    <a:pt x="227596" y="14303"/>
                  </a:lnTo>
                  <a:lnTo>
                    <a:pt x="272739" y="3663"/>
                  </a:lnTo>
                  <a:lnTo>
                    <a:pt x="320039" y="0"/>
                  </a:lnTo>
                  <a:lnTo>
                    <a:pt x="367340" y="3663"/>
                  </a:lnTo>
                  <a:lnTo>
                    <a:pt x="412483" y="14303"/>
                  </a:lnTo>
                  <a:lnTo>
                    <a:pt x="454974" y="31399"/>
                  </a:lnTo>
                  <a:lnTo>
                    <a:pt x="494318" y="54427"/>
                  </a:lnTo>
                  <a:lnTo>
                    <a:pt x="530022" y="82864"/>
                  </a:lnTo>
                  <a:lnTo>
                    <a:pt x="561589" y="116189"/>
                  </a:lnTo>
                  <a:lnTo>
                    <a:pt x="588527" y="153877"/>
                  </a:lnTo>
                  <a:lnTo>
                    <a:pt x="610339" y="195407"/>
                  </a:lnTo>
                  <a:lnTo>
                    <a:pt x="626532" y="240256"/>
                  </a:lnTo>
                  <a:lnTo>
                    <a:pt x="636610" y="287901"/>
                  </a:lnTo>
                  <a:lnTo>
                    <a:pt x="640079" y="337820"/>
                  </a:lnTo>
                  <a:lnTo>
                    <a:pt x="636610" y="387738"/>
                  </a:lnTo>
                  <a:lnTo>
                    <a:pt x="626532" y="435383"/>
                  </a:lnTo>
                  <a:lnTo>
                    <a:pt x="610339" y="480232"/>
                  </a:lnTo>
                  <a:lnTo>
                    <a:pt x="588527" y="521762"/>
                  </a:lnTo>
                  <a:lnTo>
                    <a:pt x="561589" y="559450"/>
                  </a:lnTo>
                  <a:lnTo>
                    <a:pt x="530022" y="592775"/>
                  </a:lnTo>
                  <a:lnTo>
                    <a:pt x="494318" y="621212"/>
                  </a:lnTo>
                  <a:lnTo>
                    <a:pt x="454974" y="644240"/>
                  </a:lnTo>
                  <a:lnTo>
                    <a:pt x="412483" y="661336"/>
                  </a:lnTo>
                  <a:lnTo>
                    <a:pt x="367340" y="671976"/>
                  </a:lnTo>
                  <a:lnTo>
                    <a:pt x="320039" y="675640"/>
                  </a:lnTo>
                  <a:lnTo>
                    <a:pt x="272739" y="671976"/>
                  </a:lnTo>
                  <a:lnTo>
                    <a:pt x="227596" y="661336"/>
                  </a:lnTo>
                  <a:lnTo>
                    <a:pt x="185105" y="644240"/>
                  </a:lnTo>
                  <a:lnTo>
                    <a:pt x="145761" y="621212"/>
                  </a:lnTo>
                  <a:lnTo>
                    <a:pt x="110057" y="592775"/>
                  </a:lnTo>
                  <a:lnTo>
                    <a:pt x="78490" y="559450"/>
                  </a:lnTo>
                  <a:lnTo>
                    <a:pt x="51552" y="521762"/>
                  </a:lnTo>
                  <a:lnTo>
                    <a:pt x="29740" y="480232"/>
                  </a:lnTo>
                  <a:lnTo>
                    <a:pt x="13547" y="435383"/>
                  </a:lnTo>
                  <a:lnTo>
                    <a:pt x="3469" y="387738"/>
                  </a:lnTo>
                  <a:lnTo>
                    <a:pt x="0" y="337820"/>
                  </a:lnTo>
                  <a:close/>
                </a:path>
              </a:pathLst>
            </a:custGeom>
            <a:ln w="12700">
              <a:solidFill>
                <a:srgbClr val="F59E0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6720840" y="1005839"/>
            <a:ext cx="2011680" cy="1737360"/>
          </a:xfrm>
          <a:prstGeom prst="rect">
            <a:avLst/>
          </a:prstGeom>
          <a:ln w="19050">
            <a:solidFill>
              <a:srgbClr val="F59E0A"/>
            </a:solidFill>
          </a:ln>
        </p:spPr>
        <p:txBody>
          <a:bodyPr vert="horz" wrap="square" lIns="0" tIns="252095" rIns="0" bIns="0" rtlCol="0">
            <a:spAutoFit/>
          </a:bodyPr>
          <a:lstStyle/>
          <a:p>
            <a:pPr marL="2540" algn="ctr">
              <a:lnSpc>
                <a:spcPct val="100000"/>
              </a:lnSpc>
              <a:spcBef>
                <a:spcPts val="1985"/>
              </a:spcBef>
            </a:pPr>
            <a:r>
              <a:rPr sz="2200" b="1" spc="-50" dirty="0">
                <a:solidFill>
                  <a:srgbClr val="FFFFFF"/>
                </a:solidFill>
                <a:latin typeface="Times New Roman"/>
                <a:cs typeface="Times New Roman"/>
              </a:rPr>
              <a:t>D</a:t>
            </a:r>
            <a:endParaRPr sz="22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2325"/>
              </a:spcBef>
            </a:pPr>
            <a:r>
              <a:rPr sz="1300" b="1" spc="-10" dirty="0">
                <a:solidFill>
                  <a:srgbClr val="F59E0A"/>
                </a:solidFill>
                <a:latin typeface="Times New Roman"/>
                <a:cs typeface="Times New Roman"/>
              </a:rPr>
              <a:t>Durability</a:t>
            </a:r>
            <a:endParaRPr sz="1300">
              <a:latin typeface="Times New Roman"/>
              <a:cs typeface="Times New Roman"/>
            </a:endParaRPr>
          </a:p>
          <a:p>
            <a:pPr marL="123825" marR="116839" indent="1905" algn="ctr">
              <a:lnSpc>
                <a:spcPct val="100000"/>
              </a:lnSpc>
              <a:spcBef>
                <a:spcPts val="630"/>
              </a:spcBef>
            </a:pPr>
            <a:r>
              <a:rPr sz="1000" dirty="0">
                <a:solidFill>
                  <a:srgbClr val="93A2B8"/>
                </a:solidFill>
                <a:latin typeface="Times New Roman"/>
                <a:cs typeface="Times New Roman"/>
              </a:rPr>
              <a:t>Committed</a:t>
            </a:r>
            <a:r>
              <a:rPr sz="1000" spc="-30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93A2B8"/>
                </a:solidFill>
                <a:latin typeface="Times New Roman"/>
                <a:cs typeface="Times New Roman"/>
              </a:rPr>
              <a:t>transactions</a:t>
            </a:r>
            <a:r>
              <a:rPr sz="1000" spc="-35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000" spc="-10" dirty="0">
                <a:solidFill>
                  <a:srgbClr val="93A2B8"/>
                </a:solidFill>
                <a:latin typeface="Times New Roman"/>
                <a:cs typeface="Times New Roman"/>
              </a:rPr>
              <a:t>survive </a:t>
            </a:r>
            <a:r>
              <a:rPr sz="1000" dirty="0">
                <a:solidFill>
                  <a:srgbClr val="93A2B8"/>
                </a:solidFill>
                <a:latin typeface="Times New Roman"/>
                <a:cs typeface="Times New Roman"/>
              </a:rPr>
              <a:t>crashes.</a:t>
            </a:r>
            <a:r>
              <a:rPr sz="1000" spc="-20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93A2B8"/>
                </a:solidFill>
                <a:latin typeface="Times New Roman"/>
                <a:cs typeface="Times New Roman"/>
              </a:rPr>
              <a:t>MySQL</a:t>
            </a:r>
            <a:r>
              <a:rPr sz="1000" spc="-30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93A2B8"/>
                </a:solidFill>
                <a:latin typeface="Times New Roman"/>
                <a:cs typeface="Times New Roman"/>
              </a:rPr>
              <a:t>InnoDB</a:t>
            </a:r>
            <a:r>
              <a:rPr sz="1000" spc="-30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000" spc="-10" dirty="0">
                <a:solidFill>
                  <a:srgbClr val="93A2B8"/>
                </a:solidFill>
                <a:latin typeface="Times New Roman"/>
                <a:cs typeface="Times New Roman"/>
              </a:rPr>
              <a:t>ensures </a:t>
            </a:r>
            <a:r>
              <a:rPr sz="1000" dirty="0">
                <a:solidFill>
                  <a:srgbClr val="93A2B8"/>
                </a:solidFill>
                <a:latin typeface="Times New Roman"/>
                <a:cs typeface="Times New Roman"/>
              </a:rPr>
              <a:t>durability</a:t>
            </a:r>
            <a:r>
              <a:rPr sz="1000" spc="-15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93A2B8"/>
                </a:solidFill>
                <a:latin typeface="Times New Roman"/>
                <a:cs typeface="Times New Roman"/>
              </a:rPr>
              <a:t>via</a:t>
            </a:r>
            <a:r>
              <a:rPr sz="1000" spc="-5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000" spc="-20" dirty="0">
                <a:solidFill>
                  <a:srgbClr val="93A2B8"/>
                </a:solidFill>
                <a:latin typeface="Times New Roman"/>
                <a:cs typeface="Times New Roman"/>
              </a:rPr>
              <a:t>write-</a:t>
            </a:r>
            <a:r>
              <a:rPr sz="1000" dirty="0">
                <a:solidFill>
                  <a:srgbClr val="93A2B8"/>
                </a:solidFill>
                <a:latin typeface="Times New Roman"/>
                <a:cs typeface="Times New Roman"/>
              </a:rPr>
              <a:t>ahead</a:t>
            </a:r>
            <a:r>
              <a:rPr sz="1000" spc="35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000" spc="-10" dirty="0">
                <a:solidFill>
                  <a:srgbClr val="93A2B8"/>
                </a:solidFill>
                <a:latin typeface="Times New Roman"/>
                <a:cs typeface="Times New Roman"/>
              </a:rPr>
              <a:t>logging.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296367" y="3230702"/>
            <a:ext cx="2545715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b="1" dirty="0">
                <a:solidFill>
                  <a:srgbClr val="0FB881"/>
                </a:solidFill>
                <a:latin typeface="Times New Roman"/>
                <a:cs typeface="Times New Roman"/>
              </a:rPr>
              <a:t>Order</a:t>
            </a:r>
            <a:r>
              <a:rPr sz="1300" b="1" spc="-40" dirty="0">
                <a:solidFill>
                  <a:srgbClr val="0FB881"/>
                </a:solidFill>
                <a:latin typeface="Times New Roman"/>
                <a:cs typeface="Times New Roman"/>
              </a:rPr>
              <a:t> </a:t>
            </a:r>
            <a:r>
              <a:rPr sz="1300" b="1" dirty="0">
                <a:solidFill>
                  <a:srgbClr val="0FB881"/>
                </a:solidFill>
                <a:latin typeface="Times New Roman"/>
                <a:cs typeface="Times New Roman"/>
              </a:rPr>
              <a:t>Processing</a:t>
            </a:r>
            <a:r>
              <a:rPr sz="1300" b="1" spc="-50" dirty="0">
                <a:solidFill>
                  <a:srgbClr val="0FB881"/>
                </a:solidFill>
                <a:latin typeface="Times New Roman"/>
                <a:cs typeface="Times New Roman"/>
              </a:rPr>
              <a:t> </a:t>
            </a:r>
            <a:r>
              <a:rPr sz="1300" b="1" dirty="0">
                <a:solidFill>
                  <a:srgbClr val="0FB881"/>
                </a:solidFill>
                <a:latin typeface="Times New Roman"/>
                <a:cs typeface="Times New Roman"/>
              </a:rPr>
              <a:t>Transaction</a:t>
            </a:r>
            <a:r>
              <a:rPr sz="1300" b="1" spc="-30" dirty="0">
                <a:solidFill>
                  <a:srgbClr val="0FB881"/>
                </a:solidFill>
                <a:latin typeface="Times New Roman"/>
                <a:cs typeface="Times New Roman"/>
              </a:rPr>
              <a:t> </a:t>
            </a:r>
            <a:r>
              <a:rPr sz="1300" b="1" spc="-20" dirty="0">
                <a:solidFill>
                  <a:srgbClr val="0FB881"/>
                </a:solidFill>
                <a:latin typeface="Times New Roman"/>
                <a:cs typeface="Times New Roman"/>
              </a:rPr>
              <a:t>Flow</a:t>
            </a:r>
            <a:endParaRPr sz="1300">
              <a:latin typeface="Times New Roman"/>
              <a:cs typeface="Times New Roman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348526" y="3591598"/>
            <a:ext cx="1247140" cy="515620"/>
            <a:chOff x="348526" y="3591598"/>
            <a:chExt cx="1247140" cy="515620"/>
          </a:xfrm>
        </p:grpSpPr>
        <p:sp>
          <p:nvSpPr>
            <p:cNvPr id="29" name="object 29"/>
            <p:cNvSpPr/>
            <p:nvPr/>
          </p:nvSpPr>
          <p:spPr>
            <a:xfrm>
              <a:off x="354876" y="3597948"/>
              <a:ext cx="1234440" cy="502920"/>
            </a:xfrm>
            <a:custGeom>
              <a:avLst/>
              <a:gdLst/>
              <a:ahLst/>
              <a:cxnLst/>
              <a:rect l="l" t="t" r="r" b="b"/>
              <a:pathLst>
                <a:path w="1234440" h="502920">
                  <a:moveTo>
                    <a:pt x="1234440" y="0"/>
                  </a:moveTo>
                  <a:lnTo>
                    <a:pt x="0" y="0"/>
                  </a:lnTo>
                  <a:lnTo>
                    <a:pt x="0" y="502920"/>
                  </a:lnTo>
                  <a:lnTo>
                    <a:pt x="1234440" y="502920"/>
                  </a:lnTo>
                  <a:lnTo>
                    <a:pt x="1234440" y="0"/>
                  </a:lnTo>
                  <a:close/>
                </a:path>
              </a:pathLst>
            </a:custGeom>
            <a:solidFill>
              <a:srgbClr val="0891B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354876" y="3597948"/>
              <a:ext cx="1234440" cy="502920"/>
            </a:xfrm>
            <a:custGeom>
              <a:avLst/>
              <a:gdLst/>
              <a:ahLst/>
              <a:cxnLst/>
              <a:rect l="l" t="t" r="r" b="b"/>
              <a:pathLst>
                <a:path w="1234440" h="502920">
                  <a:moveTo>
                    <a:pt x="0" y="502920"/>
                  </a:moveTo>
                  <a:lnTo>
                    <a:pt x="1234440" y="502920"/>
                  </a:lnTo>
                  <a:lnTo>
                    <a:pt x="1234440" y="0"/>
                  </a:lnTo>
                  <a:lnTo>
                    <a:pt x="0" y="0"/>
                  </a:lnTo>
                  <a:lnTo>
                    <a:pt x="0" y="502920"/>
                  </a:lnTo>
                  <a:close/>
                </a:path>
              </a:pathLst>
            </a:custGeom>
            <a:ln w="12700">
              <a:solidFill>
                <a:srgbClr val="0891B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1" name="object 31"/>
          <p:cNvSpPr txBox="1"/>
          <p:nvPr/>
        </p:nvSpPr>
        <p:spPr>
          <a:xfrm>
            <a:off x="437387" y="3725062"/>
            <a:ext cx="10223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400" b="1" spc="-50" dirty="0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786383" y="3680840"/>
            <a:ext cx="61214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R="5715" algn="ctr">
              <a:lnSpc>
                <a:spcPct val="100000"/>
              </a:lnSpc>
              <a:spcBef>
                <a:spcPts val="95"/>
              </a:spcBef>
            </a:pPr>
            <a:r>
              <a:rPr sz="1000" spc="-10" dirty="0">
                <a:solidFill>
                  <a:srgbClr val="FFFFFF"/>
                </a:solidFill>
                <a:latin typeface="Times New Roman"/>
                <a:cs typeface="Times New Roman"/>
              </a:rPr>
              <a:t>BEGIN</a:t>
            </a:r>
            <a:endParaRPr sz="1000">
              <a:latin typeface="Times New Roman"/>
              <a:cs typeface="Times New Roman"/>
            </a:endParaRPr>
          </a:p>
          <a:p>
            <a:pPr marR="5080" algn="ctr">
              <a:lnSpc>
                <a:spcPct val="100000"/>
              </a:lnSpc>
            </a:pPr>
            <a:r>
              <a:rPr sz="1000" spc="-10" dirty="0">
                <a:solidFill>
                  <a:srgbClr val="FFFFFF"/>
                </a:solidFill>
                <a:latin typeface="Times New Roman"/>
                <a:cs typeface="Times New Roman"/>
              </a:rPr>
              <a:t>Transaction</a:t>
            </a:r>
            <a:endParaRPr sz="1000">
              <a:latin typeface="Times New Roman"/>
              <a:cs typeface="Times New Roman"/>
            </a:endParaRPr>
          </a:p>
        </p:txBody>
      </p:sp>
      <p:grpSp>
        <p:nvGrpSpPr>
          <p:cNvPr id="33" name="object 33"/>
          <p:cNvGrpSpPr/>
          <p:nvPr/>
        </p:nvGrpSpPr>
        <p:grpSpPr>
          <a:xfrm>
            <a:off x="1582927" y="3591598"/>
            <a:ext cx="1430020" cy="515620"/>
            <a:chOff x="1582927" y="3591598"/>
            <a:chExt cx="1430020" cy="515620"/>
          </a:xfrm>
        </p:grpSpPr>
        <p:sp>
          <p:nvSpPr>
            <p:cNvPr id="34" name="object 34"/>
            <p:cNvSpPr/>
            <p:nvPr/>
          </p:nvSpPr>
          <p:spPr>
            <a:xfrm>
              <a:off x="1589277" y="3817366"/>
              <a:ext cx="182880" cy="55244"/>
            </a:xfrm>
            <a:custGeom>
              <a:avLst/>
              <a:gdLst/>
              <a:ahLst/>
              <a:cxnLst/>
              <a:rect l="l" t="t" r="r" b="b"/>
              <a:pathLst>
                <a:path w="182880" h="55245">
                  <a:moveTo>
                    <a:pt x="182879" y="0"/>
                  </a:moveTo>
                  <a:lnTo>
                    <a:pt x="0" y="0"/>
                  </a:lnTo>
                  <a:lnTo>
                    <a:pt x="0" y="54863"/>
                  </a:lnTo>
                  <a:lnTo>
                    <a:pt x="182879" y="54863"/>
                  </a:lnTo>
                  <a:lnTo>
                    <a:pt x="182879" y="0"/>
                  </a:lnTo>
                  <a:close/>
                </a:path>
              </a:pathLst>
            </a:custGeom>
            <a:solidFill>
              <a:srgbClr val="93A2B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1589277" y="3817366"/>
              <a:ext cx="182880" cy="55244"/>
            </a:xfrm>
            <a:custGeom>
              <a:avLst/>
              <a:gdLst/>
              <a:ahLst/>
              <a:cxnLst/>
              <a:rect l="l" t="t" r="r" b="b"/>
              <a:pathLst>
                <a:path w="182880" h="55245">
                  <a:moveTo>
                    <a:pt x="0" y="54863"/>
                  </a:moveTo>
                  <a:lnTo>
                    <a:pt x="182879" y="54863"/>
                  </a:lnTo>
                  <a:lnTo>
                    <a:pt x="182879" y="0"/>
                  </a:lnTo>
                  <a:lnTo>
                    <a:pt x="0" y="0"/>
                  </a:lnTo>
                  <a:lnTo>
                    <a:pt x="0" y="54863"/>
                  </a:lnTo>
                  <a:close/>
                </a:path>
              </a:pathLst>
            </a:custGeom>
            <a:ln w="12700">
              <a:solidFill>
                <a:srgbClr val="93A2B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1772157" y="3597948"/>
              <a:ext cx="1234440" cy="502920"/>
            </a:xfrm>
            <a:custGeom>
              <a:avLst/>
              <a:gdLst/>
              <a:ahLst/>
              <a:cxnLst/>
              <a:rect l="l" t="t" r="r" b="b"/>
              <a:pathLst>
                <a:path w="1234439" h="502920">
                  <a:moveTo>
                    <a:pt x="1234440" y="0"/>
                  </a:moveTo>
                  <a:lnTo>
                    <a:pt x="0" y="0"/>
                  </a:lnTo>
                  <a:lnTo>
                    <a:pt x="0" y="502920"/>
                  </a:lnTo>
                  <a:lnTo>
                    <a:pt x="1234440" y="502920"/>
                  </a:lnTo>
                  <a:lnTo>
                    <a:pt x="1234440" y="0"/>
                  </a:lnTo>
                  <a:close/>
                </a:path>
              </a:pathLst>
            </a:custGeom>
            <a:solidFill>
              <a:srgbClr val="0FB88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1772157" y="3597948"/>
              <a:ext cx="1234440" cy="502920"/>
            </a:xfrm>
            <a:custGeom>
              <a:avLst/>
              <a:gdLst/>
              <a:ahLst/>
              <a:cxnLst/>
              <a:rect l="l" t="t" r="r" b="b"/>
              <a:pathLst>
                <a:path w="1234439" h="502920">
                  <a:moveTo>
                    <a:pt x="0" y="502920"/>
                  </a:moveTo>
                  <a:lnTo>
                    <a:pt x="1234440" y="502920"/>
                  </a:lnTo>
                  <a:lnTo>
                    <a:pt x="1234440" y="0"/>
                  </a:lnTo>
                  <a:lnTo>
                    <a:pt x="0" y="0"/>
                  </a:lnTo>
                  <a:lnTo>
                    <a:pt x="0" y="502920"/>
                  </a:lnTo>
                  <a:close/>
                </a:path>
              </a:pathLst>
            </a:custGeom>
            <a:ln w="12700">
              <a:solidFill>
                <a:srgbClr val="0FB88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8" name="object 38"/>
          <p:cNvSpPr txBox="1"/>
          <p:nvPr/>
        </p:nvSpPr>
        <p:spPr>
          <a:xfrm>
            <a:off x="1854961" y="3725062"/>
            <a:ext cx="10223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400" b="1" spc="-50" dirty="0">
                <a:solidFill>
                  <a:srgbClr val="FFFFFF"/>
                </a:solidFill>
                <a:latin typeface="Times New Roman"/>
                <a:cs typeface="Times New Roman"/>
              </a:rPr>
              <a:t>2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2289048" y="3680840"/>
            <a:ext cx="442595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69850" marR="5080" indent="-70485">
              <a:lnSpc>
                <a:spcPct val="100000"/>
              </a:lnSpc>
              <a:spcBef>
                <a:spcPts val="95"/>
              </a:spcBef>
            </a:pPr>
            <a:r>
              <a:rPr sz="1000" spc="-10" dirty="0">
                <a:solidFill>
                  <a:srgbClr val="FFFFFF"/>
                </a:solidFill>
                <a:latin typeface="Times New Roman"/>
                <a:cs typeface="Times New Roman"/>
              </a:rPr>
              <a:t>Validate Stock</a:t>
            </a:r>
            <a:endParaRPr sz="1000">
              <a:latin typeface="Times New Roman"/>
              <a:cs typeface="Times New Roman"/>
            </a:endParaRPr>
          </a:p>
        </p:txBody>
      </p:sp>
      <p:grpSp>
        <p:nvGrpSpPr>
          <p:cNvPr id="40" name="object 40"/>
          <p:cNvGrpSpPr/>
          <p:nvPr/>
        </p:nvGrpSpPr>
        <p:grpSpPr>
          <a:xfrm>
            <a:off x="3000248" y="3591598"/>
            <a:ext cx="1430020" cy="515620"/>
            <a:chOff x="3000248" y="3591598"/>
            <a:chExt cx="1430020" cy="515620"/>
          </a:xfrm>
        </p:grpSpPr>
        <p:sp>
          <p:nvSpPr>
            <p:cNvPr id="41" name="object 41"/>
            <p:cNvSpPr/>
            <p:nvPr/>
          </p:nvSpPr>
          <p:spPr>
            <a:xfrm>
              <a:off x="3006598" y="3817366"/>
              <a:ext cx="182880" cy="55244"/>
            </a:xfrm>
            <a:custGeom>
              <a:avLst/>
              <a:gdLst/>
              <a:ahLst/>
              <a:cxnLst/>
              <a:rect l="l" t="t" r="r" b="b"/>
              <a:pathLst>
                <a:path w="182880" h="55245">
                  <a:moveTo>
                    <a:pt x="182880" y="0"/>
                  </a:moveTo>
                  <a:lnTo>
                    <a:pt x="0" y="0"/>
                  </a:lnTo>
                  <a:lnTo>
                    <a:pt x="0" y="54863"/>
                  </a:lnTo>
                  <a:lnTo>
                    <a:pt x="182880" y="54863"/>
                  </a:lnTo>
                  <a:lnTo>
                    <a:pt x="182880" y="0"/>
                  </a:lnTo>
                  <a:close/>
                </a:path>
              </a:pathLst>
            </a:custGeom>
            <a:solidFill>
              <a:srgbClr val="93A2B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3006598" y="3817366"/>
              <a:ext cx="182880" cy="55244"/>
            </a:xfrm>
            <a:custGeom>
              <a:avLst/>
              <a:gdLst/>
              <a:ahLst/>
              <a:cxnLst/>
              <a:rect l="l" t="t" r="r" b="b"/>
              <a:pathLst>
                <a:path w="182880" h="55245">
                  <a:moveTo>
                    <a:pt x="0" y="54863"/>
                  </a:moveTo>
                  <a:lnTo>
                    <a:pt x="182880" y="54863"/>
                  </a:lnTo>
                  <a:lnTo>
                    <a:pt x="182880" y="0"/>
                  </a:lnTo>
                  <a:lnTo>
                    <a:pt x="0" y="0"/>
                  </a:lnTo>
                  <a:lnTo>
                    <a:pt x="0" y="54863"/>
                  </a:lnTo>
                  <a:close/>
                </a:path>
              </a:pathLst>
            </a:custGeom>
            <a:ln w="12700">
              <a:solidFill>
                <a:srgbClr val="93A2B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3189478" y="3597948"/>
              <a:ext cx="1234440" cy="502920"/>
            </a:xfrm>
            <a:custGeom>
              <a:avLst/>
              <a:gdLst/>
              <a:ahLst/>
              <a:cxnLst/>
              <a:rect l="l" t="t" r="r" b="b"/>
              <a:pathLst>
                <a:path w="1234439" h="502920">
                  <a:moveTo>
                    <a:pt x="1234439" y="0"/>
                  </a:moveTo>
                  <a:lnTo>
                    <a:pt x="0" y="0"/>
                  </a:lnTo>
                  <a:lnTo>
                    <a:pt x="0" y="502920"/>
                  </a:lnTo>
                  <a:lnTo>
                    <a:pt x="1234439" y="502920"/>
                  </a:lnTo>
                  <a:lnTo>
                    <a:pt x="1234439" y="0"/>
                  </a:lnTo>
                  <a:close/>
                </a:path>
              </a:pathLst>
            </a:custGeom>
            <a:solidFill>
              <a:srgbClr val="8A5C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3189478" y="3597948"/>
              <a:ext cx="1234440" cy="502920"/>
            </a:xfrm>
            <a:custGeom>
              <a:avLst/>
              <a:gdLst/>
              <a:ahLst/>
              <a:cxnLst/>
              <a:rect l="l" t="t" r="r" b="b"/>
              <a:pathLst>
                <a:path w="1234439" h="502920">
                  <a:moveTo>
                    <a:pt x="0" y="502920"/>
                  </a:moveTo>
                  <a:lnTo>
                    <a:pt x="1234439" y="502920"/>
                  </a:lnTo>
                  <a:lnTo>
                    <a:pt x="1234439" y="0"/>
                  </a:lnTo>
                  <a:lnTo>
                    <a:pt x="0" y="0"/>
                  </a:lnTo>
                  <a:lnTo>
                    <a:pt x="0" y="502920"/>
                  </a:lnTo>
                  <a:close/>
                </a:path>
              </a:pathLst>
            </a:custGeom>
            <a:ln w="12699">
              <a:solidFill>
                <a:srgbClr val="8A5CF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5" name="object 45"/>
          <p:cNvSpPr txBox="1"/>
          <p:nvPr/>
        </p:nvSpPr>
        <p:spPr>
          <a:xfrm>
            <a:off x="3272663" y="3725062"/>
            <a:ext cx="10223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400" b="1" spc="-50" dirty="0">
                <a:solidFill>
                  <a:srgbClr val="FFFFFF"/>
                </a:solidFill>
                <a:latin typeface="Times New Roman"/>
                <a:cs typeface="Times New Roman"/>
              </a:rPr>
              <a:t>3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3738626" y="3680840"/>
            <a:ext cx="37846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 marR="5080" indent="-38100">
              <a:lnSpc>
                <a:spcPct val="100000"/>
              </a:lnSpc>
              <a:spcBef>
                <a:spcPts val="95"/>
              </a:spcBef>
            </a:pPr>
            <a:r>
              <a:rPr sz="1000" spc="-10" dirty="0">
                <a:solidFill>
                  <a:srgbClr val="FFFFFF"/>
                </a:solidFill>
                <a:latin typeface="Times New Roman"/>
                <a:cs typeface="Times New Roman"/>
              </a:rPr>
              <a:t>Deduct Stock</a:t>
            </a:r>
            <a:endParaRPr sz="1000">
              <a:latin typeface="Times New Roman"/>
              <a:cs typeface="Times New Roman"/>
            </a:endParaRPr>
          </a:p>
        </p:txBody>
      </p:sp>
      <p:grpSp>
        <p:nvGrpSpPr>
          <p:cNvPr id="47" name="object 47"/>
          <p:cNvGrpSpPr/>
          <p:nvPr/>
        </p:nvGrpSpPr>
        <p:grpSpPr>
          <a:xfrm>
            <a:off x="4417567" y="3591598"/>
            <a:ext cx="1430020" cy="515620"/>
            <a:chOff x="4417567" y="3591598"/>
            <a:chExt cx="1430020" cy="515620"/>
          </a:xfrm>
        </p:grpSpPr>
        <p:sp>
          <p:nvSpPr>
            <p:cNvPr id="48" name="object 48"/>
            <p:cNvSpPr/>
            <p:nvPr/>
          </p:nvSpPr>
          <p:spPr>
            <a:xfrm>
              <a:off x="4423917" y="3817366"/>
              <a:ext cx="182880" cy="55244"/>
            </a:xfrm>
            <a:custGeom>
              <a:avLst/>
              <a:gdLst/>
              <a:ahLst/>
              <a:cxnLst/>
              <a:rect l="l" t="t" r="r" b="b"/>
              <a:pathLst>
                <a:path w="182879" h="55245">
                  <a:moveTo>
                    <a:pt x="182879" y="0"/>
                  </a:moveTo>
                  <a:lnTo>
                    <a:pt x="0" y="0"/>
                  </a:lnTo>
                  <a:lnTo>
                    <a:pt x="0" y="54863"/>
                  </a:lnTo>
                  <a:lnTo>
                    <a:pt x="182879" y="54863"/>
                  </a:lnTo>
                  <a:lnTo>
                    <a:pt x="182879" y="0"/>
                  </a:lnTo>
                  <a:close/>
                </a:path>
              </a:pathLst>
            </a:custGeom>
            <a:solidFill>
              <a:srgbClr val="93A2B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4423917" y="3817366"/>
              <a:ext cx="182880" cy="55244"/>
            </a:xfrm>
            <a:custGeom>
              <a:avLst/>
              <a:gdLst/>
              <a:ahLst/>
              <a:cxnLst/>
              <a:rect l="l" t="t" r="r" b="b"/>
              <a:pathLst>
                <a:path w="182879" h="55245">
                  <a:moveTo>
                    <a:pt x="0" y="54863"/>
                  </a:moveTo>
                  <a:lnTo>
                    <a:pt x="182879" y="54863"/>
                  </a:lnTo>
                  <a:lnTo>
                    <a:pt x="182879" y="0"/>
                  </a:lnTo>
                  <a:lnTo>
                    <a:pt x="0" y="0"/>
                  </a:lnTo>
                  <a:lnTo>
                    <a:pt x="0" y="54863"/>
                  </a:lnTo>
                  <a:close/>
                </a:path>
              </a:pathLst>
            </a:custGeom>
            <a:ln w="12700">
              <a:solidFill>
                <a:srgbClr val="93A2B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4606797" y="3597948"/>
              <a:ext cx="1234440" cy="502920"/>
            </a:xfrm>
            <a:custGeom>
              <a:avLst/>
              <a:gdLst/>
              <a:ahLst/>
              <a:cxnLst/>
              <a:rect l="l" t="t" r="r" b="b"/>
              <a:pathLst>
                <a:path w="1234439" h="502920">
                  <a:moveTo>
                    <a:pt x="1234439" y="0"/>
                  </a:moveTo>
                  <a:lnTo>
                    <a:pt x="0" y="0"/>
                  </a:lnTo>
                  <a:lnTo>
                    <a:pt x="0" y="502920"/>
                  </a:lnTo>
                  <a:lnTo>
                    <a:pt x="1234439" y="502920"/>
                  </a:lnTo>
                  <a:lnTo>
                    <a:pt x="1234439" y="0"/>
                  </a:lnTo>
                  <a:close/>
                </a:path>
              </a:pathLst>
            </a:custGeom>
            <a:solidFill>
              <a:srgbClr val="F8731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4606797" y="3597948"/>
              <a:ext cx="1234440" cy="502920"/>
            </a:xfrm>
            <a:custGeom>
              <a:avLst/>
              <a:gdLst/>
              <a:ahLst/>
              <a:cxnLst/>
              <a:rect l="l" t="t" r="r" b="b"/>
              <a:pathLst>
                <a:path w="1234439" h="502920">
                  <a:moveTo>
                    <a:pt x="0" y="502920"/>
                  </a:moveTo>
                  <a:lnTo>
                    <a:pt x="1234439" y="502920"/>
                  </a:lnTo>
                  <a:lnTo>
                    <a:pt x="1234439" y="0"/>
                  </a:lnTo>
                  <a:lnTo>
                    <a:pt x="0" y="0"/>
                  </a:lnTo>
                  <a:lnTo>
                    <a:pt x="0" y="502920"/>
                  </a:lnTo>
                  <a:close/>
                </a:path>
              </a:pathLst>
            </a:custGeom>
            <a:ln w="12699">
              <a:solidFill>
                <a:srgbClr val="F8731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2" name="object 52"/>
          <p:cNvSpPr txBox="1"/>
          <p:nvPr/>
        </p:nvSpPr>
        <p:spPr>
          <a:xfrm>
            <a:off x="4689983" y="3725062"/>
            <a:ext cx="10223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400" b="1" spc="-50" dirty="0">
                <a:solidFill>
                  <a:srgbClr val="FFFFFF"/>
                </a:solidFill>
                <a:latin typeface="Times New Roman"/>
                <a:cs typeface="Times New Roman"/>
              </a:rPr>
              <a:t>4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5173090" y="3680840"/>
            <a:ext cx="343535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6510" marR="5080" indent="-17145">
              <a:lnSpc>
                <a:spcPct val="100000"/>
              </a:lnSpc>
              <a:spcBef>
                <a:spcPts val="95"/>
              </a:spcBef>
            </a:pPr>
            <a:r>
              <a:rPr sz="1000" spc="-10" dirty="0">
                <a:solidFill>
                  <a:srgbClr val="FFFFFF"/>
                </a:solidFill>
                <a:latin typeface="Times New Roman"/>
                <a:cs typeface="Times New Roman"/>
              </a:rPr>
              <a:t>Create Order</a:t>
            </a:r>
            <a:endParaRPr sz="1000">
              <a:latin typeface="Times New Roman"/>
              <a:cs typeface="Times New Roman"/>
            </a:endParaRPr>
          </a:p>
        </p:txBody>
      </p:sp>
      <p:grpSp>
        <p:nvGrpSpPr>
          <p:cNvPr id="54" name="object 54"/>
          <p:cNvGrpSpPr/>
          <p:nvPr/>
        </p:nvGrpSpPr>
        <p:grpSpPr>
          <a:xfrm>
            <a:off x="5834888" y="3591598"/>
            <a:ext cx="1430020" cy="515620"/>
            <a:chOff x="5834888" y="3591598"/>
            <a:chExt cx="1430020" cy="515620"/>
          </a:xfrm>
        </p:grpSpPr>
        <p:sp>
          <p:nvSpPr>
            <p:cNvPr id="55" name="object 55"/>
            <p:cNvSpPr/>
            <p:nvPr/>
          </p:nvSpPr>
          <p:spPr>
            <a:xfrm>
              <a:off x="5841238" y="3817366"/>
              <a:ext cx="182880" cy="55244"/>
            </a:xfrm>
            <a:custGeom>
              <a:avLst/>
              <a:gdLst/>
              <a:ahLst/>
              <a:cxnLst/>
              <a:rect l="l" t="t" r="r" b="b"/>
              <a:pathLst>
                <a:path w="182879" h="55245">
                  <a:moveTo>
                    <a:pt x="182879" y="0"/>
                  </a:moveTo>
                  <a:lnTo>
                    <a:pt x="0" y="0"/>
                  </a:lnTo>
                  <a:lnTo>
                    <a:pt x="0" y="54863"/>
                  </a:lnTo>
                  <a:lnTo>
                    <a:pt x="182879" y="54863"/>
                  </a:lnTo>
                  <a:lnTo>
                    <a:pt x="182879" y="0"/>
                  </a:lnTo>
                  <a:close/>
                </a:path>
              </a:pathLst>
            </a:custGeom>
            <a:solidFill>
              <a:srgbClr val="93A2B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5841238" y="3817366"/>
              <a:ext cx="182880" cy="55244"/>
            </a:xfrm>
            <a:custGeom>
              <a:avLst/>
              <a:gdLst/>
              <a:ahLst/>
              <a:cxnLst/>
              <a:rect l="l" t="t" r="r" b="b"/>
              <a:pathLst>
                <a:path w="182879" h="55245">
                  <a:moveTo>
                    <a:pt x="0" y="54863"/>
                  </a:moveTo>
                  <a:lnTo>
                    <a:pt x="182879" y="54863"/>
                  </a:lnTo>
                  <a:lnTo>
                    <a:pt x="182879" y="0"/>
                  </a:lnTo>
                  <a:lnTo>
                    <a:pt x="0" y="0"/>
                  </a:lnTo>
                  <a:lnTo>
                    <a:pt x="0" y="54863"/>
                  </a:lnTo>
                  <a:close/>
                </a:path>
              </a:pathLst>
            </a:custGeom>
            <a:ln w="12700">
              <a:solidFill>
                <a:srgbClr val="93A2B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6024118" y="3597948"/>
              <a:ext cx="1234440" cy="502920"/>
            </a:xfrm>
            <a:custGeom>
              <a:avLst/>
              <a:gdLst/>
              <a:ahLst/>
              <a:cxnLst/>
              <a:rect l="l" t="t" r="r" b="b"/>
              <a:pathLst>
                <a:path w="1234440" h="502920">
                  <a:moveTo>
                    <a:pt x="1234439" y="0"/>
                  </a:moveTo>
                  <a:lnTo>
                    <a:pt x="0" y="0"/>
                  </a:lnTo>
                  <a:lnTo>
                    <a:pt x="0" y="502920"/>
                  </a:lnTo>
                  <a:lnTo>
                    <a:pt x="1234439" y="502920"/>
                  </a:lnTo>
                  <a:lnTo>
                    <a:pt x="1234439" y="0"/>
                  </a:lnTo>
                  <a:close/>
                </a:path>
              </a:pathLst>
            </a:custGeom>
            <a:solidFill>
              <a:srgbClr val="0891B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6024118" y="3597948"/>
              <a:ext cx="1234440" cy="502920"/>
            </a:xfrm>
            <a:custGeom>
              <a:avLst/>
              <a:gdLst/>
              <a:ahLst/>
              <a:cxnLst/>
              <a:rect l="l" t="t" r="r" b="b"/>
              <a:pathLst>
                <a:path w="1234440" h="502920">
                  <a:moveTo>
                    <a:pt x="0" y="502920"/>
                  </a:moveTo>
                  <a:lnTo>
                    <a:pt x="1234439" y="502920"/>
                  </a:lnTo>
                  <a:lnTo>
                    <a:pt x="1234439" y="0"/>
                  </a:lnTo>
                  <a:lnTo>
                    <a:pt x="0" y="0"/>
                  </a:lnTo>
                  <a:lnTo>
                    <a:pt x="0" y="502920"/>
                  </a:lnTo>
                  <a:close/>
                </a:path>
              </a:pathLst>
            </a:custGeom>
            <a:ln w="12699">
              <a:solidFill>
                <a:srgbClr val="0891B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9" name="object 59"/>
          <p:cNvSpPr txBox="1"/>
          <p:nvPr/>
        </p:nvSpPr>
        <p:spPr>
          <a:xfrm>
            <a:off x="6107557" y="3725062"/>
            <a:ext cx="10223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400" b="1" spc="-50" dirty="0">
                <a:solidFill>
                  <a:srgbClr val="FFFFFF"/>
                </a:solidFill>
                <a:latin typeface="Times New Roman"/>
                <a:cs typeface="Times New Roman"/>
              </a:rPr>
              <a:t>5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6572377" y="3680840"/>
            <a:ext cx="37973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445" marR="5080" indent="-5080">
              <a:lnSpc>
                <a:spcPct val="100000"/>
              </a:lnSpc>
              <a:spcBef>
                <a:spcPts val="95"/>
              </a:spcBef>
            </a:pPr>
            <a:r>
              <a:rPr sz="1000" spc="-10" dirty="0">
                <a:solidFill>
                  <a:srgbClr val="FFFFFF"/>
                </a:solidFill>
                <a:latin typeface="Times New Roman"/>
                <a:cs typeface="Times New Roman"/>
              </a:rPr>
              <a:t>Update Ledger</a:t>
            </a:r>
            <a:endParaRPr sz="1000">
              <a:latin typeface="Times New Roman"/>
              <a:cs typeface="Times New Roman"/>
            </a:endParaRPr>
          </a:p>
        </p:txBody>
      </p:sp>
      <p:grpSp>
        <p:nvGrpSpPr>
          <p:cNvPr id="61" name="object 61"/>
          <p:cNvGrpSpPr/>
          <p:nvPr/>
        </p:nvGrpSpPr>
        <p:grpSpPr>
          <a:xfrm>
            <a:off x="7252207" y="3591598"/>
            <a:ext cx="1430020" cy="515620"/>
            <a:chOff x="7252207" y="3591598"/>
            <a:chExt cx="1430020" cy="515620"/>
          </a:xfrm>
        </p:grpSpPr>
        <p:sp>
          <p:nvSpPr>
            <p:cNvPr id="62" name="object 62"/>
            <p:cNvSpPr/>
            <p:nvPr/>
          </p:nvSpPr>
          <p:spPr>
            <a:xfrm>
              <a:off x="7258557" y="3817366"/>
              <a:ext cx="182880" cy="55244"/>
            </a:xfrm>
            <a:custGeom>
              <a:avLst/>
              <a:gdLst/>
              <a:ahLst/>
              <a:cxnLst/>
              <a:rect l="l" t="t" r="r" b="b"/>
              <a:pathLst>
                <a:path w="182879" h="55245">
                  <a:moveTo>
                    <a:pt x="182879" y="0"/>
                  </a:moveTo>
                  <a:lnTo>
                    <a:pt x="0" y="0"/>
                  </a:lnTo>
                  <a:lnTo>
                    <a:pt x="0" y="54863"/>
                  </a:lnTo>
                  <a:lnTo>
                    <a:pt x="182879" y="54863"/>
                  </a:lnTo>
                  <a:lnTo>
                    <a:pt x="182879" y="0"/>
                  </a:lnTo>
                  <a:close/>
                </a:path>
              </a:pathLst>
            </a:custGeom>
            <a:solidFill>
              <a:srgbClr val="93A2B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7258557" y="3817366"/>
              <a:ext cx="182880" cy="55244"/>
            </a:xfrm>
            <a:custGeom>
              <a:avLst/>
              <a:gdLst/>
              <a:ahLst/>
              <a:cxnLst/>
              <a:rect l="l" t="t" r="r" b="b"/>
              <a:pathLst>
                <a:path w="182879" h="55245">
                  <a:moveTo>
                    <a:pt x="0" y="54863"/>
                  </a:moveTo>
                  <a:lnTo>
                    <a:pt x="182879" y="54863"/>
                  </a:lnTo>
                  <a:lnTo>
                    <a:pt x="182879" y="0"/>
                  </a:lnTo>
                  <a:lnTo>
                    <a:pt x="0" y="0"/>
                  </a:lnTo>
                  <a:lnTo>
                    <a:pt x="0" y="54863"/>
                  </a:lnTo>
                  <a:close/>
                </a:path>
              </a:pathLst>
            </a:custGeom>
            <a:ln w="12700">
              <a:solidFill>
                <a:srgbClr val="93A2B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7441437" y="3597948"/>
              <a:ext cx="1234440" cy="502920"/>
            </a:xfrm>
            <a:custGeom>
              <a:avLst/>
              <a:gdLst/>
              <a:ahLst/>
              <a:cxnLst/>
              <a:rect l="l" t="t" r="r" b="b"/>
              <a:pathLst>
                <a:path w="1234440" h="502920">
                  <a:moveTo>
                    <a:pt x="1234440" y="0"/>
                  </a:moveTo>
                  <a:lnTo>
                    <a:pt x="0" y="0"/>
                  </a:lnTo>
                  <a:lnTo>
                    <a:pt x="0" y="502920"/>
                  </a:lnTo>
                  <a:lnTo>
                    <a:pt x="1234440" y="502920"/>
                  </a:lnTo>
                  <a:lnTo>
                    <a:pt x="1234440" y="0"/>
                  </a:lnTo>
                  <a:close/>
                </a:path>
              </a:pathLst>
            </a:custGeom>
            <a:solidFill>
              <a:srgbClr val="0FB88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7441437" y="3597948"/>
              <a:ext cx="1234440" cy="502920"/>
            </a:xfrm>
            <a:custGeom>
              <a:avLst/>
              <a:gdLst/>
              <a:ahLst/>
              <a:cxnLst/>
              <a:rect l="l" t="t" r="r" b="b"/>
              <a:pathLst>
                <a:path w="1234440" h="502920">
                  <a:moveTo>
                    <a:pt x="0" y="502920"/>
                  </a:moveTo>
                  <a:lnTo>
                    <a:pt x="1234440" y="502920"/>
                  </a:lnTo>
                  <a:lnTo>
                    <a:pt x="1234440" y="0"/>
                  </a:lnTo>
                  <a:lnTo>
                    <a:pt x="0" y="0"/>
                  </a:lnTo>
                  <a:lnTo>
                    <a:pt x="0" y="502920"/>
                  </a:lnTo>
                  <a:close/>
                </a:path>
              </a:pathLst>
            </a:custGeom>
            <a:ln w="12700">
              <a:solidFill>
                <a:srgbClr val="0FB88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6" name="object 66"/>
          <p:cNvSpPr txBox="1"/>
          <p:nvPr/>
        </p:nvSpPr>
        <p:spPr>
          <a:xfrm>
            <a:off x="7525257" y="3725062"/>
            <a:ext cx="10223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400" b="1" spc="-50" dirty="0">
                <a:solidFill>
                  <a:srgbClr val="FFFFFF"/>
                </a:solidFill>
                <a:latin typeface="Times New Roman"/>
                <a:cs typeface="Times New Roman"/>
              </a:rPr>
              <a:t>6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67" name="object 67"/>
          <p:cNvSpPr txBox="1"/>
          <p:nvPr/>
        </p:nvSpPr>
        <p:spPr>
          <a:xfrm>
            <a:off x="7765668" y="3680840"/>
            <a:ext cx="82931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R="8255" algn="ctr">
              <a:lnSpc>
                <a:spcPct val="100000"/>
              </a:lnSpc>
              <a:spcBef>
                <a:spcPts val="95"/>
              </a:spcBef>
            </a:pPr>
            <a:r>
              <a:rPr sz="1000" spc="-10" dirty="0">
                <a:solidFill>
                  <a:srgbClr val="FFFFFF"/>
                </a:solidFill>
                <a:latin typeface="Times New Roman"/>
                <a:cs typeface="Times New Roman"/>
              </a:rPr>
              <a:t>COMMIT</a:t>
            </a:r>
            <a:endParaRPr sz="1000">
              <a:latin typeface="Times New Roman"/>
              <a:cs typeface="Times New Roman"/>
            </a:endParaRPr>
          </a:p>
          <a:p>
            <a:pPr marR="5080" algn="ctr">
              <a:lnSpc>
                <a:spcPct val="100000"/>
              </a:lnSpc>
            </a:pPr>
            <a:r>
              <a:rPr sz="1000" dirty="0">
                <a:solidFill>
                  <a:srgbClr val="FFFFFF"/>
                </a:solidFill>
                <a:latin typeface="Times New Roman"/>
                <a:cs typeface="Times New Roman"/>
              </a:rPr>
              <a:t>or</a:t>
            </a:r>
            <a:r>
              <a:rPr sz="1000" spc="-10" dirty="0">
                <a:solidFill>
                  <a:srgbClr val="FFFFFF"/>
                </a:solidFill>
                <a:latin typeface="Times New Roman"/>
                <a:cs typeface="Times New Roman"/>
              </a:rPr>
              <a:t> ROLLBACK</a:t>
            </a:r>
            <a:endParaRPr sz="1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4500" y="55297"/>
            <a:ext cx="4210050" cy="792480"/>
          </a:xfrm>
          <a:prstGeom prst="rect">
            <a:avLst/>
          </a:prstGeom>
        </p:spPr>
        <p:txBody>
          <a:bodyPr vert="horz" wrap="square" lIns="0" tIns="1282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10"/>
              </a:spcBef>
            </a:pPr>
            <a:r>
              <a:rPr dirty="0">
                <a:solidFill>
                  <a:srgbClr val="000000"/>
                </a:solidFill>
              </a:rPr>
              <a:t>Execution</a:t>
            </a:r>
            <a:r>
              <a:rPr spc="-50" dirty="0">
                <a:solidFill>
                  <a:srgbClr val="000000"/>
                </a:solidFill>
              </a:rPr>
              <a:t> </a:t>
            </a:r>
            <a:r>
              <a:rPr spc="-20" dirty="0">
                <a:solidFill>
                  <a:srgbClr val="000000"/>
                </a:solidFill>
              </a:rPr>
              <a:t>Flow</a:t>
            </a:r>
          </a:p>
          <a:p>
            <a:pPr marL="12700">
              <a:lnSpc>
                <a:spcPct val="100000"/>
              </a:lnSpc>
              <a:spcBef>
                <a:spcPts val="445"/>
              </a:spcBef>
            </a:pPr>
            <a:r>
              <a:rPr sz="1300" b="0" i="1" spc="-10" dirty="0">
                <a:solidFill>
                  <a:srgbClr val="05B6D3"/>
                </a:solidFill>
                <a:latin typeface="Times New Roman"/>
                <a:cs typeface="Times New Roman"/>
              </a:rPr>
              <a:t>Step-by-</a:t>
            </a:r>
            <a:r>
              <a:rPr sz="1300" b="0" i="1" dirty="0">
                <a:solidFill>
                  <a:srgbClr val="05B6D3"/>
                </a:solidFill>
                <a:latin typeface="Times New Roman"/>
                <a:cs typeface="Times New Roman"/>
              </a:rPr>
              <a:t>Step</a:t>
            </a:r>
            <a:r>
              <a:rPr sz="1300" b="0" i="1" spc="-10" dirty="0">
                <a:solidFill>
                  <a:srgbClr val="05B6D3"/>
                </a:solidFill>
                <a:latin typeface="Times New Roman"/>
                <a:cs typeface="Times New Roman"/>
              </a:rPr>
              <a:t> </a:t>
            </a:r>
            <a:r>
              <a:rPr sz="1300" b="0" i="1" dirty="0">
                <a:solidFill>
                  <a:srgbClr val="05B6D3"/>
                </a:solidFill>
                <a:latin typeface="Times New Roman"/>
                <a:cs typeface="Times New Roman"/>
              </a:rPr>
              <a:t>Request</a:t>
            </a:r>
            <a:r>
              <a:rPr sz="1300" b="0" i="1" spc="-20" dirty="0">
                <a:solidFill>
                  <a:srgbClr val="05B6D3"/>
                </a:solidFill>
                <a:latin typeface="Times New Roman"/>
                <a:cs typeface="Times New Roman"/>
              </a:rPr>
              <a:t> </a:t>
            </a:r>
            <a:r>
              <a:rPr sz="1300" b="0" i="1" dirty="0">
                <a:solidFill>
                  <a:srgbClr val="05B6D3"/>
                </a:solidFill>
                <a:latin typeface="Times New Roman"/>
                <a:cs typeface="Times New Roman"/>
              </a:rPr>
              <a:t>→</a:t>
            </a:r>
            <a:r>
              <a:rPr sz="1300" b="0" i="1" spc="-30" dirty="0">
                <a:solidFill>
                  <a:srgbClr val="05B6D3"/>
                </a:solidFill>
                <a:latin typeface="Times New Roman"/>
                <a:cs typeface="Times New Roman"/>
              </a:rPr>
              <a:t> </a:t>
            </a:r>
            <a:r>
              <a:rPr sz="1300" b="0" i="1" dirty="0">
                <a:solidFill>
                  <a:srgbClr val="05B6D3"/>
                </a:solidFill>
                <a:latin typeface="Times New Roman"/>
                <a:cs typeface="Times New Roman"/>
              </a:rPr>
              <a:t>Response</a:t>
            </a:r>
            <a:r>
              <a:rPr sz="1300" b="0" i="1" spc="-15" dirty="0">
                <a:solidFill>
                  <a:srgbClr val="05B6D3"/>
                </a:solidFill>
                <a:latin typeface="Times New Roman"/>
                <a:cs typeface="Times New Roman"/>
              </a:rPr>
              <a:t> </a:t>
            </a:r>
            <a:r>
              <a:rPr sz="1300" b="0" i="1" dirty="0">
                <a:solidFill>
                  <a:srgbClr val="05B6D3"/>
                </a:solidFill>
                <a:latin typeface="Times New Roman"/>
                <a:cs typeface="Times New Roman"/>
              </a:rPr>
              <a:t>Journey</a:t>
            </a:r>
            <a:r>
              <a:rPr sz="1300" b="0" i="1" spc="-35" dirty="0">
                <a:solidFill>
                  <a:srgbClr val="05B6D3"/>
                </a:solidFill>
                <a:latin typeface="Times New Roman"/>
                <a:cs typeface="Times New Roman"/>
              </a:rPr>
              <a:t> </a:t>
            </a:r>
            <a:r>
              <a:rPr sz="1300" b="0" i="1" spc="-10" dirty="0">
                <a:solidFill>
                  <a:srgbClr val="05B6D3"/>
                </a:solidFill>
                <a:latin typeface="Times New Roman"/>
                <a:cs typeface="Times New Roman"/>
              </a:rPr>
              <a:t>Through</a:t>
            </a:r>
            <a:r>
              <a:rPr sz="1300" b="0" i="1" spc="-20" dirty="0">
                <a:solidFill>
                  <a:srgbClr val="05B6D3"/>
                </a:solidFill>
                <a:latin typeface="Times New Roman"/>
                <a:cs typeface="Times New Roman"/>
              </a:rPr>
              <a:t> </a:t>
            </a:r>
            <a:r>
              <a:rPr sz="1300" b="0" i="1" dirty="0">
                <a:solidFill>
                  <a:srgbClr val="05B6D3"/>
                </a:solidFill>
                <a:latin typeface="Times New Roman"/>
                <a:cs typeface="Times New Roman"/>
              </a:rPr>
              <a:t>the</a:t>
            </a:r>
            <a:r>
              <a:rPr sz="1300" b="0" i="1" spc="-30" dirty="0">
                <a:solidFill>
                  <a:srgbClr val="05B6D3"/>
                </a:solidFill>
                <a:latin typeface="Times New Roman"/>
                <a:cs typeface="Times New Roman"/>
              </a:rPr>
              <a:t> </a:t>
            </a:r>
            <a:r>
              <a:rPr sz="1300" b="0" i="1" spc="-10" dirty="0">
                <a:solidFill>
                  <a:srgbClr val="05B6D3"/>
                </a:solidFill>
                <a:latin typeface="Times New Roman"/>
                <a:cs typeface="Times New Roman"/>
              </a:rPr>
              <a:t>System</a:t>
            </a:r>
            <a:endParaRPr sz="1300">
              <a:latin typeface="Times New Roman"/>
              <a:cs typeface="Times New Roman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82879" y="987552"/>
            <a:ext cx="2057400" cy="1719580"/>
            <a:chOff x="182879" y="987552"/>
            <a:chExt cx="2057400" cy="1719580"/>
          </a:xfrm>
        </p:grpSpPr>
        <p:sp>
          <p:nvSpPr>
            <p:cNvPr id="4" name="object 4"/>
            <p:cNvSpPr/>
            <p:nvPr/>
          </p:nvSpPr>
          <p:spPr>
            <a:xfrm>
              <a:off x="182879" y="987552"/>
              <a:ext cx="2057400" cy="1719580"/>
            </a:xfrm>
            <a:custGeom>
              <a:avLst/>
              <a:gdLst/>
              <a:ahLst/>
              <a:cxnLst/>
              <a:rect l="l" t="t" r="r" b="b"/>
              <a:pathLst>
                <a:path w="2057400" h="1719580">
                  <a:moveTo>
                    <a:pt x="2057400" y="0"/>
                  </a:moveTo>
                  <a:lnTo>
                    <a:pt x="0" y="0"/>
                  </a:lnTo>
                  <a:lnTo>
                    <a:pt x="0" y="1719072"/>
                  </a:lnTo>
                  <a:lnTo>
                    <a:pt x="2057400" y="1719072"/>
                  </a:lnTo>
                  <a:lnTo>
                    <a:pt x="2057400" y="0"/>
                  </a:lnTo>
                  <a:close/>
                </a:path>
              </a:pathLst>
            </a:custGeom>
            <a:solidFill>
              <a:srgbClr val="1B2A3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896111" y="1097280"/>
              <a:ext cx="640080" cy="640080"/>
            </a:xfrm>
            <a:custGeom>
              <a:avLst/>
              <a:gdLst/>
              <a:ahLst/>
              <a:cxnLst/>
              <a:rect l="l" t="t" r="r" b="b"/>
              <a:pathLst>
                <a:path w="640080" h="640080">
                  <a:moveTo>
                    <a:pt x="320040" y="0"/>
                  </a:moveTo>
                  <a:lnTo>
                    <a:pt x="272745" y="3469"/>
                  </a:lnTo>
                  <a:lnTo>
                    <a:pt x="227606" y="13547"/>
                  </a:lnTo>
                  <a:lnTo>
                    <a:pt x="185116" y="29740"/>
                  </a:lnTo>
                  <a:lnTo>
                    <a:pt x="145772" y="51552"/>
                  </a:lnTo>
                  <a:lnTo>
                    <a:pt x="110068" y="78490"/>
                  </a:lnTo>
                  <a:lnTo>
                    <a:pt x="78498" y="110057"/>
                  </a:lnTo>
                  <a:lnTo>
                    <a:pt x="51559" y="145761"/>
                  </a:lnTo>
                  <a:lnTo>
                    <a:pt x="29744" y="185105"/>
                  </a:lnTo>
                  <a:lnTo>
                    <a:pt x="13549" y="227596"/>
                  </a:lnTo>
                  <a:lnTo>
                    <a:pt x="3469" y="272739"/>
                  </a:lnTo>
                  <a:lnTo>
                    <a:pt x="0" y="320040"/>
                  </a:lnTo>
                  <a:lnTo>
                    <a:pt x="3469" y="367340"/>
                  </a:lnTo>
                  <a:lnTo>
                    <a:pt x="13549" y="412483"/>
                  </a:lnTo>
                  <a:lnTo>
                    <a:pt x="29744" y="454974"/>
                  </a:lnTo>
                  <a:lnTo>
                    <a:pt x="51559" y="494318"/>
                  </a:lnTo>
                  <a:lnTo>
                    <a:pt x="78498" y="530022"/>
                  </a:lnTo>
                  <a:lnTo>
                    <a:pt x="110068" y="561589"/>
                  </a:lnTo>
                  <a:lnTo>
                    <a:pt x="145772" y="588527"/>
                  </a:lnTo>
                  <a:lnTo>
                    <a:pt x="185116" y="610339"/>
                  </a:lnTo>
                  <a:lnTo>
                    <a:pt x="227606" y="626532"/>
                  </a:lnTo>
                  <a:lnTo>
                    <a:pt x="272745" y="636610"/>
                  </a:lnTo>
                  <a:lnTo>
                    <a:pt x="320040" y="640080"/>
                  </a:lnTo>
                  <a:lnTo>
                    <a:pt x="367340" y="636610"/>
                  </a:lnTo>
                  <a:lnTo>
                    <a:pt x="412483" y="626532"/>
                  </a:lnTo>
                  <a:lnTo>
                    <a:pt x="454974" y="610339"/>
                  </a:lnTo>
                  <a:lnTo>
                    <a:pt x="494318" y="588527"/>
                  </a:lnTo>
                  <a:lnTo>
                    <a:pt x="530022" y="561589"/>
                  </a:lnTo>
                  <a:lnTo>
                    <a:pt x="561589" y="530022"/>
                  </a:lnTo>
                  <a:lnTo>
                    <a:pt x="588527" y="494318"/>
                  </a:lnTo>
                  <a:lnTo>
                    <a:pt x="610339" y="454974"/>
                  </a:lnTo>
                  <a:lnTo>
                    <a:pt x="626532" y="412483"/>
                  </a:lnTo>
                  <a:lnTo>
                    <a:pt x="636610" y="367340"/>
                  </a:lnTo>
                  <a:lnTo>
                    <a:pt x="640079" y="320040"/>
                  </a:lnTo>
                  <a:lnTo>
                    <a:pt x="636610" y="272739"/>
                  </a:lnTo>
                  <a:lnTo>
                    <a:pt x="626532" y="227596"/>
                  </a:lnTo>
                  <a:lnTo>
                    <a:pt x="610339" y="185105"/>
                  </a:lnTo>
                  <a:lnTo>
                    <a:pt x="588527" y="145761"/>
                  </a:lnTo>
                  <a:lnTo>
                    <a:pt x="561589" y="110057"/>
                  </a:lnTo>
                  <a:lnTo>
                    <a:pt x="530022" y="78490"/>
                  </a:lnTo>
                  <a:lnTo>
                    <a:pt x="494318" y="51552"/>
                  </a:lnTo>
                  <a:lnTo>
                    <a:pt x="454974" y="29740"/>
                  </a:lnTo>
                  <a:lnTo>
                    <a:pt x="412483" y="13547"/>
                  </a:lnTo>
                  <a:lnTo>
                    <a:pt x="367340" y="3469"/>
                  </a:lnTo>
                  <a:lnTo>
                    <a:pt x="320040" y="0"/>
                  </a:lnTo>
                  <a:close/>
                </a:path>
              </a:pathLst>
            </a:custGeom>
            <a:solidFill>
              <a:srgbClr val="0891B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896111" y="1097280"/>
              <a:ext cx="640080" cy="640080"/>
            </a:xfrm>
            <a:custGeom>
              <a:avLst/>
              <a:gdLst/>
              <a:ahLst/>
              <a:cxnLst/>
              <a:rect l="l" t="t" r="r" b="b"/>
              <a:pathLst>
                <a:path w="640080" h="640080">
                  <a:moveTo>
                    <a:pt x="0" y="320040"/>
                  </a:moveTo>
                  <a:lnTo>
                    <a:pt x="3469" y="272739"/>
                  </a:lnTo>
                  <a:lnTo>
                    <a:pt x="13549" y="227596"/>
                  </a:lnTo>
                  <a:lnTo>
                    <a:pt x="29744" y="185105"/>
                  </a:lnTo>
                  <a:lnTo>
                    <a:pt x="51559" y="145761"/>
                  </a:lnTo>
                  <a:lnTo>
                    <a:pt x="78498" y="110057"/>
                  </a:lnTo>
                  <a:lnTo>
                    <a:pt x="110068" y="78490"/>
                  </a:lnTo>
                  <a:lnTo>
                    <a:pt x="145772" y="51552"/>
                  </a:lnTo>
                  <a:lnTo>
                    <a:pt x="185116" y="29740"/>
                  </a:lnTo>
                  <a:lnTo>
                    <a:pt x="227606" y="13547"/>
                  </a:lnTo>
                  <a:lnTo>
                    <a:pt x="272745" y="3469"/>
                  </a:lnTo>
                  <a:lnTo>
                    <a:pt x="320040" y="0"/>
                  </a:lnTo>
                  <a:lnTo>
                    <a:pt x="367340" y="3469"/>
                  </a:lnTo>
                  <a:lnTo>
                    <a:pt x="412483" y="13547"/>
                  </a:lnTo>
                  <a:lnTo>
                    <a:pt x="454974" y="29740"/>
                  </a:lnTo>
                  <a:lnTo>
                    <a:pt x="494318" y="51552"/>
                  </a:lnTo>
                  <a:lnTo>
                    <a:pt x="530022" y="78490"/>
                  </a:lnTo>
                  <a:lnTo>
                    <a:pt x="561589" y="110057"/>
                  </a:lnTo>
                  <a:lnTo>
                    <a:pt x="588527" y="145761"/>
                  </a:lnTo>
                  <a:lnTo>
                    <a:pt x="610339" y="185105"/>
                  </a:lnTo>
                  <a:lnTo>
                    <a:pt x="626532" y="227596"/>
                  </a:lnTo>
                  <a:lnTo>
                    <a:pt x="636610" y="272739"/>
                  </a:lnTo>
                  <a:lnTo>
                    <a:pt x="640079" y="320040"/>
                  </a:lnTo>
                  <a:lnTo>
                    <a:pt x="636610" y="367340"/>
                  </a:lnTo>
                  <a:lnTo>
                    <a:pt x="626532" y="412483"/>
                  </a:lnTo>
                  <a:lnTo>
                    <a:pt x="610339" y="454974"/>
                  </a:lnTo>
                  <a:lnTo>
                    <a:pt x="588527" y="494318"/>
                  </a:lnTo>
                  <a:lnTo>
                    <a:pt x="561589" y="530022"/>
                  </a:lnTo>
                  <a:lnTo>
                    <a:pt x="530022" y="561589"/>
                  </a:lnTo>
                  <a:lnTo>
                    <a:pt x="494318" y="588527"/>
                  </a:lnTo>
                  <a:lnTo>
                    <a:pt x="454974" y="610339"/>
                  </a:lnTo>
                  <a:lnTo>
                    <a:pt x="412483" y="626532"/>
                  </a:lnTo>
                  <a:lnTo>
                    <a:pt x="367340" y="636610"/>
                  </a:lnTo>
                  <a:lnTo>
                    <a:pt x="320040" y="640080"/>
                  </a:lnTo>
                  <a:lnTo>
                    <a:pt x="272745" y="636610"/>
                  </a:lnTo>
                  <a:lnTo>
                    <a:pt x="227606" y="626532"/>
                  </a:lnTo>
                  <a:lnTo>
                    <a:pt x="185116" y="610339"/>
                  </a:lnTo>
                  <a:lnTo>
                    <a:pt x="145772" y="588527"/>
                  </a:lnTo>
                  <a:lnTo>
                    <a:pt x="110068" y="561589"/>
                  </a:lnTo>
                  <a:lnTo>
                    <a:pt x="78498" y="530022"/>
                  </a:lnTo>
                  <a:lnTo>
                    <a:pt x="51559" y="494318"/>
                  </a:lnTo>
                  <a:lnTo>
                    <a:pt x="29744" y="454974"/>
                  </a:lnTo>
                  <a:lnTo>
                    <a:pt x="13549" y="412483"/>
                  </a:lnTo>
                  <a:lnTo>
                    <a:pt x="3469" y="367340"/>
                  </a:lnTo>
                  <a:lnTo>
                    <a:pt x="0" y="320040"/>
                  </a:lnTo>
                  <a:close/>
                </a:path>
              </a:pathLst>
            </a:custGeom>
            <a:ln w="12700">
              <a:solidFill>
                <a:srgbClr val="0891B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182879" y="987552"/>
            <a:ext cx="2057400" cy="1719580"/>
          </a:xfrm>
          <a:prstGeom prst="rect">
            <a:avLst/>
          </a:prstGeom>
          <a:ln w="15239">
            <a:solidFill>
              <a:srgbClr val="0891B1"/>
            </a:solidFill>
          </a:ln>
        </p:spPr>
        <p:txBody>
          <a:bodyPr vert="horz" wrap="square" lIns="0" tIns="268605" rIns="0" bIns="0" rtlCol="0">
            <a:spAutoFit/>
          </a:bodyPr>
          <a:lstStyle/>
          <a:p>
            <a:pPr marL="8890" algn="ctr">
              <a:lnSpc>
                <a:spcPct val="100000"/>
              </a:lnSpc>
              <a:spcBef>
                <a:spcPts val="2115"/>
              </a:spcBef>
            </a:pPr>
            <a:r>
              <a:rPr sz="2000" b="1" spc="-50" dirty="0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endParaRPr sz="2000">
              <a:latin typeface="Times New Roman"/>
              <a:cs typeface="Times New Roman"/>
            </a:endParaRPr>
          </a:p>
          <a:p>
            <a:pPr marL="6350" algn="ctr">
              <a:lnSpc>
                <a:spcPct val="100000"/>
              </a:lnSpc>
              <a:spcBef>
                <a:spcPts val="2295"/>
              </a:spcBef>
            </a:pPr>
            <a:r>
              <a:rPr sz="1200" b="1" dirty="0">
                <a:solidFill>
                  <a:srgbClr val="0891B1"/>
                </a:solidFill>
                <a:latin typeface="Times New Roman"/>
                <a:cs typeface="Times New Roman"/>
              </a:rPr>
              <a:t>User</a:t>
            </a:r>
            <a:r>
              <a:rPr sz="1200" b="1" spc="-15" dirty="0">
                <a:solidFill>
                  <a:srgbClr val="0891B1"/>
                </a:solidFill>
                <a:latin typeface="Times New Roman"/>
                <a:cs typeface="Times New Roman"/>
              </a:rPr>
              <a:t> </a:t>
            </a:r>
            <a:r>
              <a:rPr sz="1200" b="1" spc="-10" dirty="0">
                <a:solidFill>
                  <a:srgbClr val="0891B1"/>
                </a:solidFill>
                <a:latin typeface="Times New Roman"/>
                <a:cs typeface="Times New Roman"/>
              </a:rPr>
              <a:t>Action</a:t>
            </a:r>
            <a:endParaRPr sz="1200">
              <a:latin typeface="Times New Roman"/>
              <a:cs typeface="Times New Roman"/>
            </a:endParaRPr>
          </a:p>
          <a:p>
            <a:pPr marL="147955" marR="142875" indent="-1905" algn="ctr">
              <a:lnSpc>
                <a:spcPct val="100000"/>
              </a:lnSpc>
              <a:spcBef>
                <a:spcPts val="880"/>
              </a:spcBef>
            </a:pPr>
            <a:r>
              <a:rPr sz="950" dirty="0">
                <a:solidFill>
                  <a:srgbClr val="93A2B8"/>
                </a:solidFill>
                <a:latin typeface="Times New Roman"/>
                <a:cs typeface="Times New Roman"/>
              </a:rPr>
              <a:t>User</a:t>
            </a:r>
            <a:r>
              <a:rPr sz="950" spc="-10" dirty="0">
                <a:solidFill>
                  <a:srgbClr val="93A2B8"/>
                </a:solidFill>
                <a:latin typeface="Times New Roman"/>
                <a:cs typeface="Times New Roman"/>
              </a:rPr>
              <a:t> submits</a:t>
            </a:r>
            <a:r>
              <a:rPr sz="950" spc="-25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950" dirty="0">
                <a:solidFill>
                  <a:srgbClr val="93A2B8"/>
                </a:solidFill>
                <a:latin typeface="Times New Roman"/>
                <a:cs typeface="Times New Roman"/>
              </a:rPr>
              <a:t>'Create</a:t>
            </a:r>
            <a:r>
              <a:rPr sz="950" spc="20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950" dirty="0">
                <a:solidFill>
                  <a:srgbClr val="93A2B8"/>
                </a:solidFill>
                <a:latin typeface="Times New Roman"/>
                <a:cs typeface="Times New Roman"/>
              </a:rPr>
              <a:t>Order'</a:t>
            </a:r>
            <a:r>
              <a:rPr sz="950" spc="-5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950" dirty="0">
                <a:solidFill>
                  <a:srgbClr val="93A2B8"/>
                </a:solidFill>
                <a:latin typeface="Times New Roman"/>
                <a:cs typeface="Times New Roman"/>
              </a:rPr>
              <a:t>form</a:t>
            </a:r>
            <a:r>
              <a:rPr sz="950" spc="-30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950" spc="-25" dirty="0">
                <a:solidFill>
                  <a:srgbClr val="93A2B8"/>
                </a:solidFill>
                <a:latin typeface="Times New Roman"/>
                <a:cs typeface="Times New Roman"/>
              </a:rPr>
              <a:t>in </a:t>
            </a:r>
            <a:r>
              <a:rPr sz="950" dirty="0">
                <a:solidFill>
                  <a:srgbClr val="93A2B8"/>
                </a:solidFill>
                <a:latin typeface="Times New Roman"/>
                <a:cs typeface="Times New Roman"/>
              </a:rPr>
              <a:t>browser.</a:t>
            </a:r>
            <a:r>
              <a:rPr sz="950" spc="-25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950" dirty="0">
                <a:solidFill>
                  <a:srgbClr val="93A2B8"/>
                </a:solidFill>
                <a:latin typeface="Times New Roman"/>
                <a:cs typeface="Times New Roman"/>
              </a:rPr>
              <a:t>HTTP</a:t>
            </a:r>
            <a:r>
              <a:rPr sz="950" spc="-15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950" dirty="0">
                <a:solidFill>
                  <a:srgbClr val="93A2B8"/>
                </a:solidFill>
                <a:latin typeface="Times New Roman"/>
                <a:cs typeface="Times New Roman"/>
              </a:rPr>
              <a:t>POST</a:t>
            </a:r>
            <a:r>
              <a:rPr sz="950" spc="-25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950" spc="-10" dirty="0">
                <a:solidFill>
                  <a:srgbClr val="93A2B8"/>
                </a:solidFill>
                <a:latin typeface="Times New Roman"/>
                <a:cs typeface="Times New Roman"/>
              </a:rPr>
              <a:t>/orders/create </a:t>
            </a:r>
            <a:r>
              <a:rPr sz="950" dirty="0">
                <a:solidFill>
                  <a:srgbClr val="93A2B8"/>
                </a:solidFill>
                <a:latin typeface="Times New Roman"/>
                <a:cs typeface="Times New Roman"/>
              </a:rPr>
              <a:t>with</a:t>
            </a:r>
            <a:r>
              <a:rPr sz="950" spc="-20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950" dirty="0">
                <a:solidFill>
                  <a:srgbClr val="93A2B8"/>
                </a:solidFill>
                <a:latin typeface="Times New Roman"/>
                <a:cs typeface="Times New Roman"/>
              </a:rPr>
              <a:t>form</a:t>
            </a:r>
            <a:r>
              <a:rPr sz="950" spc="-25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950" spc="-10" dirty="0">
                <a:solidFill>
                  <a:srgbClr val="93A2B8"/>
                </a:solidFill>
                <a:latin typeface="Times New Roman"/>
                <a:cs typeface="Times New Roman"/>
              </a:rPr>
              <a:t>data.</a:t>
            </a:r>
            <a:endParaRPr sz="950">
              <a:latin typeface="Times New Roman"/>
              <a:cs typeface="Times New Roman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2404872" y="987552"/>
            <a:ext cx="2057400" cy="1719580"/>
            <a:chOff x="2404872" y="987552"/>
            <a:chExt cx="2057400" cy="1719580"/>
          </a:xfrm>
        </p:grpSpPr>
        <p:sp>
          <p:nvSpPr>
            <p:cNvPr id="9" name="object 9"/>
            <p:cNvSpPr/>
            <p:nvPr/>
          </p:nvSpPr>
          <p:spPr>
            <a:xfrm>
              <a:off x="2404872" y="987552"/>
              <a:ext cx="2057400" cy="1719580"/>
            </a:xfrm>
            <a:custGeom>
              <a:avLst/>
              <a:gdLst/>
              <a:ahLst/>
              <a:cxnLst/>
              <a:rect l="l" t="t" r="r" b="b"/>
              <a:pathLst>
                <a:path w="2057400" h="1719580">
                  <a:moveTo>
                    <a:pt x="2057400" y="0"/>
                  </a:moveTo>
                  <a:lnTo>
                    <a:pt x="0" y="0"/>
                  </a:lnTo>
                  <a:lnTo>
                    <a:pt x="0" y="1719072"/>
                  </a:lnTo>
                  <a:lnTo>
                    <a:pt x="2057400" y="1719072"/>
                  </a:lnTo>
                  <a:lnTo>
                    <a:pt x="2057400" y="0"/>
                  </a:lnTo>
                  <a:close/>
                </a:path>
              </a:pathLst>
            </a:custGeom>
            <a:solidFill>
              <a:srgbClr val="1B2A3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118104" y="1097280"/>
              <a:ext cx="640080" cy="640080"/>
            </a:xfrm>
            <a:custGeom>
              <a:avLst/>
              <a:gdLst/>
              <a:ahLst/>
              <a:cxnLst/>
              <a:rect l="l" t="t" r="r" b="b"/>
              <a:pathLst>
                <a:path w="640079" h="640080">
                  <a:moveTo>
                    <a:pt x="320040" y="0"/>
                  </a:moveTo>
                  <a:lnTo>
                    <a:pt x="272739" y="3469"/>
                  </a:lnTo>
                  <a:lnTo>
                    <a:pt x="227596" y="13547"/>
                  </a:lnTo>
                  <a:lnTo>
                    <a:pt x="185105" y="29740"/>
                  </a:lnTo>
                  <a:lnTo>
                    <a:pt x="145761" y="51552"/>
                  </a:lnTo>
                  <a:lnTo>
                    <a:pt x="110057" y="78490"/>
                  </a:lnTo>
                  <a:lnTo>
                    <a:pt x="78490" y="110057"/>
                  </a:lnTo>
                  <a:lnTo>
                    <a:pt x="51552" y="145761"/>
                  </a:lnTo>
                  <a:lnTo>
                    <a:pt x="29740" y="185105"/>
                  </a:lnTo>
                  <a:lnTo>
                    <a:pt x="13547" y="227596"/>
                  </a:lnTo>
                  <a:lnTo>
                    <a:pt x="3469" y="272739"/>
                  </a:lnTo>
                  <a:lnTo>
                    <a:pt x="0" y="320040"/>
                  </a:lnTo>
                  <a:lnTo>
                    <a:pt x="3469" y="367340"/>
                  </a:lnTo>
                  <a:lnTo>
                    <a:pt x="13547" y="412483"/>
                  </a:lnTo>
                  <a:lnTo>
                    <a:pt x="29740" y="454974"/>
                  </a:lnTo>
                  <a:lnTo>
                    <a:pt x="51552" y="494318"/>
                  </a:lnTo>
                  <a:lnTo>
                    <a:pt x="78490" y="530022"/>
                  </a:lnTo>
                  <a:lnTo>
                    <a:pt x="110057" y="561589"/>
                  </a:lnTo>
                  <a:lnTo>
                    <a:pt x="145761" y="588527"/>
                  </a:lnTo>
                  <a:lnTo>
                    <a:pt x="185105" y="610339"/>
                  </a:lnTo>
                  <a:lnTo>
                    <a:pt x="227596" y="626532"/>
                  </a:lnTo>
                  <a:lnTo>
                    <a:pt x="272739" y="636610"/>
                  </a:lnTo>
                  <a:lnTo>
                    <a:pt x="320040" y="640080"/>
                  </a:lnTo>
                  <a:lnTo>
                    <a:pt x="367340" y="636610"/>
                  </a:lnTo>
                  <a:lnTo>
                    <a:pt x="412483" y="626532"/>
                  </a:lnTo>
                  <a:lnTo>
                    <a:pt x="454974" y="610339"/>
                  </a:lnTo>
                  <a:lnTo>
                    <a:pt x="494318" y="588527"/>
                  </a:lnTo>
                  <a:lnTo>
                    <a:pt x="530022" y="561589"/>
                  </a:lnTo>
                  <a:lnTo>
                    <a:pt x="561589" y="530022"/>
                  </a:lnTo>
                  <a:lnTo>
                    <a:pt x="588527" y="494318"/>
                  </a:lnTo>
                  <a:lnTo>
                    <a:pt x="610339" y="454974"/>
                  </a:lnTo>
                  <a:lnTo>
                    <a:pt x="626532" y="412483"/>
                  </a:lnTo>
                  <a:lnTo>
                    <a:pt x="636610" y="367340"/>
                  </a:lnTo>
                  <a:lnTo>
                    <a:pt x="640080" y="320040"/>
                  </a:lnTo>
                  <a:lnTo>
                    <a:pt x="636610" y="272739"/>
                  </a:lnTo>
                  <a:lnTo>
                    <a:pt x="626532" y="227596"/>
                  </a:lnTo>
                  <a:lnTo>
                    <a:pt x="610339" y="185105"/>
                  </a:lnTo>
                  <a:lnTo>
                    <a:pt x="588527" y="145761"/>
                  </a:lnTo>
                  <a:lnTo>
                    <a:pt x="561589" y="110057"/>
                  </a:lnTo>
                  <a:lnTo>
                    <a:pt x="530022" y="78490"/>
                  </a:lnTo>
                  <a:lnTo>
                    <a:pt x="494318" y="51552"/>
                  </a:lnTo>
                  <a:lnTo>
                    <a:pt x="454974" y="29740"/>
                  </a:lnTo>
                  <a:lnTo>
                    <a:pt x="412483" y="13547"/>
                  </a:lnTo>
                  <a:lnTo>
                    <a:pt x="367340" y="3469"/>
                  </a:lnTo>
                  <a:lnTo>
                    <a:pt x="320040" y="0"/>
                  </a:lnTo>
                  <a:close/>
                </a:path>
              </a:pathLst>
            </a:custGeom>
            <a:solidFill>
              <a:srgbClr val="05B6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118104" y="1097280"/>
              <a:ext cx="640080" cy="640080"/>
            </a:xfrm>
            <a:custGeom>
              <a:avLst/>
              <a:gdLst/>
              <a:ahLst/>
              <a:cxnLst/>
              <a:rect l="l" t="t" r="r" b="b"/>
              <a:pathLst>
                <a:path w="640079" h="640080">
                  <a:moveTo>
                    <a:pt x="0" y="320040"/>
                  </a:moveTo>
                  <a:lnTo>
                    <a:pt x="3469" y="272739"/>
                  </a:lnTo>
                  <a:lnTo>
                    <a:pt x="13547" y="227596"/>
                  </a:lnTo>
                  <a:lnTo>
                    <a:pt x="29740" y="185105"/>
                  </a:lnTo>
                  <a:lnTo>
                    <a:pt x="51552" y="145761"/>
                  </a:lnTo>
                  <a:lnTo>
                    <a:pt x="78490" y="110057"/>
                  </a:lnTo>
                  <a:lnTo>
                    <a:pt x="110057" y="78490"/>
                  </a:lnTo>
                  <a:lnTo>
                    <a:pt x="145761" y="51552"/>
                  </a:lnTo>
                  <a:lnTo>
                    <a:pt x="185105" y="29740"/>
                  </a:lnTo>
                  <a:lnTo>
                    <a:pt x="227596" y="13547"/>
                  </a:lnTo>
                  <a:lnTo>
                    <a:pt x="272739" y="3469"/>
                  </a:lnTo>
                  <a:lnTo>
                    <a:pt x="320040" y="0"/>
                  </a:lnTo>
                  <a:lnTo>
                    <a:pt x="367340" y="3469"/>
                  </a:lnTo>
                  <a:lnTo>
                    <a:pt x="412483" y="13547"/>
                  </a:lnTo>
                  <a:lnTo>
                    <a:pt x="454974" y="29740"/>
                  </a:lnTo>
                  <a:lnTo>
                    <a:pt x="494318" y="51552"/>
                  </a:lnTo>
                  <a:lnTo>
                    <a:pt x="530022" y="78490"/>
                  </a:lnTo>
                  <a:lnTo>
                    <a:pt x="561589" y="110057"/>
                  </a:lnTo>
                  <a:lnTo>
                    <a:pt x="588527" y="145761"/>
                  </a:lnTo>
                  <a:lnTo>
                    <a:pt x="610339" y="185105"/>
                  </a:lnTo>
                  <a:lnTo>
                    <a:pt x="626532" y="227596"/>
                  </a:lnTo>
                  <a:lnTo>
                    <a:pt x="636610" y="272739"/>
                  </a:lnTo>
                  <a:lnTo>
                    <a:pt x="640080" y="320040"/>
                  </a:lnTo>
                  <a:lnTo>
                    <a:pt x="636610" y="367340"/>
                  </a:lnTo>
                  <a:lnTo>
                    <a:pt x="626532" y="412483"/>
                  </a:lnTo>
                  <a:lnTo>
                    <a:pt x="610339" y="454974"/>
                  </a:lnTo>
                  <a:lnTo>
                    <a:pt x="588527" y="494318"/>
                  </a:lnTo>
                  <a:lnTo>
                    <a:pt x="561589" y="530022"/>
                  </a:lnTo>
                  <a:lnTo>
                    <a:pt x="530022" y="561589"/>
                  </a:lnTo>
                  <a:lnTo>
                    <a:pt x="494318" y="588527"/>
                  </a:lnTo>
                  <a:lnTo>
                    <a:pt x="454974" y="610339"/>
                  </a:lnTo>
                  <a:lnTo>
                    <a:pt x="412483" y="626532"/>
                  </a:lnTo>
                  <a:lnTo>
                    <a:pt x="367340" y="636610"/>
                  </a:lnTo>
                  <a:lnTo>
                    <a:pt x="320040" y="640080"/>
                  </a:lnTo>
                  <a:lnTo>
                    <a:pt x="272739" y="636610"/>
                  </a:lnTo>
                  <a:lnTo>
                    <a:pt x="227596" y="626532"/>
                  </a:lnTo>
                  <a:lnTo>
                    <a:pt x="185105" y="610339"/>
                  </a:lnTo>
                  <a:lnTo>
                    <a:pt x="145761" y="588527"/>
                  </a:lnTo>
                  <a:lnTo>
                    <a:pt x="110057" y="561589"/>
                  </a:lnTo>
                  <a:lnTo>
                    <a:pt x="78490" y="530022"/>
                  </a:lnTo>
                  <a:lnTo>
                    <a:pt x="51552" y="494318"/>
                  </a:lnTo>
                  <a:lnTo>
                    <a:pt x="29740" y="454974"/>
                  </a:lnTo>
                  <a:lnTo>
                    <a:pt x="13547" y="412483"/>
                  </a:lnTo>
                  <a:lnTo>
                    <a:pt x="3469" y="367340"/>
                  </a:lnTo>
                  <a:lnTo>
                    <a:pt x="0" y="320040"/>
                  </a:lnTo>
                  <a:close/>
                </a:path>
              </a:pathLst>
            </a:custGeom>
            <a:ln w="12700">
              <a:solidFill>
                <a:srgbClr val="05B6D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2404872" y="987552"/>
            <a:ext cx="2057400" cy="1719580"/>
          </a:xfrm>
          <a:prstGeom prst="rect">
            <a:avLst/>
          </a:prstGeom>
          <a:ln w="15240">
            <a:solidFill>
              <a:srgbClr val="05B6D3"/>
            </a:solidFill>
          </a:ln>
        </p:spPr>
        <p:txBody>
          <a:bodyPr vert="horz" wrap="square" lIns="0" tIns="268605" rIns="0" bIns="0" rtlCol="0">
            <a:spAutoFit/>
          </a:bodyPr>
          <a:lstStyle/>
          <a:p>
            <a:pPr marL="9525" algn="ctr">
              <a:lnSpc>
                <a:spcPct val="100000"/>
              </a:lnSpc>
              <a:spcBef>
                <a:spcPts val="2115"/>
              </a:spcBef>
            </a:pPr>
            <a:r>
              <a:rPr sz="2000" b="1" spc="-50" dirty="0">
                <a:solidFill>
                  <a:srgbClr val="FFFFFF"/>
                </a:solidFill>
                <a:latin typeface="Times New Roman"/>
                <a:cs typeface="Times New Roman"/>
              </a:rPr>
              <a:t>2</a:t>
            </a:r>
            <a:endParaRPr sz="2000">
              <a:latin typeface="Times New Roman"/>
              <a:cs typeface="Times New Roman"/>
            </a:endParaRPr>
          </a:p>
          <a:p>
            <a:pPr marL="9525" algn="ctr">
              <a:lnSpc>
                <a:spcPct val="100000"/>
              </a:lnSpc>
              <a:spcBef>
                <a:spcPts val="2295"/>
              </a:spcBef>
            </a:pPr>
            <a:r>
              <a:rPr sz="1200" b="1" spc="-10" dirty="0">
                <a:solidFill>
                  <a:srgbClr val="05B6D3"/>
                </a:solidFill>
                <a:latin typeface="Times New Roman"/>
                <a:cs typeface="Times New Roman"/>
              </a:rPr>
              <a:t>DispatcherServlet</a:t>
            </a:r>
            <a:endParaRPr sz="1200">
              <a:latin typeface="Times New Roman"/>
              <a:cs typeface="Times New Roman"/>
            </a:endParaRPr>
          </a:p>
          <a:p>
            <a:pPr marL="113030" marR="107314" algn="ctr">
              <a:lnSpc>
                <a:spcPct val="100000"/>
              </a:lnSpc>
              <a:spcBef>
                <a:spcPts val="309"/>
              </a:spcBef>
            </a:pPr>
            <a:r>
              <a:rPr sz="950" dirty="0">
                <a:solidFill>
                  <a:srgbClr val="93A2B8"/>
                </a:solidFill>
                <a:latin typeface="Times New Roman"/>
                <a:cs typeface="Times New Roman"/>
              </a:rPr>
              <a:t>Spring's</a:t>
            </a:r>
            <a:r>
              <a:rPr sz="950" spc="-20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950" dirty="0">
                <a:solidFill>
                  <a:srgbClr val="93A2B8"/>
                </a:solidFill>
                <a:latin typeface="Times New Roman"/>
                <a:cs typeface="Times New Roman"/>
              </a:rPr>
              <a:t>front</a:t>
            </a:r>
            <a:r>
              <a:rPr sz="950" spc="-55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950" dirty="0">
                <a:solidFill>
                  <a:srgbClr val="93A2B8"/>
                </a:solidFill>
                <a:latin typeface="Times New Roman"/>
                <a:cs typeface="Times New Roman"/>
              </a:rPr>
              <a:t>controller</a:t>
            </a:r>
            <a:r>
              <a:rPr sz="950" spc="-40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950" dirty="0">
                <a:solidFill>
                  <a:srgbClr val="93A2B8"/>
                </a:solidFill>
                <a:latin typeface="Times New Roman"/>
                <a:cs typeface="Times New Roman"/>
              </a:rPr>
              <a:t>intercepts</a:t>
            </a:r>
            <a:r>
              <a:rPr sz="950" spc="-35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950" spc="-25" dirty="0">
                <a:solidFill>
                  <a:srgbClr val="93A2B8"/>
                </a:solidFill>
                <a:latin typeface="Times New Roman"/>
                <a:cs typeface="Times New Roman"/>
              </a:rPr>
              <a:t>the </a:t>
            </a:r>
            <a:r>
              <a:rPr sz="950" dirty="0">
                <a:solidFill>
                  <a:srgbClr val="93A2B8"/>
                </a:solidFill>
                <a:latin typeface="Times New Roman"/>
                <a:cs typeface="Times New Roman"/>
              </a:rPr>
              <a:t>request,</a:t>
            </a:r>
            <a:r>
              <a:rPr sz="950" spc="-25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950" dirty="0">
                <a:solidFill>
                  <a:srgbClr val="93A2B8"/>
                </a:solidFill>
                <a:latin typeface="Times New Roman"/>
                <a:cs typeface="Times New Roman"/>
              </a:rPr>
              <a:t>identifies</a:t>
            </a:r>
            <a:r>
              <a:rPr sz="950" spc="-50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950" spc="-10" dirty="0">
                <a:solidFill>
                  <a:srgbClr val="93A2B8"/>
                </a:solidFill>
                <a:latin typeface="Times New Roman"/>
                <a:cs typeface="Times New Roman"/>
              </a:rPr>
              <a:t>matching @RequestMapping</a:t>
            </a:r>
            <a:r>
              <a:rPr sz="950" spc="75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950" spc="-25" dirty="0">
                <a:solidFill>
                  <a:srgbClr val="93A2B8"/>
                </a:solidFill>
                <a:latin typeface="Times New Roman"/>
                <a:cs typeface="Times New Roman"/>
              </a:rPr>
              <a:t>in </a:t>
            </a:r>
            <a:r>
              <a:rPr sz="950" spc="-10" dirty="0">
                <a:solidFill>
                  <a:srgbClr val="93A2B8"/>
                </a:solidFill>
                <a:latin typeface="Times New Roman"/>
                <a:cs typeface="Times New Roman"/>
              </a:rPr>
              <a:t>OrderController.</a:t>
            </a:r>
            <a:endParaRPr sz="950">
              <a:latin typeface="Times New Roman"/>
              <a:cs typeface="Times New Roman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4626864" y="987552"/>
            <a:ext cx="2057400" cy="1719580"/>
            <a:chOff x="4626864" y="987552"/>
            <a:chExt cx="2057400" cy="1719580"/>
          </a:xfrm>
        </p:grpSpPr>
        <p:sp>
          <p:nvSpPr>
            <p:cNvPr id="14" name="object 14"/>
            <p:cNvSpPr/>
            <p:nvPr/>
          </p:nvSpPr>
          <p:spPr>
            <a:xfrm>
              <a:off x="4626864" y="987552"/>
              <a:ext cx="2057400" cy="1719580"/>
            </a:xfrm>
            <a:custGeom>
              <a:avLst/>
              <a:gdLst/>
              <a:ahLst/>
              <a:cxnLst/>
              <a:rect l="l" t="t" r="r" b="b"/>
              <a:pathLst>
                <a:path w="2057400" h="1719580">
                  <a:moveTo>
                    <a:pt x="2057399" y="0"/>
                  </a:moveTo>
                  <a:lnTo>
                    <a:pt x="0" y="0"/>
                  </a:lnTo>
                  <a:lnTo>
                    <a:pt x="0" y="1719072"/>
                  </a:lnTo>
                  <a:lnTo>
                    <a:pt x="2057399" y="1719072"/>
                  </a:lnTo>
                  <a:lnTo>
                    <a:pt x="2057399" y="0"/>
                  </a:lnTo>
                  <a:close/>
                </a:path>
              </a:pathLst>
            </a:custGeom>
            <a:solidFill>
              <a:srgbClr val="1B2A3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5340096" y="1097280"/>
              <a:ext cx="640080" cy="640080"/>
            </a:xfrm>
            <a:custGeom>
              <a:avLst/>
              <a:gdLst/>
              <a:ahLst/>
              <a:cxnLst/>
              <a:rect l="l" t="t" r="r" b="b"/>
              <a:pathLst>
                <a:path w="640079" h="640080">
                  <a:moveTo>
                    <a:pt x="320039" y="0"/>
                  </a:moveTo>
                  <a:lnTo>
                    <a:pt x="272739" y="3469"/>
                  </a:lnTo>
                  <a:lnTo>
                    <a:pt x="227596" y="13547"/>
                  </a:lnTo>
                  <a:lnTo>
                    <a:pt x="185105" y="29740"/>
                  </a:lnTo>
                  <a:lnTo>
                    <a:pt x="145761" y="51552"/>
                  </a:lnTo>
                  <a:lnTo>
                    <a:pt x="110057" y="78490"/>
                  </a:lnTo>
                  <a:lnTo>
                    <a:pt x="78490" y="110057"/>
                  </a:lnTo>
                  <a:lnTo>
                    <a:pt x="51552" y="145761"/>
                  </a:lnTo>
                  <a:lnTo>
                    <a:pt x="29740" y="185105"/>
                  </a:lnTo>
                  <a:lnTo>
                    <a:pt x="13547" y="227596"/>
                  </a:lnTo>
                  <a:lnTo>
                    <a:pt x="3469" y="272739"/>
                  </a:lnTo>
                  <a:lnTo>
                    <a:pt x="0" y="320040"/>
                  </a:lnTo>
                  <a:lnTo>
                    <a:pt x="3469" y="367340"/>
                  </a:lnTo>
                  <a:lnTo>
                    <a:pt x="13547" y="412483"/>
                  </a:lnTo>
                  <a:lnTo>
                    <a:pt x="29740" y="454974"/>
                  </a:lnTo>
                  <a:lnTo>
                    <a:pt x="51552" y="494318"/>
                  </a:lnTo>
                  <a:lnTo>
                    <a:pt x="78490" y="530022"/>
                  </a:lnTo>
                  <a:lnTo>
                    <a:pt x="110057" y="561589"/>
                  </a:lnTo>
                  <a:lnTo>
                    <a:pt x="145761" y="588527"/>
                  </a:lnTo>
                  <a:lnTo>
                    <a:pt x="185105" y="610339"/>
                  </a:lnTo>
                  <a:lnTo>
                    <a:pt x="227596" y="626532"/>
                  </a:lnTo>
                  <a:lnTo>
                    <a:pt x="272739" y="636610"/>
                  </a:lnTo>
                  <a:lnTo>
                    <a:pt x="320039" y="640080"/>
                  </a:lnTo>
                  <a:lnTo>
                    <a:pt x="367340" y="636610"/>
                  </a:lnTo>
                  <a:lnTo>
                    <a:pt x="412483" y="626532"/>
                  </a:lnTo>
                  <a:lnTo>
                    <a:pt x="454974" y="610339"/>
                  </a:lnTo>
                  <a:lnTo>
                    <a:pt x="494318" y="588527"/>
                  </a:lnTo>
                  <a:lnTo>
                    <a:pt x="530022" y="561589"/>
                  </a:lnTo>
                  <a:lnTo>
                    <a:pt x="561589" y="530022"/>
                  </a:lnTo>
                  <a:lnTo>
                    <a:pt x="588527" y="494318"/>
                  </a:lnTo>
                  <a:lnTo>
                    <a:pt x="610339" y="454974"/>
                  </a:lnTo>
                  <a:lnTo>
                    <a:pt x="626532" y="412483"/>
                  </a:lnTo>
                  <a:lnTo>
                    <a:pt x="636610" y="367340"/>
                  </a:lnTo>
                  <a:lnTo>
                    <a:pt x="640079" y="320040"/>
                  </a:lnTo>
                  <a:lnTo>
                    <a:pt x="636610" y="272739"/>
                  </a:lnTo>
                  <a:lnTo>
                    <a:pt x="626532" y="227596"/>
                  </a:lnTo>
                  <a:lnTo>
                    <a:pt x="610339" y="185105"/>
                  </a:lnTo>
                  <a:lnTo>
                    <a:pt x="588527" y="145761"/>
                  </a:lnTo>
                  <a:lnTo>
                    <a:pt x="561589" y="110057"/>
                  </a:lnTo>
                  <a:lnTo>
                    <a:pt x="530022" y="78490"/>
                  </a:lnTo>
                  <a:lnTo>
                    <a:pt x="494318" y="51552"/>
                  </a:lnTo>
                  <a:lnTo>
                    <a:pt x="454974" y="29740"/>
                  </a:lnTo>
                  <a:lnTo>
                    <a:pt x="412483" y="13547"/>
                  </a:lnTo>
                  <a:lnTo>
                    <a:pt x="367340" y="3469"/>
                  </a:lnTo>
                  <a:lnTo>
                    <a:pt x="320039" y="0"/>
                  </a:lnTo>
                  <a:close/>
                </a:path>
              </a:pathLst>
            </a:custGeom>
            <a:solidFill>
              <a:srgbClr val="8A5C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5340096" y="1097280"/>
              <a:ext cx="640080" cy="640080"/>
            </a:xfrm>
            <a:custGeom>
              <a:avLst/>
              <a:gdLst/>
              <a:ahLst/>
              <a:cxnLst/>
              <a:rect l="l" t="t" r="r" b="b"/>
              <a:pathLst>
                <a:path w="640079" h="640080">
                  <a:moveTo>
                    <a:pt x="0" y="320040"/>
                  </a:moveTo>
                  <a:lnTo>
                    <a:pt x="3469" y="272739"/>
                  </a:lnTo>
                  <a:lnTo>
                    <a:pt x="13547" y="227596"/>
                  </a:lnTo>
                  <a:lnTo>
                    <a:pt x="29740" y="185105"/>
                  </a:lnTo>
                  <a:lnTo>
                    <a:pt x="51552" y="145761"/>
                  </a:lnTo>
                  <a:lnTo>
                    <a:pt x="78490" y="110057"/>
                  </a:lnTo>
                  <a:lnTo>
                    <a:pt x="110057" y="78490"/>
                  </a:lnTo>
                  <a:lnTo>
                    <a:pt x="145761" y="51552"/>
                  </a:lnTo>
                  <a:lnTo>
                    <a:pt x="185105" y="29740"/>
                  </a:lnTo>
                  <a:lnTo>
                    <a:pt x="227596" y="13547"/>
                  </a:lnTo>
                  <a:lnTo>
                    <a:pt x="272739" y="3469"/>
                  </a:lnTo>
                  <a:lnTo>
                    <a:pt x="320039" y="0"/>
                  </a:lnTo>
                  <a:lnTo>
                    <a:pt x="367340" y="3469"/>
                  </a:lnTo>
                  <a:lnTo>
                    <a:pt x="412483" y="13547"/>
                  </a:lnTo>
                  <a:lnTo>
                    <a:pt x="454974" y="29740"/>
                  </a:lnTo>
                  <a:lnTo>
                    <a:pt x="494318" y="51552"/>
                  </a:lnTo>
                  <a:lnTo>
                    <a:pt x="530022" y="78490"/>
                  </a:lnTo>
                  <a:lnTo>
                    <a:pt x="561589" y="110057"/>
                  </a:lnTo>
                  <a:lnTo>
                    <a:pt x="588527" y="145761"/>
                  </a:lnTo>
                  <a:lnTo>
                    <a:pt x="610339" y="185105"/>
                  </a:lnTo>
                  <a:lnTo>
                    <a:pt x="626532" y="227596"/>
                  </a:lnTo>
                  <a:lnTo>
                    <a:pt x="636610" y="272739"/>
                  </a:lnTo>
                  <a:lnTo>
                    <a:pt x="640079" y="320040"/>
                  </a:lnTo>
                  <a:lnTo>
                    <a:pt x="636610" y="367340"/>
                  </a:lnTo>
                  <a:lnTo>
                    <a:pt x="626532" y="412483"/>
                  </a:lnTo>
                  <a:lnTo>
                    <a:pt x="610339" y="454974"/>
                  </a:lnTo>
                  <a:lnTo>
                    <a:pt x="588527" y="494318"/>
                  </a:lnTo>
                  <a:lnTo>
                    <a:pt x="561589" y="530022"/>
                  </a:lnTo>
                  <a:lnTo>
                    <a:pt x="530022" y="561589"/>
                  </a:lnTo>
                  <a:lnTo>
                    <a:pt x="494318" y="588527"/>
                  </a:lnTo>
                  <a:lnTo>
                    <a:pt x="454974" y="610339"/>
                  </a:lnTo>
                  <a:lnTo>
                    <a:pt x="412483" y="626532"/>
                  </a:lnTo>
                  <a:lnTo>
                    <a:pt x="367340" y="636610"/>
                  </a:lnTo>
                  <a:lnTo>
                    <a:pt x="320039" y="640080"/>
                  </a:lnTo>
                  <a:lnTo>
                    <a:pt x="272739" y="636610"/>
                  </a:lnTo>
                  <a:lnTo>
                    <a:pt x="227596" y="626532"/>
                  </a:lnTo>
                  <a:lnTo>
                    <a:pt x="185105" y="610339"/>
                  </a:lnTo>
                  <a:lnTo>
                    <a:pt x="145761" y="588527"/>
                  </a:lnTo>
                  <a:lnTo>
                    <a:pt x="110057" y="561589"/>
                  </a:lnTo>
                  <a:lnTo>
                    <a:pt x="78490" y="530022"/>
                  </a:lnTo>
                  <a:lnTo>
                    <a:pt x="51552" y="494318"/>
                  </a:lnTo>
                  <a:lnTo>
                    <a:pt x="29740" y="454974"/>
                  </a:lnTo>
                  <a:lnTo>
                    <a:pt x="13547" y="412483"/>
                  </a:lnTo>
                  <a:lnTo>
                    <a:pt x="3469" y="367340"/>
                  </a:lnTo>
                  <a:lnTo>
                    <a:pt x="0" y="320040"/>
                  </a:lnTo>
                  <a:close/>
                </a:path>
              </a:pathLst>
            </a:custGeom>
            <a:ln w="12700">
              <a:solidFill>
                <a:srgbClr val="8A5CF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4626864" y="987552"/>
            <a:ext cx="2057400" cy="1719580"/>
          </a:xfrm>
          <a:prstGeom prst="rect">
            <a:avLst/>
          </a:prstGeom>
          <a:ln w="15240">
            <a:solidFill>
              <a:srgbClr val="8A5CF6"/>
            </a:solidFill>
          </a:ln>
        </p:spPr>
        <p:txBody>
          <a:bodyPr vert="horz" wrap="square" lIns="0" tIns="268605" rIns="0" bIns="0" rtlCol="0">
            <a:spAutoFit/>
          </a:bodyPr>
          <a:lstStyle/>
          <a:p>
            <a:pPr marL="10160" algn="ctr">
              <a:lnSpc>
                <a:spcPct val="100000"/>
              </a:lnSpc>
              <a:spcBef>
                <a:spcPts val="2115"/>
              </a:spcBef>
            </a:pPr>
            <a:r>
              <a:rPr sz="2000" b="1" spc="-50" dirty="0">
                <a:solidFill>
                  <a:srgbClr val="FFFFFF"/>
                </a:solidFill>
                <a:latin typeface="Times New Roman"/>
                <a:cs typeface="Times New Roman"/>
              </a:rPr>
              <a:t>3</a:t>
            </a:r>
            <a:endParaRPr sz="2000">
              <a:latin typeface="Times New Roman"/>
              <a:cs typeface="Times New Roman"/>
            </a:endParaRPr>
          </a:p>
          <a:p>
            <a:pPr marL="9525" algn="ctr">
              <a:lnSpc>
                <a:spcPct val="100000"/>
              </a:lnSpc>
              <a:spcBef>
                <a:spcPts val="2295"/>
              </a:spcBef>
            </a:pPr>
            <a:r>
              <a:rPr sz="1200" b="1" dirty="0">
                <a:solidFill>
                  <a:srgbClr val="8A5CF6"/>
                </a:solidFill>
                <a:latin typeface="Times New Roman"/>
                <a:cs typeface="Times New Roman"/>
              </a:rPr>
              <a:t>Controller</a:t>
            </a:r>
            <a:r>
              <a:rPr sz="1200" b="1" spc="-70" dirty="0">
                <a:solidFill>
                  <a:srgbClr val="8A5CF6"/>
                </a:solidFill>
                <a:latin typeface="Times New Roman"/>
                <a:cs typeface="Times New Roman"/>
              </a:rPr>
              <a:t> </a:t>
            </a:r>
            <a:r>
              <a:rPr sz="1200" b="1" spc="-10" dirty="0">
                <a:solidFill>
                  <a:srgbClr val="8A5CF6"/>
                </a:solidFill>
                <a:latin typeface="Times New Roman"/>
                <a:cs typeface="Times New Roman"/>
              </a:rPr>
              <a:t>Processes</a:t>
            </a:r>
            <a:endParaRPr sz="1200">
              <a:latin typeface="Times New Roman"/>
              <a:cs typeface="Times New Roman"/>
            </a:endParaRPr>
          </a:p>
          <a:p>
            <a:pPr marL="213360" marR="203835" indent="-2540" algn="ctr">
              <a:lnSpc>
                <a:spcPct val="100000"/>
              </a:lnSpc>
              <a:spcBef>
                <a:spcPts val="309"/>
              </a:spcBef>
            </a:pPr>
            <a:r>
              <a:rPr sz="950" spc="-10" dirty="0">
                <a:solidFill>
                  <a:srgbClr val="93A2B8"/>
                </a:solidFill>
                <a:latin typeface="Times New Roman"/>
                <a:cs typeface="Times New Roman"/>
              </a:rPr>
              <a:t>OrderController</a:t>
            </a:r>
            <a:r>
              <a:rPr sz="950" spc="85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950" spc="-10" dirty="0">
                <a:solidFill>
                  <a:srgbClr val="93A2B8"/>
                </a:solidFill>
                <a:latin typeface="Times New Roman"/>
                <a:cs typeface="Times New Roman"/>
              </a:rPr>
              <a:t>validates @ModelAttribute</a:t>
            </a:r>
            <a:r>
              <a:rPr sz="950" spc="5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950" dirty="0">
                <a:solidFill>
                  <a:srgbClr val="93A2B8"/>
                </a:solidFill>
                <a:latin typeface="Times New Roman"/>
                <a:cs typeface="Times New Roman"/>
              </a:rPr>
              <a:t>OrderDTO</a:t>
            </a:r>
            <a:r>
              <a:rPr sz="950" spc="35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950" spc="-25" dirty="0">
                <a:solidFill>
                  <a:srgbClr val="93A2B8"/>
                </a:solidFill>
                <a:latin typeface="Times New Roman"/>
                <a:cs typeface="Times New Roman"/>
              </a:rPr>
              <a:t>via </a:t>
            </a:r>
            <a:r>
              <a:rPr sz="950" dirty="0">
                <a:solidFill>
                  <a:srgbClr val="93A2B8"/>
                </a:solidFill>
                <a:latin typeface="Times New Roman"/>
                <a:cs typeface="Times New Roman"/>
              </a:rPr>
              <a:t>@Valid.</a:t>
            </a:r>
            <a:r>
              <a:rPr sz="950" spc="-20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950" dirty="0">
                <a:solidFill>
                  <a:srgbClr val="93A2B8"/>
                </a:solidFill>
                <a:latin typeface="Times New Roman"/>
                <a:cs typeface="Times New Roman"/>
              </a:rPr>
              <a:t>On</a:t>
            </a:r>
            <a:r>
              <a:rPr sz="950" spc="-25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950" dirty="0">
                <a:solidFill>
                  <a:srgbClr val="93A2B8"/>
                </a:solidFill>
                <a:latin typeface="Times New Roman"/>
                <a:cs typeface="Times New Roman"/>
              </a:rPr>
              <a:t>error</a:t>
            </a:r>
            <a:r>
              <a:rPr sz="950" spc="-15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950" dirty="0">
                <a:solidFill>
                  <a:srgbClr val="93A2B8"/>
                </a:solidFill>
                <a:latin typeface="Times New Roman"/>
                <a:cs typeface="Times New Roman"/>
              </a:rPr>
              <a:t>→</a:t>
            </a:r>
            <a:r>
              <a:rPr sz="950" spc="-20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950" dirty="0">
                <a:solidFill>
                  <a:srgbClr val="93A2B8"/>
                </a:solidFill>
                <a:latin typeface="Times New Roman"/>
                <a:cs typeface="Times New Roman"/>
              </a:rPr>
              <a:t>returns</a:t>
            </a:r>
            <a:r>
              <a:rPr sz="950" spc="-20" dirty="0">
                <a:solidFill>
                  <a:srgbClr val="93A2B8"/>
                </a:solidFill>
                <a:latin typeface="Times New Roman"/>
                <a:cs typeface="Times New Roman"/>
              </a:rPr>
              <a:t> form </a:t>
            </a:r>
            <a:r>
              <a:rPr sz="950" dirty="0">
                <a:solidFill>
                  <a:srgbClr val="93A2B8"/>
                </a:solidFill>
                <a:latin typeface="Times New Roman"/>
                <a:cs typeface="Times New Roman"/>
              </a:rPr>
              <a:t>view</a:t>
            </a:r>
            <a:r>
              <a:rPr sz="950" spc="-15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950" dirty="0">
                <a:solidFill>
                  <a:srgbClr val="93A2B8"/>
                </a:solidFill>
                <a:latin typeface="Times New Roman"/>
                <a:cs typeface="Times New Roman"/>
              </a:rPr>
              <a:t>with</a:t>
            </a:r>
            <a:r>
              <a:rPr sz="950" spc="-25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950" spc="-10" dirty="0">
                <a:solidFill>
                  <a:srgbClr val="93A2B8"/>
                </a:solidFill>
                <a:latin typeface="Times New Roman"/>
                <a:cs typeface="Times New Roman"/>
              </a:rPr>
              <a:t>BindingResult.</a:t>
            </a:r>
            <a:endParaRPr sz="950">
              <a:latin typeface="Times New Roman"/>
              <a:cs typeface="Times New Roman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6848856" y="987552"/>
            <a:ext cx="2057400" cy="1719580"/>
            <a:chOff x="6848856" y="987552"/>
            <a:chExt cx="2057400" cy="1719580"/>
          </a:xfrm>
        </p:grpSpPr>
        <p:sp>
          <p:nvSpPr>
            <p:cNvPr id="19" name="object 19"/>
            <p:cNvSpPr/>
            <p:nvPr/>
          </p:nvSpPr>
          <p:spPr>
            <a:xfrm>
              <a:off x="6848856" y="987552"/>
              <a:ext cx="2057400" cy="1719580"/>
            </a:xfrm>
            <a:custGeom>
              <a:avLst/>
              <a:gdLst/>
              <a:ahLst/>
              <a:cxnLst/>
              <a:rect l="l" t="t" r="r" b="b"/>
              <a:pathLst>
                <a:path w="2057400" h="1719580">
                  <a:moveTo>
                    <a:pt x="2057400" y="0"/>
                  </a:moveTo>
                  <a:lnTo>
                    <a:pt x="0" y="0"/>
                  </a:lnTo>
                  <a:lnTo>
                    <a:pt x="0" y="1719072"/>
                  </a:lnTo>
                  <a:lnTo>
                    <a:pt x="2057400" y="1719072"/>
                  </a:lnTo>
                  <a:lnTo>
                    <a:pt x="2057400" y="0"/>
                  </a:lnTo>
                  <a:close/>
                </a:path>
              </a:pathLst>
            </a:custGeom>
            <a:solidFill>
              <a:srgbClr val="1B2A3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7562088" y="1097280"/>
              <a:ext cx="640080" cy="640080"/>
            </a:xfrm>
            <a:custGeom>
              <a:avLst/>
              <a:gdLst/>
              <a:ahLst/>
              <a:cxnLst/>
              <a:rect l="l" t="t" r="r" b="b"/>
              <a:pathLst>
                <a:path w="640079" h="640080">
                  <a:moveTo>
                    <a:pt x="320039" y="0"/>
                  </a:moveTo>
                  <a:lnTo>
                    <a:pt x="272739" y="3469"/>
                  </a:lnTo>
                  <a:lnTo>
                    <a:pt x="227596" y="13547"/>
                  </a:lnTo>
                  <a:lnTo>
                    <a:pt x="185105" y="29740"/>
                  </a:lnTo>
                  <a:lnTo>
                    <a:pt x="145761" y="51552"/>
                  </a:lnTo>
                  <a:lnTo>
                    <a:pt x="110057" y="78490"/>
                  </a:lnTo>
                  <a:lnTo>
                    <a:pt x="78490" y="110057"/>
                  </a:lnTo>
                  <a:lnTo>
                    <a:pt x="51552" y="145761"/>
                  </a:lnTo>
                  <a:lnTo>
                    <a:pt x="29740" y="185105"/>
                  </a:lnTo>
                  <a:lnTo>
                    <a:pt x="13547" y="227596"/>
                  </a:lnTo>
                  <a:lnTo>
                    <a:pt x="3469" y="272739"/>
                  </a:lnTo>
                  <a:lnTo>
                    <a:pt x="0" y="320040"/>
                  </a:lnTo>
                  <a:lnTo>
                    <a:pt x="3469" y="367340"/>
                  </a:lnTo>
                  <a:lnTo>
                    <a:pt x="13547" y="412483"/>
                  </a:lnTo>
                  <a:lnTo>
                    <a:pt x="29740" y="454974"/>
                  </a:lnTo>
                  <a:lnTo>
                    <a:pt x="51552" y="494318"/>
                  </a:lnTo>
                  <a:lnTo>
                    <a:pt x="78490" y="530022"/>
                  </a:lnTo>
                  <a:lnTo>
                    <a:pt x="110057" y="561589"/>
                  </a:lnTo>
                  <a:lnTo>
                    <a:pt x="145761" y="588527"/>
                  </a:lnTo>
                  <a:lnTo>
                    <a:pt x="185105" y="610339"/>
                  </a:lnTo>
                  <a:lnTo>
                    <a:pt x="227596" y="626532"/>
                  </a:lnTo>
                  <a:lnTo>
                    <a:pt x="272739" y="636610"/>
                  </a:lnTo>
                  <a:lnTo>
                    <a:pt x="320039" y="640080"/>
                  </a:lnTo>
                  <a:lnTo>
                    <a:pt x="367340" y="636610"/>
                  </a:lnTo>
                  <a:lnTo>
                    <a:pt x="412483" y="626532"/>
                  </a:lnTo>
                  <a:lnTo>
                    <a:pt x="454974" y="610339"/>
                  </a:lnTo>
                  <a:lnTo>
                    <a:pt x="494318" y="588527"/>
                  </a:lnTo>
                  <a:lnTo>
                    <a:pt x="530022" y="561589"/>
                  </a:lnTo>
                  <a:lnTo>
                    <a:pt x="561589" y="530022"/>
                  </a:lnTo>
                  <a:lnTo>
                    <a:pt x="588527" y="494318"/>
                  </a:lnTo>
                  <a:lnTo>
                    <a:pt x="610339" y="454974"/>
                  </a:lnTo>
                  <a:lnTo>
                    <a:pt x="626532" y="412483"/>
                  </a:lnTo>
                  <a:lnTo>
                    <a:pt x="636610" y="367340"/>
                  </a:lnTo>
                  <a:lnTo>
                    <a:pt x="640079" y="320040"/>
                  </a:lnTo>
                  <a:lnTo>
                    <a:pt x="636610" y="272739"/>
                  </a:lnTo>
                  <a:lnTo>
                    <a:pt x="626532" y="227596"/>
                  </a:lnTo>
                  <a:lnTo>
                    <a:pt x="610339" y="185105"/>
                  </a:lnTo>
                  <a:lnTo>
                    <a:pt x="588527" y="145761"/>
                  </a:lnTo>
                  <a:lnTo>
                    <a:pt x="561589" y="110057"/>
                  </a:lnTo>
                  <a:lnTo>
                    <a:pt x="530022" y="78490"/>
                  </a:lnTo>
                  <a:lnTo>
                    <a:pt x="494318" y="51552"/>
                  </a:lnTo>
                  <a:lnTo>
                    <a:pt x="454974" y="29740"/>
                  </a:lnTo>
                  <a:lnTo>
                    <a:pt x="412483" y="13547"/>
                  </a:lnTo>
                  <a:lnTo>
                    <a:pt x="367340" y="3469"/>
                  </a:lnTo>
                  <a:lnTo>
                    <a:pt x="320039" y="0"/>
                  </a:lnTo>
                  <a:close/>
                </a:path>
              </a:pathLst>
            </a:custGeom>
            <a:solidFill>
              <a:srgbClr val="0FB88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7562088" y="1097280"/>
              <a:ext cx="640080" cy="640080"/>
            </a:xfrm>
            <a:custGeom>
              <a:avLst/>
              <a:gdLst/>
              <a:ahLst/>
              <a:cxnLst/>
              <a:rect l="l" t="t" r="r" b="b"/>
              <a:pathLst>
                <a:path w="640079" h="640080">
                  <a:moveTo>
                    <a:pt x="0" y="320040"/>
                  </a:moveTo>
                  <a:lnTo>
                    <a:pt x="3469" y="272739"/>
                  </a:lnTo>
                  <a:lnTo>
                    <a:pt x="13547" y="227596"/>
                  </a:lnTo>
                  <a:lnTo>
                    <a:pt x="29740" y="185105"/>
                  </a:lnTo>
                  <a:lnTo>
                    <a:pt x="51552" y="145761"/>
                  </a:lnTo>
                  <a:lnTo>
                    <a:pt x="78490" y="110057"/>
                  </a:lnTo>
                  <a:lnTo>
                    <a:pt x="110057" y="78490"/>
                  </a:lnTo>
                  <a:lnTo>
                    <a:pt x="145761" y="51552"/>
                  </a:lnTo>
                  <a:lnTo>
                    <a:pt x="185105" y="29740"/>
                  </a:lnTo>
                  <a:lnTo>
                    <a:pt x="227596" y="13547"/>
                  </a:lnTo>
                  <a:lnTo>
                    <a:pt x="272739" y="3469"/>
                  </a:lnTo>
                  <a:lnTo>
                    <a:pt x="320039" y="0"/>
                  </a:lnTo>
                  <a:lnTo>
                    <a:pt x="367340" y="3469"/>
                  </a:lnTo>
                  <a:lnTo>
                    <a:pt x="412483" y="13547"/>
                  </a:lnTo>
                  <a:lnTo>
                    <a:pt x="454974" y="29740"/>
                  </a:lnTo>
                  <a:lnTo>
                    <a:pt x="494318" y="51552"/>
                  </a:lnTo>
                  <a:lnTo>
                    <a:pt x="530022" y="78490"/>
                  </a:lnTo>
                  <a:lnTo>
                    <a:pt x="561589" y="110057"/>
                  </a:lnTo>
                  <a:lnTo>
                    <a:pt x="588527" y="145761"/>
                  </a:lnTo>
                  <a:lnTo>
                    <a:pt x="610339" y="185105"/>
                  </a:lnTo>
                  <a:lnTo>
                    <a:pt x="626532" y="227596"/>
                  </a:lnTo>
                  <a:lnTo>
                    <a:pt x="636610" y="272739"/>
                  </a:lnTo>
                  <a:lnTo>
                    <a:pt x="640079" y="320040"/>
                  </a:lnTo>
                  <a:lnTo>
                    <a:pt x="636610" y="367340"/>
                  </a:lnTo>
                  <a:lnTo>
                    <a:pt x="626532" y="412483"/>
                  </a:lnTo>
                  <a:lnTo>
                    <a:pt x="610339" y="454974"/>
                  </a:lnTo>
                  <a:lnTo>
                    <a:pt x="588527" y="494318"/>
                  </a:lnTo>
                  <a:lnTo>
                    <a:pt x="561589" y="530022"/>
                  </a:lnTo>
                  <a:lnTo>
                    <a:pt x="530022" y="561589"/>
                  </a:lnTo>
                  <a:lnTo>
                    <a:pt x="494318" y="588527"/>
                  </a:lnTo>
                  <a:lnTo>
                    <a:pt x="454974" y="610339"/>
                  </a:lnTo>
                  <a:lnTo>
                    <a:pt x="412483" y="626532"/>
                  </a:lnTo>
                  <a:lnTo>
                    <a:pt x="367340" y="636610"/>
                  </a:lnTo>
                  <a:lnTo>
                    <a:pt x="320039" y="640080"/>
                  </a:lnTo>
                  <a:lnTo>
                    <a:pt x="272739" y="636610"/>
                  </a:lnTo>
                  <a:lnTo>
                    <a:pt x="227596" y="626532"/>
                  </a:lnTo>
                  <a:lnTo>
                    <a:pt x="185105" y="610339"/>
                  </a:lnTo>
                  <a:lnTo>
                    <a:pt x="145761" y="588527"/>
                  </a:lnTo>
                  <a:lnTo>
                    <a:pt x="110057" y="561589"/>
                  </a:lnTo>
                  <a:lnTo>
                    <a:pt x="78490" y="530022"/>
                  </a:lnTo>
                  <a:lnTo>
                    <a:pt x="51552" y="494318"/>
                  </a:lnTo>
                  <a:lnTo>
                    <a:pt x="29740" y="454974"/>
                  </a:lnTo>
                  <a:lnTo>
                    <a:pt x="13547" y="412483"/>
                  </a:lnTo>
                  <a:lnTo>
                    <a:pt x="3469" y="367340"/>
                  </a:lnTo>
                  <a:lnTo>
                    <a:pt x="0" y="320040"/>
                  </a:lnTo>
                  <a:close/>
                </a:path>
              </a:pathLst>
            </a:custGeom>
            <a:ln w="12700">
              <a:solidFill>
                <a:srgbClr val="0FB88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6848856" y="987552"/>
            <a:ext cx="2057400" cy="1719580"/>
          </a:xfrm>
          <a:prstGeom prst="rect">
            <a:avLst/>
          </a:prstGeom>
          <a:ln w="15240">
            <a:solidFill>
              <a:srgbClr val="0FB881"/>
            </a:solidFill>
          </a:ln>
        </p:spPr>
        <p:txBody>
          <a:bodyPr vert="horz" wrap="square" lIns="0" tIns="268605" rIns="0" bIns="0" rtlCol="0">
            <a:spAutoFit/>
          </a:bodyPr>
          <a:lstStyle/>
          <a:p>
            <a:pPr marL="10795" algn="ctr">
              <a:lnSpc>
                <a:spcPct val="100000"/>
              </a:lnSpc>
              <a:spcBef>
                <a:spcPts val="2115"/>
              </a:spcBef>
            </a:pPr>
            <a:r>
              <a:rPr sz="2000" b="1" spc="-50" dirty="0">
                <a:solidFill>
                  <a:srgbClr val="FFFFFF"/>
                </a:solidFill>
                <a:latin typeface="Times New Roman"/>
                <a:cs typeface="Times New Roman"/>
              </a:rPr>
              <a:t>4</a:t>
            </a:r>
            <a:endParaRPr sz="2000">
              <a:latin typeface="Times New Roman"/>
              <a:cs typeface="Times New Roman"/>
            </a:endParaRPr>
          </a:p>
          <a:p>
            <a:pPr marL="7620" algn="ctr">
              <a:lnSpc>
                <a:spcPct val="100000"/>
              </a:lnSpc>
              <a:spcBef>
                <a:spcPts val="2295"/>
              </a:spcBef>
            </a:pPr>
            <a:r>
              <a:rPr sz="1200" b="1" dirty="0">
                <a:solidFill>
                  <a:srgbClr val="0FB881"/>
                </a:solidFill>
                <a:latin typeface="Times New Roman"/>
                <a:cs typeface="Times New Roman"/>
              </a:rPr>
              <a:t>Service</a:t>
            </a:r>
            <a:r>
              <a:rPr sz="1200" b="1" spc="-30" dirty="0">
                <a:solidFill>
                  <a:srgbClr val="0FB881"/>
                </a:solidFill>
                <a:latin typeface="Times New Roman"/>
                <a:cs typeface="Times New Roman"/>
              </a:rPr>
              <a:t> </a:t>
            </a:r>
            <a:r>
              <a:rPr sz="1200" b="1" spc="-10" dirty="0">
                <a:solidFill>
                  <a:srgbClr val="0FB881"/>
                </a:solidFill>
                <a:latin typeface="Times New Roman"/>
                <a:cs typeface="Times New Roman"/>
              </a:rPr>
              <a:t>Invoked</a:t>
            </a:r>
            <a:endParaRPr sz="1200">
              <a:latin typeface="Times New Roman"/>
              <a:cs typeface="Times New Roman"/>
            </a:endParaRPr>
          </a:p>
          <a:p>
            <a:pPr marL="252729" marR="245110" indent="-1270" algn="ctr">
              <a:lnSpc>
                <a:spcPct val="100000"/>
              </a:lnSpc>
              <a:spcBef>
                <a:spcPts val="309"/>
              </a:spcBef>
            </a:pPr>
            <a:r>
              <a:rPr sz="950" dirty="0">
                <a:solidFill>
                  <a:srgbClr val="93A2B8"/>
                </a:solidFill>
                <a:latin typeface="Times New Roman"/>
                <a:cs typeface="Times New Roman"/>
              </a:rPr>
              <a:t>Controller</a:t>
            </a:r>
            <a:r>
              <a:rPr sz="950" spc="-45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950" spc="-10" dirty="0">
                <a:solidFill>
                  <a:srgbClr val="93A2B8"/>
                </a:solidFill>
                <a:latin typeface="Times New Roman"/>
                <a:cs typeface="Times New Roman"/>
              </a:rPr>
              <a:t>calls orderService.processOrder(dto).</a:t>
            </a:r>
            <a:endParaRPr sz="95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sz="950" dirty="0">
                <a:solidFill>
                  <a:srgbClr val="93A2B8"/>
                </a:solidFill>
                <a:latin typeface="Times New Roman"/>
                <a:cs typeface="Times New Roman"/>
              </a:rPr>
              <a:t>Spring</a:t>
            </a:r>
            <a:r>
              <a:rPr sz="950" spc="-5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950" dirty="0">
                <a:solidFill>
                  <a:srgbClr val="93A2B8"/>
                </a:solidFill>
                <a:latin typeface="Times New Roman"/>
                <a:cs typeface="Times New Roman"/>
              </a:rPr>
              <a:t>opens </a:t>
            </a:r>
            <a:r>
              <a:rPr sz="950" spc="-10" dirty="0">
                <a:solidFill>
                  <a:srgbClr val="93A2B8"/>
                </a:solidFill>
                <a:latin typeface="Times New Roman"/>
                <a:cs typeface="Times New Roman"/>
              </a:rPr>
              <a:t>@Transactional</a:t>
            </a:r>
            <a:r>
              <a:rPr sz="950" spc="25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950" spc="-10" dirty="0">
                <a:solidFill>
                  <a:srgbClr val="93A2B8"/>
                </a:solidFill>
                <a:latin typeface="Times New Roman"/>
                <a:cs typeface="Times New Roman"/>
              </a:rPr>
              <a:t>context</a:t>
            </a:r>
            <a:endParaRPr sz="95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sz="950" spc="-10" dirty="0">
                <a:solidFill>
                  <a:srgbClr val="93A2B8"/>
                </a:solidFill>
                <a:latin typeface="Times New Roman"/>
                <a:cs typeface="Times New Roman"/>
              </a:rPr>
              <a:t>here.</a:t>
            </a:r>
            <a:endParaRPr sz="950">
              <a:latin typeface="Times New Roman"/>
              <a:cs typeface="Times New Roman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182879" y="2907792"/>
            <a:ext cx="2057400" cy="1719580"/>
            <a:chOff x="182879" y="2907792"/>
            <a:chExt cx="2057400" cy="1719580"/>
          </a:xfrm>
        </p:grpSpPr>
        <p:sp>
          <p:nvSpPr>
            <p:cNvPr id="24" name="object 24"/>
            <p:cNvSpPr/>
            <p:nvPr/>
          </p:nvSpPr>
          <p:spPr>
            <a:xfrm>
              <a:off x="182879" y="2907792"/>
              <a:ext cx="2057400" cy="1719580"/>
            </a:xfrm>
            <a:custGeom>
              <a:avLst/>
              <a:gdLst/>
              <a:ahLst/>
              <a:cxnLst/>
              <a:rect l="l" t="t" r="r" b="b"/>
              <a:pathLst>
                <a:path w="2057400" h="1719579">
                  <a:moveTo>
                    <a:pt x="2057400" y="0"/>
                  </a:moveTo>
                  <a:lnTo>
                    <a:pt x="0" y="0"/>
                  </a:lnTo>
                  <a:lnTo>
                    <a:pt x="0" y="1719072"/>
                  </a:lnTo>
                  <a:lnTo>
                    <a:pt x="2057400" y="1719072"/>
                  </a:lnTo>
                  <a:lnTo>
                    <a:pt x="2057400" y="0"/>
                  </a:lnTo>
                  <a:close/>
                </a:path>
              </a:pathLst>
            </a:custGeom>
            <a:solidFill>
              <a:srgbClr val="1B2A3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896111" y="3017520"/>
              <a:ext cx="640080" cy="640080"/>
            </a:xfrm>
            <a:custGeom>
              <a:avLst/>
              <a:gdLst/>
              <a:ahLst/>
              <a:cxnLst/>
              <a:rect l="l" t="t" r="r" b="b"/>
              <a:pathLst>
                <a:path w="640080" h="640079">
                  <a:moveTo>
                    <a:pt x="320040" y="0"/>
                  </a:moveTo>
                  <a:lnTo>
                    <a:pt x="272745" y="3469"/>
                  </a:lnTo>
                  <a:lnTo>
                    <a:pt x="227606" y="13547"/>
                  </a:lnTo>
                  <a:lnTo>
                    <a:pt x="185116" y="29740"/>
                  </a:lnTo>
                  <a:lnTo>
                    <a:pt x="145772" y="51552"/>
                  </a:lnTo>
                  <a:lnTo>
                    <a:pt x="110068" y="78490"/>
                  </a:lnTo>
                  <a:lnTo>
                    <a:pt x="78498" y="110057"/>
                  </a:lnTo>
                  <a:lnTo>
                    <a:pt x="51559" y="145761"/>
                  </a:lnTo>
                  <a:lnTo>
                    <a:pt x="29744" y="185105"/>
                  </a:lnTo>
                  <a:lnTo>
                    <a:pt x="13549" y="227596"/>
                  </a:lnTo>
                  <a:lnTo>
                    <a:pt x="3469" y="272739"/>
                  </a:lnTo>
                  <a:lnTo>
                    <a:pt x="0" y="320040"/>
                  </a:lnTo>
                  <a:lnTo>
                    <a:pt x="3469" y="367340"/>
                  </a:lnTo>
                  <a:lnTo>
                    <a:pt x="13549" y="412483"/>
                  </a:lnTo>
                  <a:lnTo>
                    <a:pt x="29744" y="454974"/>
                  </a:lnTo>
                  <a:lnTo>
                    <a:pt x="51559" y="494318"/>
                  </a:lnTo>
                  <a:lnTo>
                    <a:pt x="78498" y="530022"/>
                  </a:lnTo>
                  <a:lnTo>
                    <a:pt x="110068" y="561589"/>
                  </a:lnTo>
                  <a:lnTo>
                    <a:pt x="145772" y="588527"/>
                  </a:lnTo>
                  <a:lnTo>
                    <a:pt x="185116" y="610339"/>
                  </a:lnTo>
                  <a:lnTo>
                    <a:pt x="227606" y="626532"/>
                  </a:lnTo>
                  <a:lnTo>
                    <a:pt x="272745" y="636610"/>
                  </a:lnTo>
                  <a:lnTo>
                    <a:pt x="320040" y="640080"/>
                  </a:lnTo>
                  <a:lnTo>
                    <a:pt x="367340" y="636610"/>
                  </a:lnTo>
                  <a:lnTo>
                    <a:pt x="412483" y="626532"/>
                  </a:lnTo>
                  <a:lnTo>
                    <a:pt x="454974" y="610339"/>
                  </a:lnTo>
                  <a:lnTo>
                    <a:pt x="494318" y="588527"/>
                  </a:lnTo>
                  <a:lnTo>
                    <a:pt x="530022" y="561589"/>
                  </a:lnTo>
                  <a:lnTo>
                    <a:pt x="561589" y="530022"/>
                  </a:lnTo>
                  <a:lnTo>
                    <a:pt x="588527" y="494318"/>
                  </a:lnTo>
                  <a:lnTo>
                    <a:pt x="610339" y="454974"/>
                  </a:lnTo>
                  <a:lnTo>
                    <a:pt x="626532" y="412483"/>
                  </a:lnTo>
                  <a:lnTo>
                    <a:pt x="636610" y="367340"/>
                  </a:lnTo>
                  <a:lnTo>
                    <a:pt x="640079" y="320040"/>
                  </a:lnTo>
                  <a:lnTo>
                    <a:pt x="636610" y="272739"/>
                  </a:lnTo>
                  <a:lnTo>
                    <a:pt x="626532" y="227596"/>
                  </a:lnTo>
                  <a:lnTo>
                    <a:pt x="610339" y="185105"/>
                  </a:lnTo>
                  <a:lnTo>
                    <a:pt x="588527" y="145761"/>
                  </a:lnTo>
                  <a:lnTo>
                    <a:pt x="561589" y="110057"/>
                  </a:lnTo>
                  <a:lnTo>
                    <a:pt x="530022" y="78490"/>
                  </a:lnTo>
                  <a:lnTo>
                    <a:pt x="494318" y="51552"/>
                  </a:lnTo>
                  <a:lnTo>
                    <a:pt x="454974" y="29740"/>
                  </a:lnTo>
                  <a:lnTo>
                    <a:pt x="412483" y="13547"/>
                  </a:lnTo>
                  <a:lnTo>
                    <a:pt x="367340" y="3469"/>
                  </a:lnTo>
                  <a:lnTo>
                    <a:pt x="320040" y="0"/>
                  </a:lnTo>
                  <a:close/>
                </a:path>
              </a:pathLst>
            </a:custGeom>
            <a:solidFill>
              <a:srgbClr val="F8731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896111" y="3017520"/>
              <a:ext cx="640080" cy="640080"/>
            </a:xfrm>
            <a:custGeom>
              <a:avLst/>
              <a:gdLst/>
              <a:ahLst/>
              <a:cxnLst/>
              <a:rect l="l" t="t" r="r" b="b"/>
              <a:pathLst>
                <a:path w="640080" h="640079">
                  <a:moveTo>
                    <a:pt x="0" y="320040"/>
                  </a:moveTo>
                  <a:lnTo>
                    <a:pt x="3469" y="272739"/>
                  </a:lnTo>
                  <a:lnTo>
                    <a:pt x="13549" y="227596"/>
                  </a:lnTo>
                  <a:lnTo>
                    <a:pt x="29744" y="185105"/>
                  </a:lnTo>
                  <a:lnTo>
                    <a:pt x="51559" y="145761"/>
                  </a:lnTo>
                  <a:lnTo>
                    <a:pt x="78498" y="110057"/>
                  </a:lnTo>
                  <a:lnTo>
                    <a:pt x="110068" y="78490"/>
                  </a:lnTo>
                  <a:lnTo>
                    <a:pt x="145772" y="51552"/>
                  </a:lnTo>
                  <a:lnTo>
                    <a:pt x="185116" y="29740"/>
                  </a:lnTo>
                  <a:lnTo>
                    <a:pt x="227606" y="13547"/>
                  </a:lnTo>
                  <a:lnTo>
                    <a:pt x="272745" y="3469"/>
                  </a:lnTo>
                  <a:lnTo>
                    <a:pt x="320040" y="0"/>
                  </a:lnTo>
                  <a:lnTo>
                    <a:pt x="367340" y="3469"/>
                  </a:lnTo>
                  <a:lnTo>
                    <a:pt x="412483" y="13547"/>
                  </a:lnTo>
                  <a:lnTo>
                    <a:pt x="454974" y="29740"/>
                  </a:lnTo>
                  <a:lnTo>
                    <a:pt x="494318" y="51552"/>
                  </a:lnTo>
                  <a:lnTo>
                    <a:pt x="530022" y="78490"/>
                  </a:lnTo>
                  <a:lnTo>
                    <a:pt x="561589" y="110057"/>
                  </a:lnTo>
                  <a:lnTo>
                    <a:pt x="588527" y="145761"/>
                  </a:lnTo>
                  <a:lnTo>
                    <a:pt x="610339" y="185105"/>
                  </a:lnTo>
                  <a:lnTo>
                    <a:pt x="626532" y="227596"/>
                  </a:lnTo>
                  <a:lnTo>
                    <a:pt x="636610" y="272739"/>
                  </a:lnTo>
                  <a:lnTo>
                    <a:pt x="640079" y="320040"/>
                  </a:lnTo>
                  <a:lnTo>
                    <a:pt x="636610" y="367340"/>
                  </a:lnTo>
                  <a:lnTo>
                    <a:pt x="626532" y="412483"/>
                  </a:lnTo>
                  <a:lnTo>
                    <a:pt x="610339" y="454974"/>
                  </a:lnTo>
                  <a:lnTo>
                    <a:pt x="588527" y="494318"/>
                  </a:lnTo>
                  <a:lnTo>
                    <a:pt x="561589" y="530022"/>
                  </a:lnTo>
                  <a:lnTo>
                    <a:pt x="530022" y="561589"/>
                  </a:lnTo>
                  <a:lnTo>
                    <a:pt x="494318" y="588527"/>
                  </a:lnTo>
                  <a:lnTo>
                    <a:pt x="454974" y="610339"/>
                  </a:lnTo>
                  <a:lnTo>
                    <a:pt x="412483" y="626532"/>
                  </a:lnTo>
                  <a:lnTo>
                    <a:pt x="367340" y="636610"/>
                  </a:lnTo>
                  <a:lnTo>
                    <a:pt x="320040" y="640080"/>
                  </a:lnTo>
                  <a:lnTo>
                    <a:pt x="272745" y="636610"/>
                  </a:lnTo>
                  <a:lnTo>
                    <a:pt x="227606" y="626532"/>
                  </a:lnTo>
                  <a:lnTo>
                    <a:pt x="185116" y="610339"/>
                  </a:lnTo>
                  <a:lnTo>
                    <a:pt x="145772" y="588527"/>
                  </a:lnTo>
                  <a:lnTo>
                    <a:pt x="110068" y="561589"/>
                  </a:lnTo>
                  <a:lnTo>
                    <a:pt x="78498" y="530022"/>
                  </a:lnTo>
                  <a:lnTo>
                    <a:pt x="51559" y="494318"/>
                  </a:lnTo>
                  <a:lnTo>
                    <a:pt x="29744" y="454974"/>
                  </a:lnTo>
                  <a:lnTo>
                    <a:pt x="13549" y="412483"/>
                  </a:lnTo>
                  <a:lnTo>
                    <a:pt x="3469" y="367340"/>
                  </a:lnTo>
                  <a:lnTo>
                    <a:pt x="0" y="320040"/>
                  </a:lnTo>
                  <a:close/>
                </a:path>
              </a:pathLst>
            </a:custGeom>
            <a:ln w="12700">
              <a:solidFill>
                <a:srgbClr val="F8731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/>
          <p:cNvSpPr txBox="1"/>
          <p:nvPr/>
        </p:nvSpPr>
        <p:spPr>
          <a:xfrm>
            <a:off x="182879" y="2907792"/>
            <a:ext cx="2057400" cy="1719580"/>
          </a:xfrm>
          <a:prstGeom prst="rect">
            <a:avLst/>
          </a:prstGeom>
          <a:ln w="15239">
            <a:solidFill>
              <a:srgbClr val="F87316"/>
            </a:solidFill>
          </a:ln>
        </p:spPr>
        <p:txBody>
          <a:bodyPr vert="horz" wrap="square" lIns="0" tIns="269240" rIns="0" bIns="0" rtlCol="0">
            <a:spAutoFit/>
          </a:bodyPr>
          <a:lstStyle/>
          <a:p>
            <a:pPr marL="8890" algn="ctr">
              <a:lnSpc>
                <a:spcPct val="100000"/>
              </a:lnSpc>
              <a:spcBef>
                <a:spcPts val="2120"/>
              </a:spcBef>
            </a:pPr>
            <a:r>
              <a:rPr sz="2000" b="1" spc="-50" dirty="0">
                <a:solidFill>
                  <a:srgbClr val="FFFFFF"/>
                </a:solidFill>
                <a:latin typeface="Times New Roman"/>
                <a:cs typeface="Times New Roman"/>
              </a:rPr>
              <a:t>5</a:t>
            </a:r>
            <a:endParaRPr sz="2000">
              <a:latin typeface="Times New Roman"/>
              <a:cs typeface="Times New Roman"/>
            </a:endParaRPr>
          </a:p>
          <a:p>
            <a:pPr marL="6985" algn="ctr">
              <a:lnSpc>
                <a:spcPct val="100000"/>
              </a:lnSpc>
              <a:spcBef>
                <a:spcPts val="2290"/>
              </a:spcBef>
            </a:pPr>
            <a:r>
              <a:rPr sz="1200" b="1" dirty="0">
                <a:solidFill>
                  <a:srgbClr val="F87316"/>
                </a:solidFill>
                <a:latin typeface="Times New Roman"/>
                <a:cs typeface="Times New Roman"/>
              </a:rPr>
              <a:t>Business</a:t>
            </a:r>
            <a:r>
              <a:rPr sz="1200" b="1" spc="-50" dirty="0">
                <a:solidFill>
                  <a:srgbClr val="F87316"/>
                </a:solidFill>
                <a:latin typeface="Times New Roman"/>
                <a:cs typeface="Times New Roman"/>
              </a:rPr>
              <a:t> </a:t>
            </a:r>
            <a:r>
              <a:rPr sz="1200" b="1" spc="-10" dirty="0">
                <a:solidFill>
                  <a:srgbClr val="F87316"/>
                </a:solidFill>
                <a:latin typeface="Times New Roman"/>
                <a:cs typeface="Times New Roman"/>
              </a:rPr>
              <a:t>Logic</a:t>
            </a:r>
            <a:endParaRPr sz="1200">
              <a:latin typeface="Times New Roman"/>
              <a:cs typeface="Times New Roman"/>
            </a:endParaRPr>
          </a:p>
          <a:p>
            <a:pPr marL="109855" marR="106680" indent="635" algn="ctr">
              <a:lnSpc>
                <a:spcPct val="100000"/>
              </a:lnSpc>
              <a:spcBef>
                <a:spcPts val="310"/>
              </a:spcBef>
            </a:pPr>
            <a:r>
              <a:rPr sz="950" dirty="0">
                <a:solidFill>
                  <a:srgbClr val="93A2B8"/>
                </a:solidFill>
                <a:latin typeface="Times New Roman"/>
                <a:cs typeface="Times New Roman"/>
              </a:rPr>
              <a:t>Service</a:t>
            </a:r>
            <a:r>
              <a:rPr sz="950" spc="-20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950" dirty="0">
                <a:solidFill>
                  <a:srgbClr val="93A2B8"/>
                </a:solidFill>
                <a:latin typeface="Times New Roman"/>
                <a:cs typeface="Times New Roman"/>
              </a:rPr>
              <a:t>checks</a:t>
            </a:r>
            <a:r>
              <a:rPr sz="950" spc="-10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950" dirty="0">
                <a:solidFill>
                  <a:srgbClr val="93A2B8"/>
                </a:solidFill>
                <a:latin typeface="Times New Roman"/>
                <a:cs typeface="Times New Roman"/>
              </a:rPr>
              <a:t>stock</a:t>
            </a:r>
            <a:r>
              <a:rPr sz="950" spc="-35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950" spc="-10" dirty="0">
                <a:solidFill>
                  <a:srgbClr val="93A2B8"/>
                </a:solidFill>
                <a:latin typeface="Times New Roman"/>
                <a:cs typeface="Times New Roman"/>
              </a:rPr>
              <a:t>availability, </a:t>
            </a:r>
            <a:r>
              <a:rPr sz="950" dirty="0">
                <a:solidFill>
                  <a:srgbClr val="93A2B8"/>
                </a:solidFill>
                <a:latin typeface="Times New Roman"/>
                <a:cs typeface="Times New Roman"/>
              </a:rPr>
              <a:t>deducts</a:t>
            </a:r>
            <a:r>
              <a:rPr sz="950" spc="-50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950" dirty="0">
                <a:solidFill>
                  <a:srgbClr val="93A2B8"/>
                </a:solidFill>
                <a:latin typeface="Times New Roman"/>
                <a:cs typeface="Times New Roman"/>
              </a:rPr>
              <a:t>quantity,</a:t>
            </a:r>
            <a:r>
              <a:rPr sz="950" spc="-25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950" dirty="0">
                <a:solidFill>
                  <a:srgbClr val="93A2B8"/>
                </a:solidFill>
                <a:latin typeface="Times New Roman"/>
                <a:cs typeface="Times New Roman"/>
              </a:rPr>
              <a:t>creates</a:t>
            </a:r>
            <a:r>
              <a:rPr sz="950" spc="-20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950" dirty="0">
                <a:solidFill>
                  <a:srgbClr val="93A2B8"/>
                </a:solidFill>
                <a:latin typeface="Times New Roman"/>
                <a:cs typeface="Times New Roman"/>
              </a:rPr>
              <a:t>Order</a:t>
            </a:r>
            <a:r>
              <a:rPr sz="950" spc="-40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950" spc="-10" dirty="0">
                <a:solidFill>
                  <a:srgbClr val="93A2B8"/>
                </a:solidFill>
                <a:latin typeface="Times New Roman"/>
                <a:cs typeface="Times New Roman"/>
              </a:rPr>
              <a:t>entity, </a:t>
            </a:r>
            <a:r>
              <a:rPr sz="950" dirty="0">
                <a:solidFill>
                  <a:srgbClr val="93A2B8"/>
                </a:solidFill>
                <a:latin typeface="Times New Roman"/>
                <a:cs typeface="Times New Roman"/>
              </a:rPr>
              <a:t>updates</a:t>
            </a:r>
            <a:r>
              <a:rPr sz="950" spc="-60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950" dirty="0">
                <a:solidFill>
                  <a:srgbClr val="93A2B8"/>
                </a:solidFill>
                <a:latin typeface="Times New Roman"/>
                <a:cs typeface="Times New Roman"/>
              </a:rPr>
              <a:t>StockMovement,</a:t>
            </a:r>
            <a:r>
              <a:rPr sz="950" spc="-45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950" spc="-10" dirty="0">
                <a:solidFill>
                  <a:srgbClr val="93A2B8"/>
                </a:solidFill>
                <a:latin typeface="Times New Roman"/>
                <a:cs typeface="Times New Roman"/>
              </a:rPr>
              <a:t>calls </a:t>
            </a:r>
            <a:r>
              <a:rPr sz="950" dirty="0">
                <a:solidFill>
                  <a:srgbClr val="93A2B8"/>
                </a:solidFill>
                <a:latin typeface="Times New Roman"/>
                <a:cs typeface="Times New Roman"/>
              </a:rPr>
              <a:t>threshold</a:t>
            </a:r>
            <a:r>
              <a:rPr sz="950" spc="-30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950" spc="-10" dirty="0">
                <a:solidFill>
                  <a:srgbClr val="93A2B8"/>
                </a:solidFill>
                <a:latin typeface="Times New Roman"/>
                <a:cs typeface="Times New Roman"/>
              </a:rPr>
              <a:t>evaluator.</a:t>
            </a:r>
            <a:endParaRPr sz="950">
              <a:latin typeface="Times New Roman"/>
              <a:cs typeface="Times New Roman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2404872" y="2907792"/>
            <a:ext cx="2057400" cy="1719580"/>
            <a:chOff x="2404872" y="2907792"/>
            <a:chExt cx="2057400" cy="1719580"/>
          </a:xfrm>
        </p:grpSpPr>
        <p:sp>
          <p:nvSpPr>
            <p:cNvPr id="29" name="object 29"/>
            <p:cNvSpPr/>
            <p:nvPr/>
          </p:nvSpPr>
          <p:spPr>
            <a:xfrm>
              <a:off x="2404872" y="2907792"/>
              <a:ext cx="2057400" cy="1719580"/>
            </a:xfrm>
            <a:custGeom>
              <a:avLst/>
              <a:gdLst/>
              <a:ahLst/>
              <a:cxnLst/>
              <a:rect l="l" t="t" r="r" b="b"/>
              <a:pathLst>
                <a:path w="2057400" h="1719579">
                  <a:moveTo>
                    <a:pt x="2057400" y="0"/>
                  </a:moveTo>
                  <a:lnTo>
                    <a:pt x="0" y="0"/>
                  </a:lnTo>
                  <a:lnTo>
                    <a:pt x="0" y="1719072"/>
                  </a:lnTo>
                  <a:lnTo>
                    <a:pt x="2057400" y="1719072"/>
                  </a:lnTo>
                  <a:lnTo>
                    <a:pt x="2057400" y="0"/>
                  </a:lnTo>
                  <a:close/>
                </a:path>
              </a:pathLst>
            </a:custGeom>
            <a:solidFill>
              <a:srgbClr val="1B2A3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3118104" y="3017520"/>
              <a:ext cx="640080" cy="640080"/>
            </a:xfrm>
            <a:custGeom>
              <a:avLst/>
              <a:gdLst/>
              <a:ahLst/>
              <a:cxnLst/>
              <a:rect l="l" t="t" r="r" b="b"/>
              <a:pathLst>
                <a:path w="640079" h="640079">
                  <a:moveTo>
                    <a:pt x="320040" y="0"/>
                  </a:moveTo>
                  <a:lnTo>
                    <a:pt x="272739" y="3469"/>
                  </a:lnTo>
                  <a:lnTo>
                    <a:pt x="227596" y="13547"/>
                  </a:lnTo>
                  <a:lnTo>
                    <a:pt x="185105" y="29740"/>
                  </a:lnTo>
                  <a:lnTo>
                    <a:pt x="145761" y="51552"/>
                  </a:lnTo>
                  <a:lnTo>
                    <a:pt x="110057" y="78490"/>
                  </a:lnTo>
                  <a:lnTo>
                    <a:pt x="78490" y="110057"/>
                  </a:lnTo>
                  <a:lnTo>
                    <a:pt x="51552" y="145761"/>
                  </a:lnTo>
                  <a:lnTo>
                    <a:pt x="29740" y="185105"/>
                  </a:lnTo>
                  <a:lnTo>
                    <a:pt x="13547" y="227596"/>
                  </a:lnTo>
                  <a:lnTo>
                    <a:pt x="3469" y="272739"/>
                  </a:lnTo>
                  <a:lnTo>
                    <a:pt x="0" y="320040"/>
                  </a:lnTo>
                  <a:lnTo>
                    <a:pt x="3469" y="367340"/>
                  </a:lnTo>
                  <a:lnTo>
                    <a:pt x="13547" y="412483"/>
                  </a:lnTo>
                  <a:lnTo>
                    <a:pt x="29740" y="454974"/>
                  </a:lnTo>
                  <a:lnTo>
                    <a:pt x="51552" y="494318"/>
                  </a:lnTo>
                  <a:lnTo>
                    <a:pt x="78490" y="530022"/>
                  </a:lnTo>
                  <a:lnTo>
                    <a:pt x="110057" y="561589"/>
                  </a:lnTo>
                  <a:lnTo>
                    <a:pt x="145761" y="588527"/>
                  </a:lnTo>
                  <a:lnTo>
                    <a:pt x="185105" y="610339"/>
                  </a:lnTo>
                  <a:lnTo>
                    <a:pt x="227596" y="626532"/>
                  </a:lnTo>
                  <a:lnTo>
                    <a:pt x="272739" y="636610"/>
                  </a:lnTo>
                  <a:lnTo>
                    <a:pt x="320040" y="640080"/>
                  </a:lnTo>
                  <a:lnTo>
                    <a:pt x="367340" y="636610"/>
                  </a:lnTo>
                  <a:lnTo>
                    <a:pt x="412483" y="626532"/>
                  </a:lnTo>
                  <a:lnTo>
                    <a:pt x="454974" y="610339"/>
                  </a:lnTo>
                  <a:lnTo>
                    <a:pt x="494318" y="588527"/>
                  </a:lnTo>
                  <a:lnTo>
                    <a:pt x="530022" y="561589"/>
                  </a:lnTo>
                  <a:lnTo>
                    <a:pt x="561589" y="530022"/>
                  </a:lnTo>
                  <a:lnTo>
                    <a:pt x="588527" y="494318"/>
                  </a:lnTo>
                  <a:lnTo>
                    <a:pt x="610339" y="454974"/>
                  </a:lnTo>
                  <a:lnTo>
                    <a:pt x="626532" y="412483"/>
                  </a:lnTo>
                  <a:lnTo>
                    <a:pt x="636610" y="367340"/>
                  </a:lnTo>
                  <a:lnTo>
                    <a:pt x="640080" y="320040"/>
                  </a:lnTo>
                  <a:lnTo>
                    <a:pt x="636610" y="272739"/>
                  </a:lnTo>
                  <a:lnTo>
                    <a:pt x="626532" y="227596"/>
                  </a:lnTo>
                  <a:lnTo>
                    <a:pt x="610339" y="185105"/>
                  </a:lnTo>
                  <a:lnTo>
                    <a:pt x="588527" y="145761"/>
                  </a:lnTo>
                  <a:lnTo>
                    <a:pt x="561589" y="110057"/>
                  </a:lnTo>
                  <a:lnTo>
                    <a:pt x="530022" y="78490"/>
                  </a:lnTo>
                  <a:lnTo>
                    <a:pt x="494318" y="51552"/>
                  </a:lnTo>
                  <a:lnTo>
                    <a:pt x="454974" y="29740"/>
                  </a:lnTo>
                  <a:lnTo>
                    <a:pt x="412483" y="13547"/>
                  </a:lnTo>
                  <a:lnTo>
                    <a:pt x="367340" y="3469"/>
                  </a:lnTo>
                  <a:lnTo>
                    <a:pt x="320040" y="0"/>
                  </a:lnTo>
                  <a:close/>
                </a:path>
              </a:pathLst>
            </a:custGeom>
            <a:solidFill>
              <a:srgbClr val="F59E0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3118104" y="3017520"/>
              <a:ext cx="640080" cy="640080"/>
            </a:xfrm>
            <a:custGeom>
              <a:avLst/>
              <a:gdLst/>
              <a:ahLst/>
              <a:cxnLst/>
              <a:rect l="l" t="t" r="r" b="b"/>
              <a:pathLst>
                <a:path w="640079" h="640079">
                  <a:moveTo>
                    <a:pt x="0" y="320040"/>
                  </a:moveTo>
                  <a:lnTo>
                    <a:pt x="3469" y="272739"/>
                  </a:lnTo>
                  <a:lnTo>
                    <a:pt x="13547" y="227596"/>
                  </a:lnTo>
                  <a:lnTo>
                    <a:pt x="29740" y="185105"/>
                  </a:lnTo>
                  <a:lnTo>
                    <a:pt x="51552" y="145761"/>
                  </a:lnTo>
                  <a:lnTo>
                    <a:pt x="78490" y="110057"/>
                  </a:lnTo>
                  <a:lnTo>
                    <a:pt x="110057" y="78490"/>
                  </a:lnTo>
                  <a:lnTo>
                    <a:pt x="145761" y="51552"/>
                  </a:lnTo>
                  <a:lnTo>
                    <a:pt x="185105" y="29740"/>
                  </a:lnTo>
                  <a:lnTo>
                    <a:pt x="227596" y="13547"/>
                  </a:lnTo>
                  <a:lnTo>
                    <a:pt x="272739" y="3469"/>
                  </a:lnTo>
                  <a:lnTo>
                    <a:pt x="320040" y="0"/>
                  </a:lnTo>
                  <a:lnTo>
                    <a:pt x="367340" y="3469"/>
                  </a:lnTo>
                  <a:lnTo>
                    <a:pt x="412483" y="13547"/>
                  </a:lnTo>
                  <a:lnTo>
                    <a:pt x="454974" y="29740"/>
                  </a:lnTo>
                  <a:lnTo>
                    <a:pt x="494318" y="51552"/>
                  </a:lnTo>
                  <a:lnTo>
                    <a:pt x="530022" y="78490"/>
                  </a:lnTo>
                  <a:lnTo>
                    <a:pt x="561589" y="110057"/>
                  </a:lnTo>
                  <a:lnTo>
                    <a:pt x="588527" y="145761"/>
                  </a:lnTo>
                  <a:lnTo>
                    <a:pt x="610339" y="185105"/>
                  </a:lnTo>
                  <a:lnTo>
                    <a:pt x="626532" y="227596"/>
                  </a:lnTo>
                  <a:lnTo>
                    <a:pt x="636610" y="272739"/>
                  </a:lnTo>
                  <a:lnTo>
                    <a:pt x="640080" y="320040"/>
                  </a:lnTo>
                  <a:lnTo>
                    <a:pt x="636610" y="367340"/>
                  </a:lnTo>
                  <a:lnTo>
                    <a:pt x="626532" y="412483"/>
                  </a:lnTo>
                  <a:lnTo>
                    <a:pt x="610339" y="454974"/>
                  </a:lnTo>
                  <a:lnTo>
                    <a:pt x="588527" y="494318"/>
                  </a:lnTo>
                  <a:lnTo>
                    <a:pt x="561589" y="530022"/>
                  </a:lnTo>
                  <a:lnTo>
                    <a:pt x="530022" y="561589"/>
                  </a:lnTo>
                  <a:lnTo>
                    <a:pt x="494318" y="588527"/>
                  </a:lnTo>
                  <a:lnTo>
                    <a:pt x="454974" y="610339"/>
                  </a:lnTo>
                  <a:lnTo>
                    <a:pt x="412483" y="626532"/>
                  </a:lnTo>
                  <a:lnTo>
                    <a:pt x="367340" y="636610"/>
                  </a:lnTo>
                  <a:lnTo>
                    <a:pt x="320040" y="640080"/>
                  </a:lnTo>
                  <a:lnTo>
                    <a:pt x="272739" y="636610"/>
                  </a:lnTo>
                  <a:lnTo>
                    <a:pt x="227596" y="626532"/>
                  </a:lnTo>
                  <a:lnTo>
                    <a:pt x="185105" y="610339"/>
                  </a:lnTo>
                  <a:lnTo>
                    <a:pt x="145761" y="588527"/>
                  </a:lnTo>
                  <a:lnTo>
                    <a:pt x="110057" y="561589"/>
                  </a:lnTo>
                  <a:lnTo>
                    <a:pt x="78490" y="530022"/>
                  </a:lnTo>
                  <a:lnTo>
                    <a:pt x="51552" y="494318"/>
                  </a:lnTo>
                  <a:lnTo>
                    <a:pt x="29740" y="454974"/>
                  </a:lnTo>
                  <a:lnTo>
                    <a:pt x="13547" y="412483"/>
                  </a:lnTo>
                  <a:lnTo>
                    <a:pt x="3469" y="367340"/>
                  </a:lnTo>
                  <a:lnTo>
                    <a:pt x="0" y="320040"/>
                  </a:lnTo>
                  <a:close/>
                </a:path>
              </a:pathLst>
            </a:custGeom>
            <a:ln w="12700">
              <a:solidFill>
                <a:srgbClr val="F59E0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2" name="object 32"/>
          <p:cNvSpPr txBox="1"/>
          <p:nvPr/>
        </p:nvSpPr>
        <p:spPr>
          <a:xfrm>
            <a:off x="2404872" y="2907792"/>
            <a:ext cx="2057400" cy="1719580"/>
          </a:xfrm>
          <a:prstGeom prst="rect">
            <a:avLst/>
          </a:prstGeom>
          <a:ln w="15240">
            <a:solidFill>
              <a:srgbClr val="F59E0A"/>
            </a:solidFill>
          </a:ln>
        </p:spPr>
        <p:txBody>
          <a:bodyPr vert="horz" wrap="square" lIns="0" tIns="269240" rIns="0" bIns="0" rtlCol="0">
            <a:spAutoFit/>
          </a:bodyPr>
          <a:lstStyle/>
          <a:p>
            <a:pPr marL="9525" algn="ctr">
              <a:lnSpc>
                <a:spcPct val="100000"/>
              </a:lnSpc>
              <a:spcBef>
                <a:spcPts val="2120"/>
              </a:spcBef>
            </a:pPr>
            <a:r>
              <a:rPr sz="2000" b="1" spc="-50" dirty="0">
                <a:solidFill>
                  <a:srgbClr val="FFFFFF"/>
                </a:solidFill>
                <a:latin typeface="Times New Roman"/>
                <a:cs typeface="Times New Roman"/>
              </a:rPr>
              <a:t>6</a:t>
            </a:r>
            <a:endParaRPr sz="2000">
              <a:latin typeface="Times New Roman"/>
              <a:cs typeface="Times New Roman"/>
            </a:endParaRPr>
          </a:p>
          <a:p>
            <a:pPr marL="8890" algn="ctr">
              <a:lnSpc>
                <a:spcPct val="100000"/>
              </a:lnSpc>
              <a:spcBef>
                <a:spcPts val="2290"/>
              </a:spcBef>
            </a:pPr>
            <a:r>
              <a:rPr sz="1200" b="1" dirty="0">
                <a:solidFill>
                  <a:srgbClr val="F59E0A"/>
                </a:solidFill>
                <a:latin typeface="Times New Roman"/>
                <a:cs typeface="Times New Roman"/>
              </a:rPr>
              <a:t>Repository</a:t>
            </a:r>
            <a:r>
              <a:rPr sz="1200" b="1" spc="-50" dirty="0">
                <a:solidFill>
                  <a:srgbClr val="F59E0A"/>
                </a:solidFill>
                <a:latin typeface="Times New Roman"/>
                <a:cs typeface="Times New Roman"/>
              </a:rPr>
              <a:t> </a:t>
            </a:r>
            <a:r>
              <a:rPr sz="1200" b="1" spc="-10" dirty="0">
                <a:solidFill>
                  <a:srgbClr val="F59E0A"/>
                </a:solidFill>
                <a:latin typeface="Times New Roman"/>
                <a:cs typeface="Times New Roman"/>
              </a:rPr>
              <a:t>Saves</a:t>
            </a:r>
            <a:endParaRPr sz="1200">
              <a:latin typeface="Times New Roman"/>
              <a:cs typeface="Times New Roman"/>
            </a:endParaRPr>
          </a:p>
          <a:p>
            <a:pPr marL="114935" marR="106680" indent="-4445" algn="ctr">
              <a:lnSpc>
                <a:spcPct val="100000"/>
              </a:lnSpc>
              <a:spcBef>
                <a:spcPts val="310"/>
              </a:spcBef>
            </a:pPr>
            <a:r>
              <a:rPr sz="950" dirty="0">
                <a:solidFill>
                  <a:srgbClr val="93A2B8"/>
                </a:solidFill>
                <a:latin typeface="Times New Roman"/>
                <a:cs typeface="Times New Roman"/>
              </a:rPr>
              <a:t>JPA</a:t>
            </a:r>
            <a:r>
              <a:rPr sz="950" spc="-30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950" dirty="0">
                <a:solidFill>
                  <a:srgbClr val="93A2B8"/>
                </a:solidFill>
                <a:latin typeface="Times New Roman"/>
                <a:cs typeface="Times New Roman"/>
              </a:rPr>
              <a:t>repositories</a:t>
            </a:r>
            <a:r>
              <a:rPr sz="950" spc="-30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950" dirty="0">
                <a:solidFill>
                  <a:srgbClr val="93A2B8"/>
                </a:solidFill>
                <a:latin typeface="Times New Roman"/>
                <a:cs typeface="Times New Roman"/>
              </a:rPr>
              <a:t>persist</a:t>
            </a:r>
            <a:r>
              <a:rPr sz="950" spc="-30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950" dirty="0">
                <a:solidFill>
                  <a:srgbClr val="93A2B8"/>
                </a:solidFill>
                <a:latin typeface="Times New Roman"/>
                <a:cs typeface="Times New Roman"/>
              </a:rPr>
              <a:t>Order</a:t>
            </a:r>
            <a:r>
              <a:rPr sz="950" spc="-35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950" spc="-50" dirty="0">
                <a:solidFill>
                  <a:srgbClr val="93A2B8"/>
                </a:solidFill>
                <a:latin typeface="Times New Roman"/>
                <a:cs typeface="Times New Roman"/>
              </a:rPr>
              <a:t>+</a:t>
            </a:r>
            <a:r>
              <a:rPr sz="950" dirty="0">
                <a:solidFill>
                  <a:srgbClr val="93A2B8"/>
                </a:solidFill>
                <a:latin typeface="Times New Roman"/>
                <a:cs typeface="Times New Roman"/>
              </a:rPr>
              <a:t> StockMovement </a:t>
            </a:r>
            <a:r>
              <a:rPr sz="950" spc="-10" dirty="0">
                <a:solidFill>
                  <a:srgbClr val="93A2B8"/>
                </a:solidFill>
                <a:latin typeface="Times New Roman"/>
                <a:cs typeface="Times New Roman"/>
              </a:rPr>
              <a:t>entities.</a:t>
            </a:r>
            <a:r>
              <a:rPr sz="950" spc="-25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950" spc="-10" dirty="0">
                <a:solidFill>
                  <a:srgbClr val="93A2B8"/>
                </a:solidFill>
                <a:latin typeface="Times New Roman"/>
                <a:cs typeface="Times New Roman"/>
              </a:rPr>
              <a:t>Hibernate </a:t>
            </a:r>
            <a:r>
              <a:rPr sz="950" dirty="0">
                <a:solidFill>
                  <a:srgbClr val="93A2B8"/>
                </a:solidFill>
                <a:latin typeface="Times New Roman"/>
                <a:cs typeface="Times New Roman"/>
              </a:rPr>
              <a:t>generates</a:t>
            </a:r>
            <a:r>
              <a:rPr sz="950" spc="10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950" spc="-10" dirty="0">
                <a:solidFill>
                  <a:srgbClr val="93A2B8"/>
                </a:solidFill>
                <a:latin typeface="Times New Roman"/>
                <a:cs typeface="Times New Roman"/>
              </a:rPr>
              <a:t>INSERT/UPDATE</a:t>
            </a:r>
            <a:r>
              <a:rPr sz="950" spc="20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950" dirty="0">
                <a:solidFill>
                  <a:srgbClr val="93A2B8"/>
                </a:solidFill>
                <a:latin typeface="Times New Roman"/>
                <a:cs typeface="Times New Roman"/>
              </a:rPr>
              <a:t>SQL</a:t>
            </a:r>
            <a:r>
              <a:rPr sz="950" spc="-15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950" spc="-25" dirty="0">
                <a:solidFill>
                  <a:srgbClr val="93A2B8"/>
                </a:solidFill>
                <a:latin typeface="Times New Roman"/>
                <a:cs typeface="Times New Roman"/>
              </a:rPr>
              <a:t>on </a:t>
            </a:r>
            <a:r>
              <a:rPr sz="950" spc="-10" dirty="0">
                <a:solidFill>
                  <a:srgbClr val="93A2B8"/>
                </a:solidFill>
                <a:latin typeface="Times New Roman"/>
                <a:cs typeface="Times New Roman"/>
              </a:rPr>
              <a:t>MySQL.</a:t>
            </a:r>
            <a:endParaRPr sz="950">
              <a:latin typeface="Times New Roman"/>
              <a:cs typeface="Times New Roman"/>
            </a:endParaRPr>
          </a:p>
        </p:txBody>
      </p:sp>
      <p:grpSp>
        <p:nvGrpSpPr>
          <p:cNvPr id="33" name="object 33"/>
          <p:cNvGrpSpPr/>
          <p:nvPr/>
        </p:nvGrpSpPr>
        <p:grpSpPr>
          <a:xfrm>
            <a:off x="4626864" y="2907792"/>
            <a:ext cx="2057400" cy="1719580"/>
            <a:chOff x="4626864" y="2907792"/>
            <a:chExt cx="2057400" cy="1719580"/>
          </a:xfrm>
        </p:grpSpPr>
        <p:sp>
          <p:nvSpPr>
            <p:cNvPr id="34" name="object 34"/>
            <p:cNvSpPr/>
            <p:nvPr/>
          </p:nvSpPr>
          <p:spPr>
            <a:xfrm>
              <a:off x="4626864" y="2907792"/>
              <a:ext cx="2057400" cy="1719580"/>
            </a:xfrm>
            <a:custGeom>
              <a:avLst/>
              <a:gdLst/>
              <a:ahLst/>
              <a:cxnLst/>
              <a:rect l="l" t="t" r="r" b="b"/>
              <a:pathLst>
                <a:path w="2057400" h="1719579">
                  <a:moveTo>
                    <a:pt x="2057399" y="0"/>
                  </a:moveTo>
                  <a:lnTo>
                    <a:pt x="0" y="0"/>
                  </a:lnTo>
                  <a:lnTo>
                    <a:pt x="0" y="1719072"/>
                  </a:lnTo>
                  <a:lnTo>
                    <a:pt x="2057399" y="1719072"/>
                  </a:lnTo>
                  <a:lnTo>
                    <a:pt x="2057399" y="0"/>
                  </a:lnTo>
                  <a:close/>
                </a:path>
              </a:pathLst>
            </a:custGeom>
            <a:solidFill>
              <a:srgbClr val="1B2A3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5340096" y="3017520"/>
              <a:ext cx="640080" cy="640080"/>
            </a:xfrm>
            <a:custGeom>
              <a:avLst/>
              <a:gdLst/>
              <a:ahLst/>
              <a:cxnLst/>
              <a:rect l="l" t="t" r="r" b="b"/>
              <a:pathLst>
                <a:path w="640079" h="640079">
                  <a:moveTo>
                    <a:pt x="320039" y="0"/>
                  </a:moveTo>
                  <a:lnTo>
                    <a:pt x="272739" y="3469"/>
                  </a:lnTo>
                  <a:lnTo>
                    <a:pt x="227596" y="13547"/>
                  </a:lnTo>
                  <a:lnTo>
                    <a:pt x="185105" y="29740"/>
                  </a:lnTo>
                  <a:lnTo>
                    <a:pt x="145761" y="51552"/>
                  </a:lnTo>
                  <a:lnTo>
                    <a:pt x="110057" y="78490"/>
                  </a:lnTo>
                  <a:lnTo>
                    <a:pt x="78490" y="110057"/>
                  </a:lnTo>
                  <a:lnTo>
                    <a:pt x="51552" y="145761"/>
                  </a:lnTo>
                  <a:lnTo>
                    <a:pt x="29740" y="185105"/>
                  </a:lnTo>
                  <a:lnTo>
                    <a:pt x="13547" y="227596"/>
                  </a:lnTo>
                  <a:lnTo>
                    <a:pt x="3469" y="272739"/>
                  </a:lnTo>
                  <a:lnTo>
                    <a:pt x="0" y="320040"/>
                  </a:lnTo>
                  <a:lnTo>
                    <a:pt x="3469" y="367340"/>
                  </a:lnTo>
                  <a:lnTo>
                    <a:pt x="13547" y="412483"/>
                  </a:lnTo>
                  <a:lnTo>
                    <a:pt x="29740" y="454974"/>
                  </a:lnTo>
                  <a:lnTo>
                    <a:pt x="51552" y="494318"/>
                  </a:lnTo>
                  <a:lnTo>
                    <a:pt x="78490" y="530022"/>
                  </a:lnTo>
                  <a:lnTo>
                    <a:pt x="110057" y="561589"/>
                  </a:lnTo>
                  <a:lnTo>
                    <a:pt x="145761" y="588527"/>
                  </a:lnTo>
                  <a:lnTo>
                    <a:pt x="185105" y="610339"/>
                  </a:lnTo>
                  <a:lnTo>
                    <a:pt x="227596" y="626532"/>
                  </a:lnTo>
                  <a:lnTo>
                    <a:pt x="272739" y="636610"/>
                  </a:lnTo>
                  <a:lnTo>
                    <a:pt x="320039" y="640080"/>
                  </a:lnTo>
                  <a:lnTo>
                    <a:pt x="367340" y="636610"/>
                  </a:lnTo>
                  <a:lnTo>
                    <a:pt x="412483" y="626532"/>
                  </a:lnTo>
                  <a:lnTo>
                    <a:pt x="454974" y="610339"/>
                  </a:lnTo>
                  <a:lnTo>
                    <a:pt x="494318" y="588527"/>
                  </a:lnTo>
                  <a:lnTo>
                    <a:pt x="530022" y="561589"/>
                  </a:lnTo>
                  <a:lnTo>
                    <a:pt x="561589" y="530022"/>
                  </a:lnTo>
                  <a:lnTo>
                    <a:pt x="588527" y="494318"/>
                  </a:lnTo>
                  <a:lnTo>
                    <a:pt x="610339" y="454974"/>
                  </a:lnTo>
                  <a:lnTo>
                    <a:pt x="626532" y="412483"/>
                  </a:lnTo>
                  <a:lnTo>
                    <a:pt x="636610" y="367340"/>
                  </a:lnTo>
                  <a:lnTo>
                    <a:pt x="640079" y="320040"/>
                  </a:lnTo>
                  <a:lnTo>
                    <a:pt x="636610" y="272739"/>
                  </a:lnTo>
                  <a:lnTo>
                    <a:pt x="626532" y="227596"/>
                  </a:lnTo>
                  <a:lnTo>
                    <a:pt x="610339" y="185105"/>
                  </a:lnTo>
                  <a:lnTo>
                    <a:pt x="588527" y="145761"/>
                  </a:lnTo>
                  <a:lnTo>
                    <a:pt x="561589" y="110057"/>
                  </a:lnTo>
                  <a:lnTo>
                    <a:pt x="530022" y="78490"/>
                  </a:lnTo>
                  <a:lnTo>
                    <a:pt x="494318" y="51552"/>
                  </a:lnTo>
                  <a:lnTo>
                    <a:pt x="454974" y="29740"/>
                  </a:lnTo>
                  <a:lnTo>
                    <a:pt x="412483" y="13547"/>
                  </a:lnTo>
                  <a:lnTo>
                    <a:pt x="367340" y="3469"/>
                  </a:lnTo>
                  <a:lnTo>
                    <a:pt x="320039" y="0"/>
                  </a:lnTo>
                  <a:close/>
                </a:path>
              </a:pathLst>
            </a:custGeom>
            <a:solidFill>
              <a:srgbClr val="0FB88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5340096" y="3017520"/>
              <a:ext cx="640080" cy="640080"/>
            </a:xfrm>
            <a:custGeom>
              <a:avLst/>
              <a:gdLst/>
              <a:ahLst/>
              <a:cxnLst/>
              <a:rect l="l" t="t" r="r" b="b"/>
              <a:pathLst>
                <a:path w="640079" h="640079">
                  <a:moveTo>
                    <a:pt x="0" y="320040"/>
                  </a:moveTo>
                  <a:lnTo>
                    <a:pt x="3469" y="272739"/>
                  </a:lnTo>
                  <a:lnTo>
                    <a:pt x="13547" y="227596"/>
                  </a:lnTo>
                  <a:lnTo>
                    <a:pt x="29740" y="185105"/>
                  </a:lnTo>
                  <a:lnTo>
                    <a:pt x="51552" y="145761"/>
                  </a:lnTo>
                  <a:lnTo>
                    <a:pt x="78490" y="110057"/>
                  </a:lnTo>
                  <a:lnTo>
                    <a:pt x="110057" y="78490"/>
                  </a:lnTo>
                  <a:lnTo>
                    <a:pt x="145761" y="51552"/>
                  </a:lnTo>
                  <a:lnTo>
                    <a:pt x="185105" y="29740"/>
                  </a:lnTo>
                  <a:lnTo>
                    <a:pt x="227596" y="13547"/>
                  </a:lnTo>
                  <a:lnTo>
                    <a:pt x="272739" y="3469"/>
                  </a:lnTo>
                  <a:lnTo>
                    <a:pt x="320039" y="0"/>
                  </a:lnTo>
                  <a:lnTo>
                    <a:pt x="367340" y="3469"/>
                  </a:lnTo>
                  <a:lnTo>
                    <a:pt x="412483" y="13547"/>
                  </a:lnTo>
                  <a:lnTo>
                    <a:pt x="454974" y="29740"/>
                  </a:lnTo>
                  <a:lnTo>
                    <a:pt x="494318" y="51552"/>
                  </a:lnTo>
                  <a:lnTo>
                    <a:pt x="530022" y="78490"/>
                  </a:lnTo>
                  <a:lnTo>
                    <a:pt x="561589" y="110057"/>
                  </a:lnTo>
                  <a:lnTo>
                    <a:pt x="588527" y="145761"/>
                  </a:lnTo>
                  <a:lnTo>
                    <a:pt x="610339" y="185105"/>
                  </a:lnTo>
                  <a:lnTo>
                    <a:pt x="626532" y="227596"/>
                  </a:lnTo>
                  <a:lnTo>
                    <a:pt x="636610" y="272739"/>
                  </a:lnTo>
                  <a:lnTo>
                    <a:pt x="640079" y="320040"/>
                  </a:lnTo>
                  <a:lnTo>
                    <a:pt x="636610" y="367340"/>
                  </a:lnTo>
                  <a:lnTo>
                    <a:pt x="626532" y="412483"/>
                  </a:lnTo>
                  <a:lnTo>
                    <a:pt x="610339" y="454974"/>
                  </a:lnTo>
                  <a:lnTo>
                    <a:pt x="588527" y="494318"/>
                  </a:lnTo>
                  <a:lnTo>
                    <a:pt x="561589" y="530022"/>
                  </a:lnTo>
                  <a:lnTo>
                    <a:pt x="530022" y="561589"/>
                  </a:lnTo>
                  <a:lnTo>
                    <a:pt x="494318" y="588527"/>
                  </a:lnTo>
                  <a:lnTo>
                    <a:pt x="454974" y="610339"/>
                  </a:lnTo>
                  <a:lnTo>
                    <a:pt x="412483" y="626532"/>
                  </a:lnTo>
                  <a:lnTo>
                    <a:pt x="367340" y="636610"/>
                  </a:lnTo>
                  <a:lnTo>
                    <a:pt x="320039" y="640080"/>
                  </a:lnTo>
                  <a:lnTo>
                    <a:pt x="272739" y="636610"/>
                  </a:lnTo>
                  <a:lnTo>
                    <a:pt x="227596" y="626532"/>
                  </a:lnTo>
                  <a:lnTo>
                    <a:pt x="185105" y="610339"/>
                  </a:lnTo>
                  <a:lnTo>
                    <a:pt x="145761" y="588527"/>
                  </a:lnTo>
                  <a:lnTo>
                    <a:pt x="110057" y="561589"/>
                  </a:lnTo>
                  <a:lnTo>
                    <a:pt x="78490" y="530022"/>
                  </a:lnTo>
                  <a:lnTo>
                    <a:pt x="51552" y="494318"/>
                  </a:lnTo>
                  <a:lnTo>
                    <a:pt x="29740" y="454974"/>
                  </a:lnTo>
                  <a:lnTo>
                    <a:pt x="13547" y="412483"/>
                  </a:lnTo>
                  <a:lnTo>
                    <a:pt x="3469" y="367340"/>
                  </a:lnTo>
                  <a:lnTo>
                    <a:pt x="0" y="320040"/>
                  </a:lnTo>
                  <a:close/>
                </a:path>
              </a:pathLst>
            </a:custGeom>
            <a:ln w="12700">
              <a:solidFill>
                <a:srgbClr val="0FB88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7" name="object 37"/>
          <p:cNvSpPr txBox="1"/>
          <p:nvPr/>
        </p:nvSpPr>
        <p:spPr>
          <a:xfrm>
            <a:off x="4626864" y="2907792"/>
            <a:ext cx="2057400" cy="1719580"/>
          </a:xfrm>
          <a:prstGeom prst="rect">
            <a:avLst/>
          </a:prstGeom>
          <a:ln w="15240">
            <a:solidFill>
              <a:srgbClr val="0FB881"/>
            </a:solidFill>
          </a:ln>
        </p:spPr>
        <p:txBody>
          <a:bodyPr vert="horz" wrap="square" lIns="0" tIns="269240" rIns="0" bIns="0" rtlCol="0">
            <a:spAutoFit/>
          </a:bodyPr>
          <a:lstStyle/>
          <a:p>
            <a:pPr marL="10160" algn="ctr">
              <a:lnSpc>
                <a:spcPct val="100000"/>
              </a:lnSpc>
              <a:spcBef>
                <a:spcPts val="2120"/>
              </a:spcBef>
            </a:pPr>
            <a:r>
              <a:rPr sz="2000" b="1" spc="-50" dirty="0">
                <a:solidFill>
                  <a:srgbClr val="FFFFFF"/>
                </a:solidFill>
                <a:latin typeface="Times New Roman"/>
                <a:cs typeface="Times New Roman"/>
              </a:rPr>
              <a:t>7</a:t>
            </a:r>
            <a:endParaRPr sz="2000">
              <a:latin typeface="Times New Roman"/>
              <a:cs typeface="Times New Roman"/>
            </a:endParaRPr>
          </a:p>
          <a:p>
            <a:pPr marL="7620" algn="ctr">
              <a:lnSpc>
                <a:spcPct val="100000"/>
              </a:lnSpc>
              <a:spcBef>
                <a:spcPts val="2290"/>
              </a:spcBef>
            </a:pPr>
            <a:r>
              <a:rPr sz="1200" b="1" spc="-10" dirty="0">
                <a:solidFill>
                  <a:srgbClr val="0FB881"/>
                </a:solidFill>
                <a:latin typeface="Times New Roman"/>
                <a:cs typeface="Times New Roman"/>
              </a:rPr>
              <a:t>Transaction</a:t>
            </a:r>
            <a:r>
              <a:rPr sz="1200" b="1" spc="-40" dirty="0">
                <a:solidFill>
                  <a:srgbClr val="0FB881"/>
                </a:solidFill>
                <a:latin typeface="Times New Roman"/>
                <a:cs typeface="Times New Roman"/>
              </a:rPr>
              <a:t> </a:t>
            </a:r>
            <a:r>
              <a:rPr sz="1200" b="1" spc="-10" dirty="0">
                <a:solidFill>
                  <a:srgbClr val="0FB881"/>
                </a:solidFill>
                <a:latin typeface="Times New Roman"/>
                <a:cs typeface="Times New Roman"/>
              </a:rPr>
              <a:t>Committed</a:t>
            </a:r>
            <a:endParaRPr sz="1200">
              <a:latin typeface="Times New Roman"/>
              <a:cs typeface="Times New Roman"/>
            </a:endParaRPr>
          </a:p>
          <a:p>
            <a:pPr marL="138430" marR="127000" indent="-5080" algn="just">
              <a:lnSpc>
                <a:spcPct val="100000"/>
              </a:lnSpc>
              <a:spcBef>
                <a:spcPts val="880"/>
              </a:spcBef>
            </a:pPr>
            <a:r>
              <a:rPr sz="950" dirty="0">
                <a:solidFill>
                  <a:srgbClr val="93A2B8"/>
                </a:solidFill>
                <a:latin typeface="Times New Roman"/>
                <a:cs typeface="Times New Roman"/>
              </a:rPr>
              <a:t>All</a:t>
            </a:r>
            <a:r>
              <a:rPr sz="950" spc="-20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950" dirty="0">
                <a:solidFill>
                  <a:srgbClr val="93A2B8"/>
                </a:solidFill>
                <a:latin typeface="Times New Roman"/>
                <a:cs typeface="Times New Roman"/>
              </a:rPr>
              <a:t>DB</a:t>
            </a:r>
            <a:r>
              <a:rPr sz="950" spc="-20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950" dirty="0">
                <a:solidFill>
                  <a:srgbClr val="93A2B8"/>
                </a:solidFill>
                <a:latin typeface="Times New Roman"/>
                <a:cs typeface="Times New Roman"/>
              </a:rPr>
              <a:t>writes</a:t>
            </a:r>
            <a:r>
              <a:rPr sz="950" spc="-10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950" dirty="0">
                <a:solidFill>
                  <a:srgbClr val="93A2B8"/>
                </a:solidFill>
                <a:latin typeface="Times New Roman"/>
                <a:cs typeface="Times New Roman"/>
              </a:rPr>
              <a:t>committed</a:t>
            </a:r>
            <a:r>
              <a:rPr sz="950" spc="-20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950" spc="-10" dirty="0">
                <a:solidFill>
                  <a:srgbClr val="93A2B8"/>
                </a:solidFill>
                <a:latin typeface="Times New Roman"/>
                <a:cs typeface="Times New Roman"/>
              </a:rPr>
              <a:t>atomically. </a:t>
            </a:r>
            <a:r>
              <a:rPr sz="950" dirty="0">
                <a:solidFill>
                  <a:srgbClr val="93A2B8"/>
                </a:solidFill>
                <a:latin typeface="Times New Roman"/>
                <a:cs typeface="Times New Roman"/>
              </a:rPr>
              <a:t>If</a:t>
            </a:r>
            <a:r>
              <a:rPr sz="950" spc="-15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950" dirty="0">
                <a:solidFill>
                  <a:srgbClr val="93A2B8"/>
                </a:solidFill>
                <a:latin typeface="Times New Roman"/>
                <a:cs typeface="Times New Roman"/>
              </a:rPr>
              <a:t>any</a:t>
            </a:r>
            <a:r>
              <a:rPr sz="950" spc="-25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950" dirty="0">
                <a:solidFill>
                  <a:srgbClr val="93A2B8"/>
                </a:solidFill>
                <a:latin typeface="Times New Roman"/>
                <a:cs typeface="Times New Roman"/>
              </a:rPr>
              <a:t>step</a:t>
            </a:r>
            <a:r>
              <a:rPr sz="950" spc="-15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950" dirty="0">
                <a:solidFill>
                  <a:srgbClr val="93A2B8"/>
                </a:solidFill>
                <a:latin typeface="Times New Roman"/>
                <a:cs typeface="Times New Roman"/>
              </a:rPr>
              <a:t>threw</a:t>
            </a:r>
            <a:r>
              <a:rPr sz="950" spc="-20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950" spc="-10" dirty="0">
                <a:solidFill>
                  <a:srgbClr val="93A2B8"/>
                </a:solidFill>
                <a:latin typeface="Times New Roman"/>
                <a:cs typeface="Times New Roman"/>
              </a:rPr>
              <a:t>RuntimeException, </a:t>
            </a:r>
            <a:r>
              <a:rPr sz="950" dirty="0">
                <a:solidFill>
                  <a:srgbClr val="93A2B8"/>
                </a:solidFill>
                <a:latin typeface="Times New Roman"/>
                <a:cs typeface="Times New Roman"/>
              </a:rPr>
              <a:t>full</a:t>
            </a:r>
            <a:r>
              <a:rPr sz="950" spc="-40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950" dirty="0">
                <a:solidFill>
                  <a:srgbClr val="93A2B8"/>
                </a:solidFill>
                <a:latin typeface="Times New Roman"/>
                <a:cs typeface="Times New Roman"/>
              </a:rPr>
              <a:t>rollback</a:t>
            </a:r>
            <a:r>
              <a:rPr sz="950" spc="-25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950" dirty="0">
                <a:solidFill>
                  <a:srgbClr val="93A2B8"/>
                </a:solidFill>
                <a:latin typeface="Times New Roman"/>
                <a:cs typeface="Times New Roman"/>
              </a:rPr>
              <a:t>would</a:t>
            </a:r>
            <a:r>
              <a:rPr sz="950" spc="-20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950" dirty="0">
                <a:solidFill>
                  <a:srgbClr val="93A2B8"/>
                </a:solidFill>
                <a:latin typeface="Times New Roman"/>
                <a:cs typeface="Times New Roman"/>
              </a:rPr>
              <a:t>have</a:t>
            </a:r>
            <a:r>
              <a:rPr sz="950" spc="-5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950" spc="-10" dirty="0">
                <a:solidFill>
                  <a:srgbClr val="93A2B8"/>
                </a:solidFill>
                <a:latin typeface="Times New Roman"/>
                <a:cs typeface="Times New Roman"/>
              </a:rPr>
              <a:t>occurred.</a:t>
            </a:r>
            <a:endParaRPr sz="950">
              <a:latin typeface="Times New Roman"/>
              <a:cs typeface="Times New Roman"/>
            </a:endParaRPr>
          </a:p>
        </p:txBody>
      </p:sp>
      <p:grpSp>
        <p:nvGrpSpPr>
          <p:cNvPr id="38" name="object 38"/>
          <p:cNvGrpSpPr/>
          <p:nvPr/>
        </p:nvGrpSpPr>
        <p:grpSpPr>
          <a:xfrm>
            <a:off x="6848856" y="2907792"/>
            <a:ext cx="2057400" cy="1719580"/>
            <a:chOff x="6848856" y="2907792"/>
            <a:chExt cx="2057400" cy="1719580"/>
          </a:xfrm>
        </p:grpSpPr>
        <p:sp>
          <p:nvSpPr>
            <p:cNvPr id="39" name="object 39"/>
            <p:cNvSpPr/>
            <p:nvPr/>
          </p:nvSpPr>
          <p:spPr>
            <a:xfrm>
              <a:off x="6848856" y="2907792"/>
              <a:ext cx="2057400" cy="1719580"/>
            </a:xfrm>
            <a:custGeom>
              <a:avLst/>
              <a:gdLst/>
              <a:ahLst/>
              <a:cxnLst/>
              <a:rect l="l" t="t" r="r" b="b"/>
              <a:pathLst>
                <a:path w="2057400" h="1719579">
                  <a:moveTo>
                    <a:pt x="2057400" y="0"/>
                  </a:moveTo>
                  <a:lnTo>
                    <a:pt x="0" y="0"/>
                  </a:lnTo>
                  <a:lnTo>
                    <a:pt x="0" y="1719072"/>
                  </a:lnTo>
                  <a:lnTo>
                    <a:pt x="2057400" y="1719072"/>
                  </a:lnTo>
                  <a:lnTo>
                    <a:pt x="2057400" y="0"/>
                  </a:lnTo>
                  <a:close/>
                </a:path>
              </a:pathLst>
            </a:custGeom>
            <a:solidFill>
              <a:srgbClr val="1B2A3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7562088" y="3017520"/>
              <a:ext cx="640080" cy="640080"/>
            </a:xfrm>
            <a:custGeom>
              <a:avLst/>
              <a:gdLst/>
              <a:ahLst/>
              <a:cxnLst/>
              <a:rect l="l" t="t" r="r" b="b"/>
              <a:pathLst>
                <a:path w="640079" h="640079">
                  <a:moveTo>
                    <a:pt x="320039" y="0"/>
                  </a:moveTo>
                  <a:lnTo>
                    <a:pt x="272739" y="3469"/>
                  </a:lnTo>
                  <a:lnTo>
                    <a:pt x="227596" y="13547"/>
                  </a:lnTo>
                  <a:lnTo>
                    <a:pt x="185105" y="29740"/>
                  </a:lnTo>
                  <a:lnTo>
                    <a:pt x="145761" y="51552"/>
                  </a:lnTo>
                  <a:lnTo>
                    <a:pt x="110057" y="78490"/>
                  </a:lnTo>
                  <a:lnTo>
                    <a:pt x="78490" y="110057"/>
                  </a:lnTo>
                  <a:lnTo>
                    <a:pt x="51552" y="145761"/>
                  </a:lnTo>
                  <a:lnTo>
                    <a:pt x="29740" y="185105"/>
                  </a:lnTo>
                  <a:lnTo>
                    <a:pt x="13547" y="227596"/>
                  </a:lnTo>
                  <a:lnTo>
                    <a:pt x="3469" y="272739"/>
                  </a:lnTo>
                  <a:lnTo>
                    <a:pt x="0" y="320040"/>
                  </a:lnTo>
                  <a:lnTo>
                    <a:pt x="3469" y="367340"/>
                  </a:lnTo>
                  <a:lnTo>
                    <a:pt x="13547" y="412483"/>
                  </a:lnTo>
                  <a:lnTo>
                    <a:pt x="29740" y="454974"/>
                  </a:lnTo>
                  <a:lnTo>
                    <a:pt x="51552" y="494318"/>
                  </a:lnTo>
                  <a:lnTo>
                    <a:pt x="78490" y="530022"/>
                  </a:lnTo>
                  <a:lnTo>
                    <a:pt x="110057" y="561589"/>
                  </a:lnTo>
                  <a:lnTo>
                    <a:pt x="145761" y="588527"/>
                  </a:lnTo>
                  <a:lnTo>
                    <a:pt x="185105" y="610339"/>
                  </a:lnTo>
                  <a:lnTo>
                    <a:pt x="227596" y="626532"/>
                  </a:lnTo>
                  <a:lnTo>
                    <a:pt x="272739" y="636610"/>
                  </a:lnTo>
                  <a:lnTo>
                    <a:pt x="320039" y="640080"/>
                  </a:lnTo>
                  <a:lnTo>
                    <a:pt x="367340" y="636610"/>
                  </a:lnTo>
                  <a:lnTo>
                    <a:pt x="412483" y="626532"/>
                  </a:lnTo>
                  <a:lnTo>
                    <a:pt x="454974" y="610339"/>
                  </a:lnTo>
                  <a:lnTo>
                    <a:pt x="494318" y="588527"/>
                  </a:lnTo>
                  <a:lnTo>
                    <a:pt x="530022" y="561589"/>
                  </a:lnTo>
                  <a:lnTo>
                    <a:pt x="561589" y="530022"/>
                  </a:lnTo>
                  <a:lnTo>
                    <a:pt x="588527" y="494318"/>
                  </a:lnTo>
                  <a:lnTo>
                    <a:pt x="610339" y="454974"/>
                  </a:lnTo>
                  <a:lnTo>
                    <a:pt x="626532" y="412483"/>
                  </a:lnTo>
                  <a:lnTo>
                    <a:pt x="636610" y="367340"/>
                  </a:lnTo>
                  <a:lnTo>
                    <a:pt x="640079" y="320040"/>
                  </a:lnTo>
                  <a:lnTo>
                    <a:pt x="636610" y="272739"/>
                  </a:lnTo>
                  <a:lnTo>
                    <a:pt x="626532" y="227596"/>
                  </a:lnTo>
                  <a:lnTo>
                    <a:pt x="610339" y="185105"/>
                  </a:lnTo>
                  <a:lnTo>
                    <a:pt x="588527" y="145761"/>
                  </a:lnTo>
                  <a:lnTo>
                    <a:pt x="561589" y="110057"/>
                  </a:lnTo>
                  <a:lnTo>
                    <a:pt x="530022" y="78490"/>
                  </a:lnTo>
                  <a:lnTo>
                    <a:pt x="494318" y="51552"/>
                  </a:lnTo>
                  <a:lnTo>
                    <a:pt x="454974" y="29740"/>
                  </a:lnTo>
                  <a:lnTo>
                    <a:pt x="412483" y="13547"/>
                  </a:lnTo>
                  <a:lnTo>
                    <a:pt x="367340" y="3469"/>
                  </a:lnTo>
                  <a:lnTo>
                    <a:pt x="320039" y="0"/>
                  </a:lnTo>
                  <a:close/>
                </a:path>
              </a:pathLst>
            </a:custGeom>
            <a:solidFill>
              <a:srgbClr val="0891B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7562088" y="3017520"/>
              <a:ext cx="640080" cy="640080"/>
            </a:xfrm>
            <a:custGeom>
              <a:avLst/>
              <a:gdLst/>
              <a:ahLst/>
              <a:cxnLst/>
              <a:rect l="l" t="t" r="r" b="b"/>
              <a:pathLst>
                <a:path w="640079" h="640079">
                  <a:moveTo>
                    <a:pt x="0" y="320040"/>
                  </a:moveTo>
                  <a:lnTo>
                    <a:pt x="3469" y="272739"/>
                  </a:lnTo>
                  <a:lnTo>
                    <a:pt x="13547" y="227596"/>
                  </a:lnTo>
                  <a:lnTo>
                    <a:pt x="29740" y="185105"/>
                  </a:lnTo>
                  <a:lnTo>
                    <a:pt x="51552" y="145761"/>
                  </a:lnTo>
                  <a:lnTo>
                    <a:pt x="78490" y="110057"/>
                  </a:lnTo>
                  <a:lnTo>
                    <a:pt x="110057" y="78490"/>
                  </a:lnTo>
                  <a:lnTo>
                    <a:pt x="145761" y="51552"/>
                  </a:lnTo>
                  <a:lnTo>
                    <a:pt x="185105" y="29740"/>
                  </a:lnTo>
                  <a:lnTo>
                    <a:pt x="227596" y="13547"/>
                  </a:lnTo>
                  <a:lnTo>
                    <a:pt x="272739" y="3469"/>
                  </a:lnTo>
                  <a:lnTo>
                    <a:pt x="320039" y="0"/>
                  </a:lnTo>
                  <a:lnTo>
                    <a:pt x="367340" y="3469"/>
                  </a:lnTo>
                  <a:lnTo>
                    <a:pt x="412483" y="13547"/>
                  </a:lnTo>
                  <a:lnTo>
                    <a:pt x="454974" y="29740"/>
                  </a:lnTo>
                  <a:lnTo>
                    <a:pt x="494318" y="51552"/>
                  </a:lnTo>
                  <a:lnTo>
                    <a:pt x="530022" y="78490"/>
                  </a:lnTo>
                  <a:lnTo>
                    <a:pt x="561589" y="110057"/>
                  </a:lnTo>
                  <a:lnTo>
                    <a:pt x="588527" y="145761"/>
                  </a:lnTo>
                  <a:lnTo>
                    <a:pt x="610339" y="185105"/>
                  </a:lnTo>
                  <a:lnTo>
                    <a:pt x="626532" y="227596"/>
                  </a:lnTo>
                  <a:lnTo>
                    <a:pt x="636610" y="272739"/>
                  </a:lnTo>
                  <a:lnTo>
                    <a:pt x="640079" y="320040"/>
                  </a:lnTo>
                  <a:lnTo>
                    <a:pt x="636610" y="367340"/>
                  </a:lnTo>
                  <a:lnTo>
                    <a:pt x="626532" y="412483"/>
                  </a:lnTo>
                  <a:lnTo>
                    <a:pt x="610339" y="454974"/>
                  </a:lnTo>
                  <a:lnTo>
                    <a:pt x="588527" y="494318"/>
                  </a:lnTo>
                  <a:lnTo>
                    <a:pt x="561589" y="530022"/>
                  </a:lnTo>
                  <a:lnTo>
                    <a:pt x="530022" y="561589"/>
                  </a:lnTo>
                  <a:lnTo>
                    <a:pt x="494318" y="588527"/>
                  </a:lnTo>
                  <a:lnTo>
                    <a:pt x="454974" y="610339"/>
                  </a:lnTo>
                  <a:lnTo>
                    <a:pt x="412483" y="626532"/>
                  </a:lnTo>
                  <a:lnTo>
                    <a:pt x="367340" y="636610"/>
                  </a:lnTo>
                  <a:lnTo>
                    <a:pt x="320039" y="640080"/>
                  </a:lnTo>
                  <a:lnTo>
                    <a:pt x="272739" y="636610"/>
                  </a:lnTo>
                  <a:lnTo>
                    <a:pt x="227596" y="626532"/>
                  </a:lnTo>
                  <a:lnTo>
                    <a:pt x="185105" y="610339"/>
                  </a:lnTo>
                  <a:lnTo>
                    <a:pt x="145761" y="588527"/>
                  </a:lnTo>
                  <a:lnTo>
                    <a:pt x="110057" y="561589"/>
                  </a:lnTo>
                  <a:lnTo>
                    <a:pt x="78490" y="530022"/>
                  </a:lnTo>
                  <a:lnTo>
                    <a:pt x="51552" y="494318"/>
                  </a:lnTo>
                  <a:lnTo>
                    <a:pt x="29740" y="454974"/>
                  </a:lnTo>
                  <a:lnTo>
                    <a:pt x="13547" y="412483"/>
                  </a:lnTo>
                  <a:lnTo>
                    <a:pt x="3469" y="367340"/>
                  </a:lnTo>
                  <a:lnTo>
                    <a:pt x="0" y="320040"/>
                  </a:lnTo>
                  <a:close/>
                </a:path>
              </a:pathLst>
            </a:custGeom>
            <a:ln w="12700">
              <a:solidFill>
                <a:srgbClr val="0891B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2" name="object 42"/>
          <p:cNvSpPr txBox="1"/>
          <p:nvPr/>
        </p:nvSpPr>
        <p:spPr>
          <a:xfrm>
            <a:off x="6848856" y="2907792"/>
            <a:ext cx="2057400" cy="1719580"/>
          </a:xfrm>
          <a:prstGeom prst="rect">
            <a:avLst/>
          </a:prstGeom>
          <a:ln w="15240">
            <a:solidFill>
              <a:srgbClr val="0891B1"/>
            </a:solidFill>
          </a:ln>
        </p:spPr>
        <p:txBody>
          <a:bodyPr vert="horz" wrap="square" lIns="0" tIns="269240" rIns="0" bIns="0" rtlCol="0">
            <a:spAutoFit/>
          </a:bodyPr>
          <a:lstStyle/>
          <a:p>
            <a:pPr marL="10795" algn="ctr">
              <a:lnSpc>
                <a:spcPct val="100000"/>
              </a:lnSpc>
              <a:spcBef>
                <a:spcPts val="2120"/>
              </a:spcBef>
            </a:pPr>
            <a:r>
              <a:rPr sz="2000" b="1" spc="-50" dirty="0">
                <a:solidFill>
                  <a:srgbClr val="FFFFFF"/>
                </a:solidFill>
                <a:latin typeface="Times New Roman"/>
                <a:cs typeface="Times New Roman"/>
              </a:rPr>
              <a:t>8</a:t>
            </a:r>
            <a:endParaRPr sz="2000">
              <a:latin typeface="Times New Roman"/>
              <a:cs typeface="Times New Roman"/>
            </a:endParaRPr>
          </a:p>
          <a:p>
            <a:pPr marL="7620" algn="ctr">
              <a:lnSpc>
                <a:spcPct val="100000"/>
              </a:lnSpc>
              <a:spcBef>
                <a:spcPts val="2290"/>
              </a:spcBef>
            </a:pPr>
            <a:r>
              <a:rPr sz="1200" b="1" dirty="0">
                <a:solidFill>
                  <a:srgbClr val="0891B1"/>
                </a:solidFill>
                <a:latin typeface="Times New Roman"/>
                <a:cs typeface="Times New Roman"/>
              </a:rPr>
              <a:t>Response</a:t>
            </a:r>
            <a:r>
              <a:rPr sz="1200" b="1" spc="-65" dirty="0">
                <a:solidFill>
                  <a:srgbClr val="0891B1"/>
                </a:solidFill>
                <a:latin typeface="Times New Roman"/>
                <a:cs typeface="Times New Roman"/>
              </a:rPr>
              <a:t> </a:t>
            </a:r>
            <a:r>
              <a:rPr sz="1200" b="1" spc="-10" dirty="0">
                <a:solidFill>
                  <a:srgbClr val="0891B1"/>
                </a:solidFill>
                <a:latin typeface="Times New Roman"/>
                <a:cs typeface="Times New Roman"/>
              </a:rPr>
              <a:t>Rendered</a:t>
            </a:r>
            <a:endParaRPr sz="1200">
              <a:latin typeface="Times New Roman"/>
              <a:cs typeface="Times New Roman"/>
            </a:endParaRPr>
          </a:p>
          <a:p>
            <a:pPr marL="106680" marR="99060" algn="ctr">
              <a:lnSpc>
                <a:spcPct val="100000"/>
              </a:lnSpc>
              <a:spcBef>
                <a:spcPts val="310"/>
              </a:spcBef>
            </a:pPr>
            <a:r>
              <a:rPr sz="950" dirty="0">
                <a:solidFill>
                  <a:srgbClr val="93A2B8"/>
                </a:solidFill>
                <a:latin typeface="Times New Roman"/>
                <a:cs typeface="Times New Roman"/>
              </a:rPr>
              <a:t>Controller</a:t>
            </a:r>
            <a:r>
              <a:rPr sz="950" spc="-45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950" dirty="0">
                <a:solidFill>
                  <a:srgbClr val="93A2B8"/>
                </a:solidFill>
                <a:latin typeface="Times New Roman"/>
                <a:cs typeface="Times New Roman"/>
              </a:rPr>
              <a:t>adds</a:t>
            </a:r>
            <a:r>
              <a:rPr sz="950" spc="-45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950" dirty="0">
                <a:solidFill>
                  <a:srgbClr val="93A2B8"/>
                </a:solidFill>
                <a:latin typeface="Times New Roman"/>
                <a:cs typeface="Times New Roman"/>
              </a:rPr>
              <a:t>success</a:t>
            </a:r>
            <a:r>
              <a:rPr sz="950" spc="-10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950" dirty="0">
                <a:solidFill>
                  <a:srgbClr val="93A2B8"/>
                </a:solidFill>
                <a:latin typeface="Times New Roman"/>
                <a:cs typeface="Times New Roman"/>
              </a:rPr>
              <a:t>flash</a:t>
            </a:r>
            <a:r>
              <a:rPr sz="950" spc="-35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950" spc="-10" dirty="0">
                <a:solidFill>
                  <a:srgbClr val="93A2B8"/>
                </a:solidFill>
                <a:latin typeface="Times New Roman"/>
                <a:cs typeface="Times New Roman"/>
              </a:rPr>
              <a:t>message </a:t>
            </a:r>
            <a:r>
              <a:rPr sz="950" dirty="0">
                <a:solidFill>
                  <a:srgbClr val="93A2B8"/>
                </a:solidFill>
                <a:latin typeface="Times New Roman"/>
                <a:cs typeface="Times New Roman"/>
              </a:rPr>
              <a:t>via</a:t>
            </a:r>
            <a:r>
              <a:rPr sz="950" spc="25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950" spc="-10" dirty="0">
                <a:solidFill>
                  <a:srgbClr val="93A2B8"/>
                </a:solidFill>
                <a:latin typeface="Times New Roman"/>
                <a:cs typeface="Times New Roman"/>
              </a:rPr>
              <a:t>RedirectAttributes,</a:t>
            </a:r>
            <a:r>
              <a:rPr sz="950" spc="20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950" dirty="0">
                <a:solidFill>
                  <a:srgbClr val="93A2B8"/>
                </a:solidFill>
                <a:latin typeface="Times New Roman"/>
                <a:cs typeface="Times New Roman"/>
              </a:rPr>
              <a:t>redirects</a:t>
            </a:r>
            <a:r>
              <a:rPr sz="950" spc="20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950" spc="-25" dirty="0">
                <a:solidFill>
                  <a:srgbClr val="93A2B8"/>
                </a:solidFill>
                <a:latin typeface="Times New Roman"/>
                <a:cs typeface="Times New Roman"/>
              </a:rPr>
              <a:t>to</a:t>
            </a:r>
            <a:endParaRPr sz="950">
              <a:latin typeface="Times New Roman"/>
              <a:cs typeface="Times New Roman"/>
            </a:endParaRPr>
          </a:p>
          <a:p>
            <a:pPr marL="109855" marR="104139" algn="ctr">
              <a:lnSpc>
                <a:spcPct val="100000"/>
              </a:lnSpc>
            </a:pPr>
            <a:r>
              <a:rPr sz="950" dirty="0">
                <a:solidFill>
                  <a:srgbClr val="93A2B8"/>
                </a:solidFill>
                <a:latin typeface="Times New Roman"/>
                <a:cs typeface="Times New Roman"/>
              </a:rPr>
              <a:t>/orders</a:t>
            </a:r>
            <a:r>
              <a:rPr sz="950" spc="-40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950" dirty="0">
                <a:solidFill>
                  <a:srgbClr val="93A2B8"/>
                </a:solidFill>
                <a:latin typeface="Times New Roman"/>
                <a:cs typeface="Times New Roman"/>
              </a:rPr>
              <a:t>—</a:t>
            </a:r>
            <a:r>
              <a:rPr sz="950" spc="-40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950" dirty="0">
                <a:solidFill>
                  <a:srgbClr val="93A2B8"/>
                </a:solidFill>
                <a:latin typeface="Times New Roman"/>
                <a:cs typeface="Times New Roman"/>
              </a:rPr>
              <a:t>Thymeleaf</a:t>
            </a:r>
            <a:r>
              <a:rPr sz="950" spc="-5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950" dirty="0">
                <a:solidFill>
                  <a:srgbClr val="93A2B8"/>
                </a:solidFill>
                <a:latin typeface="Times New Roman"/>
                <a:cs typeface="Times New Roman"/>
              </a:rPr>
              <a:t>renders</a:t>
            </a:r>
            <a:r>
              <a:rPr sz="950" spc="-40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950" spc="-10" dirty="0">
                <a:solidFill>
                  <a:srgbClr val="93A2B8"/>
                </a:solidFill>
                <a:latin typeface="Times New Roman"/>
                <a:cs typeface="Times New Roman"/>
              </a:rPr>
              <a:t>updated </a:t>
            </a:r>
            <a:r>
              <a:rPr sz="950" dirty="0">
                <a:solidFill>
                  <a:srgbClr val="93A2B8"/>
                </a:solidFill>
                <a:latin typeface="Times New Roman"/>
                <a:cs typeface="Times New Roman"/>
              </a:rPr>
              <a:t>order</a:t>
            </a:r>
            <a:r>
              <a:rPr sz="950" spc="-35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950" spc="-10" dirty="0">
                <a:solidFill>
                  <a:srgbClr val="93A2B8"/>
                </a:solidFill>
                <a:latin typeface="Times New Roman"/>
                <a:cs typeface="Times New Roman"/>
              </a:rPr>
              <a:t>list.</a:t>
            </a:r>
            <a:endParaRPr sz="9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Why</a:t>
            </a:r>
            <a:r>
              <a:rPr spc="-45" dirty="0"/>
              <a:t> </a:t>
            </a:r>
            <a:r>
              <a:rPr dirty="0"/>
              <a:t>This</a:t>
            </a:r>
            <a:r>
              <a:rPr spc="-30" dirty="0"/>
              <a:t> </a:t>
            </a:r>
            <a:r>
              <a:rPr spc="-10" dirty="0"/>
              <a:t>Approach?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44500" y="670305"/>
            <a:ext cx="2207260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i="1" dirty="0">
                <a:solidFill>
                  <a:srgbClr val="0891B1"/>
                </a:solidFill>
                <a:latin typeface="Times New Roman"/>
                <a:cs typeface="Times New Roman"/>
              </a:rPr>
              <a:t>Design</a:t>
            </a:r>
            <a:r>
              <a:rPr sz="1300" i="1" spc="-40" dirty="0">
                <a:solidFill>
                  <a:srgbClr val="0891B1"/>
                </a:solidFill>
                <a:latin typeface="Times New Roman"/>
                <a:cs typeface="Times New Roman"/>
              </a:rPr>
              <a:t> </a:t>
            </a:r>
            <a:r>
              <a:rPr sz="1300" i="1" dirty="0">
                <a:solidFill>
                  <a:srgbClr val="0891B1"/>
                </a:solidFill>
                <a:latin typeface="Times New Roman"/>
                <a:cs typeface="Times New Roman"/>
              </a:rPr>
              <a:t>Decisions</a:t>
            </a:r>
            <a:r>
              <a:rPr sz="1300" i="1" spc="-35" dirty="0">
                <a:solidFill>
                  <a:srgbClr val="0891B1"/>
                </a:solidFill>
                <a:latin typeface="Times New Roman"/>
                <a:cs typeface="Times New Roman"/>
              </a:rPr>
              <a:t> </a:t>
            </a:r>
            <a:r>
              <a:rPr sz="1300" i="1" dirty="0">
                <a:solidFill>
                  <a:srgbClr val="0891B1"/>
                </a:solidFill>
                <a:latin typeface="Times New Roman"/>
                <a:cs typeface="Times New Roman"/>
              </a:rPr>
              <a:t>&amp;</a:t>
            </a:r>
            <a:r>
              <a:rPr sz="1300" i="1" spc="-30" dirty="0">
                <a:solidFill>
                  <a:srgbClr val="0891B1"/>
                </a:solidFill>
                <a:latin typeface="Times New Roman"/>
                <a:cs typeface="Times New Roman"/>
              </a:rPr>
              <a:t> </a:t>
            </a:r>
            <a:r>
              <a:rPr sz="1300" i="1" spc="-10" dirty="0">
                <a:solidFill>
                  <a:srgbClr val="0891B1"/>
                </a:solidFill>
                <a:latin typeface="Times New Roman"/>
                <a:cs typeface="Times New Roman"/>
              </a:rPr>
              <a:t>Justification</a:t>
            </a:r>
            <a:endParaRPr sz="1300">
              <a:latin typeface="Times New Roman"/>
              <a:cs typeface="Times New Roman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37160" y="877785"/>
            <a:ext cx="8808085" cy="962660"/>
            <a:chOff x="137160" y="877785"/>
            <a:chExt cx="8808085" cy="96266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7160" y="877785"/>
              <a:ext cx="8807958" cy="962444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329184" y="960119"/>
              <a:ext cx="8540750" cy="749935"/>
            </a:xfrm>
            <a:custGeom>
              <a:avLst/>
              <a:gdLst/>
              <a:ahLst/>
              <a:cxnLst/>
              <a:rect l="l" t="t" r="r" b="b"/>
              <a:pathLst>
                <a:path w="8540750" h="749935">
                  <a:moveTo>
                    <a:pt x="0" y="749808"/>
                  </a:moveTo>
                  <a:lnTo>
                    <a:pt x="8540496" y="749808"/>
                  </a:lnTo>
                  <a:lnTo>
                    <a:pt x="8540496" y="0"/>
                  </a:lnTo>
                  <a:lnTo>
                    <a:pt x="0" y="0"/>
                  </a:lnTo>
                  <a:lnTo>
                    <a:pt x="0" y="74980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74320" y="960119"/>
              <a:ext cx="8595360" cy="749935"/>
            </a:xfrm>
            <a:custGeom>
              <a:avLst/>
              <a:gdLst/>
              <a:ahLst/>
              <a:cxnLst/>
              <a:rect l="l" t="t" r="r" b="b"/>
              <a:pathLst>
                <a:path w="8595360" h="749935">
                  <a:moveTo>
                    <a:pt x="0" y="749808"/>
                  </a:moveTo>
                  <a:lnTo>
                    <a:pt x="8595360" y="749808"/>
                  </a:lnTo>
                  <a:lnTo>
                    <a:pt x="8595360" y="0"/>
                  </a:lnTo>
                  <a:lnTo>
                    <a:pt x="0" y="0"/>
                  </a:lnTo>
                  <a:lnTo>
                    <a:pt x="0" y="749808"/>
                  </a:lnTo>
                  <a:close/>
                </a:path>
              </a:pathLst>
            </a:custGeom>
            <a:ln w="12700">
              <a:solidFill>
                <a:srgbClr val="E1E8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74320" y="960119"/>
              <a:ext cx="55244" cy="749935"/>
            </a:xfrm>
            <a:custGeom>
              <a:avLst/>
              <a:gdLst/>
              <a:ahLst/>
              <a:cxnLst/>
              <a:rect l="l" t="t" r="r" b="b"/>
              <a:pathLst>
                <a:path w="55245" h="749935">
                  <a:moveTo>
                    <a:pt x="54864" y="0"/>
                  </a:moveTo>
                  <a:lnTo>
                    <a:pt x="0" y="0"/>
                  </a:lnTo>
                  <a:lnTo>
                    <a:pt x="0" y="749808"/>
                  </a:lnTo>
                  <a:lnTo>
                    <a:pt x="54864" y="749808"/>
                  </a:lnTo>
                  <a:lnTo>
                    <a:pt x="54864" y="0"/>
                  </a:lnTo>
                  <a:close/>
                </a:path>
              </a:pathLst>
            </a:custGeom>
            <a:solidFill>
              <a:srgbClr val="0FB88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74320" y="960119"/>
              <a:ext cx="55244" cy="749935"/>
            </a:xfrm>
            <a:custGeom>
              <a:avLst/>
              <a:gdLst/>
              <a:ahLst/>
              <a:cxnLst/>
              <a:rect l="l" t="t" r="r" b="b"/>
              <a:pathLst>
                <a:path w="55245" h="749935">
                  <a:moveTo>
                    <a:pt x="0" y="749808"/>
                  </a:moveTo>
                  <a:lnTo>
                    <a:pt x="54864" y="749808"/>
                  </a:lnTo>
                  <a:lnTo>
                    <a:pt x="54864" y="0"/>
                  </a:lnTo>
                  <a:lnTo>
                    <a:pt x="0" y="0"/>
                  </a:lnTo>
                  <a:lnTo>
                    <a:pt x="0" y="749808"/>
                  </a:lnTo>
                  <a:close/>
                </a:path>
              </a:pathLst>
            </a:custGeom>
            <a:ln w="12700">
              <a:solidFill>
                <a:srgbClr val="0FB88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29184" y="960119"/>
              <a:ext cx="2240280" cy="749935"/>
            </a:xfrm>
            <a:custGeom>
              <a:avLst/>
              <a:gdLst/>
              <a:ahLst/>
              <a:cxnLst/>
              <a:rect l="l" t="t" r="r" b="b"/>
              <a:pathLst>
                <a:path w="2240280" h="749935">
                  <a:moveTo>
                    <a:pt x="2240279" y="0"/>
                  </a:moveTo>
                  <a:lnTo>
                    <a:pt x="0" y="0"/>
                  </a:lnTo>
                  <a:lnTo>
                    <a:pt x="0" y="749808"/>
                  </a:lnTo>
                  <a:lnTo>
                    <a:pt x="2240279" y="749808"/>
                  </a:lnTo>
                  <a:lnTo>
                    <a:pt x="2240279" y="0"/>
                  </a:lnTo>
                  <a:close/>
                </a:path>
              </a:pathLst>
            </a:custGeom>
            <a:solidFill>
              <a:srgbClr val="0FB881">
                <a:alpha val="12156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29184" y="960119"/>
              <a:ext cx="2240280" cy="749935"/>
            </a:xfrm>
            <a:custGeom>
              <a:avLst/>
              <a:gdLst/>
              <a:ahLst/>
              <a:cxnLst/>
              <a:rect l="l" t="t" r="r" b="b"/>
              <a:pathLst>
                <a:path w="2240280" h="749935">
                  <a:moveTo>
                    <a:pt x="0" y="749808"/>
                  </a:moveTo>
                  <a:lnTo>
                    <a:pt x="2240279" y="749808"/>
                  </a:lnTo>
                  <a:lnTo>
                    <a:pt x="2240279" y="0"/>
                  </a:lnTo>
                  <a:lnTo>
                    <a:pt x="0" y="0"/>
                  </a:lnTo>
                  <a:lnTo>
                    <a:pt x="0" y="749808"/>
                  </a:lnTo>
                  <a:close/>
                </a:path>
              </a:pathLst>
            </a:custGeom>
            <a:ln w="12699">
              <a:solidFill>
                <a:srgbClr val="0FB88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398779" y="1226565"/>
            <a:ext cx="123507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0FB881"/>
                </a:solidFill>
                <a:latin typeface="Times New Roman"/>
                <a:cs typeface="Times New Roman"/>
              </a:rPr>
              <a:t>Why</a:t>
            </a:r>
            <a:r>
              <a:rPr sz="1200" b="1" spc="-25" dirty="0">
                <a:solidFill>
                  <a:srgbClr val="0FB881"/>
                </a:solidFill>
                <a:latin typeface="Times New Roman"/>
                <a:cs typeface="Times New Roman"/>
              </a:rPr>
              <a:t> </a:t>
            </a:r>
            <a:r>
              <a:rPr sz="1200" b="1" dirty="0">
                <a:solidFill>
                  <a:srgbClr val="0FB881"/>
                </a:solidFill>
                <a:latin typeface="Times New Roman"/>
                <a:cs typeface="Times New Roman"/>
              </a:rPr>
              <a:t>Spring</a:t>
            </a:r>
            <a:r>
              <a:rPr sz="1200" b="1" spc="-25" dirty="0">
                <a:solidFill>
                  <a:srgbClr val="0FB881"/>
                </a:solidFill>
                <a:latin typeface="Times New Roman"/>
                <a:cs typeface="Times New Roman"/>
              </a:rPr>
              <a:t> </a:t>
            </a:r>
            <a:r>
              <a:rPr sz="1200" b="1" spc="-20" dirty="0">
                <a:solidFill>
                  <a:srgbClr val="0FB881"/>
                </a:solidFill>
                <a:latin typeface="Times New Roman"/>
                <a:cs typeface="Times New Roman"/>
              </a:rPr>
              <a:t>Boot?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639314" y="1150365"/>
            <a:ext cx="5868035" cy="3619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00" dirty="0">
                <a:solidFill>
                  <a:srgbClr val="1E293A"/>
                </a:solidFill>
                <a:latin typeface="Times New Roman"/>
                <a:cs typeface="Times New Roman"/>
              </a:rPr>
              <a:t>Spring</a:t>
            </a:r>
            <a:r>
              <a:rPr sz="1100" spc="-35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1E293A"/>
                </a:solidFill>
                <a:latin typeface="Times New Roman"/>
                <a:cs typeface="Times New Roman"/>
              </a:rPr>
              <a:t>Boot</a:t>
            </a:r>
            <a:r>
              <a:rPr sz="1100" spc="-15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1E293A"/>
                </a:solidFill>
                <a:latin typeface="Times New Roman"/>
                <a:cs typeface="Times New Roman"/>
              </a:rPr>
              <a:t>eliminates</a:t>
            </a:r>
            <a:r>
              <a:rPr sz="1100" spc="-45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1E293A"/>
                </a:solidFill>
                <a:latin typeface="Times New Roman"/>
                <a:cs typeface="Times New Roman"/>
              </a:rPr>
              <a:t>XML</a:t>
            </a:r>
            <a:r>
              <a:rPr sz="1100" spc="-20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1E293A"/>
                </a:solidFill>
                <a:latin typeface="Times New Roman"/>
                <a:cs typeface="Times New Roman"/>
              </a:rPr>
              <a:t>configuration</a:t>
            </a:r>
            <a:r>
              <a:rPr sz="1100" spc="-55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1E293A"/>
                </a:solidFill>
                <a:latin typeface="Times New Roman"/>
                <a:cs typeface="Times New Roman"/>
              </a:rPr>
              <a:t>boilerplate,</a:t>
            </a:r>
            <a:r>
              <a:rPr sz="1100" spc="-45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1E293A"/>
                </a:solidFill>
                <a:latin typeface="Times New Roman"/>
                <a:cs typeface="Times New Roman"/>
              </a:rPr>
              <a:t>auto-configures</a:t>
            </a:r>
            <a:r>
              <a:rPr sz="1100" spc="-40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1E293A"/>
                </a:solidFill>
                <a:latin typeface="Times New Roman"/>
                <a:cs typeface="Times New Roman"/>
              </a:rPr>
              <a:t>embedded</a:t>
            </a:r>
            <a:r>
              <a:rPr sz="1100" spc="-30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1E293A"/>
                </a:solidFill>
                <a:latin typeface="Times New Roman"/>
                <a:cs typeface="Times New Roman"/>
              </a:rPr>
              <a:t>Tomcat,</a:t>
            </a:r>
            <a:r>
              <a:rPr sz="1100" spc="-35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1E293A"/>
                </a:solidFill>
                <a:latin typeface="Times New Roman"/>
                <a:cs typeface="Times New Roman"/>
              </a:rPr>
              <a:t>and</a:t>
            </a:r>
            <a:r>
              <a:rPr sz="1100" spc="-5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100" spc="-10" dirty="0">
                <a:solidFill>
                  <a:srgbClr val="1E293A"/>
                </a:solidFill>
                <a:latin typeface="Times New Roman"/>
                <a:cs typeface="Times New Roman"/>
              </a:rPr>
              <a:t>provides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100" spc="-10" dirty="0">
                <a:solidFill>
                  <a:srgbClr val="1E293A"/>
                </a:solidFill>
                <a:latin typeface="Times New Roman"/>
                <a:cs typeface="Times New Roman"/>
              </a:rPr>
              <a:t>production-</a:t>
            </a:r>
            <a:r>
              <a:rPr sz="1100" dirty="0">
                <a:solidFill>
                  <a:srgbClr val="1E293A"/>
                </a:solidFill>
                <a:latin typeface="Times New Roman"/>
                <a:cs typeface="Times New Roman"/>
              </a:rPr>
              <a:t>ready</a:t>
            </a:r>
            <a:r>
              <a:rPr sz="1100" spc="-35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1E293A"/>
                </a:solidFill>
                <a:latin typeface="Times New Roman"/>
                <a:cs typeface="Times New Roman"/>
              </a:rPr>
              <a:t>features</a:t>
            </a:r>
            <a:r>
              <a:rPr sz="1100" spc="-30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1E293A"/>
                </a:solidFill>
                <a:latin typeface="Times New Roman"/>
                <a:cs typeface="Times New Roman"/>
              </a:rPr>
              <a:t>(actuator,</a:t>
            </a:r>
            <a:r>
              <a:rPr sz="1100" spc="-40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1E293A"/>
                </a:solidFill>
                <a:latin typeface="Times New Roman"/>
                <a:cs typeface="Times New Roman"/>
              </a:rPr>
              <a:t>security)</a:t>
            </a:r>
            <a:r>
              <a:rPr sz="1100" spc="-30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1E293A"/>
                </a:solidFill>
                <a:latin typeface="Times New Roman"/>
                <a:cs typeface="Times New Roman"/>
              </a:rPr>
              <a:t>out</a:t>
            </a:r>
            <a:r>
              <a:rPr sz="1100" spc="-5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1E293A"/>
                </a:solidFill>
                <a:latin typeface="Times New Roman"/>
                <a:cs typeface="Times New Roman"/>
              </a:rPr>
              <a:t>of</a:t>
            </a:r>
            <a:r>
              <a:rPr sz="1100" spc="-5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1E293A"/>
                </a:solidFill>
                <a:latin typeface="Times New Roman"/>
                <a:cs typeface="Times New Roman"/>
              </a:rPr>
              <a:t>the</a:t>
            </a:r>
            <a:r>
              <a:rPr sz="1100" spc="-20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1E293A"/>
                </a:solidFill>
                <a:latin typeface="Times New Roman"/>
                <a:cs typeface="Times New Roman"/>
              </a:rPr>
              <a:t>box —</a:t>
            </a:r>
            <a:r>
              <a:rPr sz="1100" spc="5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1E293A"/>
                </a:solidFill>
                <a:latin typeface="Times New Roman"/>
                <a:cs typeface="Times New Roman"/>
              </a:rPr>
              <a:t>significantly</a:t>
            </a:r>
            <a:r>
              <a:rPr sz="1100" spc="-35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1E293A"/>
                </a:solidFill>
                <a:latin typeface="Times New Roman"/>
                <a:cs typeface="Times New Roman"/>
              </a:rPr>
              <a:t>reducing</a:t>
            </a:r>
            <a:r>
              <a:rPr sz="1100" spc="-35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1E293A"/>
                </a:solidFill>
                <a:latin typeface="Times New Roman"/>
                <a:cs typeface="Times New Roman"/>
              </a:rPr>
              <a:t>development</a:t>
            </a:r>
            <a:r>
              <a:rPr sz="1100" spc="-15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100" spc="-10" dirty="0">
                <a:solidFill>
                  <a:srgbClr val="1E293A"/>
                </a:solidFill>
                <a:latin typeface="Times New Roman"/>
                <a:cs typeface="Times New Roman"/>
              </a:rPr>
              <a:t>time.</a:t>
            </a:r>
            <a:endParaRPr sz="1100">
              <a:latin typeface="Times New Roman"/>
              <a:cs typeface="Times New Roman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137160" y="1719033"/>
            <a:ext cx="8808085" cy="962660"/>
            <a:chOff x="137160" y="1719033"/>
            <a:chExt cx="8808085" cy="962660"/>
          </a:xfrm>
        </p:grpSpPr>
        <p:pic>
          <p:nvPicPr>
            <p:cNvPr id="15" name="object 1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7160" y="1719033"/>
              <a:ext cx="8807958" cy="962444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329184" y="1801367"/>
              <a:ext cx="8540750" cy="749935"/>
            </a:xfrm>
            <a:custGeom>
              <a:avLst/>
              <a:gdLst/>
              <a:ahLst/>
              <a:cxnLst/>
              <a:rect l="l" t="t" r="r" b="b"/>
              <a:pathLst>
                <a:path w="8540750" h="749935">
                  <a:moveTo>
                    <a:pt x="0" y="749808"/>
                  </a:moveTo>
                  <a:lnTo>
                    <a:pt x="8540496" y="749808"/>
                  </a:lnTo>
                  <a:lnTo>
                    <a:pt x="8540496" y="0"/>
                  </a:lnTo>
                  <a:lnTo>
                    <a:pt x="0" y="0"/>
                  </a:lnTo>
                  <a:lnTo>
                    <a:pt x="0" y="74980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274320" y="1801367"/>
              <a:ext cx="8595360" cy="749935"/>
            </a:xfrm>
            <a:custGeom>
              <a:avLst/>
              <a:gdLst/>
              <a:ahLst/>
              <a:cxnLst/>
              <a:rect l="l" t="t" r="r" b="b"/>
              <a:pathLst>
                <a:path w="8595360" h="749935">
                  <a:moveTo>
                    <a:pt x="0" y="749808"/>
                  </a:moveTo>
                  <a:lnTo>
                    <a:pt x="8595360" y="749808"/>
                  </a:lnTo>
                  <a:lnTo>
                    <a:pt x="8595360" y="0"/>
                  </a:lnTo>
                  <a:lnTo>
                    <a:pt x="0" y="0"/>
                  </a:lnTo>
                  <a:lnTo>
                    <a:pt x="0" y="749808"/>
                  </a:lnTo>
                  <a:close/>
                </a:path>
              </a:pathLst>
            </a:custGeom>
            <a:ln w="12700">
              <a:solidFill>
                <a:srgbClr val="E1E8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274320" y="1801367"/>
              <a:ext cx="55244" cy="749935"/>
            </a:xfrm>
            <a:custGeom>
              <a:avLst/>
              <a:gdLst/>
              <a:ahLst/>
              <a:cxnLst/>
              <a:rect l="l" t="t" r="r" b="b"/>
              <a:pathLst>
                <a:path w="55245" h="749935">
                  <a:moveTo>
                    <a:pt x="54864" y="0"/>
                  </a:moveTo>
                  <a:lnTo>
                    <a:pt x="0" y="0"/>
                  </a:lnTo>
                  <a:lnTo>
                    <a:pt x="0" y="749808"/>
                  </a:lnTo>
                  <a:lnTo>
                    <a:pt x="54864" y="749808"/>
                  </a:lnTo>
                  <a:lnTo>
                    <a:pt x="54864" y="0"/>
                  </a:lnTo>
                  <a:close/>
                </a:path>
              </a:pathLst>
            </a:custGeom>
            <a:solidFill>
              <a:srgbClr val="0891B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274320" y="1801367"/>
              <a:ext cx="55244" cy="749935"/>
            </a:xfrm>
            <a:custGeom>
              <a:avLst/>
              <a:gdLst/>
              <a:ahLst/>
              <a:cxnLst/>
              <a:rect l="l" t="t" r="r" b="b"/>
              <a:pathLst>
                <a:path w="55245" h="749935">
                  <a:moveTo>
                    <a:pt x="0" y="749808"/>
                  </a:moveTo>
                  <a:lnTo>
                    <a:pt x="54864" y="749808"/>
                  </a:lnTo>
                  <a:lnTo>
                    <a:pt x="54864" y="0"/>
                  </a:lnTo>
                  <a:lnTo>
                    <a:pt x="0" y="0"/>
                  </a:lnTo>
                  <a:lnTo>
                    <a:pt x="0" y="749808"/>
                  </a:lnTo>
                  <a:close/>
                </a:path>
              </a:pathLst>
            </a:custGeom>
            <a:ln w="12700">
              <a:solidFill>
                <a:srgbClr val="0891B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329184" y="1801367"/>
              <a:ext cx="2240280" cy="749935"/>
            </a:xfrm>
            <a:custGeom>
              <a:avLst/>
              <a:gdLst/>
              <a:ahLst/>
              <a:cxnLst/>
              <a:rect l="l" t="t" r="r" b="b"/>
              <a:pathLst>
                <a:path w="2240280" h="749935">
                  <a:moveTo>
                    <a:pt x="2240279" y="0"/>
                  </a:moveTo>
                  <a:lnTo>
                    <a:pt x="0" y="0"/>
                  </a:lnTo>
                  <a:lnTo>
                    <a:pt x="0" y="749808"/>
                  </a:lnTo>
                  <a:lnTo>
                    <a:pt x="2240279" y="749808"/>
                  </a:lnTo>
                  <a:lnTo>
                    <a:pt x="2240279" y="0"/>
                  </a:lnTo>
                  <a:close/>
                </a:path>
              </a:pathLst>
            </a:custGeom>
            <a:solidFill>
              <a:srgbClr val="0891B1">
                <a:alpha val="12156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329184" y="1801367"/>
              <a:ext cx="2240280" cy="749935"/>
            </a:xfrm>
            <a:custGeom>
              <a:avLst/>
              <a:gdLst/>
              <a:ahLst/>
              <a:cxnLst/>
              <a:rect l="l" t="t" r="r" b="b"/>
              <a:pathLst>
                <a:path w="2240280" h="749935">
                  <a:moveTo>
                    <a:pt x="0" y="749808"/>
                  </a:moveTo>
                  <a:lnTo>
                    <a:pt x="2240279" y="749808"/>
                  </a:lnTo>
                  <a:lnTo>
                    <a:pt x="2240279" y="0"/>
                  </a:lnTo>
                  <a:lnTo>
                    <a:pt x="0" y="0"/>
                  </a:lnTo>
                  <a:lnTo>
                    <a:pt x="0" y="749808"/>
                  </a:lnTo>
                  <a:close/>
                </a:path>
              </a:pathLst>
            </a:custGeom>
            <a:ln w="12699">
              <a:solidFill>
                <a:srgbClr val="0891B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398779" y="1976754"/>
            <a:ext cx="139382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0891B1"/>
                </a:solidFill>
                <a:latin typeface="Times New Roman"/>
                <a:cs typeface="Times New Roman"/>
              </a:rPr>
              <a:t>Why</a:t>
            </a:r>
            <a:r>
              <a:rPr sz="1200" b="1" spc="-75" dirty="0">
                <a:solidFill>
                  <a:srgbClr val="0891B1"/>
                </a:solidFill>
                <a:latin typeface="Times New Roman"/>
                <a:cs typeface="Times New Roman"/>
              </a:rPr>
              <a:t> </a:t>
            </a:r>
            <a:r>
              <a:rPr sz="1200" b="1" dirty="0">
                <a:solidFill>
                  <a:srgbClr val="0891B1"/>
                </a:solidFill>
                <a:latin typeface="Times New Roman"/>
                <a:cs typeface="Times New Roman"/>
              </a:rPr>
              <a:t>Thymeleaf</a:t>
            </a:r>
            <a:r>
              <a:rPr sz="1200" b="1" spc="-15" dirty="0">
                <a:solidFill>
                  <a:srgbClr val="0891B1"/>
                </a:solidFill>
                <a:latin typeface="Times New Roman"/>
                <a:cs typeface="Times New Roman"/>
              </a:rPr>
              <a:t> </a:t>
            </a:r>
            <a:r>
              <a:rPr sz="1200" b="1" spc="-20" dirty="0">
                <a:solidFill>
                  <a:srgbClr val="0891B1"/>
                </a:solidFill>
                <a:latin typeface="Times New Roman"/>
                <a:cs typeface="Times New Roman"/>
              </a:rPr>
              <a:t>over </a:t>
            </a:r>
            <a:r>
              <a:rPr sz="1200" b="1" spc="-10" dirty="0">
                <a:solidFill>
                  <a:srgbClr val="0891B1"/>
                </a:solidFill>
                <a:latin typeface="Times New Roman"/>
                <a:cs typeface="Times New Roman"/>
              </a:rPr>
              <a:t>React/Angular?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2639314" y="1991995"/>
            <a:ext cx="6106795" cy="361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solidFill>
                  <a:srgbClr val="1E293A"/>
                </a:solidFill>
                <a:latin typeface="Times New Roman"/>
                <a:cs typeface="Times New Roman"/>
              </a:rPr>
              <a:t>For</a:t>
            </a:r>
            <a:r>
              <a:rPr sz="1100" spc="-20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1E293A"/>
                </a:solidFill>
                <a:latin typeface="Times New Roman"/>
                <a:cs typeface="Times New Roman"/>
              </a:rPr>
              <a:t>an</a:t>
            </a:r>
            <a:r>
              <a:rPr sz="1100" spc="-15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1E293A"/>
                </a:solidFill>
                <a:latin typeface="Times New Roman"/>
                <a:cs typeface="Times New Roman"/>
              </a:rPr>
              <a:t>enterprise</a:t>
            </a:r>
            <a:r>
              <a:rPr sz="1100" spc="-40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1E293A"/>
                </a:solidFill>
                <a:latin typeface="Times New Roman"/>
                <a:cs typeface="Times New Roman"/>
              </a:rPr>
              <a:t>MVC</a:t>
            </a:r>
            <a:r>
              <a:rPr sz="1100" spc="-30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1E293A"/>
                </a:solidFill>
                <a:latin typeface="Times New Roman"/>
                <a:cs typeface="Times New Roman"/>
              </a:rPr>
              <a:t>application,</a:t>
            </a:r>
            <a:r>
              <a:rPr sz="1100" spc="-45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1E293A"/>
                </a:solidFill>
                <a:latin typeface="Times New Roman"/>
                <a:cs typeface="Times New Roman"/>
              </a:rPr>
              <a:t>Thymeleaf</a:t>
            </a:r>
            <a:r>
              <a:rPr sz="1100" spc="-25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1E293A"/>
                </a:solidFill>
                <a:latin typeface="Times New Roman"/>
                <a:cs typeface="Times New Roman"/>
              </a:rPr>
              <a:t>integrates</a:t>
            </a:r>
            <a:r>
              <a:rPr sz="1100" spc="-50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1E293A"/>
                </a:solidFill>
                <a:latin typeface="Times New Roman"/>
                <a:cs typeface="Times New Roman"/>
              </a:rPr>
              <a:t>naturally</a:t>
            </a:r>
            <a:r>
              <a:rPr sz="1100" spc="-45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1E293A"/>
                </a:solidFill>
                <a:latin typeface="Times New Roman"/>
                <a:cs typeface="Times New Roman"/>
              </a:rPr>
              <a:t>with</a:t>
            </a:r>
            <a:r>
              <a:rPr sz="1100" spc="-35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1E293A"/>
                </a:solidFill>
                <a:latin typeface="Times New Roman"/>
                <a:cs typeface="Times New Roman"/>
              </a:rPr>
              <a:t>Spring</a:t>
            </a:r>
            <a:r>
              <a:rPr sz="1100" spc="-30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1E293A"/>
                </a:solidFill>
                <a:latin typeface="Times New Roman"/>
                <a:cs typeface="Times New Roman"/>
              </a:rPr>
              <a:t>model</a:t>
            </a:r>
            <a:r>
              <a:rPr sz="1100" spc="-15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1E293A"/>
                </a:solidFill>
                <a:latin typeface="Times New Roman"/>
                <a:cs typeface="Times New Roman"/>
              </a:rPr>
              <a:t>attributes.</a:t>
            </a:r>
            <a:r>
              <a:rPr sz="1100" spc="-45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1E293A"/>
                </a:solidFill>
                <a:latin typeface="Times New Roman"/>
                <a:cs typeface="Times New Roman"/>
              </a:rPr>
              <a:t>No </a:t>
            </a:r>
            <a:r>
              <a:rPr sz="1100" spc="-10" dirty="0">
                <a:solidFill>
                  <a:srgbClr val="1E293A"/>
                </a:solidFill>
                <a:latin typeface="Times New Roman"/>
                <a:cs typeface="Times New Roman"/>
              </a:rPr>
              <a:t>separate </a:t>
            </a:r>
            <a:r>
              <a:rPr sz="1100" dirty="0">
                <a:solidFill>
                  <a:srgbClr val="1E293A"/>
                </a:solidFill>
                <a:latin typeface="Times New Roman"/>
                <a:cs typeface="Times New Roman"/>
              </a:rPr>
              <a:t>frontend</a:t>
            </a:r>
            <a:r>
              <a:rPr sz="1100" spc="-50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1E293A"/>
                </a:solidFill>
                <a:latin typeface="Times New Roman"/>
                <a:cs typeface="Times New Roman"/>
              </a:rPr>
              <a:t>build</a:t>
            </a:r>
            <a:r>
              <a:rPr sz="1100" spc="-20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1E293A"/>
                </a:solidFill>
                <a:latin typeface="Times New Roman"/>
                <a:cs typeface="Times New Roman"/>
              </a:rPr>
              <a:t>pipeline</a:t>
            </a:r>
            <a:r>
              <a:rPr sz="1100" spc="-45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1E293A"/>
                </a:solidFill>
                <a:latin typeface="Times New Roman"/>
                <a:cs typeface="Times New Roman"/>
              </a:rPr>
              <a:t>needed.</a:t>
            </a:r>
            <a:r>
              <a:rPr sz="1100" spc="-5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100" spc="-10" dirty="0">
                <a:solidFill>
                  <a:srgbClr val="1E293A"/>
                </a:solidFill>
                <a:latin typeface="Times New Roman"/>
                <a:cs typeface="Times New Roman"/>
              </a:rPr>
              <a:t>Server-</a:t>
            </a:r>
            <a:r>
              <a:rPr sz="1100" dirty="0">
                <a:solidFill>
                  <a:srgbClr val="1E293A"/>
                </a:solidFill>
                <a:latin typeface="Times New Roman"/>
                <a:cs typeface="Times New Roman"/>
              </a:rPr>
              <a:t>side</a:t>
            </a:r>
            <a:r>
              <a:rPr sz="1100" spc="-30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1E293A"/>
                </a:solidFill>
                <a:latin typeface="Times New Roman"/>
                <a:cs typeface="Times New Roman"/>
              </a:rPr>
              <a:t>rendering</a:t>
            </a:r>
            <a:r>
              <a:rPr sz="1100" spc="-35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1E293A"/>
                </a:solidFill>
                <a:latin typeface="Times New Roman"/>
                <a:cs typeface="Times New Roman"/>
              </a:rPr>
              <a:t>ensures</a:t>
            </a:r>
            <a:r>
              <a:rPr sz="1100" spc="-30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1E293A"/>
                </a:solidFill>
                <a:latin typeface="Times New Roman"/>
                <a:cs typeface="Times New Roman"/>
              </a:rPr>
              <a:t>SEO</a:t>
            </a:r>
            <a:r>
              <a:rPr sz="1100" spc="10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1E293A"/>
                </a:solidFill>
                <a:latin typeface="Times New Roman"/>
                <a:cs typeface="Times New Roman"/>
              </a:rPr>
              <a:t>and</a:t>
            </a:r>
            <a:r>
              <a:rPr sz="1100" spc="-5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1E293A"/>
                </a:solidFill>
                <a:latin typeface="Times New Roman"/>
                <a:cs typeface="Times New Roman"/>
              </a:rPr>
              <a:t>immediate</a:t>
            </a:r>
            <a:r>
              <a:rPr sz="1100" spc="-30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1E293A"/>
                </a:solidFill>
                <a:latin typeface="Times New Roman"/>
                <a:cs typeface="Times New Roman"/>
              </a:rPr>
              <a:t>page</a:t>
            </a:r>
            <a:r>
              <a:rPr sz="1100" spc="5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100" spc="-10" dirty="0">
                <a:solidFill>
                  <a:srgbClr val="1E293A"/>
                </a:solidFill>
                <a:latin typeface="Times New Roman"/>
                <a:cs typeface="Times New Roman"/>
              </a:rPr>
              <a:t>consistency.</a:t>
            </a:r>
            <a:endParaRPr sz="1100">
              <a:latin typeface="Times New Roman"/>
              <a:cs typeface="Times New Roman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137160" y="2560281"/>
            <a:ext cx="8808085" cy="962660"/>
            <a:chOff x="137160" y="2560281"/>
            <a:chExt cx="8808085" cy="962660"/>
          </a:xfrm>
        </p:grpSpPr>
        <p:pic>
          <p:nvPicPr>
            <p:cNvPr id="25" name="object 2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7160" y="2560281"/>
              <a:ext cx="8807958" cy="962444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329184" y="2642615"/>
              <a:ext cx="8540750" cy="749935"/>
            </a:xfrm>
            <a:custGeom>
              <a:avLst/>
              <a:gdLst/>
              <a:ahLst/>
              <a:cxnLst/>
              <a:rect l="l" t="t" r="r" b="b"/>
              <a:pathLst>
                <a:path w="8540750" h="749935">
                  <a:moveTo>
                    <a:pt x="0" y="749807"/>
                  </a:moveTo>
                  <a:lnTo>
                    <a:pt x="8540496" y="749807"/>
                  </a:lnTo>
                  <a:lnTo>
                    <a:pt x="8540496" y="0"/>
                  </a:lnTo>
                  <a:lnTo>
                    <a:pt x="0" y="0"/>
                  </a:lnTo>
                  <a:lnTo>
                    <a:pt x="0" y="74980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274320" y="2642615"/>
              <a:ext cx="8595360" cy="749935"/>
            </a:xfrm>
            <a:custGeom>
              <a:avLst/>
              <a:gdLst/>
              <a:ahLst/>
              <a:cxnLst/>
              <a:rect l="l" t="t" r="r" b="b"/>
              <a:pathLst>
                <a:path w="8595360" h="749935">
                  <a:moveTo>
                    <a:pt x="0" y="749807"/>
                  </a:moveTo>
                  <a:lnTo>
                    <a:pt x="8595360" y="749807"/>
                  </a:lnTo>
                  <a:lnTo>
                    <a:pt x="8595360" y="0"/>
                  </a:lnTo>
                  <a:lnTo>
                    <a:pt x="0" y="0"/>
                  </a:lnTo>
                  <a:lnTo>
                    <a:pt x="0" y="749807"/>
                  </a:lnTo>
                  <a:close/>
                </a:path>
              </a:pathLst>
            </a:custGeom>
            <a:ln w="12700">
              <a:solidFill>
                <a:srgbClr val="E1E8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274320" y="2642615"/>
              <a:ext cx="55244" cy="749935"/>
            </a:xfrm>
            <a:custGeom>
              <a:avLst/>
              <a:gdLst/>
              <a:ahLst/>
              <a:cxnLst/>
              <a:rect l="l" t="t" r="r" b="b"/>
              <a:pathLst>
                <a:path w="55245" h="749935">
                  <a:moveTo>
                    <a:pt x="54864" y="0"/>
                  </a:moveTo>
                  <a:lnTo>
                    <a:pt x="0" y="0"/>
                  </a:lnTo>
                  <a:lnTo>
                    <a:pt x="0" y="749807"/>
                  </a:lnTo>
                  <a:lnTo>
                    <a:pt x="54864" y="749807"/>
                  </a:lnTo>
                  <a:lnTo>
                    <a:pt x="54864" y="0"/>
                  </a:lnTo>
                  <a:close/>
                </a:path>
              </a:pathLst>
            </a:custGeom>
            <a:solidFill>
              <a:srgbClr val="8A5C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274320" y="2642615"/>
              <a:ext cx="55244" cy="749935"/>
            </a:xfrm>
            <a:custGeom>
              <a:avLst/>
              <a:gdLst/>
              <a:ahLst/>
              <a:cxnLst/>
              <a:rect l="l" t="t" r="r" b="b"/>
              <a:pathLst>
                <a:path w="55245" h="749935">
                  <a:moveTo>
                    <a:pt x="0" y="749807"/>
                  </a:moveTo>
                  <a:lnTo>
                    <a:pt x="54864" y="749807"/>
                  </a:lnTo>
                  <a:lnTo>
                    <a:pt x="54864" y="0"/>
                  </a:lnTo>
                  <a:lnTo>
                    <a:pt x="0" y="0"/>
                  </a:lnTo>
                  <a:lnTo>
                    <a:pt x="0" y="749807"/>
                  </a:lnTo>
                  <a:close/>
                </a:path>
              </a:pathLst>
            </a:custGeom>
            <a:ln w="12700">
              <a:solidFill>
                <a:srgbClr val="8A5CF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329184" y="2642615"/>
              <a:ext cx="2240280" cy="749935"/>
            </a:xfrm>
            <a:custGeom>
              <a:avLst/>
              <a:gdLst/>
              <a:ahLst/>
              <a:cxnLst/>
              <a:rect l="l" t="t" r="r" b="b"/>
              <a:pathLst>
                <a:path w="2240280" h="749935">
                  <a:moveTo>
                    <a:pt x="2240279" y="0"/>
                  </a:moveTo>
                  <a:lnTo>
                    <a:pt x="0" y="0"/>
                  </a:lnTo>
                  <a:lnTo>
                    <a:pt x="0" y="749807"/>
                  </a:lnTo>
                  <a:lnTo>
                    <a:pt x="2240279" y="749807"/>
                  </a:lnTo>
                  <a:lnTo>
                    <a:pt x="2240279" y="0"/>
                  </a:lnTo>
                  <a:close/>
                </a:path>
              </a:pathLst>
            </a:custGeom>
            <a:solidFill>
              <a:srgbClr val="8A5CF6">
                <a:alpha val="12156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329184" y="2642615"/>
              <a:ext cx="2240280" cy="749935"/>
            </a:xfrm>
            <a:custGeom>
              <a:avLst/>
              <a:gdLst/>
              <a:ahLst/>
              <a:cxnLst/>
              <a:rect l="l" t="t" r="r" b="b"/>
              <a:pathLst>
                <a:path w="2240280" h="749935">
                  <a:moveTo>
                    <a:pt x="0" y="749807"/>
                  </a:moveTo>
                  <a:lnTo>
                    <a:pt x="2240279" y="749807"/>
                  </a:lnTo>
                  <a:lnTo>
                    <a:pt x="2240279" y="0"/>
                  </a:lnTo>
                  <a:lnTo>
                    <a:pt x="0" y="0"/>
                  </a:lnTo>
                  <a:lnTo>
                    <a:pt x="0" y="749807"/>
                  </a:lnTo>
                  <a:close/>
                </a:path>
              </a:pathLst>
            </a:custGeom>
            <a:ln w="12700">
              <a:solidFill>
                <a:srgbClr val="8A5CF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2" name="object 32"/>
          <p:cNvSpPr txBox="1"/>
          <p:nvPr/>
        </p:nvSpPr>
        <p:spPr>
          <a:xfrm>
            <a:off x="398779" y="2909697"/>
            <a:ext cx="185864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8A5CF6"/>
                </a:solidFill>
                <a:latin typeface="Times New Roman"/>
                <a:cs typeface="Times New Roman"/>
              </a:rPr>
              <a:t>Why</a:t>
            </a:r>
            <a:r>
              <a:rPr sz="1200" b="1" spc="-40" dirty="0">
                <a:solidFill>
                  <a:srgbClr val="8A5CF6"/>
                </a:solidFill>
                <a:latin typeface="Times New Roman"/>
                <a:cs typeface="Times New Roman"/>
              </a:rPr>
              <a:t> </a:t>
            </a:r>
            <a:r>
              <a:rPr sz="1200" b="1" dirty="0">
                <a:solidFill>
                  <a:srgbClr val="8A5CF6"/>
                </a:solidFill>
                <a:latin typeface="Times New Roman"/>
                <a:cs typeface="Times New Roman"/>
              </a:rPr>
              <a:t>Layered</a:t>
            </a:r>
            <a:r>
              <a:rPr sz="1200" b="1" spc="-15" dirty="0">
                <a:solidFill>
                  <a:srgbClr val="8A5CF6"/>
                </a:solidFill>
                <a:latin typeface="Times New Roman"/>
                <a:cs typeface="Times New Roman"/>
              </a:rPr>
              <a:t> </a:t>
            </a:r>
            <a:r>
              <a:rPr sz="1200" b="1" spc="-10" dirty="0">
                <a:solidFill>
                  <a:srgbClr val="8A5CF6"/>
                </a:solidFill>
                <a:latin typeface="Times New Roman"/>
                <a:cs typeface="Times New Roman"/>
              </a:rPr>
              <a:t>Architecture?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2639314" y="2833497"/>
            <a:ext cx="6094095" cy="361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solidFill>
                  <a:srgbClr val="1E293A"/>
                </a:solidFill>
                <a:latin typeface="Times New Roman"/>
                <a:cs typeface="Times New Roman"/>
              </a:rPr>
              <a:t>Strict</a:t>
            </a:r>
            <a:r>
              <a:rPr sz="1100" spc="-25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1E293A"/>
                </a:solidFill>
                <a:latin typeface="Times New Roman"/>
                <a:cs typeface="Times New Roman"/>
              </a:rPr>
              <a:t>separation</a:t>
            </a:r>
            <a:r>
              <a:rPr sz="1100" spc="-20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1E293A"/>
                </a:solidFill>
                <a:latin typeface="Times New Roman"/>
                <a:cs typeface="Times New Roman"/>
              </a:rPr>
              <a:t>of</a:t>
            </a:r>
            <a:r>
              <a:rPr sz="1100" spc="15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100" spc="-10" dirty="0">
                <a:solidFill>
                  <a:srgbClr val="1E293A"/>
                </a:solidFill>
                <a:latin typeface="Times New Roman"/>
                <a:cs typeface="Times New Roman"/>
              </a:rPr>
              <a:t>Controller/Service/Repository</a:t>
            </a:r>
            <a:r>
              <a:rPr sz="1100" spc="-15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1E293A"/>
                </a:solidFill>
                <a:latin typeface="Times New Roman"/>
                <a:cs typeface="Times New Roman"/>
              </a:rPr>
              <a:t>layers</a:t>
            </a:r>
            <a:r>
              <a:rPr sz="1100" spc="-15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1E293A"/>
                </a:solidFill>
                <a:latin typeface="Times New Roman"/>
                <a:cs typeface="Times New Roman"/>
              </a:rPr>
              <a:t>enforces</a:t>
            </a:r>
            <a:r>
              <a:rPr sz="1100" spc="-10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1E293A"/>
                </a:solidFill>
                <a:latin typeface="Times New Roman"/>
                <a:cs typeface="Times New Roman"/>
              </a:rPr>
              <a:t>Single</a:t>
            </a:r>
            <a:r>
              <a:rPr sz="1100" spc="-5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1E293A"/>
                </a:solidFill>
                <a:latin typeface="Times New Roman"/>
                <a:cs typeface="Times New Roman"/>
              </a:rPr>
              <a:t>Responsibility</a:t>
            </a:r>
            <a:r>
              <a:rPr sz="1100" spc="-15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1E293A"/>
                </a:solidFill>
                <a:latin typeface="Times New Roman"/>
                <a:cs typeface="Times New Roman"/>
              </a:rPr>
              <a:t>Principle.</a:t>
            </a:r>
            <a:r>
              <a:rPr sz="1100" spc="-15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1E293A"/>
                </a:solidFill>
                <a:latin typeface="Times New Roman"/>
                <a:cs typeface="Times New Roman"/>
              </a:rPr>
              <a:t>Each</a:t>
            </a:r>
            <a:r>
              <a:rPr sz="1100" spc="15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100" spc="-10" dirty="0">
                <a:solidFill>
                  <a:srgbClr val="1E293A"/>
                </a:solidFill>
                <a:latin typeface="Times New Roman"/>
                <a:cs typeface="Times New Roman"/>
              </a:rPr>
              <a:t>layer </a:t>
            </a:r>
            <a:r>
              <a:rPr sz="1100" dirty="0">
                <a:solidFill>
                  <a:srgbClr val="1E293A"/>
                </a:solidFill>
                <a:latin typeface="Times New Roman"/>
                <a:cs typeface="Times New Roman"/>
              </a:rPr>
              <a:t>can</a:t>
            </a:r>
            <a:r>
              <a:rPr sz="1100" spc="-20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1E293A"/>
                </a:solidFill>
                <a:latin typeface="Times New Roman"/>
                <a:cs typeface="Times New Roman"/>
              </a:rPr>
              <a:t>be</a:t>
            </a:r>
            <a:r>
              <a:rPr sz="1100" spc="-15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1E293A"/>
                </a:solidFill>
                <a:latin typeface="Times New Roman"/>
                <a:cs typeface="Times New Roman"/>
              </a:rPr>
              <a:t>unit</a:t>
            </a:r>
            <a:r>
              <a:rPr sz="1100" spc="-25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1E293A"/>
                </a:solidFill>
                <a:latin typeface="Times New Roman"/>
                <a:cs typeface="Times New Roman"/>
              </a:rPr>
              <a:t>tested</a:t>
            </a:r>
            <a:r>
              <a:rPr sz="1100" spc="-55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1E293A"/>
                </a:solidFill>
                <a:latin typeface="Times New Roman"/>
                <a:cs typeface="Times New Roman"/>
              </a:rPr>
              <a:t>independently,</a:t>
            </a:r>
            <a:r>
              <a:rPr sz="1100" spc="-30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1E293A"/>
                </a:solidFill>
                <a:latin typeface="Times New Roman"/>
                <a:cs typeface="Times New Roman"/>
              </a:rPr>
              <a:t>and</a:t>
            </a:r>
            <a:r>
              <a:rPr sz="1100" spc="-15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1E293A"/>
                </a:solidFill>
                <a:latin typeface="Times New Roman"/>
                <a:cs typeface="Times New Roman"/>
              </a:rPr>
              <a:t>business</a:t>
            </a:r>
            <a:r>
              <a:rPr sz="1100" spc="-45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1E293A"/>
                </a:solidFill>
                <a:latin typeface="Times New Roman"/>
                <a:cs typeface="Times New Roman"/>
              </a:rPr>
              <a:t>logic</a:t>
            </a:r>
            <a:r>
              <a:rPr sz="1100" spc="-15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1E293A"/>
                </a:solidFill>
                <a:latin typeface="Times New Roman"/>
                <a:cs typeface="Times New Roman"/>
              </a:rPr>
              <a:t>changes</a:t>
            </a:r>
            <a:r>
              <a:rPr sz="1100" spc="-30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1E293A"/>
                </a:solidFill>
                <a:latin typeface="Times New Roman"/>
                <a:cs typeface="Times New Roman"/>
              </a:rPr>
              <a:t>don't ripple</a:t>
            </a:r>
            <a:r>
              <a:rPr sz="1100" spc="-40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1E293A"/>
                </a:solidFill>
                <a:latin typeface="Times New Roman"/>
                <a:cs typeface="Times New Roman"/>
              </a:rPr>
              <a:t>to</a:t>
            </a:r>
            <a:r>
              <a:rPr sz="1100" spc="-20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1E293A"/>
                </a:solidFill>
                <a:latin typeface="Times New Roman"/>
                <a:cs typeface="Times New Roman"/>
              </a:rPr>
              <a:t>the</a:t>
            </a:r>
            <a:r>
              <a:rPr sz="1100" spc="-30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1E293A"/>
                </a:solidFill>
                <a:latin typeface="Times New Roman"/>
                <a:cs typeface="Times New Roman"/>
              </a:rPr>
              <a:t>presentation</a:t>
            </a:r>
            <a:r>
              <a:rPr sz="1100" spc="-40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100" spc="-10" dirty="0">
                <a:solidFill>
                  <a:srgbClr val="1E293A"/>
                </a:solidFill>
                <a:latin typeface="Times New Roman"/>
                <a:cs typeface="Times New Roman"/>
              </a:rPr>
              <a:t>layer.</a:t>
            </a:r>
            <a:endParaRPr sz="1100">
              <a:latin typeface="Times New Roman"/>
              <a:cs typeface="Times New Roman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137160" y="3401555"/>
            <a:ext cx="8808085" cy="962660"/>
            <a:chOff x="137160" y="3401555"/>
            <a:chExt cx="8808085" cy="962660"/>
          </a:xfrm>
        </p:grpSpPr>
        <p:pic>
          <p:nvPicPr>
            <p:cNvPr id="35" name="object 3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7160" y="3401555"/>
              <a:ext cx="8807958" cy="962444"/>
            </a:xfrm>
            <a:prstGeom prst="rect">
              <a:avLst/>
            </a:prstGeom>
          </p:spPr>
        </p:pic>
        <p:sp>
          <p:nvSpPr>
            <p:cNvPr id="36" name="object 36"/>
            <p:cNvSpPr/>
            <p:nvPr/>
          </p:nvSpPr>
          <p:spPr>
            <a:xfrm>
              <a:off x="329184" y="3483863"/>
              <a:ext cx="8540750" cy="749935"/>
            </a:xfrm>
            <a:custGeom>
              <a:avLst/>
              <a:gdLst/>
              <a:ahLst/>
              <a:cxnLst/>
              <a:rect l="l" t="t" r="r" b="b"/>
              <a:pathLst>
                <a:path w="8540750" h="749935">
                  <a:moveTo>
                    <a:pt x="0" y="749808"/>
                  </a:moveTo>
                  <a:lnTo>
                    <a:pt x="8540496" y="749808"/>
                  </a:lnTo>
                  <a:lnTo>
                    <a:pt x="8540496" y="0"/>
                  </a:lnTo>
                  <a:lnTo>
                    <a:pt x="0" y="0"/>
                  </a:lnTo>
                  <a:lnTo>
                    <a:pt x="0" y="74980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274320" y="3483863"/>
              <a:ext cx="8595360" cy="749935"/>
            </a:xfrm>
            <a:custGeom>
              <a:avLst/>
              <a:gdLst/>
              <a:ahLst/>
              <a:cxnLst/>
              <a:rect l="l" t="t" r="r" b="b"/>
              <a:pathLst>
                <a:path w="8595360" h="749935">
                  <a:moveTo>
                    <a:pt x="0" y="749808"/>
                  </a:moveTo>
                  <a:lnTo>
                    <a:pt x="8595360" y="749808"/>
                  </a:lnTo>
                  <a:lnTo>
                    <a:pt x="8595360" y="0"/>
                  </a:lnTo>
                  <a:lnTo>
                    <a:pt x="0" y="0"/>
                  </a:lnTo>
                  <a:lnTo>
                    <a:pt x="0" y="749808"/>
                  </a:lnTo>
                  <a:close/>
                </a:path>
              </a:pathLst>
            </a:custGeom>
            <a:ln w="12700">
              <a:solidFill>
                <a:srgbClr val="E1E8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274320" y="3483863"/>
              <a:ext cx="55244" cy="749935"/>
            </a:xfrm>
            <a:custGeom>
              <a:avLst/>
              <a:gdLst/>
              <a:ahLst/>
              <a:cxnLst/>
              <a:rect l="l" t="t" r="r" b="b"/>
              <a:pathLst>
                <a:path w="55245" h="749935">
                  <a:moveTo>
                    <a:pt x="54864" y="0"/>
                  </a:moveTo>
                  <a:lnTo>
                    <a:pt x="0" y="0"/>
                  </a:lnTo>
                  <a:lnTo>
                    <a:pt x="0" y="749808"/>
                  </a:lnTo>
                  <a:lnTo>
                    <a:pt x="54864" y="749808"/>
                  </a:lnTo>
                  <a:lnTo>
                    <a:pt x="54864" y="0"/>
                  </a:lnTo>
                  <a:close/>
                </a:path>
              </a:pathLst>
            </a:custGeom>
            <a:solidFill>
              <a:srgbClr val="F8731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274320" y="3483863"/>
              <a:ext cx="55244" cy="749935"/>
            </a:xfrm>
            <a:custGeom>
              <a:avLst/>
              <a:gdLst/>
              <a:ahLst/>
              <a:cxnLst/>
              <a:rect l="l" t="t" r="r" b="b"/>
              <a:pathLst>
                <a:path w="55245" h="749935">
                  <a:moveTo>
                    <a:pt x="0" y="749808"/>
                  </a:moveTo>
                  <a:lnTo>
                    <a:pt x="54864" y="749808"/>
                  </a:lnTo>
                  <a:lnTo>
                    <a:pt x="54864" y="0"/>
                  </a:lnTo>
                  <a:lnTo>
                    <a:pt x="0" y="0"/>
                  </a:lnTo>
                  <a:lnTo>
                    <a:pt x="0" y="749808"/>
                  </a:lnTo>
                  <a:close/>
                </a:path>
              </a:pathLst>
            </a:custGeom>
            <a:ln w="12700">
              <a:solidFill>
                <a:srgbClr val="F8731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329184" y="3483863"/>
              <a:ext cx="2240280" cy="749935"/>
            </a:xfrm>
            <a:custGeom>
              <a:avLst/>
              <a:gdLst/>
              <a:ahLst/>
              <a:cxnLst/>
              <a:rect l="l" t="t" r="r" b="b"/>
              <a:pathLst>
                <a:path w="2240280" h="749935">
                  <a:moveTo>
                    <a:pt x="2240279" y="0"/>
                  </a:moveTo>
                  <a:lnTo>
                    <a:pt x="0" y="0"/>
                  </a:lnTo>
                  <a:lnTo>
                    <a:pt x="0" y="749808"/>
                  </a:lnTo>
                  <a:lnTo>
                    <a:pt x="2240279" y="749808"/>
                  </a:lnTo>
                  <a:lnTo>
                    <a:pt x="2240279" y="0"/>
                  </a:lnTo>
                  <a:close/>
                </a:path>
              </a:pathLst>
            </a:custGeom>
            <a:solidFill>
              <a:srgbClr val="F87316">
                <a:alpha val="12156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329184" y="3483863"/>
              <a:ext cx="2240280" cy="749935"/>
            </a:xfrm>
            <a:custGeom>
              <a:avLst/>
              <a:gdLst/>
              <a:ahLst/>
              <a:cxnLst/>
              <a:rect l="l" t="t" r="r" b="b"/>
              <a:pathLst>
                <a:path w="2240280" h="749935">
                  <a:moveTo>
                    <a:pt x="0" y="749808"/>
                  </a:moveTo>
                  <a:lnTo>
                    <a:pt x="2240279" y="749808"/>
                  </a:lnTo>
                  <a:lnTo>
                    <a:pt x="2240279" y="0"/>
                  </a:lnTo>
                  <a:lnTo>
                    <a:pt x="0" y="0"/>
                  </a:lnTo>
                  <a:lnTo>
                    <a:pt x="0" y="749808"/>
                  </a:lnTo>
                  <a:close/>
                </a:path>
              </a:pathLst>
            </a:custGeom>
            <a:ln w="12699">
              <a:solidFill>
                <a:srgbClr val="F8731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2" name="object 42"/>
          <p:cNvSpPr txBox="1"/>
          <p:nvPr/>
        </p:nvSpPr>
        <p:spPr>
          <a:xfrm>
            <a:off x="398779" y="3659885"/>
            <a:ext cx="189039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F87316"/>
                </a:solidFill>
                <a:latin typeface="Times New Roman"/>
                <a:cs typeface="Times New Roman"/>
              </a:rPr>
              <a:t>Why</a:t>
            </a:r>
            <a:r>
              <a:rPr sz="1200" b="1" spc="-40" dirty="0">
                <a:solidFill>
                  <a:srgbClr val="F87316"/>
                </a:solidFill>
                <a:latin typeface="Times New Roman"/>
                <a:cs typeface="Times New Roman"/>
              </a:rPr>
              <a:t> </a:t>
            </a:r>
            <a:r>
              <a:rPr sz="1200" b="1" dirty="0">
                <a:solidFill>
                  <a:srgbClr val="F87316"/>
                </a:solidFill>
                <a:latin typeface="Times New Roman"/>
                <a:cs typeface="Times New Roman"/>
              </a:rPr>
              <a:t>@Transactional</a:t>
            </a:r>
            <a:r>
              <a:rPr sz="1200" b="1" spc="-30" dirty="0">
                <a:solidFill>
                  <a:srgbClr val="F87316"/>
                </a:solidFill>
                <a:latin typeface="Times New Roman"/>
                <a:cs typeface="Times New Roman"/>
              </a:rPr>
              <a:t> </a:t>
            </a:r>
            <a:r>
              <a:rPr sz="1200" b="1" dirty="0">
                <a:solidFill>
                  <a:srgbClr val="F87316"/>
                </a:solidFill>
                <a:latin typeface="Times New Roman"/>
                <a:cs typeface="Times New Roman"/>
              </a:rPr>
              <a:t>for</a:t>
            </a:r>
            <a:r>
              <a:rPr sz="1200" b="1" spc="-30" dirty="0">
                <a:solidFill>
                  <a:srgbClr val="F87316"/>
                </a:solidFill>
                <a:latin typeface="Times New Roman"/>
                <a:cs typeface="Times New Roman"/>
              </a:rPr>
              <a:t> </a:t>
            </a:r>
            <a:r>
              <a:rPr sz="1200" b="1" spc="-25" dirty="0">
                <a:solidFill>
                  <a:srgbClr val="F87316"/>
                </a:solidFill>
                <a:latin typeface="Times New Roman"/>
                <a:cs typeface="Times New Roman"/>
              </a:rPr>
              <a:t>All </a:t>
            </a:r>
            <a:r>
              <a:rPr sz="1200" b="1" spc="-10" dirty="0">
                <a:solidFill>
                  <a:srgbClr val="F87316"/>
                </a:solidFill>
                <a:latin typeface="Times New Roman"/>
                <a:cs typeface="Times New Roman"/>
              </a:rPr>
              <a:t>Operations?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2639314" y="3675126"/>
            <a:ext cx="5965825" cy="361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solidFill>
                  <a:srgbClr val="1E293A"/>
                </a:solidFill>
                <a:latin typeface="Times New Roman"/>
                <a:cs typeface="Times New Roman"/>
              </a:rPr>
              <a:t>Inventory</a:t>
            </a:r>
            <a:r>
              <a:rPr sz="1100" spc="-20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1E293A"/>
                </a:solidFill>
                <a:latin typeface="Times New Roman"/>
                <a:cs typeface="Times New Roman"/>
              </a:rPr>
              <a:t>operations</a:t>
            </a:r>
            <a:r>
              <a:rPr sz="1100" spc="-55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1E293A"/>
                </a:solidFill>
                <a:latin typeface="Times New Roman"/>
                <a:cs typeface="Times New Roman"/>
              </a:rPr>
              <a:t>inherently</a:t>
            </a:r>
            <a:r>
              <a:rPr sz="1100" spc="-45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1E293A"/>
                </a:solidFill>
                <a:latin typeface="Times New Roman"/>
                <a:cs typeface="Times New Roman"/>
              </a:rPr>
              <a:t>involve</a:t>
            </a:r>
            <a:r>
              <a:rPr sz="1100" spc="-10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1E293A"/>
                </a:solidFill>
                <a:latin typeface="Times New Roman"/>
                <a:cs typeface="Times New Roman"/>
              </a:rPr>
              <a:t>multiple</a:t>
            </a:r>
            <a:r>
              <a:rPr sz="1100" spc="-40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1E293A"/>
                </a:solidFill>
                <a:latin typeface="Times New Roman"/>
                <a:cs typeface="Times New Roman"/>
              </a:rPr>
              <a:t>DB writes</a:t>
            </a:r>
            <a:r>
              <a:rPr sz="1100" spc="-35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1E293A"/>
                </a:solidFill>
                <a:latin typeface="Times New Roman"/>
                <a:cs typeface="Times New Roman"/>
              </a:rPr>
              <a:t>(stock</a:t>
            </a:r>
            <a:r>
              <a:rPr sz="1100" spc="-40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1E293A"/>
                </a:solidFill>
                <a:latin typeface="Times New Roman"/>
                <a:cs typeface="Times New Roman"/>
              </a:rPr>
              <a:t>+</a:t>
            </a:r>
            <a:r>
              <a:rPr sz="1100" spc="-5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1E293A"/>
                </a:solidFill>
                <a:latin typeface="Times New Roman"/>
                <a:cs typeface="Times New Roman"/>
              </a:rPr>
              <a:t>order</a:t>
            </a:r>
            <a:r>
              <a:rPr sz="1100" spc="-35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1E293A"/>
                </a:solidFill>
                <a:latin typeface="Times New Roman"/>
                <a:cs typeface="Times New Roman"/>
              </a:rPr>
              <a:t>+ ledger).</a:t>
            </a:r>
            <a:r>
              <a:rPr sz="1100" spc="-45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1E293A"/>
                </a:solidFill>
                <a:latin typeface="Times New Roman"/>
                <a:cs typeface="Times New Roman"/>
              </a:rPr>
              <a:t>Without</a:t>
            </a:r>
            <a:r>
              <a:rPr sz="1100" spc="-50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1E293A"/>
                </a:solidFill>
                <a:latin typeface="Times New Roman"/>
                <a:cs typeface="Times New Roman"/>
              </a:rPr>
              <a:t>atomicity,</a:t>
            </a:r>
            <a:r>
              <a:rPr sz="1100" spc="-25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100" spc="-50" dirty="0">
                <a:solidFill>
                  <a:srgbClr val="1E293A"/>
                </a:solidFill>
                <a:latin typeface="Times New Roman"/>
                <a:cs typeface="Times New Roman"/>
              </a:rPr>
              <a:t>a </a:t>
            </a:r>
            <a:r>
              <a:rPr sz="1100" dirty="0">
                <a:solidFill>
                  <a:srgbClr val="1E293A"/>
                </a:solidFill>
                <a:latin typeface="Times New Roman"/>
                <a:cs typeface="Times New Roman"/>
              </a:rPr>
              <a:t>server</a:t>
            </a:r>
            <a:r>
              <a:rPr sz="1100" spc="-20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1E293A"/>
                </a:solidFill>
                <a:latin typeface="Times New Roman"/>
                <a:cs typeface="Times New Roman"/>
              </a:rPr>
              <a:t>crash</a:t>
            </a:r>
            <a:r>
              <a:rPr sz="1100" spc="-40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100" spc="-10" dirty="0">
                <a:solidFill>
                  <a:srgbClr val="1E293A"/>
                </a:solidFill>
                <a:latin typeface="Times New Roman"/>
                <a:cs typeface="Times New Roman"/>
              </a:rPr>
              <a:t>mid-</a:t>
            </a:r>
            <a:r>
              <a:rPr sz="1100" dirty="0">
                <a:solidFill>
                  <a:srgbClr val="1E293A"/>
                </a:solidFill>
                <a:latin typeface="Times New Roman"/>
                <a:cs typeface="Times New Roman"/>
              </a:rPr>
              <a:t>operation</a:t>
            </a:r>
            <a:r>
              <a:rPr sz="1100" spc="-35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1E293A"/>
                </a:solidFill>
                <a:latin typeface="Times New Roman"/>
                <a:cs typeface="Times New Roman"/>
              </a:rPr>
              <a:t>would</a:t>
            </a:r>
            <a:r>
              <a:rPr sz="1100" spc="-15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1E293A"/>
                </a:solidFill>
                <a:latin typeface="Times New Roman"/>
                <a:cs typeface="Times New Roman"/>
              </a:rPr>
              <a:t>leave</a:t>
            </a:r>
            <a:r>
              <a:rPr sz="1100" spc="-5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1E293A"/>
                </a:solidFill>
                <a:latin typeface="Times New Roman"/>
                <a:cs typeface="Times New Roman"/>
              </a:rPr>
              <a:t>data</a:t>
            </a:r>
            <a:r>
              <a:rPr sz="1100" spc="-25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1E293A"/>
                </a:solidFill>
                <a:latin typeface="Times New Roman"/>
                <a:cs typeface="Times New Roman"/>
              </a:rPr>
              <a:t>in</a:t>
            </a:r>
            <a:r>
              <a:rPr sz="1100" spc="-15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1E293A"/>
                </a:solidFill>
                <a:latin typeface="Times New Roman"/>
                <a:cs typeface="Times New Roman"/>
              </a:rPr>
              <a:t>an</a:t>
            </a:r>
            <a:r>
              <a:rPr sz="1100" spc="-5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1E293A"/>
                </a:solidFill>
                <a:latin typeface="Times New Roman"/>
                <a:cs typeface="Times New Roman"/>
              </a:rPr>
              <a:t>inconsistent</a:t>
            </a:r>
            <a:r>
              <a:rPr sz="1100" spc="-45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1E293A"/>
                </a:solidFill>
                <a:latin typeface="Times New Roman"/>
                <a:cs typeface="Times New Roman"/>
              </a:rPr>
              <a:t>state</a:t>
            </a:r>
            <a:r>
              <a:rPr sz="1100" spc="-15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1E293A"/>
                </a:solidFill>
                <a:latin typeface="Times New Roman"/>
                <a:cs typeface="Times New Roman"/>
              </a:rPr>
              <a:t>—</a:t>
            </a:r>
            <a:r>
              <a:rPr sz="1100" spc="-15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1E293A"/>
                </a:solidFill>
                <a:latin typeface="Times New Roman"/>
                <a:cs typeface="Times New Roman"/>
              </a:rPr>
              <a:t>unacceptable</a:t>
            </a:r>
            <a:r>
              <a:rPr sz="1100" spc="-50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1E293A"/>
                </a:solidFill>
                <a:latin typeface="Times New Roman"/>
                <a:cs typeface="Times New Roman"/>
              </a:rPr>
              <a:t>in</a:t>
            </a:r>
            <a:r>
              <a:rPr sz="1100" spc="-10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1E293A"/>
                </a:solidFill>
                <a:latin typeface="Times New Roman"/>
                <a:cs typeface="Times New Roman"/>
              </a:rPr>
              <a:t>enterprise</a:t>
            </a:r>
            <a:r>
              <a:rPr sz="1100" spc="-45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100" spc="-10" dirty="0">
                <a:solidFill>
                  <a:srgbClr val="1E293A"/>
                </a:solidFill>
                <a:latin typeface="Times New Roman"/>
                <a:cs typeface="Times New Roman"/>
              </a:rPr>
              <a:t>systems.</a:t>
            </a:r>
            <a:endParaRPr sz="1100">
              <a:latin typeface="Times New Roman"/>
              <a:cs typeface="Times New Roman"/>
            </a:endParaRPr>
          </a:p>
        </p:txBody>
      </p:sp>
      <p:grpSp>
        <p:nvGrpSpPr>
          <p:cNvPr id="44" name="object 44"/>
          <p:cNvGrpSpPr/>
          <p:nvPr/>
        </p:nvGrpSpPr>
        <p:grpSpPr>
          <a:xfrm>
            <a:off x="137160" y="4242809"/>
            <a:ext cx="8808085" cy="901065"/>
            <a:chOff x="137160" y="4242809"/>
            <a:chExt cx="8808085" cy="901065"/>
          </a:xfrm>
        </p:grpSpPr>
        <p:pic>
          <p:nvPicPr>
            <p:cNvPr id="45" name="object 4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7160" y="4242809"/>
              <a:ext cx="8807958" cy="900690"/>
            </a:xfrm>
            <a:prstGeom prst="rect">
              <a:avLst/>
            </a:prstGeom>
          </p:spPr>
        </p:pic>
        <p:sp>
          <p:nvSpPr>
            <p:cNvPr id="46" name="object 46"/>
            <p:cNvSpPr/>
            <p:nvPr/>
          </p:nvSpPr>
          <p:spPr>
            <a:xfrm>
              <a:off x="329184" y="4325111"/>
              <a:ext cx="8540750" cy="749935"/>
            </a:xfrm>
            <a:custGeom>
              <a:avLst/>
              <a:gdLst/>
              <a:ahLst/>
              <a:cxnLst/>
              <a:rect l="l" t="t" r="r" b="b"/>
              <a:pathLst>
                <a:path w="8540750" h="749935">
                  <a:moveTo>
                    <a:pt x="0" y="749808"/>
                  </a:moveTo>
                  <a:lnTo>
                    <a:pt x="8540496" y="749808"/>
                  </a:lnTo>
                  <a:lnTo>
                    <a:pt x="8540496" y="0"/>
                  </a:lnTo>
                  <a:lnTo>
                    <a:pt x="0" y="0"/>
                  </a:lnTo>
                  <a:lnTo>
                    <a:pt x="0" y="74980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274320" y="4325111"/>
              <a:ext cx="8595360" cy="749935"/>
            </a:xfrm>
            <a:custGeom>
              <a:avLst/>
              <a:gdLst/>
              <a:ahLst/>
              <a:cxnLst/>
              <a:rect l="l" t="t" r="r" b="b"/>
              <a:pathLst>
                <a:path w="8595360" h="749935">
                  <a:moveTo>
                    <a:pt x="0" y="749808"/>
                  </a:moveTo>
                  <a:lnTo>
                    <a:pt x="8595360" y="749808"/>
                  </a:lnTo>
                  <a:lnTo>
                    <a:pt x="8595360" y="0"/>
                  </a:lnTo>
                  <a:lnTo>
                    <a:pt x="0" y="0"/>
                  </a:lnTo>
                  <a:lnTo>
                    <a:pt x="0" y="749808"/>
                  </a:lnTo>
                  <a:close/>
                </a:path>
              </a:pathLst>
            </a:custGeom>
            <a:ln w="12700">
              <a:solidFill>
                <a:srgbClr val="E1E8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274320" y="4325111"/>
              <a:ext cx="55244" cy="749935"/>
            </a:xfrm>
            <a:custGeom>
              <a:avLst/>
              <a:gdLst/>
              <a:ahLst/>
              <a:cxnLst/>
              <a:rect l="l" t="t" r="r" b="b"/>
              <a:pathLst>
                <a:path w="55245" h="749935">
                  <a:moveTo>
                    <a:pt x="54864" y="0"/>
                  </a:moveTo>
                  <a:lnTo>
                    <a:pt x="0" y="0"/>
                  </a:lnTo>
                  <a:lnTo>
                    <a:pt x="0" y="749808"/>
                  </a:lnTo>
                  <a:lnTo>
                    <a:pt x="54864" y="749808"/>
                  </a:lnTo>
                  <a:lnTo>
                    <a:pt x="54864" y="0"/>
                  </a:lnTo>
                  <a:close/>
                </a:path>
              </a:pathLst>
            </a:custGeom>
            <a:solidFill>
              <a:srgbClr val="EE444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274320" y="4325111"/>
              <a:ext cx="55244" cy="749935"/>
            </a:xfrm>
            <a:custGeom>
              <a:avLst/>
              <a:gdLst/>
              <a:ahLst/>
              <a:cxnLst/>
              <a:rect l="l" t="t" r="r" b="b"/>
              <a:pathLst>
                <a:path w="55245" h="749935">
                  <a:moveTo>
                    <a:pt x="0" y="749808"/>
                  </a:moveTo>
                  <a:lnTo>
                    <a:pt x="54864" y="749808"/>
                  </a:lnTo>
                  <a:lnTo>
                    <a:pt x="54864" y="0"/>
                  </a:lnTo>
                  <a:lnTo>
                    <a:pt x="0" y="0"/>
                  </a:lnTo>
                  <a:lnTo>
                    <a:pt x="0" y="749808"/>
                  </a:lnTo>
                  <a:close/>
                </a:path>
              </a:pathLst>
            </a:custGeom>
            <a:ln w="12700">
              <a:solidFill>
                <a:srgbClr val="EE444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329184" y="4325111"/>
              <a:ext cx="2240280" cy="749935"/>
            </a:xfrm>
            <a:custGeom>
              <a:avLst/>
              <a:gdLst/>
              <a:ahLst/>
              <a:cxnLst/>
              <a:rect l="l" t="t" r="r" b="b"/>
              <a:pathLst>
                <a:path w="2240280" h="749935">
                  <a:moveTo>
                    <a:pt x="2240279" y="0"/>
                  </a:moveTo>
                  <a:lnTo>
                    <a:pt x="0" y="0"/>
                  </a:lnTo>
                  <a:lnTo>
                    <a:pt x="0" y="749808"/>
                  </a:lnTo>
                  <a:lnTo>
                    <a:pt x="2240279" y="749808"/>
                  </a:lnTo>
                  <a:lnTo>
                    <a:pt x="2240279" y="0"/>
                  </a:lnTo>
                  <a:close/>
                </a:path>
              </a:pathLst>
            </a:custGeom>
            <a:solidFill>
              <a:srgbClr val="EE4444">
                <a:alpha val="12156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329184" y="4325111"/>
              <a:ext cx="2240280" cy="749935"/>
            </a:xfrm>
            <a:custGeom>
              <a:avLst/>
              <a:gdLst/>
              <a:ahLst/>
              <a:cxnLst/>
              <a:rect l="l" t="t" r="r" b="b"/>
              <a:pathLst>
                <a:path w="2240280" h="749935">
                  <a:moveTo>
                    <a:pt x="0" y="749808"/>
                  </a:moveTo>
                  <a:lnTo>
                    <a:pt x="2240279" y="749808"/>
                  </a:lnTo>
                  <a:lnTo>
                    <a:pt x="2240279" y="0"/>
                  </a:lnTo>
                  <a:lnTo>
                    <a:pt x="0" y="0"/>
                  </a:lnTo>
                  <a:lnTo>
                    <a:pt x="0" y="749808"/>
                  </a:lnTo>
                  <a:close/>
                </a:path>
              </a:pathLst>
            </a:custGeom>
            <a:ln w="12700">
              <a:solidFill>
                <a:srgbClr val="EE444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2" name="object 52"/>
          <p:cNvSpPr txBox="1"/>
          <p:nvPr/>
        </p:nvSpPr>
        <p:spPr>
          <a:xfrm>
            <a:off x="398779" y="4592218"/>
            <a:ext cx="181610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EE4444"/>
                </a:solidFill>
                <a:latin typeface="Times New Roman"/>
                <a:cs typeface="Times New Roman"/>
              </a:rPr>
              <a:t>Why</a:t>
            </a:r>
            <a:r>
              <a:rPr sz="1200" b="1" spc="-30" dirty="0">
                <a:solidFill>
                  <a:srgbClr val="EE4444"/>
                </a:solidFill>
                <a:latin typeface="Times New Roman"/>
                <a:cs typeface="Times New Roman"/>
              </a:rPr>
              <a:t> </a:t>
            </a:r>
            <a:r>
              <a:rPr sz="1200" b="1" dirty="0">
                <a:solidFill>
                  <a:srgbClr val="EE4444"/>
                </a:solidFill>
                <a:latin typeface="Times New Roman"/>
                <a:cs typeface="Times New Roman"/>
              </a:rPr>
              <a:t>a</a:t>
            </a:r>
            <a:r>
              <a:rPr sz="1200" b="1" spc="-10" dirty="0">
                <a:solidFill>
                  <a:srgbClr val="EE4444"/>
                </a:solidFill>
                <a:latin typeface="Times New Roman"/>
                <a:cs typeface="Times New Roman"/>
              </a:rPr>
              <a:t> </a:t>
            </a:r>
            <a:r>
              <a:rPr sz="1200" b="1" dirty="0">
                <a:solidFill>
                  <a:srgbClr val="EE4444"/>
                </a:solidFill>
                <a:latin typeface="Times New Roman"/>
                <a:cs typeface="Times New Roman"/>
              </a:rPr>
              <a:t>Simulation</a:t>
            </a:r>
            <a:r>
              <a:rPr sz="1200" b="1" spc="-10" dirty="0">
                <a:solidFill>
                  <a:srgbClr val="EE4444"/>
                </a:solidFill>
                <a:latin typeface="Times New Roman"/>
                <a:cs typeface="Times New Roman"/>
              </a:rPr>
              <a:t> Module?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2639314" y="4516018"/>
            <a:ext cx="5666740" cy="3619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00" spc="-10" dirty="0">
                <a:solidFill>
                  <a:srgbClr val="1E293A"/>
                </a:solidFill>
                <a:latin typeface="Times New Roman"/>
                <a:cs typeface="Times New Roman"/>
              </a:rPr>
              <a:t>Real-</a:t>
            </a:r>
            <a:r>
              <a:rPr sz="1100" dirty="0">
                <a:solidFill>
                  <a:srgbClr val="1E293A"/>
                </a:solidFill>
                <a:latin typeface="Times New Roman"/>
                <a:cs typeface="Times New Roman"/>
              </a:rPr>
              <a:t>world</a:t>
            </a:r>
            <a:r>
              <a:rPr sz="1100" spc="-20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1E293A"/>
                </a:solidFill>
                <a:latin typeface="Times New Roman"/>
                <a:cs typeface="Times New Roman"/>
              </a:rPr>
              <a:t>systems are</a:t>
            </a:r>
            <a:r>
              <a:rPr sz="1100" spc="-15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1E293A"/>
                </a:solidFill>
                <a:latin typeface="Times New Roman"/>
                <a:cs typeface="Times New Roman"/>
              </a:rPr>
              <a:t>tested</a:t>
            </a:r>
            <a:r>
              <a:rPr sz="1100" spc="-30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1E293A"/>
                </a:solidFill>
                <a:latin typeface="Times New Roman"/>
                <a:cs typeface="Times New Roman"/>
              </a:rPr>
              <a:t>under</a:t>
            </a:r>
            <a:r>
              <a:rPr sz="1100" spc="-10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1E293A"/>
                </a:solidFill>
                <a:latin typeface="Times New Roman"/>
                <a:cs typeface="Times New Roman"/>
              </a:rPr>
              <a:t>load</a:t>
            </a:r>
            <a:r>
              <a:rPr sz="1100" spc="-10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1E293A"/>
                </a:solidFill>
                <a:latin typeface="Times New Roman"/>
                <a:cs typeface="Times New Roman"/>
              </a:rPr>
              <a:t>before</a:t>
            </a:r>
            <a:r>
              <a:rPr sz="1100" spc="-30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1E293A"/>
                </a:solidFill>
                <a:latin typeface="Times New Roman"/>
                <a:cs typeface="Times New Roman"/>
              </a:rPr>
              <a:t>production.</a:t>
            </a:r>
            <a:r>
              <a:rPr sz="1100" spc="-25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1E293A"/>
                </a:solidFill>
                <a:latin typeface="Times New Roman"/>
                <a:cs typeface="Times New Roman"/>
              </a:rPr>
              <a:t>The simulation</a:t>
            </a:r>
            <a:r>
              <a:rPr sz="1100" spc="-30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1E293A"/>
                </a:solidFill>
                <a:latin typeface="Times New Roman"/>
                <a:cs typeface="Times New Roman"/>
              </a:rPr>
              <a:t>module</a:t>
            </a:r>
            <a:r>
              <a:rPr sz="1100" spc="-5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1E293A"/>
                </a:solidFill>
                <a:latin typeface="Times New Roman"/>
                <a:cs typeface="Times New Roman"/>
              </a:rPr>
              <a:t>validates</a:t>
            </a:r>
            <a:r>
              <a:rPr sz="1100" spc="-25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100" spc="-10" dirty="0">
                <a:solidFill>
                  <a:srgbClr val="1E293A"/>
                </a:solidFill>
                <a:latin typeface="Times New Roman"/>
                <a:cs typeface="Times New Roman"/>
              </a:rPr>
              <a:t>system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100" dirty="0">
                <a:solidFill>
                  <a:srgbClr val="1E293A"/>
                </a:solidFill>
                <a:latin typeface="Times New Roman"/>
                <a:cs typeface="Times New Roman"/>
              </a:rPr>
              <a:t>behavior</a:t>
            </a:r>
            <a:r>
              <a:rPr sz="1100" spc="-25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1E293A"/>
                </a:solidFill>
                <a:latin typeface="Times New Roman"/>
                <a:cs typeface="Times New Roman"/>
              </a:rPr>
              <a:t>under</a:t>
            </a:r>
            <a:r>
              <a:rPr sz="1100" spc="-20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1E293A"/>
                </a:solidFill>
                <a:latin typeface="Times New Roman"/>
                <a:cs typeface="Times New Roman"/>
              </a:rPr>
              <a:t>concurrent</a:t>
            </a:r>
            <a:r>
              <a:rPr sz="1100" spc="-55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1E293A"/>
                </a:solidFill>
                <a:latin typeface="Times New Roman"/>
                <a:cs typeface="Times New Roman"/>
              </a:rPr>
              <a:t>order</a:t>
            </a:r>
            <a:r>
              <a:rPr sz="1100" spc="-25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1E293A"/>
                </a:solidFill>
                <a:latin typeface="Times New Roman"/>
                <a:cs typeface="Times New Roman"/>
              </a:rPr>
              <a:t>processing</a:t>
            </a:r>
            <a:r>
              <a:rPr sz="1100" spc="-40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1E293A"/>
                </a:solidFill>
                <a:latin typeface="Times New Roman"/>
                <a:cs typeface="Times New Roman"/>
              </a:rPr>
              <a:t>and</a:t>
            </a:r>
            <a:r>
              <a:rPr sz="1100" spc="-10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1E293A"/>
                </a:solidFill>
                <a:latin typeface="Times New Roman"/>
                <a:cs typeface="Times New Roman"/>
              </a:rPr>
              <a:t>ensures</a:t>
            </a:r>
            <a:r>
              <a:rPr sz="1100" spc="-35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1E293A"/>
                </a:solidFill>
                <a:latin typeface="Times New Roman"/>
                <a:cs typeface="Times New Roman"/>
              </a:rPr>
              <a:t>threshold</a:t>
            </a:r>
            <a:r>
              <a:rPr sz="1100" spc="-55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1E293A"/>
                </a:solidFill>
                <a:latin typeface="Times New Roman"/>
                <a:cs typeface="Times New Roman"/>
              </a:rPr>
              <a:t>logic</a:t>
            </a:r>
            <a:r>
              <a:rPr sz="1100" spc="-25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1E293A"/>
                </a:solidFill>
                <a:latin typeface="Times New Roman"/>
                <a:cs typeface="Times New Roman"/>
              </a:rPr>
              <a:t>fires</a:t>
            </a:r>
            <a:r>
              <a:rPr sz="1100" spc="-35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1E293A"/>
                </a:solidFill>
                <a:latin typeface="Times New Roman"/>
                <a:cs typeface="Times New Roman"/>
              </a:rPr>
              <a:t>correctly</a:t>
            </a:r>
            <a:r>
              <a:rPr sz="1100" spc="-40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1E293A"/>
                </a:solidFill>
                <a:latin typeface="Times New Roman"/>
                <a:cs typeface="Times New Roman"/>
              </a:rPr>
              <a:t>at</a:t>
            </a:r>
            <a:r>
              <a:rPr sz="1100" spc="-25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100" spc="-10" dirty="0">
                <a:solidFill>
                  <a:srgbClr val="1E293A"/>
                </a:solidFill>
                <a:latin typeface="Times New Roman"/>
                <a:cs typeface="Times New Roman"/>
              </a:rPr>
              <a:t>scale.</a:t>
            </a:r>
            <a:endParaRPr sz="11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4000" y="0"/>
                </a:moveTo>
                <a:lnTo>
                  <a:pt x="0" y="0"/>
                </a:lnTo>
                <a:lnTo>
                  <a:pt x="0" y="5143500"/>
                </a:lnTo>
                <a:lnTo>
                  <a:pt x="9144000" y="5143500"/>
                </a:lnTo>
                <a:lnTo>
                  <a:pt x="9144000" y="0"/>
                </a:lnTo>
                <a:close/>
              </a:path>
            </a:pathLst>
          </a:custGeom>
          <a:solidFill>
            <a:srgbClr val="EFF4F8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-6350" y="-6350"/>
            <a:ext cx="9156700" cy="86360"/>
            <a:chOff x="-6350" y="-6350"/>
            <a:chExt cx="9156700" cy="86360"/>
          </a:xfrm>
        </p:grpSpPr>
        <p:sp>
          <p:nvSpPr>
            <p:cNvPr id="4" name="object 4"/>
            <p:cNvSpPr/>
            <p:nvPr/>
          </p:nvSpPr>
          <p:spPr>
            <a:xfrm>
              <a:off x="0" y="0"/>
              <a:ext cx="9144000" cy="73660"/>
            </a:xfrm>
            <a:custGeom>
              <a:avLst/>
              <a:gdLst/>
              <a:ahLst/>
              <a:cxnLst/>
              <a:rect l="l" t="t" r="r" b="b"/>
              <a:pathLst>
                <a:path w="9144000" h="73660">
                  <a:moveTo>
                    <a:pt x="9144000" y="0"/>
                  </a:moveTo>
                  <a:lnTo>
                    <a:pt x="0" y="0"/>
                  </a:lnTo>
                  <a:lnTo>
                    <a:pt x="0" y="73151"/>
                  </a:lnTo>
                  <a:lnTo>
                    <a:pt x="9144000" y="73151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F59E0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0"/>
              <a:ext cx="9144000" cy="73660"/>
            </a:xfrm>
            <a:custGeom>
              <a:avLst/>
              <a:gdLst/>
              <a:ahLst/>
              <a:cxnLst/>
              <a:rect l="l" t="t" r="r" b="b"/>
              <a:pathLst>
                <a:path w="9144000" h="73660">
                  <a:moveTo>
                    <a:pt x="0" y="73151"/>
                  </a:moveTo>
                  <a:lnTo>
                    <a:pt x="9144000" y="73151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73151"/>
                  </a:lnTo>
                  <a:close/>
                </a:path>
              </a:pathLst>
            </a:custGeom>
            <a:ln w="12700">
              <a:solidFill>
                <a:srgbClr val="F59E0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444500" y="55297"/>
            <a:ext cx="4922520" cy="792480"/>
          </a:xfrm>
          <a:prstGeom prst="rect">
            <a:avLst/>
          </a:prstGeom>
        </p:spPr>
        <p:txBody>
          <a:bodyPr vert="horz" wrap="square" lIns="0" tIns="1282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10"/>
              </a:spcBef>
            </a:pPr>
            <a:r>
              <a:rPr spc="-10" dirty="0">
                <a:solidFill>
                  <a:srgbClr val="000000"/>
                </a:solidFill>
              </a:rPr>
              <a:t>Project</a:t>
            </a:r>
            <a:r>
              <a:rPr spc="-180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Achievements</a:t>
            </a:r>
            <a:r>
              <a:rPr spc="-60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&amp;</a:t>
            </a:r>
            <a:r>
              <a:rPr spc="-25" dirty="0">
                <a:solidFill>
                  <a:srgbClr val="000000"/>
                </a:solidFill>
              </a:rPr>
              <a:t> </a:t>
            </a:r>
            <a:r>
              <a:rPr spc="-10" dirty="0">
                <a:solidFill>
                  <a:srgbClr val="000000"/>
                </a:solidFill>
              </a:rPr>
              <a:t>Outcomes</a:t>
            </a:r>
          </a:p>
          <a:p>
            <a:pPr marL="12700">
              <a:lnSpc>
                <a:spcPct val="100000"/>
              </a:lnSpc>
              <a:spcBef>
                <a:spcPts val="445"/>
              </a:spcBef>
            </a:pPr>
            <a:r>
              <a:rPr sz="1300" b="0" i="1" dirty="0">
                <a:solidFill>
                  <a:srgbClr val="05B6D3"/>
                </a:solidFill>
                <a:latin typeface="Times New Roman"/>
                <a:cs typeface="Times New Roman"/>
              </a:rPr>
              <a:t>What</a:t>
            </a:r>
            <a:r>
              <a:rPr sz="1300" b="0" i="1" spc="-20" dirty="0">
                <a:solidFill>
                  <a:srgbClr val="05B6D3"/>
                </a:solidFill>
                <a:latin typeface="Times New Roman"/>
                <a:cs typeface="Times New Roman"/>
              </a:rPr>
              <a:t> </a:t>
            </a:r>
            <a:r>
              <a:rPr sz="1300" b="0" i="1" dirty="0">
                <a:solidFill>
                  <a:srgbClr val="05B6D3"/>
                </a:solidFill>
                <a:latin typeface="Times New Roman"/>
                <a:cs typeface="Times New Roman"/>
              </a:rPr>
              <a:t>Was</a:t>
            </a:r>
            <a:r>
              <a:rPr sz="1300" b="0" i="1" spc="-15" dirty="0">
                <a:solidFill>
                  <a:srgbClr val="05B6D3"/>
                </a:solidFill>
                <a:latin typeface="Times New Roman"/>
                <a:cs typeface="Times New Roman"/>
              </a:rPr>
              <a:t> </a:t>
            </a:r>
            <a:r>
              <a:rPr sz="1300" b="0" i="1" dirty="0">
                <a:solidFill>
                  <a:srgbClr val="05B6D3"/>
                </a:solidFill>
                <a:latin typeface="Times New Roman"/>
                <a:cs typeface="Times New Roman"/>
              </a:rPr>
              <a:t>Delivered</a:t>
            </a:r>
            <a:r>
              <a:rPr sz="1300" b="0" i="1" spc="-35" dirty="0">
                <a:solidFill>
                  <a:srgbClr val="05B6D3"/>
                </a:solidFill>
                <a:latin typeface="Times New Roman"/>
                <a:cs typeface="Times New Roman"/>
              </a:rPr>
              <a:t> </a:t>
            </a:r>
            <a:r>
              <a:rPr sz="1300" b="0" i="1" dirty="0">
                <a:solidFill>
                  <a:srgbClr val="05B6D3"/>
                </a:solidFill>
                <a:latin typeface="Times New Roman"/>
                <a:cs typeface="Times New Roman"/>
              </a:rPr>
              <a:t>&amp;</a:t>
            </a:r>
            <a:r>
              <a:rPr sz="1300" b="0" i="1" spc="-40" dirty="0">
                <a:solidFill>
                  <a:srgbClr val="05B6D3"/>
                </a:solidFill>
                <a:latin typeface="Times New Roman"/>
                <a:cs typeface="Times New Roman"/>
              </a:rPr>
              <a:t> </a:t>
            </a:r>
            <a:r>
              <a:rPr sz="1300" b="0" i="1" dirty="0">
                <a:solidFill>
                  <a:srgbClr val="05B6D3"/>
                </a:solidFill>
                <a:latin typeface="Times New Roman"/>
                <a:cs typeface="Times New Roman"/>
              </a:rPr>
              <a:t>What</a:t>
            </a:r>
            <a:r>
              <a:rPr sz="1300" b="0" i="1" spc="-5" dirty="0">
                <a:solidFill>
                  <a:srgbClr val="05B6D3"/>
                </a:solidFill>
                <a:latin typeface="Times New Roman"/>
                <a:cs typeface="Times New Roman"/>
              </a:rPr>
              <a:t> </a:t>
            </a:r>
            <a:r>
              <a:rPr sz="1300" b="0" i="1" dirty="0">
                <a:solidFill>
                  <a:srgbClr val="05B6D3"/>
                </a:solidFill>
                <a:latin typeface="Times New Roman"/>
                <a:cs typeface="Times New Roman"/>
              </a:rPr>
              <a:t>Was</a:t>
            </a:r>
            <a:r>
              <a:rPr sz="1300" b="0" i="1" spc="-30" dirty="0">
                <a:solidFill>
                  <a:srgbClr val="05B6D3"/>
                </a:solidFill>
                <a:latin typeface="Times New Roman"/>
                <a:cs typeface="Times New Roman"/>
              </a:rPr>
              <a:t> </a:t>
            </a:r>
            <a:r>
              <a:rPr sz="1300" b="0" i="1" spc="-10" dirty="0">
                <a:solidFill>
                  <a:srgbClr val="05B6D3"/>
                </a:solidFill>
                <a:latin typeface="Times New Roman"/>
                <a:cs typeface="Times New Roman"/>
              </a:rPr>
              <a:t>Learned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74320" y="1005839"/>
            <a:ext cx="2011680" cy="1417320"/>
          </a:xfrm>
          <a:prstGeom prst="rect">
            <a:avLst/>
          </a:prstGeom>
          <a:solidFill>
            <a:srgbClr val="1B2A3D"/>
          </a:solidFill>
          <a:ln w="19050">
            <a:solidFill>
              <a:srgbClr val="0891B1"/>
            </a:solidFill>
          </a:ln>
        </p:spPr>
        <p:txBody>
          <a:bodyPr vert="horz" wrap="square" lIns="0" tIns="11239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885"/>
              </a:spcBef>
            </a:pPr>
            <a:r>
              <a:rPr sz="4000" b="1" spc="-25" dirty="0">
                <a:solidFill>
                  <a:srgbClr val="0891B1"/>
                </a:solidFill>
                <a:latin typeface="Times New Roman"/>
                <a:cs typeface="Times New Roman"/>
              </a:rPr>
              <a:t>7+</a:t>
            </a:r>
            <a:endParaRPr sz="4000">
              <a:latin typeface="Times New Roman"/>
              <a:cs typeface="Times New Roman"/>
            </a:endParaRPr>
          </a:p>
          <a:p>
            <a:pPr marL="606425" marR="598805" algn="ctr">
              <a:lnSpc>
                <a:spcPct val="100000"/>
              </a:lnSpc>
              <a:spcBef>
                <a:spcPts val="1425"/>
              </a:spcBef>
            </a:pPr>
            <a:r>
              <a:rPr sz="1100" dirty="0">
                <a:solidFill>
                  <a:srgbClr val="FFFFFF"/>
                </a:solidFill>
                <a:latin typeface="Times New Roman"/>
                <a:cs typeface="Times New Roman"/>
              </a:rPr>
              <a:t>Core</a:t>
            </a:r>
            <a:r>
              <a:rPr sz="11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Times New Roman"/>
                <a:cs typeface="Times New Roman"/>
              </a:rPr>
              <a:t>Modules Delivered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423160" y="1005839"/>
            <a:ext cx="2011680" cy="1417320"/>
          </a:xfrm>
          <a:prstGeom prst="rect">
            <a:avLst/>
          </a:prstGeom>
          <a:solidFill>
            <a:srgbClr val="1B2A3D"/>
          </a:solidFill>
          <a:ln w="19050">
            <a:solidFill>
              <a:srgbClr val="0FB881"/>
            </a:solidFill>
          </a:ln>
        </p:spPr>
        <p:txBody>
          <a:bodyPr vert="horz" wrap="square" lIns="0" tIns="112395" rIns="0" bIns="0" rtlCol="0">
            <a:spAutoFit/>
          </a:bodyPr>
          <a:lstStyle/>
          <a:p>
            <a:pPr marL="1270" algn="ctr">
              <a:lnSpc>
                <a:spcPct val="100000"/>
              </a:lnSpc>
              <a:spcBef>
                <a:spcPts val="885"/>
              </a:spcBef>
            </a:pPr>
            <a:r>
              <a:rPr sz="4000" b="1" spc="-20" dirty="0">
                <a:solidFill>
                  <a:srgbClr val="0FB881"/>
                </a:solidFill>
                <a:latin typeface="Times New Roman"/>
                <a:cs typeface="Times New Roman"/>
              </a:rPr>
              <a:t>100%</a:t>
            </a:r>
            <a:endParaRPr sz="4000">
              <a:latin typeface="Times New Roman"/>
              <a:cs typeface="Times New Roman"/>
            </a:endParaRPr>
          </a:p>
          <a:p>
            <a:pPr marL="518159" marR="511809" algn="ctr">
              <a:lnSpc>
                <a:spcPct val="100000"/>
              </a:lnSpc>
              <a:spcBef>
                <a:spcPts val="1425"/>
              </a:spcBef>
            </a:pPr>
            <a:r>
              <a:rPr sz="1100" spc="-25" dirty="0">
                <a:solidFill>
                  <a:srgbClr val="FFFFFF"/>
                </a:solidFill>
                <a:latin typeface="Times New Roman"/>
                <a:cs typeface="Times New Roman"/>
              </a:rPr>
              <a:t>ACID-</a:t>
            </a:r>
            <a:r>
              <a:rPr sz="1100" spc="-10" dirty="0">
                <a:solidFill>
                  <a:srgbClr val="FFFFFF"/>
                </a:solidFill>
                <a:latin typeface="Times New Roman"/>
                <a:cs typeface="Times New Roman"/>
              </a:rPr>
              <a:t>Compliant Transactions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572000" y="1005839"/>
            <a:ext cx="2011680" cy="1417320"/>
          </a:xfrm>
          <a:prstGeom prst="rect">
            <a:avLst/>
          </a:prstGeom>
          <a:solidFill>
            <a:srgbClr val="1B2A3D"/>
          </a:solidFill>
          <a:ln w="19050">
            <a:solidFill>
              <a:srgbClr val="8A5CF6"/>
            </a:solidFill>
          </a:ln>
        </p:spPr>
        <p:txBody>
          <a:bodyPr vert="horz" wrap="square" lIns="0" tIns="11239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885"/>
              </a:spcBef>
            </a:pPr>
            <a:r>
              <a:rPr sz="4000" b="1" spc="-50" dirty="0">
                <a:solidFill>
                  <a:srgbClr val="8A5CF6"/>
                </a:solidFill>
                <a:latin typeface="Times New Roman"/>
                <a:cs typeface="Times New Roman"/>
              </a:rPr>
              <a:t>3</a:t>
            </a:r>
            <a:endParaRPr sz="4000">
              <a:latin typeface="Times New Roman"/>
              <a:cs typeface="Times New Roman"/>
            </a:endParaRPr>
          </a:p>
          <a:p>
            <a:pPr marL="697230" marR="688340" algn="ctr">
              <a:lnSpc>
                <a:spcPct val="100000"/>
              </a:lnSpc>
              <a:spcBef>
                <a:spcPts val="1425"/>
              </a:spcBef>
            </a:pPr>
            <a:r>
              <a:rPr sz="1100" dirty="0">
                <a:solidFill>
                  <a:srgbClr val="FFFFFF"/>
                </a:solidFill>
                <a:latin typeface="Times New Roman"/>
                <a:cs typeface="Times New Roman"/>
              </a:rPr>
              <a:t>User</a:t>
            </a:r>
            <a:r>
              <a:rPr sz="11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Times New Roman"/>
                <a:cs typeface="Times New Roman"/>
              </a:rPr>
              <a:t>Roles (RBAC)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720840" y="1005839"/>
            <a:ext cx="2011680" cy="1417320"/>
          </a:xfrm>
          <a:prstGeom prst="rect">
            <a:avLst/>
          </a:prstGeom>
          <a:solidFill>
            <a:srgbClr val="1B2A3D"/>
          </a:solidFill>
          <a:ln w="19050">
            <a:solidFill>
              <a:srgbClr val="F87316"/>
            </a:solidFill>
          </a:ln>
        </p:spPr>
        <p:txBody>
          <a:bodyPr vert="horz" wrap="square" lIns="0" tIns="11239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885"/>
              </a:spcBef>
            </a:pPr>
            <a:r>
              <a:rPr sz="4000" b="1" spc="-50" dirty="0">
                <a:solidFill>
                  <a:srgbClr val="F87316"/>
                </a:solidFill>
                <a:latin typeface="Times New Roman"/>
                <a:cs typeface="Times New Roman"/>
              </a:rPr>
              <a:t>4</a:t>
            </a:r>
            <a:endParaRPr sz="4000">
              <a:latin typeface="Times New Roman"/>
              <a:cs typeface="Times New Roman"/>
            </a:endParaRPr>
          </a:p>
          <a:p>
            <a:pPr marL="656590" marR="647065" algn="ctr">
              <a:lnSpc>
                <a:spcPct val="100000"/>
              </a:lnSpc>
              <a:spcBef>
                <a:spcPts val="1425"/>
              </a:spcBef>
            </a:pPr>
            <a:r>
              <a:rPr sz="1100" spc="-10" dirty="0">
                <a:solidFill>
                  <a:srgbClr val="FFFFFF"/>
                </a:solidFill>
                <a:latin typeface="Times New Roman"/>
                <a:cs typeface="Times New Roman"/>
              </a:rPr>
              <a:t>Architecture Layers</a:t>
            </a:r>
            <a:endParaRPr sz="1100">
              <a:latin typeface="Times New Roman"/>
              <a:cs typeface="Times New Roman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137160" y="2523731"/>
            <a:ext cx="3001645" cy="2590165"/>
            <a:chOff x="137160" y="2523731"/>
            <a:chExt cx="3001645" cy="2590165"/>
          </a:xfrm>
        </p:grpSpPr>
        <p:pic>
          <p:nvPicPr>
            <p:cNvPr id="12" name="object 1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7160" y="2523731"/>
              <a:ext cx="3001518" cy="2590038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274320" y="2953511"/>
              <a:ext cx="2788920" cy="2030095"/>
            </a:xfrm>
            <a:custGeom>
              <a:avLst/>
              <a:gdLst/>
              <a:ahLst/>
              <a:cxnLst/>
              <a:rect l="l" t="t" r="r" b="b"/>
              <a:pathLst>
                <a:path w="2788920" h="2030095">
                  <a:moveTo>
                    <a:pt x="0" y="2029968"/>
                  </a:moveTo>
                  <a:lnTo>
                    <a:pt x="2788920" y="2029968"/>
                  </a:lnTo>
                  <a:lnTo>
                    <a:pt x="2788920" y="0"/>
                  </a:lnTo>
                  <a:lnTo>
                    <a:pt x="0" y="0"/>
                  </a:lnTo>
                  <a:lnTo>
                    <a:pt x="0" y="2029968"/>
                  </a:lnTo>
                  <a:close/>
                </a:path>
              </a:pathLst>
            </a:custGeom>
            <a:solidFill>
              <a:srgbClr val="1B2A3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274320" y="2606039"/>
              <a:ext cx="2788920" cy="2377440"/>
            </a:xfrm>
            <a:custGeom>
              <a:avLst/>
              <a:gdLst/>
              <a:ahLst/>
              <a:cxnLst/>
              <a:rect l="l" t="t" r="r" b="b"/>
              <a:pathLst>
                <a:path w="2788920" h="2377440">
                  <a:moveTo>
                    <a:pt x="0" y="2377440"/>
                  </a:moveTo>
                  <a:lnTo>
                    <a:pt x="2788920" y="2377440"/>
                  </a:lnTo>
                  <a:lnTo>
                    <a:pt x="2788920" y="0"/>
                  </a:lnTo>
                  <a:lnTo>
                    <a:pt x="0" y="0"/>
                  </a:lnTo>
                  <a:lnTo>
                    <a:pt x="0" y="2377440"/>
                  </a:lnTo>
                  <a:close/>
                </a:path>
              </a:pathLst>
            </a:custGeom>
            <a:ln w="12699">
              <a:solidFill>
                <a:srgbClr val="E1E8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274320" y="2606039"/>
            <a:ext cx="2788920" cy="347980"/>
          </a:xfrm>
          <a:prstGeom prst="rect">
            <a:avLst/>
          </a:prstGeom>
          <a:solidFill>
            <a:srgbClr val="0891B1"/>
          </a:solidFill>
          <a:ln w="12700">
            <a:solidFill>
              <a:srgbClr val="0891B1"/>
            </a:solidFill>
          </a:ln>
        </p:spPr>
        <p:txBody>
          <a:bodyPr vert="horz" wrap="square" lIns="0" tIns="78105" rIns="0" bIns="0" rtlCol="0">
            <a:spAutoFit/>
          </a:bodyPr>
          <a:lstStyle/>
          <a:p>
            <a:pPr marL="45085">
              <a:lnSpc>
                <a:spcPct val="100000"/>
              </a:lnSpc>
              <a:spcBef>
                <a:spcPts val="615"/>
              </a:spcBef>
            </a:pPr>
            <a:r>
              <a:rPr sz="1200" b="1" dirty="0">
                <a:solidFill>
                  <a:srgbClr val="FFFFFF"/>
                </a:solidFill>
                <a:latin typeface="Times New Roman"/>
                <a:cs typeface="Times New Roman"/>
              </a:rPr>
              <a:t>Technical</a:t>
            </a:r>
            <a:r>
              <a:rPr sz="1200" b="1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200" b="1" dirty="0">
                <a:solidFill>
                  <a:srgbClr val="FFFFFF"/>
                </a:solidFill>
                <a:latin typeface="Times New Roman"/>
                <a:cs typeface="Times New Roman"/>
              </a:rPr>
              <a:t>Skills</a:t>
            </a:r>
            <a:r>
              <a:rPr sz="1200" b="1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2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Gained</a:t>
            </a:r>
            <a:endParaRPr sz="1200">
              <a:latin typeface="Times New Roman"/>
              <a:cs typeface="Times New Roman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432562" y="2523731"/>
            <a:ext cx="5632450" cy="2590165"/>
            <a:chOff x="432562" y="2523731"/>
            <a:chExt cx="5632450" cy="2590165"/>
          </a:xfrm>
        </p:grpSpPr>
        <p:pic>
          <p:nvPicPr>
            <p:cNvPr id="17" name="object 1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32562" y="3175761"/>
              <a:ext cx="122428" cy="122427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32562" y="3578097"/>
              <a:ext cx="122428" cy="122428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32562" y="4135881"/>
              <a:ext cx="122428" cy="122428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32562" y="4607852"/>
              <a:ext cx="122428" cy="122428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063240" y="2523731"/>
              <a:ext cx="3001517" cy="2590038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3200400" y="2953511"/>
              <a:ext cx="2788920" cy="2030095"/>
            </a:xfrm>
            <a:custGeom>
              <a:avLst/>
              <a:gdLst/>
              <a:ahLst/>
              <a:cxnLst/>
              <a:rect l="l" t="t" r="r" b="b"/>
              <a:pathLst>
                <a:path w="2788920" h="2030095">
                  <a:moveTo>
                    <a:pt x="0" y="2029968"/>
                  </a:moveTo>
                  <a:lnTo>
                    <a:pt x="2788920" y="2029968"/>
                  </a:lnTo>
                  <a:lnTo>
                    <a:pt x="2788920" y="0"/>
                  </a:lnTo>
                  <a:lnTo>
                    <a:pt x="0" y="0"/>
                  </a:lnTo>
                  <a:lnTo>
                    <a:pt x="0" y="2029968"/>
                  </a:lnTo>
                  <a:close/>
                </a:path>
              </a:pathLst>
            </a:custGeom>
            <a:solidFill>
              <a:srgbClr val="1B2A3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3200400" y="2606039"/>
              <a:ext cx="2788920" cy="2377440"/>
            </a:xfrm>
            <a:custGeom>
              <a:avLst/>
              <a:gdLst/>
              <a:ahLst/>
              <a:cxnLst/>
              <a:rect l="l" t="t" r="r" b="b"/>
              <a:pathLst>
                <a:path w="2788920" h="2377440">
                  <a:moveTo>
                    <a:pt x="0" y="2377440"/>
                  </a:moveTo>
                  <a:lnTo>
                    <a:pt x="2788920" y="2377440"/>
                  </a:lnTo>
                  <a:lnTo>
                    <a:pt x="2788920" y="0"/>
                  </a:lnTo>
                  <a:lnTo>
                    <a:pt x="0" y="0"/>
                  </a:lnTo>
                  <a:lnTo>
                    <a:pt x="0" y="2377440"/>
                  </a:lnTo>
                  <a:close/>
                </a:path>
              </a:pathLst>
            </a:custGeom>
            <a:ln w="12700">
              <a:solidFill>
                <a:srgbClr val="E1E8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621791" y="3136773"/>
            <a:ext cx="2239010" cy="11455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solidFill>
                  <a:srgbClr val="93A2B8"/>
                </a:solidFill>
                <a:latin typeface="Times New Roman"/>
                <a:cs typeface="Times New Roman"/>
              </a:rPr>
              <a:t>Spring</a:t>
            </a:r>
            <a:r>
              <a:rPr sz="1100" spc="-25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93A2B8"/>
                </a:solidFill>
                <a:latin typeface="Times New Roman"/>
                <a:cs typeface="Times New Roman"/>
              </a:rPr>
              <a:t>Boot</a:t>
            </a:r>
            <a:r>
              <a:rPr sz="1100" spc="-5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100" spc="-10" dirty="0">
                <a:solidFill>
                  <a:srgbClr val="93A2B8"/>
                </a:solidFill>
                <a:latin typeface="Times New Roman"/>
                <a:cs typeface="Times New Roman"/>
              </a:rPr>
              <a:t>auto-</a:t>
            </a:r>
            <a:r>
              <a:rPr sz="1100" dirty="0">
                <a:solidFill>
                  <a:srgbClr val="93A2B8"/>
                </a:solidFill>
                <a:latin typeface="Times New Roman"/>
                <a:cs typeface="Times New Roman"/>
              </a:rPr>
              <a:t>configuration</a:t>
            </a:r>
            <a:r>
              <a:rPr sz="1100" spc="-40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100" spc="-10" dirty="0">
                <a:solidFill>
                  <a:srgbClr val="93A2B8"/>
                </a:solidFill>
                <a:latin typeface="Times New Roman"/>
                <a:cs typeface="Times New Roman"/>
              </a:rPr>
              <a:t>mastery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00"/>
              </a:spcBef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r>
              <a:rPr sz="1100" dirty="0">
                <a:solidFill>
                  <a:srgbClr val="93A2B8"/>
                </a:solidFill>
                <a:latin typeface="Times New Roman"/>
                <a:cs typeface="Times New Roman"/>
              </a:rPr>
              <a:t>JPA</a:t>
            </a:r>
            <a:r>
              <a:rPr sz="1100" spc="-20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93A2B8"/>
                </a:solidFill>
                <a:latin typeface="Times New Roman"/>
                <a:cs typeface="Times New Roman"/>
              </a:rPr>
              <a:t>entity</a:t>
            </a:r>
            <a:r>
              <a:rPr sz="1100" spc="-35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93A2B8"/>
                </a:solidFill>
                <a:latin typeface="Times New Roman"/>
                <a:cs typeface="Times New Roman"/>
              </a:rPr>
              <a:t>relationships</a:t>
            </a:r>
            <a:r>
              <a:rPr sz="1100" spc="-30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100" spc="-10" dirty="0">
                <a:solidFill>
                  <a:srgbClr val="93A2B8"/>
                </a:solidFill>
                <a:latin typeface="Times New Roman"/>
                <a:cs typeface="Times New Roman"/>
              </a:rPr>
              <a:t>(OneToMany,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r>
              <a:rPr sz="1100" spc="-10" dirty="0">
                <a:solidFill>
                  <a:srgbClr val="93A2B8"/>
                </a:solidFill>
                <a:latin typeface="Times New Roman"/>
                <a:cs typeface="Times New Roman"/>
              </a:rPr>
              <a:t>ManyToOne)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95"/>
              </a:spcBef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r>
              <a:rPr sz="1100" spc="-10" dirty="0">
                <a:solidFill>
                  <a:srgbClr val="93A2B8"/>
                </a:solidFill>
                <a:latin typeface="Times New Roman"/>
                <a:cs typeface="Times New Roman"/>
              </a:rPr>
              <a:t>@Transactional</a:t>
            </a:r>
            <a:r>
              <a:rPr sz="1100" spc="10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93A2B8"/>
                </a:solidFill>
                <a:latin typeface="Times New Roman"/>
                <a:cs typeface="Times New Roman"/>
              </a:rPr>
              <a:t>rollback</a:t>
            </a:r>
            <a:r>
              <a:rPr sz="1100" spc="20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100" spc="-10" dirty="0">
                <a:solidFill>
                  <a:srgbClr val="93A2B8"/>
                </a:solidFill>
                <a:latin typeface="Times New Roman"/>
                <a:cs typeface="Times New Roman"/>
              </a:rPr>
              <a:t>handling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621791" y="4563262"/>
            <a:ext cx="1786255" cy="1943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sz="1100" dirty="0">
                <a:solidFill>
                  <a:srgbClr val="93A2B8"/>
                </a:solidFill>
                <a:latin typeface="Times New Roman"/>
                <a:cs typeface="Times New Roman"/>
              </a:rPr>
              <a:t>Thymeleaf</a:t>
            </a:r>
            <a:r>
              <a:rPr sz="1100" spc="-35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93A2B8"/>
                </a:solidFill>
                <a:latin typeface="Times New Roman"/>
                <a:cs typeface="Times New Roman"/>
              </a:rPr>
              <a:t>fragment</a:t>
            </a:r>
            <a:r>
              <a:rPr sz="1100" spc="-35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100" spc="-10" dirty="0">
                <a:solidFill>
                  <a:srgbClr val="93A2B8"/>
                </a:solidFill>
                <a:latin typeface="Times New Roman"/>
                <a:cs typeface="Times New Roman"/>
              </a:rPr>
              <a:t>templating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3200400" y="2606039"/>
            <a:ext cx="2788920" cy="347980"/>
          </a:xfrm>
          <a:prstGeom prst="rect">
            <a:avLst/>
          </a:prstGeom>
          <a:solidFill>
            <a:srgbClr val="0FB881"/>
          </a:solidFill>
          <a:ln w="12700">
            <a:solidFill>
              <a:srgbClr val="0FB881"/>
            </a:solidFill>
          </a:ln>
        </p:spPr>
        <p:txBody>
          <a:bodyPr vert="horz" wrap="square" lIns="0" tIns="78105" rIns="0" bIns="0" rtlCol="0">
            <a:spAutoFit/>
          </a:bodyPr>
          <a:lstStyle/>
          <a:p>
            <a:pPr marL="46355">
              <a:lnSpc>
                <a:spcPct val="100000"/>
              </a:lnSpc>
              <a:spcBef>
                <a:spcPts val="615"/>
              </a:spcBef>
            </a:pPr>
            <a:r>
              <a:rPr sz="1200" b="1" dirty="0">
                <a:solidFill>
                  <a:srgbClr val="FFFFFF"/>
                </a:solidFill>
                <a:latin typeface="Times New Roman"/>
                <a:cs typeface="Times New Roman"/>
              </a:rPr>
              <a:t>System</a:t>
            </a:r>
            <a:r>
              <a:rPr sz="1200" b="1" spc="-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200" b="1" dirty="0">
                <a:solidFill>
                  <a:srgbClr val="FFFFFF"/>
                </a:solidFill>
                <a:latin typeface="Times New Roman"/>
                <a:cs typeface="Times New Roman"/>
              </a:rPr>
              <a:t>Features</a:t>
            </a:r>
            <a:r>
              <a:rPr sz="1200" b="1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2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Delivered</a:t>
            </a:r>
            <a:endParaRPr sz="1200">
              <a:latin typeface="Times New Roman"/>
              <a:cs typeface="Times New Roman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3352419" y="2523731"/>
            <a:ext cx="5638800" cy="2590165"/>
            <a:chOff x="3352419" y="2523731"/>
            <a:chExt cx="5638800" cy="2590165"/>
          </a:xfrm>
        </p:grpSpPr>
        <p:pic>
          <p:nvPicPr>
            <p:cNvPr id="28" name="object 2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358642" y="3166617"/>
              <a:ext cx="122428" cy="122427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353689" y="3660393"/>
              <a:ext cx="122427" cy="122428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352419" y="4126014"/>
              <a:ext cx="122427" cy="122428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362960" y="4601502"/>
              <a:ext cx="122427" cy="122428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989320" y="2523731"/>
              <a:ext cx="3001518" cy="2590038"/>
            </a:xfrm>
            <a:prstGeom prst="rect">
              <a:avLst/>
            </a:prstGeom>
          </p:spPr>
        </p:pic>
        <p:sp>
          <p:nvSpPr>
            <p:cNvPr id="33" name="object 33"/>
            <p:cNvSpPr/>
            <p:nvPr/>
          </p:nvSpPr>
          <p:spPr>
            <a:xfrm>
              <a:off x="6126479" y="2953511"/>
              <a:ext cx="2788920" cy="2030095"/>
            </a:xfrm>
            <a:custGeom>
              <a:avLst/>
              <a:gdLst/>
              <a:ahLst/>
              <a:cxnLst/>
              <a:rect l="l" t="t" r="r" b="b"/>
              <a:pathLst>
                <a:path w="2788920" h="2030095">
                  <a:moveTo>
                    <a:pt x="0" y="2029968"/>
                  </a:moveTo>
                  <a:lnTo>
                    <a:pt x="2788920" y="2029968"/>
                  </a:lnTo>
                  <a:lnTo>
                    <a:pt x="2788920" y="0"/>
                  </a:lnTo>
                  <a:lnTo>
                    <a:pt x="0" y="0"/>
                  </a:lnTo>
                  <a:lnTo>
                    <a:pt x="0" y="2029968"/>
                  </a:lnTo>
                  <a:close/>
                </a:path>
              </a:pathLst>
            </a:custGeom>
            <a:solidFill>
              <a:srgbClr val="1B2A3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6126479" y="2606039"/>
              <a:ext cx="2788920" cy="2377440"/>
            </a:xfrm>
            <a:custGeom>
              <a:avLst/>
              <a:gdLst/>
              <a:ahLst/>
              <a:cxnLst/>
              <a:rect l="l" t="t" r="r" b="b"/>
              <a:pathLst>
                <a:path w="2788920" h="2377440">
                  <a:moveTo>
                    <a:pt x="0" y="2377440"/>
                  </a:moveTo>
                  <a:lnTo>
                    <a:pt x="2788920" y="2377440"/>
                  </a:lnTo>
                  <a:lnTo>
                    <a:pt x="2788920" y="0"/>
                  </a:lnTo>
                  <a:lnTo>
                    <a:pt x="0" y="0"/>
                  </a:lnTo>
                  <a:lnTo>
                    <a:pt x="0" y="2377440"/>
                  </a:lnTo>
                  <a:close/>
                </a:path>
              </a:pathLst>
            </a:custGeom>
            <a:ln w="12700">
              <a:solidFill>
                <a:srgbClr val="E1E8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5" name="object 35"/>
          <p:cNvSpPr txBox="1"/>
          <p:nvPr/>
        </p:nvSpPr>
        <p:spPr>
          <a:xfrm>
            <a:off x="3548507" y="3136773"/>
            <a:ext cx="2039620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solidFill>
                  <a:srgbClr val="93A2B8"/>
                </a:solidFill>
                <a:latin typeface="Times New Roman"/>
                <a:cs typeface="Times New Roman"/>
              </a:rPr>
              <a:t>Full</a:t>
            </a:r>
            <a:r>
              <a:rPr sz="1100" spc="-30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93A2B8"/>
                </a:solidFill>
                <a:latin typeface="Times New Roman"/>
                <a:cs typeface="Times New Roman"/>
              </a:rPr>
              <a:t>CRUD</a:t>
            </a:r>
            <a:r>
              <a:rPr sz="1100" spc="10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93A2B8"/>
                </a:solidFill>
                <a:latin typeface="Times New Roman"/>
                <a:cs typeface="Times New Roman"/>
              </a:rPr>
              <a:t>for</a:t>
            </a:r>
            <a:r>
              <a:rPr sz="1100" spc="-25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93A2B8"/>
                </a:solidFill>
                <a:latin typeface="Times New Roman"/>
                <a:cs typeface="Times New Roman"/>
              </a:rPr>
              <a:t>all</a:t>
            </a:r>
            <a:r>
              <a:rPr sz="1100" spc="-30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93A2B8"/>
                </a:solidFill>
                <a:latin typeface="Times New Roman"/>
                <a:cs typeface="Times New Roman"/>
              </a:rPr>
              <a:t>inventory</a:t>
            </a:r>
            <a:r>
              <a:rPr sz="1100" spc="-45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100" spc="-10" dirty="0">
                <a:solidFill>
                  <a:srgbClr val="93A2B8"/>
                </a:solidFill>
                <a:latin typeface="Times New Roman"/>
                <a:cs typeface="Times New Roman"/>
              </a:rPr>
              <a:t>entities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3548507" y="3612641"/>
            <a:ext cx="1781810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100" spc="-10" dirty="0">
                <a:solidFill>
                  <a:srgbClr val="93A2B8"/>
                </a:solidFill>
                <a:latin typeface="Times New Roman"/>
                <a:cs typeface="Times New Roman"/>
              </a:rPr>
              <a:t>Real-</a:t>
            </a:r>
            <a:r>
              <a:rPr sz="1100" dirty="0">
                <a:solidFill>
                  <a:srgbClr val="93A2B8"/>
                </a:solidFill>
                <a:latin typeface="Times New Roman"/>
                <a:cs typeface="Times New Roman"/>
              </a:rPr>
              <a:t>time</a:t>
            </a:r>
            <a:r>
              <a:rPr sz="1100" spc="-5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93A2B8"/>
                </a:solidFill>
                <a:latin typeface="Times New Roman"/>
                <a:cs typeface="Times New Roman"/>
              </a:rPr>
              <a:t>stock alert</a:t>
            </a:r>
            <a:r>
              <a:rPr sz="1100" spc="-25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100" spc="-10" dirty="0">
                <a:solidFill>
                  <a:srgbClr val="93A2B8"/>
                </a:solidFill>
                <a:latin typeface="Times New Roman"/>
                <a:cs typeface="Times New Roman"/>
              </a:rPr>
              <a:t>dashboard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3548507" y="4088079"/>
            <a:ext cx="1772285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solidFill>
                  <a:srgbClr val="93A2B8"/>
                </a:solidFill>
                <a:latin typeface="Times New Roman"/>
                <a:cs typeface="Times New Roman"/>
              </a:rPr>
              <a:t>Simulation</a:t>
            </a:r>
            <a:r>
              <a:rPr sz="1100" spc="-45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93A2B8"/>
                </a:solidFill>
                <a:latin typeface="Times New Roman"/>
                <a:cs typeface="Times New Roman"/>
              </a:rPr>
              <a:t>engine</a:t>
            </a:r>
            <a:r>
              <a:rPr sz="1100" spc="-15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93A2B8"/>
                </a:solidFill>
                <a:latin typeface="Times New Roman"/>
                <a:cs typeface="Times New Roman"/>
              </a:rPr>
              <a:t>with</a:t>
            </a:r>
            <a:r>
              <a:rPr sz="1100" spc="-30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100" spc="-10" dirty="0">
                <a:solidFill>
                  <a:srgbClr val="93A2B8"/>
                </a:solidFill>
                <a:latin typeface="Times New Roman"/>
                <a:cs typeface="Times New Roman"/>
              </a:rPr>
              <a:t>logging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3548507" y="4563262"/>
            <a:ext cx="1464310" cy="1943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sz="1100" spc="-10" dirty="0">
                <a:solidFill>
                  <a:srgbClr val="93A2B8"/>
                </a:solidFill>
                <a:latin typeface="Times New Roman"/>
                <a:cs typeface="Times New Roman"/>
              </a:rPr>
              <a:t>Role-</a:t>
            </a:r>
            <a:r>
              <a:rPr sz="1100" dirty="0">
                <a:solidFill>
                  <a:srgbClr val="93A2B8"/>
                </a:solidFill>
                <a:latin typeface="Times New Roman"/>
                <a:cs typeface="Times New Roman"/>
              </a:rPr>
              <a:t>based</a:t>
            </a:r>
            <a:r>
              <a:rPr sz="1100" spc="-20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93A2B8"/>
                </a:solidFill>
                <a:latin typeface="Times New Roman"/>
                <a:cs typeface="Times New Roman"/>
              </a:rPr>
              <a:t>access</a:t>
            </a:r>
            <a:r>
              <a:rPr sz="1100" spc="-15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100" spc="-10" dirty="0">
                <a:solidFill>
                  <a:srgbClr val="93A2B8"/>
                </a:solidFill>
                <a:latin typeface="Times New Roman"/>
                <a:cs typeface="Times New Roman"/>
              </a:rPr>
              <a:t>control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6126479" y="2606039"/>
            <a:ext cx="2788920" cy="347980"/>
          </a:xfrm>
          <a:prstGeom prst="rect">
            <a:avLst/>
          </a:prstGeom>
          <a:solidFill>
            <a:srgbClr val="8A5CF6"/>
          </a:solidFill>
          <a:ln w="12700">
            <a:solidFill>
              <a:srgbClr val="8A5CF6"/>
            </a:solidFill>
          </a:ln>
        </p:spPr>
        <p:txBody>
          <a:bodyPr vert="horz" wrap="square" lIns="0" tIns="78105" rIns="0" bIns="0" rtlCol="0">
            <a:spAutoFit/>
          </a:bodyPr>
          <a:lstStyle/>
          <a:p>
            <a:pPr marL="46355">
              <a:lnSpc>
                <a:spcPct val="100000"/>
              </a:lnSpc>
              <a:spcBef>
                <a:spcPts val="615"/>
              </a:spcBef>
            </a:pPr>
            <a:r>
              <a:rPr sz="1200" b="1" dirty="0">
                <a:solidFill>
                  <a:srgbClr val="FFFFFF"/>
                </a:solidFill>
                <a:latin typeface="Times New Roman"/>
                <a:cs typeface="Times New Roman"/>
              </a:rPr>
              <a:t>Engineering</a:t>
            </a:r>
            <a:r>
              <a:rPr sz="1200" b="1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200" b="1" dirty="0">
                <a:solidFill>
                  <a:srgbClr val="FFFFFF"/>
                </a:solidFill>
                <a:latin typeface="Times New Roman"/>
                <a:cs typeface="Times New Roman"/>
              </a:rPr>
              <a:t>Principles</a:t>
            </a:r>
            <a:r>
              <a:rPr sz="1200" b="1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2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Applied</a:t>
            </a:r>
            <a:endParaRPr sz="1200">
              <a:latin typeface="Times New Roman"/>
              <a:cs typeface="Times New Roman"/>
            </a:endParaRPr>
          </a:p>
        </p:txBody>
      </p:sp>
      <p:grpSp>
        <p:nvGrpSpPr>
          <p:cNvPr id="40" name="object 40"/>
          <p:cNvGrpSpPr/>
          <p:nvPr/>
        </p:nvGrpSpPr>
        <p:grpSpPr>
          <a:xfrm>
            <a:off x="6284721" y="3175761"/>
            <a:ext cx="122555" cy="1555115"/>
            <a:chOff x="6284721" y="3175761"/>
            <a:chExt cx="122555" cy="1555115"/>
          </a:xfrm>
        </p:grpSpPr>
        <p:pic>
          <p:nvPicPr>
            <p:cNvPr id="41" name="object 41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284721" y="3175761"/>
              <a:ext cx="122427" cy="122427"/>
            </a:xfrm>
            <a:prstGeom prst="rect">
              <a:avLst/>
            </a:prstGeom>
          </p:spPr>
        </p:pic>
        <p:pic>
          <p:nvPicPr>
            <p:cNvPr id="42" name="object 42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6284721" y="3651249"/>
              <a:ext cx="122427" cy="122428"/>
            </a:xfrm>
            <a:prstGeom prst="rect">
              <a:avLst/>
            </a:prstGeom>
          </p:spPr>
        </p:pic>
        <p:pic>
          <p:nvPicPr>
            <p:cNvPr id="43" name="object 43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6284721" y="4135399"/>
              <a:ext cx="122427" cy="122428"/>
            </a:xfrm>
            <a:prstGeom prst="rect">
              <a:avLst/>
            </a:prstGeom>
          </p:spPr>
        </p:pic>
        <p:pic>
          <p:nvPicPr>
            <p:cNvPr id="44" name="object 44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6284721" y="4607852"/>
              <a:ext cx="122427" cy="122428"/>
            </a:xfrm>
            <a:prstGeom prst="rect">
              <a:avLst/>
            </a:prstGeom>
          </p:spPr>
        </p:pic>
      </p:grpSp>
      <p:sp>
        <p:nvSpPr>
          <p:cNvPr id="45" name="object 45"/>
          <p:cNvSpPr txBox="1"/>
          <p:nvPr/>
        </p:nvSpPr>
        <p:spPr>
          <a:xfrm>
            <a:off x="6474840" y="3136773"/>
            <a:ext cx="1979295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solidFill>
                  <a:srgbClr val="93A2B8"/>
                </a:solidFill>
                <a:latin typeface="Times New Roman"/>
                <a:cs typeface="Times New Roman"/>
              </a:rPr>
              <a:t>SOLID</a:t>
            </a:r>
            <a:r>
              <a:rPr sz="1100" spc="5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93A2B8"/>
                </a:solidFill>
                <a:latin typeface="Times New Roman"/>
                <a:cs typeface="Times New Roman"/>
              </a:rPr>
              <a:t>principles</a:t>
            </a:r>
            <a:r>
              <a:rPr sz="1100" spc="-60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93A2B8"/>
                </a:solidFill>
                <a:latin typeface="Times New Roman"/>
                <a:cs typeface="Times New Roman"/>
              </a:rPr>
              <a:t>in</a:t>
            </a:r>
            <a:r>
              <a:rPr sz="1100" spc="-35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93A2B8"/>
                </a:solidFill>
                <a:latin typeface="Times New Roman"/>
                <a:cs typeface="Times New Roman"/>
              </a:rPr>
              <a:t>service</a:t>
            </a:r>
            <a:r>
              <a:rPr sz="1100" spc="-50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100" spc="-10" dirty="0">
                <a:solidFill>
                  <a:srgbClr val="93A2B8"/>
                </a:solidFill>
                <a:latin typeface="Times New Roman"/>
                <a:cs typeface="Times New Roman"/>
              </a:rPr>
              <a:t>design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6474840" y="3612641"/>
            <a:ext cx="2035175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solidFill>
                  <a:srgbClr val="93A2B8"/>
                </a:solidFill>
                <a:latin typeface="Times New Roman"/>
                <a:cs typeface="Times New Roman"/>
              </a:rPr>
              <a:t>DRY</a:t>
            </a:r>
            <a:r>
              <a:rPr sz="1100" spc="5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93A2B8"/>
                </a:solidFill>
                <a:latin typeface="Times New Roman"/>
                <a:cs typeface="Times New Roman"/>
              </a:rPr>
              <a:t>via</a:t>
            </a:r>
            <a:r>
              <a:rPr sz="1100" spc="-15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93A2B8"/>
                </a:solidFill>
                <a:latin typeface="Times New Roman"/>
                <a:cs typeface="Times New Roman"/>
              </a:rPr>
              <a:t>utility</a:t>
            </a:r>
            <a:r>
              <a:rPr sz="1100" spc="-40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93A2B8"/>
                </a:solidFill>
                <a:latin typeface="Times New Roman"/>
                <a:cs typeface="Times New Roman"/>
              </a:rPr>
              <a:t>classes</a:t>
            </a:r>
            <a:r>
              <a:rPr sz="1100" spc="-40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93A2B8"/>
                </a:solidFill>
                <a:latin typeface="Times New Roman"/>
                <a:cs typeface="Times New Roman"/>
              </a:rPr>
              <a:t>&amp;</a:t>
            </a:r>
            <a:r>
              <a:rPr sz="1100" spc="-25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100" spc="-10" dirty="0">
                <a:solidFill>
                  <a:srgbClr val="93A2B8"/>
                </a:solidFill>
                <a:latin typeface="Times New Roman"/>
                <a:cs typeface="Times New Roman"/>
              </a:rPr>
              <a:t>fragments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6474840" y="4088079"/>
            <a:ext cx="1832610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solidFill>
                  <a:srgbClr val="93A2B8"/>
                </a:solidFill>
                <a:latin typeface="Times New Roman"/>
                <a:cs typeface="Times New Roman"/>
              </a:rPr>
              <a:t>Separation</a:t>
            </a:r>
            <a:r>
              <a:rPr sz="1100" spc="-40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93A2B8"/>
                </a:solidFill>
                <a:latin typeface="Times New Roman"/>
                <a:cs typeface="Times New Roman"/>
              </a:rPr>
              <a:t>of</a:t>
            </a:r>
            <a:r>
              <a:rPr sz="1100" spc="-20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93A2B8"/>
                </a:solidFill>
                <a:latin typeface="Times New Roman"/>
                <a:cs typeface="Times New Roman"/>
              </a:rPr>
              <a:t>Concerns</a:t>
            </a:r>
            <a:r>
              <a:rPr sz="1100" spc="-25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93A2B8"/>
                </a:solidFill>
                <a:latin typeface="Times New Roman"/>
                <a:cs typeface="Times New Roman"/>
              </a:rPr>
              <a:t>in</a:t>
            </a:r>
            <a:r>
              <a:rPr sz="1100" spc="-10" dirty="0">
                <a:solidFill>
                  <a:srgbClr val="93A2B8"/>
                </a:solidFill>
                <a:latin typeface="Times New Roman"/>
                <a:cs typeface="Times New Roman"/>
              </a:rPr>
              <a:t> layers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6474840" y="4563262"/>
            <a:ext cx="1779905" cy="1943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sz="1100" dirty="0">
                <a:solidFill>
                  <a:srgbClr val="93A2B8"/>
                </a:solidFill>
                <a:latin typeface="Times New Roman"/>
                <a:cs typeface="Times New Roman"/>
              </a:rPr>
              <a:t>Fail-fast</a:t>
            </a:r>
            <a:r>
              <a:rPr sz="1100" spc="-35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93A2B8"/>
                </a:solidFill>
                <a:latin typeface="Times New Roman"/>
                <a:cs typeface="Times New Roman"/>
              </a:rPr>
              <a:t>validation</a:t>
            </a:r>
            <a:r>
              <a:rPr sz="1100" spc="-30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93A2B8"/>
                </a:solidFill>
                <a:latin typeface="Times New Roman"/>
                <a:cs typeface="Times New Roman"/>
              </a:rPr>
              <a:t>at</a:t>
            </a:r>
            <a:r>
              <a:rPr sz="1100" spc="-10" dirty="0">
                <a:solidFill>
                  <a:srgbClr val="93A2B8"/>
                </a:solidFill>
                <a:latin typeface="Times New Roman"/>
                <a:cs typeface="Times New Roman"/>
              </a:rPr>
              <a:t> controller</a:t>
            </a:r>
            <a:endParaRPr sz="11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Real-</a:t>
            </a:r>
            <a:r>
              <a:rPr dirty="0"/>
              <a:t>World</a:t>
            </a:r>
            <a:r>
              <a:rPr spc="-5" dirty="0"/>
              <a:t> </a:t>
            </a:r>
            <a:r>
              <a:rPr spc="-10" dirty="0"/>
              <a:t>Applications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44500" y="670305"/>
            <a:ext cx="2362200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i="1" dirty="0">
                <a:solidFill>
                  <a:srgbClr val="0891B1"/>
                </a:solidFill>
                <a:latin typeface="Times New Roman"/>
                <a:cs typeface="Times New Roman"/>
              </a:rPr>
              <a:t>Industry</a:t>
            </a:r>
            <a:r>
              <a:rPr sz="1300" i="1" spc="-20" dirty="0">
                <a:solidFill>
                  <a:srgbClr val="0891B1"/>
                </a:solidFill>
                <a:latin typeface="Times New Roman"/>
                <a:cs typeface="Times New Roman"/>
              </a:rPr>
              <a:t> </a:t>
            </a:r>
            <a:r>
              <a:rPr sz="1300" i="1" dirty="0">
                <a:solidFill>
                  <a:srgbClr val="0891B1"/>
                </a:solidFill>
                <a:latin typeface="Times New Roman"/>
                <a:cs typeface="Times New Roman"/>
              </a:rPr>
              <a:t>Use</a:t>
            </a:r>
            <a:r>
              <a:rPr sz="1300" i="1" spc="-15" dirty="0">
                <a:solidFill>
                  <a:srgbClr val="0891B1"/>
                </a:solidFill>
                <a:latin typeface="Times New Roman"/>
                <a:cs typeface="Times New Roman"/>
              </a:rPr>
              <a:t> </a:t>
            </a:r>
            <a:r>
              <a:rPr sz="1300" i="1" dirty="0">
                <a:solidFill>
                  <a:srgbClr val="0891B1"/>
                </a:solidFill>
                <a:latin typeface="Times New Roman"/>
                <a:cs typeface="Times New Roman"/>
              </a:rPr>
              <a:t>Cases</a:t>
            </a:r>
            <a:r>
              <a:rPr sz="1300" i="1" spc="-25" dirty="0">
                <a:solidFill>
                  <a:srgbClr val="0891B1"/>
                </a:solidFill>
                <a:latin typeface="Times New Roman"/>
                <a:cs typeface="Times New Roman"/>
              </a:rPr>
              <a:t> </a:t>
            </a:r>
            <a:r>
              <a:rPr sz="1300" i="1" dirty="0">
                <a:solidFill>
                  <a:srgbClr val="0891B1"/>
                </a:solidFill>
                <a:latin typeface="Times New Roman"/>
                <a:cs typeface="Times New Roman"/>
              </a:rPr>
              <a:t>for</a:t>
            </a:r>
            <a:r>
              <a:rPr sz="1300" i="1" spc="-20" dirty="0">
                <a:solidFill>
                  <a:srgbClr val="0891B1"/>
                </a:solidFill>
                <a:latin typeface="Times New Roman"/>
                <a:cs typeface="Times New Roman"/>
              </a:rPr>
              <a:t> </a:t>
            </a:r>
            <a:r>
              <a:rPr sz="1300" i="1" dirty="0">
                <a:solidFill>
                  <a:srgbClr val="0891B1"/>
                </a:solidFill>
                <a:latin typeface="Times New Roman"/>
                <a:cs typeface="Times New Roman"/>
              </a:rPr>
              <a:t>This</a:t>
            </a:r>
            <a:r>
              <a:rPr sz="1300" i="1" spc="-25" dirty="0">
                <a:solidFill>
                  <a:srgbClr val="0891B1"/>
                </a:solidFill>
                <a:latin typeface="Times New Roman"/>
                <a:cs typeface="Times New Roman"/>
              </a:rPr>
              <a:t> </a:t>
            </a:r>
            <a:r>
              <a:rPr sz="1300" i="1" spc="-10" dirty="0">
                <a:solidFill>
                  <a:srgbClr val="0891B1"/>
                </a:solidFill>
                <a:latin typeface="Times New Roman"/>
                <a:cs typeface="Times New Roman"/>
              </a:rPr>
              <a:t>System</a:t>
            </a:r>
            <a:endParaRPr sz="1300">
              <a:latin typeface="Times New Roman"/>
              <a:cs typeface="Times New Roman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37160" y="877824"/>
            <a:ext cx="2955925" cy="2023110"/>
            <a:chOff x="137160" y="877824"/>
            <a:chExt cx="2955925" cy="202311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7160" y="877824"/>
              <a:ext cx="2955798" cy="202310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274320" y="1344168"/>
              <a:ext cx="2743200" cy="1426845"/>
            </a:xfrm>
            <a:custGeom>
              <a:avLst/>
              <a:gdLst/>
              <a:ahLst/>
              <a:cxnLst/>
              <a:rect l="l" t="t" r="r" b="b"/>
              <a:pathLst>
                <a:path w="2743200" h="1426845">
                  <a:moveTo>
                    <a:pt x="0" y="1426464"/>
                  </a:moveTo>
                  <a:lnTo>
                    <a:pt x="2743200" y="1426464"/>
                  </a:lnTo>
                  <a:lnTo>
                    <a:pt x="2743200" y="0"/>
                  </a:lnTo>
                  <a:lnTo>
                    <a:pt x="0" y="0"/>
                  </a:lnTo>
                  <a:lnTo>
                    <a:pt x="0" y="142646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74320" y="960120"/>
              <a:ext cx="2743200" cy="1811020"/>
            </a:xfrm>
            <a:custGeom>
              <a:avLst/>
              <a:gdLst/>
              <a:ahLst/>
              <a:cxnLst/>
              <a:rect l="l" t="t" r="r" b="b"/>
              <a:pathLst>
                <a:path w="2743200" h="1811020">
                  <a:moveTo>
                    <a:pt x="0" y="1810511"/>
                  </a:moveTo>
                  <a:lnTo>
                    <a:pt x="2743200" y="1810511"/>
                  </a:lnTo>
                  <a:lnTo>
                    <a:pt x="2743200" y="0"/>
                  </a:lnTo>
                  <a:lnTo>
                    <a:pt x="0" y="0"/>
                  </a:lnTo>
                  <a:lnTo>
                    <a:pt x="0" y="1810511"/>
                  </a:lnTo>
                  <a:close/>
                </a:path>
              </a:pathLst>
            </a:custGeom>
            <a:ln w="12700">
              <a:solidFill>
                <a:srgbClr val="E1E8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274320" y="960119"/>
            <a:ext cx="2743200" cy="384175"/>
          </a:xfrm>
          <a:prstGeom prst="rect">
            <a:avLst/>
          </a:prstGeom>
          <a:solidFill>
            <a:srgbClr val="0891B1"/>
          </a:solidFill>
          <a:ln w="12700">
            <a:solidFill>
              <a:srgbClr val="0891B1"/>
            </a:solidFill>
          </a:ln>
        </p:spPr>
        <p:txBody>
          <a:bodyPr vert="horz" wrap="square" lIns="0" tIns="88265" rIns="0" bIns="0" rtlCol="0">
            <a:spAutoFit/>
          </a:bodyPr>
          <a:lstStyle/>
          <a:p>
            <a:pPr marL="73025">
              <a:lnSpc>
                <a:spcPct val="100000"/>
              </a:lnSpc>
              <a:spcBef>
                <a:spcPts val="695"/>
              </a:spcBef>
            </a:pPr>
            <a:r>
              <a:rPr sz="1300" b="1" dirty="0">
                <a:solidFill>
                  <a:srgbClr val="FFFFFF"/>
                </a:solidFill>
                <a:latin typeface="Times New Roman"/>
                <a:cs typeface="Times New Roman"/>
              </a:rPr>
              <a:t>Retail</a:t>
            </a:r>
            <a:r>
              <a:rPr sz="13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300" b="1" dirty="0">
                <a:solidFill>
                  <a:srgbClr val="FFFFFF"/>
                </a:solidFill>
                <a:latin typeface="Times New Roman"/>
                <a:cs typeface="Times New Roman"/>
              </a:rPr>
              <a:t>&amp;</a:t>
            </a:r>
            <a:r>
              <a:rPr sz="13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3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E-Commerce</a:t>
            </a:r>
            <a:endParaRPr sz="1300">
              <a:latin typeface="Times New Roman"/>
              <a:cs typeface="Times New Roman"/>
            </a:endParaRPr>
          </a:p>
        </p:txBody>
      </p:sp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82879" y="1397508"/>
            <a:ext cx="915162" cy="745997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280670" y="2100199"/>
            <a:ext cx="2730500" cy="5295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4455" marR="126364" algn="just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solidFill>
                  <a:srgbClr val="93A2B8"/>
                </a:solidFill>
                <a:latin typeface="Times New Roman"/>
                <a:cs typeface="Times New Roman"/>
              </a:rPr>
              <a:t>Track</a:t>
            </a:r>
            <a:r>
              <a:rPr sz="1100" spc="-45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93A2B8"/>
                </a:solidFill>
                <a:latin typeface="Times New Roman"/>
                <a:cs typeface="Times New Roman"/>
              </a:rPr>
              <a:t>SKUs across</a:t>
            </a:r>
            <a:r>
              <a:rPr sz="1100" spc="-40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93A2B8"/>
                </a:solidFill>
                <a:latin typeface="Times New Roman"/>
                <a:cs typeface="Times New Roman"/>
              </a:rPr>
              <a:t>multiple</a:t>
            </a:r>
            <a:r>
              <a:rPr sz="1100" spc="-50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93A2B8"/>
                </a:solidFill>
                <a:latin typeface="Times New Roman"/>
                <a:cs typeface="Times New Roman"/>
              </a:rPr>
              <a:t>outlets,</a:t>
            </a:r>
            <a:r>
              <a:rPr sz="1100" spc="-45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100" spc="-10" dirty="0">
                <a:solidFill>
                  <a:srgbClr val="93A2B8"/>
                </a:solidFill>
                <a:latin typeface="Times New Roman"/>
                <a:cs typeface="Times New Roman"/>
              </a:rPr>
              <a:t>manage </a:t>
            </a:r>
            <a:r>
              <a:rPr sz="1100" dirty="0">
                <a:solidFill>
                  <a:srgbClr val="93A2B8"/>
                </a:solidFill>
                <a:latin typeface="Times New Roman"/>
                <a:cs typeface="Times New Roman"/>
              </a:rPr>
              <a:t>reorder</a:t>
            </a:r>
            <a:r>
              <a:rPr sz="1100" spc="-40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93A2B8"/>
                </a:solidFill>
                <a:latin typeface="Times New Roman"/>
                <a:cs typeface="Times New Roman"/>
              </a:rPr>
              <a:t>points,</a:t>
            </a:r>
            <a:r>
              <a:rPr sz="1100" spc="-25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93A2B8"/>
                </a:solidFill>
                <a:latin typeface="Times New Roman"/>
                <a:cs typeface="Times New Roman"/>
              </a:rPr>
              <a:t>sync</a:t>
            </a:r>
            <a:r>
              <a:rPr sz="1100" spc="10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93A2B8"/>
                </a:solidFill>
                <a:latin typeface="Times New Roman"/>
                <a:cs typeface="Times New Roman"/>
              </a:rPr>
              <a:t>online</a:t>
            </a:r>
            <a:r>
              <a:rPr sz="1100" spc="-25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93A2B8"/>
                </a:solidFill>
                <a:latin typeface="Times New Roman"/>
                <a:cs typeface="Times New Roman"/>
              </a:rPr>
              <a:t>and </a:t>
            </a:r>
            <a:r>
              <a:rPr sz="1100" spc="-10" dirty="0">
                <a:solidFill>
                  <a:srgbClr val="93A2B8"/>
                </a:solidFill>
                <a:latin typeface="Times New Roman"/>
                <a:cs typeface="Times New Roman"/>
              </a:rPr>
              <a:t>in-</a:t>
            </a:r>
            <a:r>
              <a:rPr sz="1100" dirty="0">
                <a:solidFill>
                  <a:srgbClr val="93A2B8"/>
                </a:solidFill>
                <a:latin typeface="Times New Roman"/>
                <a:cs typeface="Times New Roman"/>
              </a:rPr>
              <a:t>store</a:t>
            </a:r>
            <a:r>
              <a:rPr sz="1100" spc="-25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100" spc="-10" dirty="0">
                <a:solidFill>
                  <a:srgbClr val="93A2B8"/>
                </a:solidFill>
                <a:latin typeface="Times New Roman"/>
                <a:cs typeface="Times New Roman"/>
              </a:rPr>
              <a:t>stock </a:t>
            </a:r>
            <a:r>
              <a:rPr sz="1100" dirty="0">
                <a:solidFill>
                  <a:srgbClr val="93A2B8"/>
                </a:solidFill>
                <a:latin typeface="Times New Roman"/>
                <a:cs typeface="Times New Roman"/>
              </a:rPr>
              <a:t>in</a:t>
            </a:r>
            <a:r>
              <a:rPr sz="1100" spc="-10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93A2B8"/>
                </a:solidFill>
                <a:latin typeface="Times New Roman"/>
                <a:cs typeface="Times New Roman"/>
              </a:rPr>
              <a:t>real</a:t>
            </a:r>
            <a:r>
              <a:rPr sz="1100" spc="-30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93A2B8"/>
                </a:solidFill>
                <a:latin typeface="Times New Roman"/>
                <a:cs typeface="Times New Roman"/>
              </a:rPr>
              <a:t>time</a:t>
            </a:r>
            <a:r>
              <a:rPr sz="1100" spc="-20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93A2B8"/>
                </a:solidFill>
                <a:latin typeface="Times New Roman"/>
                <a:cs typeface="Times New Roman"/>
              </a:rPr>
              <a:t>to</a:t>
            </a:r>
            <a:r>
              <a:rPr sz="1100" spc="-10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93A2B8"/>
                </a:solidFill>
                <a:latin typeface="Times New Roman"/>
                <a:cs typeface="Times New Roman"/>
              </a:rPr>
              <a:t>prevent</a:t>
            </a:r>
            <a:r>
              <a:rPr sz="1100" spc="-15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100" spc="-10" dirty="0">
                <a:solidFill>
                  <a:srgbClr val="93A2B8"/>
                </a:solidFill>
                <a:latin typeface="Times New Roman"/>
                <a:cs typeface="Times New Roman"/>
              </a:rPr>
              <a:t>overselling.</a:t>
            </a:r>
            <a:endParaRPr sz="1100">
              <a:latin typeface="Times New Roman"/>
              <a:cs typeface="Times New Roman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3044951" y="877824"/>
            <a:ext cx="2955925" cy="2023110"/>
            <a:chOff x="3044951" y="877824"/>
            <a:chExt cx="2955925" cy="2023110"/>
          </a:xfrm>
        </p:grpSpPr>
        <p:pic>
          <p:nvPicPr>
            <p:cNvPr id="12" name="object 1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044951" y="877824"/>
              <a:ext cx="2955798" cy="2023109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3182111" y="1344168"/>
              <a:ext cx="2743200" cy="1426845"/>
            </a:xfrm>
            <a:custGeom>
              <a:avLst/>
              <a:gdLst/>
              <a:ahLst/>
              <a:cxnLst/>
              <a:rect l="l" t="t" r="r" b="b"/>
              <a:pathLst>
                <a:path w="2743200" h="1426845">
                  <a:moveTo>
                    <a:pt x="0" y="1426464"/>
                  </a:moveTo>
                  <a:lnTo>
                    <a:pt x="2743200" y="1426464"/>
                  </a:lnTo>
                  <a:lnTo>
                    <a:pt x="2743200" y="0"/>
                  </a:lnTo>
                  <a:lnTo>
                    <a:pt x="0" y="0"/>
                  </a:lnTo>
                  <a:lnTo>
                    <a:pt x="0" y="142646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182111" y="960120"/>
              <a:ext cx="2743200" cy="1811020"/>
            </a:xfrm>
            <a:custGeom>
              <a:avLst/>
              <a:gdLst/>
              <a:ahLst/>
              <a:cxnLst/>
              <a:rect l="l" t="t" r="r" b="b"/>
              <a:pathLst>
                <a:path w="2743200" h="1811020">
                  <a:moveTo>
                    <a:pt x="0" y="1810511"/>
                  </a:moveTo>
                  <a:lnTo>
                    <a:pt x="2743200" y="1810511"/>
                  </a:lnTo>
                  <a:lnTo>
                    <a:pt x="2743200" y="0"/>
                  </a:lnTo>
                  <a:lnTo>
                    <a:pt x="0" y="0"/>
                  </a:lnTo>
                  <a:lnTo>
                    <a:pt x="0" y="1810511"/>
                  </a:lnTo>
                  <a:close/>
                </a:path>
              </a:pathLst>
            </a:custGeom>
            <a:ln w="12700">
              <a:solidFill>
                <a:srgbClr val="E1E8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3182111" y="960119"/>
            <a:ext cx="2743200" cy="384175"/>
          </a:xfrm>
          <a:prstGeom prst="rect">
            <a:avLst/>
          </a:prstGeom>
          <a:solidFill>
            <a:srgbClr val="F87316"/>
          </a:solidFill>
          <a:ln w="12700">
            <a:solidFill>
              <a:srgbClr val="F87316"/>
            </a:solidFill>
          </a:ln>
        </p:spPr>
        <p:txBody>
          <a:bodyPr vert="horz" wrap="square" lIns="0" tIns="88265" rIns="0" bIns="0" rtlCol="0">
            <a:spAutoFit/>
          </a:bodyPr>
          <a:lstStyle/>
          <a:p>
            <a:pPr marL="73660">
              <a:lnSpc>
                <a:spcPct val="100000"/>
              </a:lnSpc>
              <a:spcBef>
                <a:spcPts val="695"/>
              </a:spcBef>
            </a:pPr>
            <a:r>
              <a:rPr sz="13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Manufacturing</a:t>
            </a:r>
            <a:endParaRPr sz="1300">
              <a:latin typeface="Times New Roman"/>
              <a:cs typeface="Times New Roman"/>
            </a:endParaRPr>
          </a:p>
        </p:txBody>
      </p:sp>
      <p:pic>
        <p:nvPicPr>
          <p:cNvPr id="16" name="object 1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090672" y="1397508"/>
            <a:ext cx="915162" cy="745997"/>
          </a:xfrm>
          <a:prstGeom prst="rect">
            <a:avLst/>
          </a:prstGeom>
        </p:spPr>
      </p:pic>
      <p:sp>
        <p:nvSpPr>
          <p:cNvPr id="17" name="object 17"/>
          <p:cNvSpPr txBox="1"/>
          <p:nvPr/>
        </p:nvSpPr>
        <p:spPr>
          <a:xfrm>
            <a:off x="3188461" y="2016379"/>
            <a:ext cx="2730500" cy="6972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5725" marR="16383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solidFill>
                  <a:srgbClr val="93A2B8"/>
                </a:solidFill>
                <a:latin typeface="Times New Roman"/>
                <a:cs typeface="Times New Roman"/>
              </a:rPr>
              <a:t>Monitor</a:t>
            </a:r>
            <a:r>
              <a:rPr sz="1100" spc="-45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93A2B8"/>
                </a:solidFill>
                <a:latin typeface="Times New Roman"/>
                <a:cs typeface="Times New Roman"/>
              </a:rPr>
              <a:t>raw</a:t>
            </a:r>
            <a:r>
              <a:rPr sz="1100" spc="-15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93A2B8"/>
                </a:solidFill>
                <a:latin typeface="Times New Roman"/>
                <a:cs typeface="Times New Roman"/>
              </a:rPr>
              <a:t>material</a:t>
            </a:r>
            <a:r>
              <a:rPr sz="1100" spc="-45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93A2B8"/>
                </a:solidFill>
                <a:latin typeface="Times New Roman"/>
                <a:cs typeface="Times New Roman"/>
              </a:rPr>
              <a:t>inventory,</a:t>
            </a:r>
            <a:r>
              <a:rPr sz="1100" spc="-20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93A2B8"/>
                </a:solidFill>
                <a:latin typeface="Times New Roman"/>
                <a:cs typeface="Times New Roman"/>
              </a:rPr>
              <a:t>track</a:t>
            </a:r>
            <a:r>
              <a:rPr sz="1100" spc="-40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100" spc="-20" dirty="0">
                <a:solidFill>
                  <a:srgbClr val="93A2B8"/>
                </a:solidFill>
                <a:latin typeface="Times New Roman"/>
                <a:cs typeface="Times New Roman"/>
              </a:rPr>
              <a:t>work- </a:t>
            </a:r>
            <a:r>
              <a:rPr sz="1100" spc="-10" dirty="0">
                <a:solidFill>
                  <a:srgbClr val="93A2B8"/>
                </a:solidFill>
                <a:latin typeface="Times New Roman"/>
                <a:cs typeface="Times New Roman"/>
              </a:rPr>
              <a:t>in-</a:t>
            </a:r>
            <a:r>
              <a:rPr sz="1100" dirty="0">
                <a:solidFill>
                  <a:srgbClr val="93A2B8"/>
                </a:solidFill>
                <a:latin typeface="Times New Roman"/>
                <a:cs typeface="Times New Roman"/>
              </a:rPr>
              <a:t>progress</a:t>
            </a:r>
            <a:r>
              <a:rPr sz="1100" spc="-35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93A2B8"/>
                </a:solidFill>
                <a:latin typeface="Times New Roman"/>
                <a:cs typeface="Times New Roman"/>
              </a:rPr>
              <a:t>stock,</a:t>
            </a:r>
            <a:r>
              <a:rPr sz="1100" spc="-15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93A2B8"/>
                </a:solidFill>
                <a:latin typeface="Times New Roman"/>
                <a:cs typeface="Times New Roman"/>
              </a:rPr>
              <a:t>manage finished</a:t>
            </a:r>
            <a:r>
              <a:rPr sz="1100" spc="-35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100" spc="-10" dirty="0">
                <a:solidFill>
                  <a:srgbClr val="93A2B8"/>
                </a:solidFill>
                <a:latin typeface="Times New Roman"/>
                <a:cs typeface="Times New Roman"/>
              </a:rPr>
              <a:t>goods, </a:t>
            </a:r>
            <a:r>
              <a:rPr sz="1100" dirty="0">
                <a:solidFill>
                  <a:srgbClr val="93A2B8"/>
                </a:solidFill>
                <a:latin typeface="Times New Roman"/>
                <a:cs typeface="Times New Roman"/>
              </a:rPr>
              <a:t>and</a:t>
            </a:r>
            <a:r>
              <a:rPr sz="1100" spc="-10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93A2B8"/>
                </a:solidFill>
                <a:latin typeface="Times New Roman"/>
                <a:cs typeface="Times New Roman"/>
              </a:rPr>
              <a:t>coordinate</a:t>
            </a:r>
            <a:r>
              <a:rPr sz="1100" spc="-35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93A2B8"/>
                </a:solidFill>
                <a:latin typeface="Times New Roman"/>
                <a:cs typeface="Times New Roman"/>
              </a:rPr>
              <a:t>with</a:t>
            </a:r>
            <a:r>
              <a:rPr sz="1100" spc="-20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93A2B8"/>
                </a:solidFill>
                <a:latin typeface="Times New Roman"/>
                <a:cs typeface="Times New Roman"/>
              </a:rPr>
              <a:t>suppliers</a:t>
            </a:r>
            <a:r>
              <a:rPr sz="1100" spc="-50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93A2B8"/>
                </a:solidFill>
                <a:latin typeface="Times New Roman"/>
                <a:cs typeface="Times New Roman"/>
              </a:rPr>
              <a:t>for</a:t>
            </a:r>
            <a:r>
              <a:rPr sz="1100" spc="-15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100" spc="-25" dirty="0">
                <a:solidFill>
                  <a:srgbClr val="93A2B8"/>
                </a:solidFill>
                <a:latin typeface="Times New Roman"/>
                <a:cs typeface="Times New Roman"/>
              </a:rPr>
              <a:t>JIT </a:t>
            </a:r>
            <a:r>
              <a:rPr sz="1100" spc="-10" dirty="0">
                <a:solidFill>
                  <a:srgbClr val="93A2B8"/>
                </a:solidFill>
                <a:latin typeface="Times New Roman"/>
                <a:cs typeface="Times New Roman"/>
              </a:rPr>
              <a:t>procurement.</a:t>
            </a:r>
            <a:endParaRPr sz="1100">
              <a:latin typeface="Times New Roman"/>
              <a:cs typeface="Times New Roman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5952744" y="877824"/>
            <a:ext cx="2955925" cy="2023110"/>
            <a:chOff x="5952744" y="877824"/>
            <a:chExt cx="2955925" cy="2023110"/>
          </a:xfrm>
        </p:grpSpPr>
        <p:pic>
          <p:nvPicPr>
            <p:cNvPr id="19" name="object 1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952744" y="877824"/>
              <a:ext cx="2955798" cy="2023109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6089904" y="1344168"/>
              <a:ext cx="2743200" cy="1426845"/>
            </a:xfrm>
            <a:custGeom>
              <a:avLst/>
              <a:gdLst/>
              <a:ahLst/>
              <a:cxnLst/>
              <a:rect l="l" t="t" r="r" b="b"/>
              <a:pathLst>
                <a:path w="2743200" h="1426845">
                  <a:moveTo>
                    <a:pt x="0" y="1426464"/>
                  </a:moveTo>
                  <a:lnTo>
                    <a:pt x="2743200" y="1426464"/>
                  </a:lnTo>
                  <a:lnTo>
                    <a:pt x="2743200" y="0"/>
                  </a:lnTo>
                  <a:lnTo>
                    <a:pt x="0" y="0"/>
                  </a:lnTo>
                  <a:lnTo>
                    <a:pt x="0" y="142646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6089904" y="960120"/>
              <a:ext cx="2743200" cy="1811020"/>
            </a:xfrm>
            <a:custGeom>
              <a:avLst/>
              <a:gdLst/>
              <a:ahLst/>
              <a:cxnLst/>
              <a:rect l="l" t="t" r="r" b="b"/>
              <a:pathLst>
                <a:path w="2743200" h="1811020">
                  <a:moveTo>
                    <a:pt x="0" y="1810511"/>
                  </a:moveTo>
                  <a:lnTo>
                    <a:pt x="2743200" y="1810511"/>
                  </a:lnTo>
                  <a:lnTo>
                    <a:pt x="2743200" y="0"/>
                  </a:lnTo>
                  <a:lnTo>
                    <a:pt x="0" y="0"/>
                  </a:lnTo>
                  <a:lnTo>
                    <a:pt x="0" y="1810511"/>
                  </a:lnTo>
                  <a:close/>
                </a:path>
              </a:pathLst>
            </a:custGeom>
            <a:ln w="12700">
              <a:solidFill>
                <a:srgbClr val="E1E8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6089903" y="960119"/>
            <a:ext cx="2743200" cy="384175"/>
          </a:xfrm>
          <a:prstGeom prst="rect">
            <a:avLst/>
          </a:prstGeom>
          <a:solidFill>
            <a:srgbClr val="EE4444"/>
          </a:solidFill>
          <a:ln w="12700">
            <a:solidFill>
              <a:srgbClr val="EE4444"/>
            </a:solidFill>
          </a:ln>
        </p:spPr>
        <p:txBody>
          <a:bodyPr vert="horz" wrap="square" lIns="0" tIns="88265" rIns="0" bIns="0" rtlCol="0">
            <a:spAutoFit/>
          </a:bodyPr>
          <a:lstStyle/>
          <a:p>
            <a:pPr marL="73660">
              <a:lnSpc>
                <a:spcPct val="100000"/>
              </a:lnSpc>
              <a:spcBef>
                <a:spcPts val="695"/>
              </a:spcBef>
            </a:pPr>
            <a:r>
              <a:rPr sz="13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Healthcare</a:t>
            </a:r>
            <a:r>
              <a:rPr sz="1300" b="1" spc="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300" b="1" dirty="0">
                <a:solidFill>
                  <a:srgbClr val="FFFFFF"/>
                </a:solidFill>
                <a:latin typeface="Times New Roman"/>
                <a:cs typeface="Times New Roman"/>
              </a:rPr>
              <a:t>&amp;</a:t>
            </a:r>
            <a:r>
              <a:rPr sz="1300" b="1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3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Pharmacy</a:t>
            </a:r>
            <a:endParaRPr sz="1300">
              <a:latin typeface="Times New Roman"/>
              <a:cs typeface="Times New Roman"/>
            </a:endParaRPr>
          </a:p>
        </p:txBody>
      </p:sp>
      <p:pic>
        <p:nvPicPr>
          <p:cNvPr id="23" name="object 23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998464" y="1397508"/>
            <a:ext cx="915162" cy="745997"/>
          </a:xfrm>
          <a:prstGeom prst="rect">
            <a:avLst/>
          </a:prstGeom>
        </p:spPr>
      </p:pic>
      <p:sp>
        <p:nvSpPr>
          <p:cNvPr id="24" name="object 24"/>
          <p:cNvSpPr txBox="1"/>
          <p:nvPr/>
        </p:nvSpPr>
        <p:spPr>
          <a:xfrm>
            <a:off x="6096253" y="2016379"/>
            <a:ext cx="2730500" cy="6972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5725" marR="21844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solidFill>
                  <a:srgbClr val="93A2B8"/>
                </a:solidFill>
                <a:latin typeface="Times New Roman"/>
                <a:cs typeface="Times New Roman"/>
              </a:rPr>
              <a:t>Track</a:t>
            </a:r>
            <a:r>
              <a:rPr sz="1100" spc="-50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93A2B8"/>
                </a:solidFill>
                <a:latin typeface="Times New Roman"/>
                <a:cs typeface="Times New Roman"/>
              </a:rPr>
              <a:t>medical</a:t>
            </a:r>
            <a:r>
              <a:rPr sz="1100" spc="-15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93A2B8"/>
                </a:solidFill>
                <a:latin typeface="Times New Roman"/>
                <a:cs typeface="Times New Roman"/>
              </a:rPr>
              <a:t>supply</a:t>
            </a:r>
            <a:r>
              <a:rPr sz="1100" spc="-25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93A2B8"/>
                </a:solidFill>
                <a:latin typeface="Times New Roman"/>
                <a:cs typeface="Times New Roman"/>
              </a:rPr>
              <a:t>expiry</a:t>
            </a:r>
            <a:r>
              <a:rPr sz="1100" spc="-35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93A2B8"/>
                </a:solidFill>
                <a:latin typeface="Times New Roman"/>
                <a:cs typeface="Times New Roman"/>
              </a:rPr>
              <a:t>dates,</a:t>
            </a:r>
            <a:r>
              <a:rPr sz="1100" spc="-35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100" spc="-10" dirty="0">
                <a:solidFill>
                  <a:srgbClr val="93A2B8"/>
                </a:solidFill>
                <a:latin typeface="Times New Roman"/>
                <a:cs typeface="Times New Roman"/>
              </a:rPr>
              <a:t>manage </a:t>
            </a:r>
            <a:r>
              <a:rPr sz="1100" dirty="0">
                <a:solidFill>
                  <a:srgbClr val="93A2B8"/>
                </a:solidFill>
                <a:latin typeface="Times New Roman"/>
                <a:cs typeface="Times New Roman"/>
              </a:rPr>
              <a:t>critical</a:t>
            </a:r>
            <a:r>
              <a:rPr sz="1100" spc="-45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93A2B8"/>
                </a:solidFill>
                <a:latin typeface="Times New Roman"/>
                <a:cs typeface="Times New Roman"/>
              </a:rPr>
              <a:t>stock</a:t>
            </a:r>
            <a:r>
              <a:rPr sz="1100" spc="-20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93A2B8"/>
                </a:solidFill>
                <a:latin typeface="Times New Roman"/>
                <a:cs typeface="Times New Roman"/>
              </a:rPr>
              <a:t>thresholds</a:t>
            </a:r>
            <a:r>
              <a:rPr sz="1100" spc="-30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93A2B8"/>
                </a:solidFill>
                <a:latin typeface="Times New Roman"/>
                <a:cs typeface="Times New Roman"/>
              </a:rPr>
              <a:t>for</a:t>
            </a:r>
            <a:r>
              <a:rPr sz="1100" spc="-15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93A2B8"/>
                </a:solidFill>
                <a:latin typeface="Times New Roman"/>
                <a:cs typeface="Times New Roman"/>
              </a:rPr>
              <a:t>life-</a:t>
            </a:r>
            <a:r>
              <a:rPr sz="1100" spc="-10" dirty="0">
                <a:solidFill>
                  <a:srgbClr val="93A2B8"/>
                </a:solidFill>
                <a:latin typeface="Times New Roman"/>
                <a:cs typeface="Times New Roman"/>
              </a:rPr>
              <a:t>saving </a:t>
            </a:r>
            <a:r>
              <a:rPr sz="1100" dirty="0">
                <a:solidFill>
                  <a:srgbClr val="93A2B8"/>
                </a:solidFill>
                <a:latin typeface="Times New Roman"/>
                <a:cs typeface="Times New Roman"/>
              </a:rPr>
              <a:t>medicines,</a:t>
            </a:r>
            <a:r>
              <a:rPr sz="1100" spc="-45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93A2B8"/>
                </a:solidFill>
                <a:latin typeface="Times New Roman"/>
                <a:cs typeface="Times New Roman"/>
              </a:rPr>
              <a:t>automate</a:t>
            </a:r>
            <a:r>
              <a:rPr sz="1100" spc="-45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93A2B8"/>
                </a:solidFill>
                <a:latin typeface="Times New Roman"/>
                <a:cs typeface="Times New Roman"/>
              </a:rPr>
              <a:t>procurement</a:t>
            </a:r>
            <a:r>
              <a:rPr sz="1100" spc="-50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93A2B8"/>
                </a:solidFill>
                <a:latin typeface="Times New Roman"/>
                <a:cs typeface="Times New Roman"/>
              </a:rPr>
              <a:t>of</a:t>
            </a:r>
            <a:r>
              <a:rPr sz="1100" spc="-15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100" spc="-20" dirty="0">
                <a:solidFill>
                  <a:srgbClr val="93A2B8"/>
                </a:solidFill>
                <a:latin typeface="Times New Roman"/>
                <a:cs typeface="Times New Roman"/>
              </a:rPr>
              <a:t>low- </a:t>
            </a:r>
            <a:r>
              <a:rPr sz="1100" dirty="0">
                <a:solidFill>
                  <a:srgbClr val="93A2B8"/>
                </a:solidFill>
                <a:latin typeface="Times New Roman"/>
                <a:cs typeface="Times New Roman"/>
              </a:rPr>
              <a:t>stock</a:t>
            </a:r>
            <a:r>
              <a:rPr sz="1100" spc="-15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100" spc="-10" dirty="0">
                <a:solidFill>
                  <a:srgbClr val="93A2B8"/>
                </a:solidFill>
                <a:latin typeface="Times New Roman"/>
                <a:cs typeface="Times New Roman"/>
              </a:rPr>
              <a:t>items.</a:t>
            </a:r>
            <a:endParaRPr sz="1100">
              <a:latin typeface="Times New Roman"/>
              <a:cs typeface="Times New Roman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137160" y="2843783"/>
            <a:ext cx="2955925" cy="2023110"/>
            <a:chOff x="137160" y="2843783"/>
            <a:chExt cx="2955925" cy="2023110"/>
          </a:xfrm>
        </p:grpSpPr>
        <p:pic>
          <p:nvPicPr>
            <p:cNvPr id="26" name="object 2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7160" y="2843783"/>
              <a:ext cx="2955798" cy="2023110"/>
            </a:xfrm>
            <a:prstGeom prst="rect">
              <a:avLst/>
            </a:prstGeom>
          </p:spPr>
        </p:pic>
        <p:sp>
          <p:nvSpPr>
            <p:cNvPr id="27" name="object 27"/>
            <p:cNvSpPr/>
            <p:nvPr/>
          </p:nvSpPr>
          <p:spPr>
            <a:xfrm>
              <a:off x="274320" y="3310127"/>
              <a:ext cx="2743200" cy="1426845"/>
            </a:xfrm>
            <a:custGeom>
              <a:avLst/>
              <a:gdLst/>
              <a:ahLst/>
              <a:cxnLst/>
              <a:rect l="l" t="t" r="r" b="b"/>
              <a:pathLst>
                <a:path w="2743200" h="1426845">
                  <a:moveTo>
                    <a:pt x="0" y="1426464"/>
                  </a:moveTo>
                  <a:lnTo>
                    <a:pt x="2743200" y="1426464"/>
                  </a:lnTo>
                  <a:lnTo>
                    <a:pt x="2743200" y="0"/>
                  </a:lnTo>
                  <a:lnTo>
                    <a:pt x="0" y="0"/>
                  </a:lnTo>
                  <a:lnTo>
                    <a:pt x="0" y="142646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274320" y="2926079"/>
              <a:ext cx="2743200" cy="1811020"/>
            </a:xfrm>
            <a:custGeom>
              <a:avLst/>
              <a:gdLst/>
              <a:ahLst/>
              <a:cxnLst/>
              <a:rect l="l" t="t" r="r" b="b"/>
              <a:pathLst>
                <a:path w="2743200" h="1811020">
                  <a:moveTo>
                    <a:pt x="0" y="1810512"/>
                  </a:moveTo>
                  <a:lnTo>
                    <a:pt x="2743200" y="1810512"/>
                  </a:lnTo>
                  <a:lnTo>
                    <a:pt x="2743200" y="0"/>
                  </a:lnTo>
                  <a:lnTo>
                    <a:pt x="0" y="0"/>
                  </a:lnTo>
                  <a:lnTo>
                    <a:pt x="0" y="1810512"/>
                  </a:lnTo>
                  <a:close/>
                </a:path>
              </a:pathLst>
            </a:custGeom>
            <a:ln w="12700">
              <a:solidFill>
                <a:srgbClr val="E1E8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29"/>
          <p:cNvSpPr txBox="1"/>
          <p:nvPr/>
        </p:nvSpPr>
        <p:spPr>
          <a:xfrm>
            <a:off x="274320" y="2926079"/>
            <a:ext cx="2743200" cy="384175"/>
          </a:xfrm>
          <a:prstGeom prst="rect">
            <a:avLst/>
          </a:prstGeom>
          <a:solidFill>
            <a:srgbClr val="8A5CF6"/>
          </a:solidFill>
          <a:ln w="12700">
            <a:solidFill>
              <a:srgbClr val="8A5CF6"/>
            </a:solidFill>
          </a:ln>
        </p:spPr>
        <p:txBody>
          <a:bodyPr vert="horz" wrap="square" lIns="0" tIns="88265" rIns="0" bIns="0" rtlCol="0">
            <a:spAutoFit/>
          </a:bodyPr>
          <a:lstStyle/>
          <a:p>
            <a:pPr marL="73025">
              <a:lnSpc>
                <a:spcPct val="100000"/>
              </a:lnSpc>
              <a:spcBef>
                <a:spcPts val="695"/>
              </a:spcBef>
            </a:pPr>
            <a:r>
              <a:rPr sz="1300" b="1" dirty="0">
                <a:solidFill>
                  <a:srgbClr val="FFFFFF"/>
                </a:solidFill>
                <a:latin typeface="Times New Roman"/>
                <a:cs typeface="Times New Roman"/>
              </a:rPr>
              <a:t>Warehousing</a:t>
            </a:r>
            <a:r>
              <a:rPr sz="1300" b="1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300" b="1" dirty="0">
                <a:solidFill>
                  <a:srgbClr val="FFFFFF"/>
                </a:solidFill>
                <a:latin typeface="Times New Roman"/>
                <a:cs typeface="Times New Roman"/>
              </a:rPr>
              <a:t>&amp;</a:t>
            </a:r>
            <a:r>
              <a:rPr sz="1300" b="1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3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Logistics</a:t>
            </a:r>
            <a:endParaRPr sz="1300">
              <a:latin typeface="Times New Roman"/>
              <a:cs typeface="Times New Roman"/>
            </a:endParaRPr>
          </a:p>
        </p:txBody>
      </p:sp>
      <p:pic>
        <p:nvPicPr>
          <p:cNvPr id="30" name="object 3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82879" y="3363467"/>
            <a:ext cx="915162" cy="745997"/>
          </a:xfrm>
          <a:prstGeom prst="rect">
            <a:avLst/>
          </a:prstGeom>
        </p:spPr>
      </p:pic>
      <p:sp>
        <p:nvSpPr>
          <p:cNvPr id="31" name="object 31"/>
          <p:cNvSpPr txBox="1"/>
          <p:nvPr/>
        </p:nvSpPr>
        <p:spPr>
          <a:xfrm>
            <a:off x="280670" y="4066743"/>
            <a:ext cx="2730500" cy="528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4455">
              <a:lnSpc>
                <a:spcPct val="100000"/>
              </a:lnSpc>
              <a:spcBef>
                <a:spcPts val="100"/>
              </a:spcBef>
            </a:pPr>
            <a:r>
              <a:rPr sz="1100" spc="-10" dirty="0">
                <a:solidFill>
                  <a:srgbClr val="93A2B8"/>
                </a:solidFill>
                <a:latin typeface="Times New Roman"/>
                <a:cs typeface="Times New Roman"/>
              </a:rPr>
              <a:t>Multi-</a:t>
            </a:r>
            <a:r>
              <a:rPr sz="1100" dirty="0">
                <a:solidFill>
                  <a:srgbClr val="93A2B8"/>
                </a:solidFill>
                <a:latin typeface="Times New Roman"/>
                <a:cs typeface="Times New Roman"/>
              </a:rPr>
              <a:t>location</a:t>
            </a:r>
            <a:r>
              <a:rPr sz="1100" spc="-30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93A2B8"/>
                </a:solidFill>
                <a:latin typeface="Times New Roman"/>
                <a:cs typeface="Times New Roman"/>
              </a:rPr>
              <a:t>stock</a:t>
            </a:r>
            <a:r>
              <a:rPr sz="1100" spc="-15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93A2B8"/>
                </a:solidFill>
                <a:latin typeface="Times New Roman"/>
                <a:cs typeface="Times New Roman"/>
              </a:rPr>
              <a:t>tracking,</a:t>
            </a:r>
            <a:r>
              <a:rPr sz="1100" spc="-25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100" spc="-10" dirty="0">
                <a:solidFill>
                  <a:srgbClr val="93A2B8"/>
                </a:solidFill>
                <a:latin typeface="Times New Roman"/>
                <a:cs typeface="Times New Roman"/>
              </a:rPr>
              <a:t>shipment</a:t>
            </a:r>
            <a:endParaRPr sz="1100">
              <a:latin typeface="Times New Roman"/>
              <a:cs typeface="Times New Roman"/>
            </a:endParaRPr>
          </a:p>
          <a:p>
            <a:pPr marL="84455" marR="102235">
              <a:lnSpc>
                <a:spcPct val="100000"/>
              </a:lnSpc>
              <a:spcBef>
                <a:spcPts val="5"/>
              </a:spcBef>
            </a:pPr>
            <a:r>
              <a:rPr sz="1100" dirty="0">
                <a:solidFill>
                  <a:srgbClr val="93A2B8"/>
                </a:solidFill>
                <a:latin typeface="Times New Roman"/>
                <a:cs typeface="Times New Roman"/>
              </a:rPr>
              <a:t>management,</a:t>
            </a:r>
            <a:r>
              <a:rPr sz="1100" spc="-50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93A2B8"/>
                </a:solidFill>
                <a:latin typeface="Times New Roman"/>
                <a:cs typeface="Times New Roman"/>
              </a:rPr>
              <a:t>inbound/outbound</a:t>
            </a:r>
            <a:r>
              <a:rPr sz="1100" spc="-70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93A2B8"/>
                </a:solidFill>
                <a:latin typeface="Times New Roman"/>
                <a:cs typeface="Times New Roman"/>
              </a:rPr>
              <a:t>logging,</a:t>
            </a:r>
            <a:r>
              <a:rPr sz="1100" spc="-25" dirty="0">
                <a:solidFill>
                  <a:srgbClr val="93A2B8"/>
                </a:solidFill>
                <a:latin typeface="Times New Roman"/>
                <a:cs typeface="Times New Roman"/>
              </a:rPr>
              <a:t> and </a:t>
            </a:r>
            <a:r>
              <a:rPr sz="1100" dirty="0">
                <a:solidFill>
                  <a:srgbClr val="93A2B8"/>
                </a:solidFill>
                <a:latin typeface="Times New Roman"/>
                <a:cs typeface="Times New Roman"/>
              </a:rPr>
              <a:t>automated</a:t>
            </a:r>
            <a:r>
              <a:rPr sz="1100" spc="-40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93A2B8"/>
                </a:solidFill>
                <a:latin typeface="Times New Roman"/>
                <a:cs typeface="Times New Roman"/>
              </a:rPr>
              <a:t>space</a:t>
            </a:r>
            <a:r>
              <a:rPr sz="1100" spc="-25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93A2B8"/>
                </a:solidFill>
                <a:latin typeface="Times New Roman"/>
                <a:cs typeface="Times New Roman"/>
              </a:rPr>
              <a:t>optimization</a:t>
            </a:r>
            <a:r>
              <a:rPr sz="1100" spc="-40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100" spc="-10" dirty="0">
                <a:solidFill>
                  <a:srgbClr val="93A2B8"/>
                </a:solidFill>
                <a:latin typeface="Times New Roman"/>
                <a:cs typeface="Times New Roman"/>
              </a:rPr>
              <a:t>alerts.</a:t>
            </a:r>
            <a:endParaRPr sz="1100">
              <a:latin typeface="Times New Roman"/>
              <a:cs typeface="Times New Roman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3044951" y="2843783"/>
            <a:ext cx="2955925" cy="2023110"/>
            <a:chOff x="3044951" y="2843783"/>
            <a:chExt cx="2955925" cy="2023110"/>
          </a:xfrm>
        </p:grpSpPr>
        <p:pic>
          <p:nvPicPr>
            <p:cNvPr id="33" name="object 3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044951" y="2843783"/>
              <a:ext cx="2955798" cy="2023110"/>
            </a:xfrm>
            <a:prstGeom prst="rect">
              <a:avLst/>
            </a:prstGeom>
          </p:spPr>
        </p:pic>
        <p:sp>
          <p:nvSpPr>
            <p:cNvPr id="34" name="object 34"/>
            <p:cNvSpPr/>
            <p:nvPr/>
          </p:nvSpPr>
          <p:spPr>
            <a:xfrm>
              <a:off x="3182111" y="3310127"/>
              <a:ext cx="2743200" cy="1426845"/>
            </a:xfrm>
            <a:custGeom>
              <a:avLst/>
              <a:gdLst/>
              <a:ahLst/>
              <a:cxnLst/>
              <a:rect l="l" t="t" r="r" b="b"/>
              <a:pathLst>
                <a:path w="2743200" h="1426845">
                  <a:moveTo>
                    <a:pt x="0" y="1426464"/>
                  </a:moveTo>
                  <a:lnTo>
                    <a:pt x="2743200" y="1426464"/>
                  </a:lnTo>
                  <a:lnTo>
                    <a:pt x="2743200" y="0"/>
                  </a:lnTo>
                  <a:lnTo>
                    <a:pt x="0" y="0"/>
                  </a:lnTo>
                  <a:lnTo>
                    <a:pt x="0" y="142646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3182111" y="2926079"/>
              <a:ext cx="2743200" cy="1811020"/>
            </a:xfrm>
            <a:custGeom>
              <a:avLst/>
              <a:gdLst/>
              <a:ahLst/>
              <a:cxnLst/>
              <a:rect l="l" t="t" r="r" b="b"/>
              <a:pathLst>
                <a:path w="2743200" h="1811020">
                  <a:moveTo>
                    <a:pt x="0" y="1810512"/>
                  </a:moveTo>
                  <a:lnTo>
                    <a:pt x="2743200" y="1810512"/>
                  </a:lnTo>
                  <a:lnTo>
                    <a:pt x="2743200" y="0"/>
                  </a:lnTo>
                  <a:lnTo>
                    <a:pt x="0" y="0"/>
                  </a:lnTo>
                  <a:lnTo>
                    <a:pt x="0" y="1810512"/>
                  </a:lnTo>
                  <a:close/>
                </a:path>
              </a:pathLst>
            </a:custGeom>
            <a:ln w="12700">
              <a:solidFill>
                <a:srgbClr val="E1E8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6" name="object 36"/>
          <p:cNvSpPr txBox="1"/>
          <p:nvPr/>
        </p:nvSpPr>
        <p:spPr>
          <a:xfrm>
            <a:off x="3182111" y="2926079"/>
            <a:ext cx="2743200" cy="384175"/>
          </a:xfrm>
          <a:prstGeom prst="rect">
            <a:avLst/>
          </a:prstGeom>
          <a:solidFill>
            <a:srgbClr val="0FB881"/>
          </a:solidFill>
          <a:ln w="12700">
            <a:solidFill>
              <a:srgbClr val="0FB881"/>
            </a:solidFill>
          </a:ln>
        </p:spPr>
        <p:txBody>
          <a:bodyPr vert="horz" wrap="square" lIns="0" tIns="88265" rIns="0" bIns="0" rtlCol="0">
            <a:spAutoFit/>
          </a:bodyPr>
          <a:lstStyle/>
          <a:p>
            <a:pPr marL="73660">
              <a:lnSpc>
                <a:spcPct val="100000"/>
              </a:lnSpc>
              <a:spcBef>
                <a:spcPts val="695"/>
              </a:spcBef>
            </a:pPr>
            <a:r>
              <a:rPr sz="1300" b="1" dirty="0">
                <a:solidFill>
                  <a:srgbClr val="FFFFFF"/>
                </a:solidFill>
                <a:latin typeface="Times New Roman"/>
                <a:cs typeface="Times New Roman"/>
              </a:rPr>
              <a:t>Restaurant</a:t>
            </a:r>
            <a:r>
              <a:rPr sz="1300" b="1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300" b="1" dirty="0">
                <a:solidFill>
                  <a:srgbClr val="FFFFFF"/>
                </a:solidFill>
                <a:latin typeface="Times New Roman"/>
                <a:cs typeface="Times New Roman"/>
              </a:rPr>
              <a:t>&amp;</a:t>
            </a:r>
            <a:r>
              <a:rPr sz="1300" b="1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300" b="1" spc="-25" dirty="0">
                <a:solidFill>
                  <a:srgbClr val="FFFFFF"/>
                </a:solidFill>
                <a:latin typeface="Times New Roman"/>
                <a:cs typeface="Times New Roman"/>
              </a:rPr>
              <a:t>F&amp;B</a:t>
            </a:r>
            <a:endParaRPr sz="1300">
              <a:latin typeface="Times New Roman"/>
              <a:cs typeface="Times New Roman"/>
            </a:endParaRPr>
          </a:p>
        </p:txBody>
      </p:sp>
      <p:pic>
        <p:nvPicPr>
          <p:cNvPr id="37" name="object 3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090672" y="3363467"/>
            <a:ext cx="915162" cy="745997"/>
          </a:xfrm>
          <a:prstGeom prst="rect">
            <a:avLst/>
          </a:prstGeom>
        </p:spPr>
      </p:pic>
      <p:sp>
        <p:nvSpPr>
          <p:cNvPr id="38" name="object 38"/>
          <p:cNvSpPr txBox="1"/>
          <p:nvPr/>
        </p:nvSpPr>
        <p:spPr>
          <a:xfrm>
            <a:off x="3188461" y="4066743"/>
            <a:ext cx="2730500" cy="528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5725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solidFill>
                  <a:srgbClr val="93A2B8"/>
                </a:solidFill>
                <a:latin typeface="Times New Roman"/>
                <a:cs typeface="Times New Roman"/>
              </a:rPr>
              <a:t>Manage</a:t>
            </a:r>
            <a:r>
              <a:rPr sz="1100" spc="-20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93A2B8"/>
                </a:solidFill>
                <a:latin typeface="Times New Roman"/>
                <a:cs typeface="Times New Roman"/>
              </a:rPr>
              <a:t>perishable</a:t>
            </a:r>
            <a:r>
              <a:rPr sz="1100" spc="-40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93A2B8"/>
                </a:solidFill>
                <a:latin typeface="Times New Roman"/>
                <a:cs typeface="Times New Roman"/>
              </a:rPr>
              <a:t>ingredient</a:t>
            </a:r>
            <a:r>
              <a:rPr sz="1100" spc="-45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100" spc="-10" dirty="0">
                <a:solidFill>
                  <a:srgbClr val="93A2B8"/>
                </a:solidFill>
                <a:latin typeface="Times New Roman"/>
                <a:cs typeface="Times New Roman"/>
              </a:rPr>
              <a:t>inventory,</a:t>
            </a:r>
            <a:endParaRPr sz="1100">
              <a:latin typeface="Times New Roman"/>
              <a:cs typeface="Times New Roman"/>
            </a:endParaRPr>
          </a:p>
          <a:p>
            <a:pPr marL="85725" marR="170815">
              <a:lnSpc>
                <a:spcPct val="100000"/>
              </a:lnSpc>
              <a:spcBef>
                <a:spcPts val="5"/>
              </a:spcBef>
            </a:pPr>
            <a:r>
              <a:rPr sz="1100" dirty="0">
                <a:solidFill>
                  <a:srgbClr val="93A2B8"/>
                </a:solidFill>
                <a:latin typeface="Times New Roman"/>
                <a:cs typeface="Times New Roman"/>
              </a:rPr>
              <a:t>track</a:t>
            </a:r>
            <a:r>
              <a:rPr sz="1100" spc="-40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93A2B8"/>
                </a:solidFill>
                <a:latin typeface="Times New Roman"/>
                <a:cs typeface="Times New Roman"/>
              </a:rPr>
              <a:t>daily</a:t>
            </a:r>
            <a:r>
              <a:rPr sz="1100" spc="-40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93A2B8"/>
                </a:solidFill>
                <a:latin typeface="Times New Roman"/>
                <a:cs typeface="Times New Roman"/>
              </a:rPr>
              <a:t>consumption</a:t>
            </a:r>
            <a:r>
              <a:rPr sz="1100" spc="-40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93A2B8"/>
                </a:solidFill>
                <a:latin typeface="Times New Roman"/>
                <a:cs typeface="Times New Roman"/>
              </a:rPr>
              <a:t>patterns,</a:t>
            </a:r>
            <a:r>
              <a:rPr sz="1100" spc="-30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93A2B8"/>
                </a:solidFill>
                <a:latin typeface="Times New Roman"/>
                <a:cs typeface="Times New Roman"/>
              </a:rPr>
              <a:t>set</a:t>
            </a:r>
            <a:r>
              <a:rPr sz="1100" spc="-20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100" spc="-10" dirty="0">
                <a:solidFill>
                  <a:srgbClr val="93A2B8"/>
                </a:solidFill>
                <a:latin typeface="Times New Roman"/>
                <a:cs typeface="Times New Roman"/>
              </a:rPr>
              <a:t>critical </a:t>
            </a:r>
            <a:r>
              <a:rPr sz="1100" dirty="0">
                <a:solidFill>
                  <a:srgbClr val="93A2B8"/>
                </a:solidFill>
                <a:latin typeface="Times New Roman"/>
                <a:cs typeface="Times New Roman"/>
              </a:rPr>
              <a:t>thresholds</a:t>
            </a:r>
            <a:r>
              <a:rPr sz="1100" spc="-55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93A2B8"/>
                </a:solidFill>
                <a:latin typeface="Times New Roman"/>
                <a:cs typeface="Times New Roman"/>
              </a:rPr>
              <a:t>for</a:t>
            </a:r>
            <a:r>
              <a:rPr sz="1100" spc="-20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93A2B8"/>
                </a:solidFill>
                <a:latin typeface="Times New Roman"/>
                <a:cs typeface="Times New Roman"/>
              </a:rPr>
              <a:t>essential</a:t>
            </a:r>
            <a:r>
              <a:rPr sz="1100" spc="-45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100" spc="-10" dirty="0">
                <a:solidFill>
                  <a:srgbClr val="93A2B8"/>
                </a:solidFill>
                <a:latin typeface="Times New Roman"/>
                <a:cs typeface="Times New Roman"/>
              </a:rPr>
              <a:t>ingredients.</a:t>
            </a:r>
            <a:endParaRPr sz="1100">
              <a:latin typeface="Times New Roman"/>
              <a:cs typeface="Times New Roman"/>
            </a:endParaRPr>
          </a:p>
        </p:txBody>
      </p:sp>
      <p:grpSp>
        <p:nvGrpSpPr>
          <p:cNvPr id="39" name="object 39"/>
          <p:cNvGrpSpPr/>
          <p:nvPr/>
        </p:nvGrpSpPr>
        <p:grpSpPr>
          <a:xfrm>
            <a:off x="5952744" y="2843783"/>
            <a:ext cx="2955925" cy="2023110"/>
            <a:chOff x="5952744" y="2843783"/>
            <a:chExt cx="2955925" cy="2023110"/>
          </a:xfrm>
        </p:grpSpPr>
        <p:pic>
          <p:nvPicPr>
            <p:cNvPr id="40" name="object 4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952744" y="2843783"/>
              <a:ext cx="2955798" cy="2023110"/>
            </a:xfrm>
            <a:prstGeom prst="rect">
              <a:avLst/>
            </a:prstGeom>
          </p:spPr>
        </p:pic>
        <p:sp>
          <p:nvSpPr>
            <p:cNvPr id="41" name="object 41"/>
            <p:cNvSpPr/>
            <p:nvPr/>
          </p:nvSpPr>
          <p:spPr>
            <a:xfrm>
              <a:off x="6089904" y="3310127"/>
              <a:ext cx="2743200" cy="1426845"/>
            </a:xfrm>
            <a:custGeom>
              <a:avLst/>
              <a:gdLst/>
              <a:ahLst/>
              <a:cxnLst/>
              <a:rect l="l" t="t" r="r" b="b"/>
              <a:pathLst>
                <a:path w="2743200" h="1426845">
                  <a:moveTo>
                    <a:pt x="0" y="1426464"/>
                  </a:moveTo>
                  <a:lnTo>
                    <a:pt x="2743200" y="1426464"/>
                  </a:lnTo>
                  <a:lnTo>
                    <a:pt x="2743200" y="0"/>
                  </a:lnTo>
                  <a:lnTo>
                    <a:pt x="0" y="0"/>
                  </a:lnTo>
                  <a:lnTo>
                    <a:pt x="0" y="142646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6089904" y="2926079"/>
              <a:ext cx="2743200" cy="1811020"/>
            </a:xfrm>
            <a:custGeom>
              <a:avLst/>
              <a:gdLst/>
              <a:ahLst/>
              <a:cxnLst/>
              <a:rect l="l" t="t" r="r" b="b"/>
              <a:pathLst>
                <a:path w="2743200" h="1811020">
                  <a:moveTo>
                    <a:pt x="0" y="1810512"/>
                  </a:moveTo>
                  <a:lnTo>
                    <a:pt x="2743200" y="1810512"/>
                  </a:lnTo>
                  <a:lnTo>
                    <a:pt x="2743200" y="0"/>
                  </a:lnTo>
                  <a:lnTo>
                    <a:pt x="0" y="0"/>
                  </a:lnTo>
                  <a:lnTo>
                    <a:pt x="0" y="1810512"/>
                  </a:lnTo>
                  <a:close/>
                </a:path>
              </a:pathLst>
            </a:custGeom>
            <a:ln w="12700">
              <a:solidFill>
                <a:srgbClr val="E1E8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3" name="object 43"/>
          <p:cNvSpPr txBox="1"/>
          <p:nvPr/>
        </p:nvSpPr>
        <p:spPr>
          <a:xfrm>
            <a:off x="6089903" y="2926079"/>
            <a:ext cx="2743200" cy="384175"/>
          </a:xfrm>
          <a:prstGeom prst="rect">
            <a:avLst/>
          </a:prstGeom>
          <a:solidFill>
            <a:srgbClr val="F59E0A"/>
          </a:solidFill>
          <a:ln w="12700">
            <a:solidFill>
              <a:srgbClr val="F59E0A"/>
            </a:solidFill>
          </a:ln>
        </p:spPr>
        <p:txBody>
          <a:bodyPr vert="horz" wrap="square" lIns="0" tIns="88265" rIns="0" bIns="0" rtlCol="0">
            <a:spAutoFit/>
          </a:bodyPr>
          <a:lstStyle/>
          <a:p>
            <a:pPr marL="73660">
              <a:lnSpc>
                <a:spcPct val="100000"/>
              </a:lnSpc>
              <a:spcBef>
                <a:spcPts val="695"/>
              </a:spcBef>
            </a:pPr>
            <a:r>
              <a:rPr sz="1300" b="1" dirty="0">
                <a:solidFill>
                  <a:srgbClr val="FFFFFF"/>
                </a:solidFill>
                <a:latin typeface="Times New Roman"/>
                <a:cs typeface="Times New Roman"/>
              </a:rPr>
              <a:t>IT</a:t>
            </a:r>
            <a:r>
              <a:rPr sz="1300" b="1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300" b="1" dirty="0">
                <a:solidFill>
                  <a:srgbClr val="FFFFFF"/>
                </a:solidFill>
                <a:latin typeface="Times New Roman"/>
                <a:cs typeface="Times New Roman"/>
              </a:rPr>
              <a:t>Asset</a:t>
            </a:r>
            <a:r>
              <a:rPr sz="1300" b="1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3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Management</a:t>
            </a:r>
            <a:endParaRPr sz="1300">
              <a:latin typeface="Times New Roman"/>
              <a:cs typeface="Times New Roman"/>
            </a:endParaRPr>
          </a:p>
        </p:txBody>
      </p:sp>
      <p:pic>
        <p:nvPicPr>
          <p:cNvPr id="44" name="object 44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5998464" y="3363467"/>
            <a:ext cx="915162" cy="745997"/>
          </a:xfrm>
          <a:prstGeom prst="rect">
            <a:avLst/>
          </a:prstGeom>
        </p:spPr>
      </p:pic>
      <p:sp>
        <p:nvSpPr>
          <p:cNvPr id="45" name="object 45"/>
          <p:cNvSpPr txBox="1"/>
          <p:nvPr/>
        </p:nvSpPr>
        <p:spPr>
          <a:xfrm>
            <a:off x="6096253" y="4066743"/>
            <a:ext cx="2730500" cy="528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5725" marR="10541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solidFill>
                  <a:srgbClr val="93A2B8"/>
                </a:solidFill>
                <a:latin typeface="Times New Roman"/>
                <a:cs typeface="Times New Roman"/>
              </a:rPr>
              <a:t>Track</a:t>
            </a:r>
            <a:r>
              <a:rPr sz="1100" spc="-5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100" spc="-10" dirty="0">
                <a:solidFill>
                  <a:srgbClr val="93A2B8"/>
                </a:solidFill>
                <a:latin typeface="Times New Roman"/>
                <a:cs typeface="Times New Roman"/>
              </a:rPr>
              <a:t>hardware/software</a:t>
            </a:r>
            <a:r>
              <a:rPr sz="1100" spc="5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93A2B8"/>
                </a:solidFill>
                <a:latin typeface="Times New Roman"/>
                <a:cs typeface="Times New Roman"/>
              </a:rPr>
              <a:t>assets,</a:t>
            </a:r>
            <a:r>
              <a:rPr sz="1100" spc="-5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100" spc="-10" dirty="0">
                <a:solidFill>
                  <a:srgbClr val="93A2B8"/>
                </a:solidFill>
                <a:latin typeface="Times New Roman"/>
                <a:cs typeface="Times New Roman"/>
              </a:rPr>
              <a:t>manage </a:t>
            </a:r>
            <a:r>
              <a:rPr sz="1100" dirty="0">
                <a:solidFill>
                  <a:srgbClr val="93A2B8"/>
                </a:solidFill>
                <a:latin typeface="Times New Roman"/>
                <a:cs typeface="Times New Roman"/>
              </a:rPr>
              <a:t>procurement</a:t>
            </a:r>
            <a:r>
              <a:rPr sz="1100" spc="-50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93A2B8"/>
                </a:solidFill>
                <a:latin typeface="Times New Roman"/>
                <a:cs typeface="Times New Roman"/>
              </a:rPr>
              <a:t>cycles</a:t>
            </a:r>
            <a:r>
              <a:rPr sz="1100" spc="-30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93A2B8"/>
                </a:solidFill>
                <a:latin typeface="Times New Roman"/>
                <a:cs typeface="Times New Roman"/>
              </a:rPr>
              <a:t>for</a:t>
            </a:r>
            <a:r>
              <a:rPr sz="1100" spc="-15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93A2B8"/>
                </a:solidFill>
                <a:latin typeface="Times New Roman"/>
                <a:cs typeface="Times New Roman"/>
              </a:rPr>
              <a:t>devices,</a:t>
            </a:r>
            <a:r>
              <a:rPr sz="1100" spc="-35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93A2B8"/>
                </a:solidFill>
                <a:latin typeface="Times New Roman"/>
                <a:cs typeface="Times New Roman"/>
              </a:rPr>
              <a:t>and</a:t>
            </a:r>
            <a:r>
              <a:rPr sz="1100" spc="-5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100" spc="-10" dirty="0">
                <a:solidFill>
                  <a:srgbClr val="93A2B8"/>
                </a:solidFill>
                <a:latin typeface="Times New Roman"/>
                <a:cs typeface="Times New Roman"/>
              </a:rPr>
              <a:t>maintain </a:t>
            </a:r>
            <a:r>
              <a:rPr sz="1100" dirty="0">
                <a:solidFill>
                  <a:srgbClr val="93A2B8"/>
                </a:solidFill>
                <a:latin typeface="Times New Roman"/>
                <a:cs typeface="Times New Roman"/>
              </a:rPr>
              <a:t>audit</a:t>
            </a:r>
            <a:r>
              <a:rPr sz="1100" spc="-30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93A2B8"/>
                </a:solidFill>
                <a:latin typeface="Times New Roman"/>
                <a:cs typeface="Times New Roman"/>
              </a:rPr>
              <a:t>trails</a:t>
            </a:r>
            <a:r>
              <a:rPr sz="1100" spc="-40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93A2B8"/>
                </a:solidFill>
                <a:latin typeface="Times New Roman"/>
                <a:cs typeface="Times New Roman"/>
              </a:rPr>
              <a:t>for</a:t>
            </a:r>
            <a:r>
              <a:rPr sz="1100" spc="-5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93A2B8"/>
                </a:solidFill>
                <a:latin typeface="Times New Roman"/>
                <a:cs typeface="Times New Roman"/>
              </a:rPr>
              <a:t>compliance</a:t>
            </a:r>
            <a:r>
              <a:rPr sz="1100" spc="-40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100" spc="-10" dirty="0">
                <a:solidFill>
                  <a:srgbClr val="93A2B8"/>
                </a:solidFill>
                <a:latin typeface="Times New Roman"/>
                <a:cs typeface="Times New Roman"/>
              </a:rPr>
              <a:t>reporting.</a:t>
            </a:r>
            <a:endParaRPr sz="11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4000" y="0"/>
                </a:moveTo>
                <a:lnTo>
                  <a:pt x="0" y="0"/>
                </a:lnTo>
                <a:lnTo>
                  <a:pt x="0" y="5143500"/>
                </a:lnTo>
                <a:lnTo>
                  <a:pt x="9144000" y="5143500"/>
                </a:lnTo>
                <a:lnTo>
                  <a:pt x="9144000" y="0"/>
                </a:lnTo>
                <a:close/>
              </a:path>
            </a:pathLst>
          </a:custGeom>
          <a:solidFill>
            <a:srgbClr val="EFF4F8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-6350" y="-6350"/>
            <a:ext cx="9156700" cy="86360"/>
            <a:chOff x="-6350" y="-6350"/>
            <a:chExt cx="9156700" cy="86360"/>
          </a:xfrm>
        </p:grpSpPr>
        <p:sp>
          <p:nvSpPr>
            <p:cNvPr id="4" name="object 4"/>
            <p:cNvSpPr/>
            <p:nvPr/>
          </p:nvSpPr>
          <p:spPr>
            <a:xfrm>
              <a:off x="0" y="0"/>
              <a:ext cx="9144000" cy="73660"/>
            </a:xfrm>
            <a:custGeom>
              <a:avLst/>
              <a:gdLst/>
              <a:ahLst/>
              <a:cxnLst/>
              <a:rect l="l" t="t" r="r" b="b"/>
              <a:pathLst>
                <a:path w="9144000" h="73660">
                  <a:moveTo>
                    <a:pt x="9144000" y="0"/>
                  </a:moveTo>
                  <a:lnTo>
                    <a:pt x="0" y="0"/>
                  </a:lnTo>
                  <a:lnTo>
                    <a:pt x="0" y="73151"/>
                  </a:lnTo>
                  <a:lnTo>
                    <a:pt x="9144000" y="73151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F59E0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0"/>
              <a:ext cx="9144000" cy="73660"/>
            </a:xfrm>
            <a:custGeom>
              <a:avLst/>
              <a:gdLst/>
              <a:ahLst/>
              <a:cxnLst/>
              <a:rect l="l" t="t" r="r" b="b"/>
              <a:pathLst>
                <a:path w="9144000" h="73660">
                  <a:moveTo>
                    <a:pt x="0" y="73151"/>
                  </a:moveTo>
                  <a:lnTo>
                    <a:pt x="9144000" y="73151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73151"/>
                  </a:lnTo>
                  <a:close/>
                </a:path>
              </a:pathLst>
            </a:custGeom>
            <a:ln w="12700">
              <a:solidFill>
                <a:srgbClr val="F59E0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444500" y="71401"/>
            <a:ext cx="2730500" cy="776605"/>
          </a:xfrm>
          <a:prstGeom prst="rect">
            <a:avLst/>
          </a:prstGeom>
        </p:spPr>
        <p:txBody>
          <a:bodyPr vert="horz" wrap="square" lIns="0" tIns="793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25"/>
              </a:spcBef>
            </a:pPr>
            <a:r>
              <a:rPr sz="3000" spc="-10" dirty="0">
                <a:solidFill>
                  <a:srgbClr val="000000"/>
                </a:solidFill>
              </a:rPr>
              <a:t>Conclusion</a:t>
            </a:r>
            <a:endParaRPr sz="3000"/>
          </a:p>
          <a:p>
            <a:pPr marL="12700">
              <a:lnSpc>
                <a:spcPct val="100000"/>
              </a:lnSpc>
              <a:spcBef>
                <a:spcPts val="225"/>
              </a:spcBef>
            </a:pPr>
            <a:r>
              <a:rPr sz="1300" b="0" i="1" dirty="0">
                <a:solidFill>
                  <a:srgbClr val="05B6D3"/>
                </a:solidFill>
                <a:latin typeface="Times New Roman"/>
                <a:cs typeface="Times New Roman"/>
              </a:rPr>
              <a:t>Summary,</a:t>
            </a:r>
            <a:r>
              <a:rPr sz="1300" b="0" i="1" spc="-30" dirty="0">
                <a:solidFill>
                  <a:srgbClr val="05B6D3"/>
                </a:solidFill>
                <a:latin typeface="Times New Roman"/>
                <a:cs typeface="Times New Roman"/>
              </a:rPr>
              <a:t> </a:t>
            </a:r>
            <a:r>
              <a:rPr sz="1300" b="0" i="1" spc="-10" dirty="0">
                <a:solidFill>
                  <a:srgbClr val="05B6D3"/>
                </a:solidFill>
                <a:latin typeface="Times New Roman"/>
                <a:cs typeface="Times New Roman"/>
              </a:rPr>
              <a:t>Learnings</a:t>
            </a:r>
            <a:r>
              <a:rPr sz="1300" b="0" i="1" spc="-20" dirty="0">
                <a:solidFill>
                  <a:srgbClr val="05B6D3"/>
                </a:solidFill>
                <a:latin typeface="Times New Roman"/>
                <a:cs typeface="Times New Roman"/>
              </a:rPr>
              <a:t> </a:t>
            </a:r>
            <a:r>
              <a:rPr sz="1300" b="0" i="1" dirty="0">
                <a:solidFill>
                  <a:srgbClr val="05B6D3"/>
                </a:solidFill>
                <a:latin typeface="Times New Roman"/>
                <a:cs typeface="Times New Roman"/>
              </a:rPr>
              <a:t>&amp;</a:t>
            </a:r>
            <a:r>
              <a:rPr sz="1300" b="0" i="1" spc="-20" dirty="0">
                <a:solidFill>
                  <a:srgbClr val="05B6D3"/>
                </a:solidFill>
                <a:latin typeface="Times New Roman"/>
                <a:cs typeface="Times New Roman"/>
              </a:rPr>
              <a:t> </a:t>
            </a:r>
            <a:r>
              <a:rPr sz="1300" b="0" i="1" dirty="0">
                <a:solidFill>
                  <a:srgbClr val="05B6D3"/>
                </a:solidFill>
                <a:latin typeface="Times New Roman"/>
                <a:cs typeface="Times New Roman"/>
              </a:rPr>
              <a:t>Future</a:t>
            </a:r>
            <a:r>
              <a:rPr sz="1300" b="0" i="1" spc="-30" dirty="0">
                <a:solidFill>
                  <a:srgbClr val="05B6D3"/>
                </a:solidFill>
                <a:latin typeface="Times New Roman"/>
                <a:cs typeface="Times New Roman"/>
              </a:rPr>
              <a:t> </a:t>
            </a:r>
            <a:r>
              <a:rPr sz="1300" b="0" i="1" spc="-10" dirty="0">
                <a:solidFill>
                  <a:srgbClr val="05B6D3"/>
                </a:solidFill>
                <a:latin typeface="Times New Roman"/>
                <a:cs typeface="Times New Roman"/>
              </a:rPr>
              <a:t>Roadmap</a:t>
            </a:r>
            <a:endParaRPr sz="1300">
              <a:latin typeface="Times New Roman"/>
              <a:cs typeface="Times New Roman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7160" y="1408176"/>
            <a:ext cx="8807957" cy="1629918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274320" y="1490472"/>
            <a:ext cx="8595360" cy="1417320"/>
          </a:xfrm>
          <a:prstGeom prst="rect">
            <a:avLst/>
          </a:prstGeom>
          <a:solidFill>
            <a:srgbClr val="1B2A3D"/>
          </a:solidFill>
          <a:ln w="12700">
            <a:solidFill>
              <a:srgbClr val="E1E8EF"/>
            </a:solidFill>
          </a:ln>
        </p:spPr>
        <p:txBody>
          <a:bodyPr vert="horz" wrap="square" lIns="0" tIns="98425" rIns="0" bIns="0" rtlCol="0">
            <a:spAutoFit/>
          </a:bodyPr>
          <a:lstStyle/>
          <a:p>
            <a:pPr marL="90805">
              <a:lnSpc>
                <a:spcPct val="100000"/>
              </a:lnSpc>
              <a:spcBef>
                <a:spcPts val="775"/>
              </a:spcBef>
            </a:pPr>
            <a:r>
              <a:rPr sz="1300" b="1" dirty="0">
                <a:solidFill>
                  <a:srgbClr val="0891B1"/>
                </a:solidFill>
                <a:latin typeface="Times New Roman"/>
                <a:cs typeface="Times New Roman"/>
              </a:rPr>
              <a:t>Project</a:t>
            </a:r>
            <a:r>
              <a:rPr sz="1300" b="1" spc="-50" dirty="0">
                <a:solidFill>
                  <a:srgbClr val="0891B1"/>
                </a:solidFill>
                <a:latin typeface="Times New Roman"/>
                <a:cs typeface="Times New Roman"/>
              </a:rPr>
              <a:t> </a:t>
            </a:r>
            <a:r>
              <a:rPr sz="1300" b="1" spc="-10" dirty="0">
                <a:solidFill>
                  <a:srgbClr val="0891B1"/>
                </a:solidFill>
                <a:latin typeface="Times New Roman"/>
                <a:cs typeface="Times New Roman"/>
              </a:rPr>
              <a:t>Summary</a:t>
            </a:r>
            <a:endParaRPr sz="13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60"/>
              </a:spcBef>
            </a:pPr>
            <a:endParaRPr sz="1300">
              <a:latin typeface="Times New Roman"/>
              <a:cs typeface="Times New Roman"/>
            </a:endParaRPr>
          </a:p>
          <a:p>
            <a:pPr marL="90805" marR="226060">
              <a:lnSpc>
                <a:spcPct val="100000"/>
              </a:lnSpc>
            </a:pPr>
            <a:r>
              <a:rPr sz="1150" dirty="0">
                <a:solidFill>
                  <a:srgbClr val="E1E8EF"/>
                </a:solidFill>
                <a:latin typeface="Times New Roman"/>
                <a:cs typeface="Times New Roman"/>
              </a:rPr>
              <a:t>The</a:t>
            </a:r>
            <a:r>
              <a:rPr sz="1150" spc="-35" dirty="0">
                <a:solidFill>
                  <a:srgbClr val="E1E8EF"/>
                </a:solidFill>
                <a:latin typeface="Times New Roman"/>
                <a:cs typeface="Times New Roman"/>
              </a:rPr>
              <a:t> </a:t>
            </a:r>
            <a:r>
              <a:rPr sz="1150" dirty="0">
                <a:solidFill>
                  <a:srgbClr val="E1E8EF"/>
                </a:solidFill>
                <a:latin typeface="Times New Roman"/>
                <a:cs typeface="Times New Roman"/>
              </a:rPr>
              <a:t>Enterprise</a:t>
            </a:r>
            <a:r>
              <a:rPr sz="1150" spc="-25" dirty="0">
                <a:solidFill>
                  <a:srgbClr val="E1E8EF"/>
                </a:solidFill>
                <a:latin typeface="Times New Roman"/>
                <a:cs typeface="Times New Roman"/>
              </a:rPr>
              <a:t> </a:t>
            </a:r>
            <a:r>
              <a:rPr sz="1150" dirty="0">
                <a:solidFill>
                  <a:srgbClr val="E1E8EF"/>
                </a:solidFill>
                <a:latin typeface="Times New Roman"/>
                <a:cs typeface="Times New Roman"/>
              </a:rPr>
              <a:t>Inventory</a:t>
            </a:r>
            <a:r>
              <a:rPr sz="1150" spc="-10" dirty="0">
                <a:solidFill>
                  <a:srgbClr val="E1E8EF"/>
                </a:solidFill>
                <a:latin typeface="Times New Roman"/>
                <a:cs typeface="Times New Roman"/>
              </a:rPr>
              <a:t> Management</a:t>
            </a:r>
            <a:r>
              <a:rPr sz="1150" spc="-25" dirty="0">
                <a:solidFill>
                  <a:srgbClr val="E1E8EF"/>
                </a:solidFill>
                <a:latin typeface="Times New Roman"/>
                <a:cs typeface="Times New Roman"/>
              </a:rPr>
              <a:t> </a:t>
            </a:r>
            <a:r>
              <a:rPr sz="1150" dirty="0">
                <a:solidFill>
                  <a:srgbClr val="E1E8EF"/>
                </a:solidFill>
                <a:latin typeface="Times New Roman"/>
                <a:cs typeface="Times New Roman"/>
              </a:rPr>
              <a:t>System successfully</a:t>
            </a:r>
            <a:r>
              <a:rPr sz="1150" spc="-10" dirty="0">
                <a:solidFill>
                  <a:srgbClr val="E1E8EF"/>
                </a:solidFill>
                <a:latin typeface="Times New Roman"/>
                <a:cs typeface="Times New Roman"/>
              </a:rPr>
              <a:t> </a:t>
            </a:r>
            <a:r>
              <a:rPr sz="1150" dirty="0">
                <a:solidFill>
                  <a:srgbClr val="E1E8EF"/>
                </a:solidFill>
                <a:latin typeface="Times New Roman"/>
                <a:cs typeface="Times New Roman"/>
              </a:rPr>
              <a:t>demonstrates</a:t>
            </a:r>
            <a:r>
              <a:rPr sz="1150" spc="-30" dirty="0">
                <a:solidFill>
                  <a:srgbClr val="E1E8EF"/>
                </a:solidFill>
                <a:latin typeface="Times New Roman"/>
                <a:cs typeface="Times New Roman"/>
              </a:rPr>
              <a:t> </a:t>
            </a:r>
            <a:r>
              <a:rPr sz="1150" dirty="0">
                <a:solidFill>
                  <a:srgbClr val="E1E8EF"/>
                </a:solidFill>
                <a:latin typeface="Times New Roman"/>
                <a:cs typeface="Times New Roman"/>
              </a:rPr>
              <a:t>the</a:t>
            </a:r>
            <a:r>
              <a:rPr sz="1150" spc="-25" dirty="0">
                <a:solidFill>
                  <a:srgbClr val="E1E8EF"/>
                </a:solidFill>
                <a:latin typeface="Times New Roman"/>
                <a:cs typeface="Times New Roman"/>
              </a:rPr>
              <a:t> </a:t>
            </a:r>
            <a:r>
              <a:rPr sz="1150" spc="-10" dirty="0">
                <a:solidFill>
                  <a:srgbClr val="E1E8EF"/>
                </a:solidFill>
                <a:latin typeface="Times New Roman"/>
                <a:cs typeface="Times New Roman"/>
              </a:rPr>
              <a:t>development</a:t>
            </a:r>
            <a:r>
              <a:rPr sz="1150" spc="-25" dirty="0">
                <a:solidFill>
                  <a:srgbClr val="E1E8EF"/>
                </a:solidFill>
                <a:latin typeface="Times New Roman"/>
                <a:cs typeface="Times New Roman"/>
              </a:rPr>
              <a:t> </a:t>
            </a:r>
            <a:r>
              <a:rPr sz="1150" dirty="0">
                <a:solidFill>
                  <a:srgbClr val="E1E8EF"/>
                </a:solidFill>
                <a:latin typeface="Times New Roman"/>
                <a:cs typeface="Times New Roman"/>
              </a:rPr>
              <a:t>of</a:t>
            </a:r>
            <a:r>
              <a:rPr sz="1150" spc="-30" dirty="0">
                <a:solidFill>
                  <a:srgbClr val="E1E8EF"/>
                </a:solidFill>
                <a:latin typeface="Times New Roman"/>
                <a:cs typeface="Times New Roman"/>
              </a:rPr>
              <a:t> </a:t>
            </a:r>
            <a:r>
              <a:rPr sz="1150" dirty="0">
                <a:solidFill>
                  <a:srgbClr val="E1E8EF"/>
                </a:solidFill>
                <a:latin typeface="Times New Roman"/>
                <a:cs typeface="Times New Roman"/>
              </a:rPr>
              <a:t>a</a:t>
            </a:r>
            <a:r>
              <a:rPr sz="1150" spc="-30" dirty="0">
                <a:solidFill>
                  <a:srgbClr val="E1E8EF"/>
                </a:solidFill>
                <a:latin typeface="Times New Roman"/>
                <a:cs typeface="Times New Roman"/>
              </a:rPr>
              <a:t> </a:t>
            </a:r>
            <a:r>
              <a:rPr sz="1150" dirty="0">
                <a:solidFill>
                  <a:srgbClr val="E1E8EF"/>
                </a:solidFill>
                <a:latin typeface="Times New Roman"/>
                <a:cs typeface="Times New Roman"/>
              </a:rPr>
              <a:t>production-grade,</a:t>
            </a:r>
            <a:r>
              <a:rPr sz="1150" spc="-20" dirty="0">
                <a:solidFill>
                  <a:srgbClr val="E1E8EF"/>
                </a:solidFill>
                <a:latin typeface="Times New Roman"/>
                <a:cs typeface="Times New Roman"/>
              </a:rPr>
              <a:t> </a:t>
            </a:r>
            <a:r>
              <a:rPr sz="1150" spc="-10" dirty="0">
                <a:solidFill>
                  <a:srgbClr val="E1E8EF"/>
                </a:solidFill>
                <a:latin typeface="Times New Roman"/>
                <a:cs typeface="Times New Roman"/>
              </a:rPr>
              <a:t>full-</a:t>
            </a:r>
            <a:r>
              <a:rPr sz="1150" dirty="0">
                <a:solidFill>
                  <a:srgbClr val="E1E8EF"/>
                </a:solidFill>
                <a:latin typeface="Times New Roman"/>
                <a:cs typeface="Times New Roman"/>
              </a:rPr>
              <a:t>stack</a:t>
            </a:r>
            <a:r>
              <a:rPr sz="1150" spc="-15" dirty="0">
                <a:solidFill>
                  <a:srgbClr val="E1E8EF"/>
                </a:solidFill>
                <a:latin typeface="Times New Roman"/>
                <a:cs typeface="Times New Roman"/>
              </a:rPr>
              <a:t> </a:t>
            </a:r>
            <a:r>
              <a:rPr sz="1150" dirty="0">
                <a:solidFill>
                  <a:srgbClr val="E1E8EF"/>
                </a:solidFill>
                <a:latin typeface="Times New Roman"/>
                <a:cs typeface="Times New Roman"/>
              </a:rPr>
              <a:t>Java</a:t>
            </a:r>
            <a:r>
              <a:rPr sz="1150" spc="-25" dirty="0">
                <a:solidFill>
                  <a:srgbClr val="E1E8EF"/>
                </a:solidFill>
                <a:latin typeface="Times New Roman"/>
                <a:cs typeface="Times New Roman"/>
              </a:rPr>
              <a:t> </a:t>
            </a:r>
            <a:r>
              <a:rPr sz="1150" spc="-10" dirty="0">
                <a:solidFill>
                  <a:srgbClr val="E1E8EF"/>
                </a:solidFill>
                <a:latin typeface="Times New Roman"/>
                <a:cs typeface="Times New Roman"/>
              </a:rPr>
              <a:t>application </a:t>
            </a:r>
            <a:r>
              <a:rPr sz="1150" dirty="0">
                <a:solidFill>
                  <a:srgbClr val="E1E8EF"/>
                </a:solidFill>
                <a:latin typeface="Times New Roman"/>
                <a:cs typeface="Times New Roman"/>
              </a:rPr>
              <a:t>using</a:t>
            </a:r>
            <a:r>
              <a:rPr sz="1150" spc="-45" dirty="0">
                <a:solidFill>
                  <a:srgbClr val="E1E8EF"/>
                </a:solidFill>
                <a:latin typeface="Times New Roman"/>
                <a:cs typeface="Times New Roman"/>
              </a:rPr>
              <a:t> </a:t>
            </a:r>
            <a:r>
              <a:rPr sz="1150" dirty="0">
                <a:solidFill>
                  <a:srgbClr val="E1E8EF"/>
                </a:solidFill>
                <a:latin typeface="Times New Roman"/>
                <a:cs typeface="Times New Roman"/>
              </a:rPr>
              <a:t>Spring</a:t>
            </a:r>
            <a:r>
              <a:rPr sz="1150" spc="-40" dirty="0">
                <a:solidFill>
                  <a:srgbClr val="E1E8EF"/>
                </a:solidFill>
                <a:latin typeface="Times New Roman"/>
                <a:cs typeface="Times New Roman"/>
              </a:rPr>
              <a:t> </a:t>
            </a:r>
            <a:r>
              <a:rPr sz="1150" dirty="0">
                <a:solidFill>
                  <a:srgbClr val="E1E8EF"/>
                </a:solidFill>
                <a:latin typeface="Times New Roman"/>
                <a:cs typeface="Times New Roman"/>
              </a:rPr>
              <a:t>Boot</a:t>
            </a:r>
            <a:r>
              <a:rPr sz="1150" spc="-35" dirty="0">
                <a:solidFill>
                  <a:srgbClr val="E1E8EF"/>
                </a:solidFill>
                <a:latin typeface="Times New Roman"/>
                <a:cs typeface="Times New Roman"/>
              </a:rPr>
              <a:t> </a:t>
            </a:r>
            <a:r>
              <a:rPr sz="1150" dirty="0">
                <a:solidFill>
                  <a:srgbClr val="E1E8EF"/>
                </a:solidFill>
                <a:latin typeface="Times New Roman"/>
                <a:cs typeface="Times New Roman"/>
              </a:rPr>
              <a:t>and</a:t>
            </a:r>
            <a:r>
              <a:rPr sz="1150" spc="-50" dirty="0">
                <a:solidFill>
                  <a:srgbClr val="E1E8EF"/>
                </a:solidFill>
                <a:latin typeface="Times New Roman"/>
                <a:cs typeface="Times New Roman"/>
              </a:rPr>
              <a:t> </a:t>
            </a:r>
            <a:r>
              <a:rPr sz="1150" dirty="0">
                <a:solidFill>
                  <a:srgbClr val="E1E8EF"/>
                </a:solidFill>
                <a:latin typeface="Times New Roman"/>
                <a:cs typeface="Times New Roman"/>
              </a:rPr>
              <a:t>Thymeleaf.</a:t>
            </a:r>
            <a:r>
              <a:rPr sz="1150" spc="-20" dirty="0">
                <a:solidFill>
                  <a:srgbClr val="E1E8EF"/>
                </a:solidFill>
                <a:latin typeface="Times New Roman"/>
                <a:cs typeface="Times New Roman"/>
              </a:rPr>
              <a:t> </a:t>
            </a:r>
            <a:r>
              <a:rPr sz="1150" dirty="0">
                <a:solidFill>
                  <a:srgbClr val="E1E8EF"/>
                </a:solidFill>
                <a:latin typeface="Times New Roman"/>
                <a:cs typeface="Times New Roman"/>
              </a:rPr>
              <a:t>The</a:t>
            </a:r>
            <a:r>
              <a:rPr sz="1150" spc="-45" dirty="0">
                <a:solidFill>
                  <a:srgbClr val="E1E8EF"/>
                </a:solidFill>
                <a:latin typeface="Times New Roman"/>
                <a:cs typeface="Times New Roman"/>
              </a:rPr>
              <a:t> </a:t>
            </a:r>
            <a:r>
              <a:rPr sz="1150" dirty="0">
                <a:solidFill>
                  <a:srgbClr val="E1E8EF"/>
                </a:solidFill>
                <a:latin typeface="Times New Roman"/>
                <a:cs typeface="Times New Roman"/>
              </a:rPr>
              <a:t>system</a:t>
            </a:r>
            <a:r>
              <a:rPr sz="1150" spc="-5" dirty="0">
                <a:solidFill>
                  <a:srgbClr val="E1E8EF"/>
                </a:solidFill>
                <a:latin typeface="Times New Roman"/>
                <a:cs typeface="Times New Roman"/>
              </a:rPr>
              <a:t> </a:t>
            </a:r>
            <a:r>
              <a:rPr sz="1150" dirty="0">
                <a:solidFill>
                  <a:srgbClr val="E1E8EF"/>
                </a:solidFill>
                <a:latin typeface="Times New Roman"/>
                <a:cs typeface="Times New Roman"/>
              </a:rPr>
              <a:t>implements</a:t>
            </a:r>
            <a:r>
              <a:rPr sz="1150" spc="-40" dirty="0">
                <a:solidFill>
                  <a:srgbClr val="E1E8EF"/>
                </a:solidFill>
                <a:latin typeface="Times New Roman"/>
                <a:cs typeface="Times New Roman"/>
              </a:rPr>
              <a:t> </a:t>
            </a:r>
            <a:r>
              <a:rPr sz="1150" spc="-10" dirty="0">
                <a:solidFill>
                  <a:srgbClr val="E1E8EF"/>
                </a:solidFill>
                <a:latin typeface="Times New Roman"/>
                <a:cs typeface="Times New Roman"/>
              </a:rPr>
              <a:t>industry-</a:t>
            </a:r>
            <a:r>
              <a:rPr sz="1150" dirty="0">
                <a:solidFill>
                  <a:srgbClr val="E1E8EF"/>
                </a:solidFill>
                <a:latin typeface="Times New Roman"/>
                <a:cs typeface="Times New Roman"/>
              </a:rPr>
              <a:t>standard</a:t>
            </a:r>
            <a:r>
              <a:rPr sz="1150" spc="-20" dirty="0">
                <a:solidFill>
                  <a:srgbClr val="E1E8EF"/>
                </a:solidFill>
                <a:latin typeface="Times New Roman"/>
                <a:cs typeface="Times New Roman"/>
              </a:rPr>
              <a:t> </a:t>
            </a:r>
            <a:r>
              <a:rPr sz="1150" dirty="0">
                <a:solidFill>
                  <a:srgbClr val="E1E8EF"/>
                </a:solidFill>
                <a:latin typeface="Times New Roman"/>
                <a:cs typeface="Times New Roman"/>
              </a:rPr>
              <a:t>architectural</a:t>
            </a:r>
            <a:r>
              <a:rPr sz="1150" spc="-35" dirty="0">
                <a:solidFill>
                  <a:srgbClr val="E1E8EF"/>
                </a:solidFill>
                <a:latin typeface="Times New Roman"/>
                <a:cs typeface="Times New Roman"/>
              </a:rPr>
              <a:t> </a:t>
            </a:r>
            <a:r>
              <a:rPr sz="1150" dirty="0">
                <a:solidFill>
                  <a:srgbClr val="E1E8EF"/>
                </a:solidFill>
                <a:latin typeface="Times New Roman"/>
                <a:cs typeface="Times New Roman"/>
              </a:rPr>
              <a:t>patterns</a:t>
            </a:r>
            <a:r>
              <a:rPr sz="1150" spc="-40" dirty="0">
                <a:solidFill>
                  <a:srgbClr val="E1E8EF"/>
                </a:solidFill>
                <a:latin typeface="Times New Roman"/>
                <a:cs typeface="Times New Roman"/>
              </a:rPr>
              <a:t> </a:t>
            </a:r>
            <a:r>
              <a:rPr sz="1150" dirty="0">
                <a:solidFill>
                  <a:srgbClr val="E1E8EF"/>
                </a:solidFill>
                <a:latin typeface="Times New Roman"/>
                <a:cs typeface="Times New Roman"/>
              </a:rPr>
              <a:t>(MVC,</a:t>
            </a:r>
            <a:r>
              <a:rPr sz="1150" spc="-40" dirty="0">
                <a:solidFill>
                  <a:srgbClr val="E1E8EF"/>
                </a:solidFill>
                <a:latin typeface="Times New Roman"/>
                <a:cs typeface="Times New Roman"/>
              </a:rPr>
              <a:t> </a:t>
            </a:r>
            <a:r>
              <a:rPr sz="1150" dirty="0">
                <a:solidFill>
                  <a:srgbClr val="E1E8EF"/>
                </a:solidFill>
                <a:latin typeface="Times New Roman"/>
                <a:cs typeface="Times New Roman"/>
              </a:rPr>
              <a:t>Layered</a:t>
            </a:r>
            <a:r>
              <a:rPr sz="1150" spc="-15" dirty="0">
                <a:solidFill>
                  <a:srgbClr val="E1E8EF"/>
                </a:solidFill>
                <a:latin typeface="Times New Roman"/>
                <a:cs typeface="Times New Roman"/>
              </a:rPr>
              <a:t> </a:t>
            </a:r>
            <a:r>
              <a:rPr sz="1150" dirty="0">
                <a:solidFill>
                  <a:srgbClr val="E1E8EF"/>
                </a:solidFill>
                <a:latin typeface="Times New Roman"/>
                <a:cs typeface="Times New Roman"/>
              </a:rPr>
              <a:t>Architecture),</a:t>
            </a:r>
            <a:r>
              <a:rPr sz="1150" spc="-40" dirty="0">
                <a:solidFill>
                  <a:srgbClr val="E1E8EF"/>
                </a:solidFill>
                <a:latin typeface="Times New Roman"/>
                <a:cs typeface="Times New Roman"/>
              </a:rPr>
              <a:t> </a:t>
            </a:r>
            <a:r>
              <a:rPr sz="1150" spc="-10" dirty="0">
                <a:solidFill>
                  <a:srgbClr val="E1E8EF"/>
                </a:solidFill>
                <a:latin typeface="Times New Roman"/>
                <a:cs typeface="Times New Roman"/>
              </a:rPr>
              <a:t>enforces ACID-</a:t>
            </a:r>
            <a:r>
              <a:rPr sz="1150" dirty="0">
                <a:solidFill>
                  <a:srgbClr val="E1E8EF"/>
                </a:solidFill>
                <a:latin typeface="Times New Roman"/>
                <a:cs typeface="Times New Roman"/>
              </a:rPr>
              <a:t>compliant</a:t>
            </a:r>
            <a:r>
              <a:rPr sz="1150" spc="-35" dirty="0">
                <a:solidFill>
                  <a:srgbClr val="E1E8EF"/>
                </a:solidFill>
                <a:latin typeface="Times New Roman"/>
                <a:cs typeface="Times New Roman"/>
              </a:rPr>
              <a:t> </a:t>
            </a:r>
            <a:r>
              <a:rPr sz="1150" dirty="0">
                <a:solidFill>
                  <a:srgbClr val="E1E8EF"/>
                </a:solidFill>
                <a:latin typeface="Times New Roman"/>
                <a:cs typeface="Times New Roman"/>
              </a:rPr>
              <a:t>transactional</a:t>
            </a:r>
            <a:r>
              <a:rPr sz="1150" spc="-30" dirty="0">
                <a:solidFill>
                  <a:srgbClr val="E1E8EF"/>
                </a:solidFill>
                <a:latin typeface="Times New Roman"/>
                <a:cs typeface="Times New Roman"/>
              </a:rPr>
              <a:t> </a:t>
            </a:r>
            <a:r>
              <a:rPr sz="1150" dirty="0">
                <a:solidFill>
                  <a:srgbClr val="E1E8EF"/>
                </a:solidFill>
                <a:latin typeface="Times New Roman"/>
                <a:cs typeface="Times New Roman"/>
              </a:rPr>
              <a:t>integrity, and</a:t>
            </a:r>
            <a:r>
              <a:rPr sz="1150" spc="-45" dirty="0">
                <a:solidFill>
                  <a:srgbClr val="E1E8EF"/>
                </a:solidFill>
                <a:latin typeface="Times New Roman"/>
                <a:cs typeface="Times New Roman"/>
              </a:rPr>
              <a:t> </a:t>
            </a:r>
            <a:r>
              <a:rPr sz="1150" dirty="0">
                <a:solidFill>
                  <a:srgbClr val="E1E8EF"/>
                </a:solidFill>
                <a:latin typeface="Times New Roman"/>
                <a:cs typeface="Times New Roman"/>
              </a:rPr>
              <a:t>delivers</a:t>
            </a:r>
            <a:r>
              <a:rPr sz="1150" spc="-25" dirty="0">
                <a:solidFill>
                  <a:srgbClr val="E1E8EF"/>
                </a:solidFill>
                <a:latin typeface="Times New Roman"/>
                <a:cs typeface="Times New Roman"/>
              </a:rPr>
              <a:t> </a:t>
            </a:r>
            <a:r>
              <a:rPr sz="1150" dirty="0">
                <a:solidFill>
                  <a:srgbClr val="E1E8EF"/>
                </a:solidFill>
                <a:latin typeface="Times New Roman"/>
                <a:cs typeface="Times New Roman"/>
              </a:rPr>
              <a:t>a</a:t>
            </a:r>
            <a:r>
              <a:rPr sz="1150" spc="-30" dirty="0">
                <a:solidFill>
                  <a:srgbClr val="E1E8EF"/>
                </a:solidFill>
                <a:latin typeface="Times New Roman"/>
                <a:cs typeface="Times New Roman"/>
              </a:rPr>
              <a:t> </a:t>
            </a:r>
            <a:r>
              <a:rPr sz="1150" spc="-10" dirty="0">
                <a:solidFill>
                  <a:srgbClr val="E1E8EF"/>
                </a:solidFill>
                <a:latin typeface="Times New Roman"/>
                <a:cs typeface="Times New Roman"/>
              </a:rPr>
              <a:t>comprehensive</a:t>
            </a:r>
            <a:r>
              <a:rPr sz="1150" spc="-35" dirty="0">
                <a:solidFill>
                  <a:srgbClr val="E1E8EF"/>
                </a:solidFill>
                <a:latin typeface="Times New Roman"/>
                <a:cs typeface="Times New Roman"/>
              </a:rPr>
              <a:t> </a:t>
            </a:r>
            <a:r>
              <a:rPr sz="1150" dirty="0">
                <a:solidFill>
                  <a:srgbClr val="E1E8EF"/>
                </a:solidFill>
                <a:latin typeface="Times New Roman"/>
                <a:cs typeface="Times New Roman"/>
              </a:rPr>
              <a:t>suite</a:t>
            </a:r>
            <a:r>
              <a:rPr sz="1150" spc="-20" dirty="0">
                <a:solidFill>
                  <a:srgbClr val="E1E8EF"/>
                </a:solidFill>
                <a:latin typeface="Times New Roman"/>
                <a:cs typeface="Times New Roman"/>
              </a:rPr>
              <a:t> </a:t>
            </a:r>
            <a:r>
              <a:rPr sz="1150" dirty="0">
                <a:solidFill>
                  <a:srgbClr val="E1E8EF"/>
                </a:solidFill>
                <a:latin typeface="Times New Roman"/>
                <a:cs typeface="Times New Roman"/>
              </a:rPr>
              <a:t>of</a:t>
            </a:r>
            <a:r>
              <a:rPr sz="1150" spc="-35" dirty="0">
                <a:solidFill>
                  <a:srgbClr val="E1E8EF"/>
                </a:solidFill>
                <a:latin typeface="Times New Roman"/>
                <a:cs typeface="Times New Roman"/>
              </a:rPr>
              <a:t> </a:t>
            </a:r>
            <a:r>
              <a:rPr sz="1150" dirty="0">
                <a:solidFill>
                  <a:srgbClr val="E1E8EF"/>
                </a:solidFill>
                <a:latin typeface="Times New Roman"/>
                <a:cs typeface="Times New Roman"/>
              </a:rPr>
              <a:t>modules</a:t>
            </a:r>
            <a:r>
              <a:rPr sz="1150" spc="-35" dirty="0">
                <a:solidFill>
                  <a:srgbClr val="E1E8EF"/>
                </a:solidFill>
                <a:latin typeface="Times New Roman"/>
                <a:cs typeface="Times New Roman"/>
              </a:rPr>
              <a:t> </a:t>
            </a:r>
            <a:r>
              <a:rPr sz="1150" dirty="0">
                <a:solidFill>
                  <a:srgbClr val="E1E8EF"/>
                </a:solidFill>
                <a:latin typeface="Times New Roman"/>
                <a:cs typeface="Times New Roman"/>
              </a:rPr>
              <a:t>covering</a:t>
            </a:r>
            <a:r>
              <a:rPr sz="1150" spc="-40" dirty="0">
                <a:solidFill>
                  <a:srgbClr val="E1E8EF"/>
                </a:solidFill>
                <a:latin typeface="Times New Roman"/>
                <a:cs typeface="Times New Roman"/>
              </a:rPr>
              <a:t> </a:t>
            </a:r>
            <a:r>
              <a:rPr sz="1150" dirty="0">
                <a:solidFill>
                  <a:srgbClr val="E1E8EF"/>
                </a:solidFill>
                <a:latin typeface="Times New Roman"/>
                <a:cs typeface="Times New Roman"/>
              </a:rPr>
              <a:t>the</a:t>
            </a:r>
            <a:r>
              <a:rPr sz="1150" spc="-30" dirty="0">
                <a:solidFill>
                  <a:srgbClr val="E1E8EF"/>
                </a:solidFill>
                <a:latin typeface="Times New Roman"/>
                <a:cs typeface="Times New Roman"/>
              </a:rPr>
              <a:t> </a:t>
            </a:r>
            <a:r>
              <a:rPr sz="1150" dirty="0">
                <a:solidFill>
                  <a:srgbClr val="E1E8EF"/>
                </a:solidFill>
                <a:latin typeface="Times New Roman"/>
                <a:cs typeface="Times New Roman"/>
              </a:rPr>
              <a:t>full</a:t>
            </a:r>
            <a:r>
              <a:rPr sz="1150" spc="-20" dirty="0">
                <a:solidFill>
                  <a:srgbClr val="E1E8EF"/>
                </a:solidFill>
                <a:latin typeface="Times New Roman"/>
                <a:cs typeface="Times New Roman"/>
              </a:rPr>
              <a:t> </a:t>
            </a:r>
            <a:r>
              <a:rPr sz="1150" dirty="0">
                <a:solidFill>
                  <a:srgbClr val="E1E8EF"/>
                </a:solidFill>
                <a:latin typeface="Times New Roman"/>
                <a:cs typeface="Times New Roman"/>
              </a:rPr>
              <a:t>inventory</a:t>
            </a:r>
            <a:r>
              <a:rPr sz="1150" spc="-25" dirty="0">
                <a:solidFill>
                  <a:srgbClr val="E1E8EF"/>
                </a:solidFill>
                <a:latin typeface="Times New Roman"/>
                <a:cs typeface="Times New Roman"/>
              </a:rPr>
              <a:t> </a:t>
            </a:r>
            <a:r>
              <a:rPr sz="1150" dirty="0">
                <a:solidFill>
                  <a:srgbClr val="E1E8EF"/>
                </a:solidFill>
                <a:latin typeface="Times New Roman"/>
                <a:cs typeface="Times New Roman"/>
              </a:rPr>
              <a:t>lifecycle</a:t>
            </a:r>
            <a:r>
              <a:rPr sz="1150" spc="70" dirty="0">
                <a:solidFill>
                  <a:srgbClr val="E1E8EF"/>
                </a:solidFill>
                <a:latin typeface="Times New Roman"/>
                <a:cs typeface="Times New Roman"/>
              </a:rPr>
              <a:t> </a:t>
            </a:r>
            <a:r>
              <a:rPr sz="1150" dirty="0">
                <a:solidFill>
                  <a:srgbClr val="E1E8EF"/>
                </a:solidFill>
                <a:latin typeface="Times New Roman"/>
                <a:cs typeface="Times New Roman"/>
              </a:rPr>
              <a:t>—</a:t>
            </a:r>
            <a:r>
              <a:rPr sz="1150" spc="-35" dirty="0">
                <a:solidFill>
                  <a:srgbClr val="E1E8EF"/>
                </a:solidFill>
                <a:latin typeface="Times New Roman"/>
                <a:cs typeface="Times New Roman"/>
              </a:rPr>
              <a:t> </a:t>
            </a:r>
            <a:r>
              <a:rPr sz="1150" dirty="0">
                <a:solidFill>
                  <a:srgbClr val="E1E8EF"/>
                </a:solidFill>
                <a:latin typeface="Times New Roman"/>
                <a:cs typeface="Times New Roman"/>
              </a:rPr>
              <a:t>from</a:t>
            </a:r>
            <a:r>
              <a:rPr sz="1150" spc="-20" dirty="0">
                <a:solidFill>
                  <a:srgbClr val="E1E8EF"/>
                </a:solidFill>
                <a:latin typeface="Times New Roman"/>
                <a:cs typeface="Times New Roman"/>
              </a:rPr>
              <a:t> </a:t>
            </a:r>
            <a:r>
              <a:rPr sz="1150" spc="-10" dirty="0">
                <a:solidFill>
                  <a:srgbClr val="E1E8EF"/>
                </a:solidFill>
                <a:latin typeface="Times New Roman"/>
                <a:cs typeface="Times New Roman"/>
              </a:rPr>
              <a:t>product </a:t>
            </a:r>
            <a:r>
              <a:rPr sz="1150" dirty="0">
                <a:solidFill>
                  <a:srgbClr val="E1E8EF"/>
                </a:solidFill>
                <a:latin typeface="Times New Roman"/>
                <a:cs typeface="Times New Roman"/>
              </a:rPr>
              <a:t>management</a:t>
            </a:r>
            <a:r>
              <a:rPr sz="1150" spc="-35" dirty="0">
                <a:solidFill>
                  <a:srgbClr val="E1E8EF"/>
                </a:solidFill>
                <a:latin typeface="Times New Roman"/>
                <a:cs typeface="Times New Roman"/>
              </a:rPr>
              <a:t> </a:t>
            </a:r>
            <a:r>
              <a:rPr sz="1150" dirty="0">
                <a:solidFill>
                  <a:srgbClr val="E1E8EF"/>
                </a:solidFill>
                <a:latin typeface="Times New Roman"/>
                <a:cs typeface="Times New Roman"/>
              </a:rPr>
              <a:t>and</a:t>
            </a:r>
            <a:r>
              <a:rPr sz="1150" spc="-50" dirty="0">
                <a:solidFill>
                  <a:srgbClr val="E1E8EF"/>
                </a:solidFill>
                <a:latin typeface="Times New Roman"/>
                <a:cs typeface="Times New Roman"/>
              </a:rPr>
              <a:t> </a:t>
            </a:r>
            <a:r>
              <a:rPr sz="1150" dirty="0">
                <a:solidFill>
                  <a:srgbClr val="E1E8EF"/>
                </a:solidFill>
                <a:latin typeface="Times New Roman"/>
                <a:cs typeface="Times New Roman"/>
              </a:rPr>
              <a:t>supplier</a:t>
            </a:r>
            <a:r>
              <a:rPr sz="1150" spc="-35" dirty="0">
                <a:solidFill>
                  <a:srgbClr val="E1E8EF"/>
                </a:solidFill>
                <a:latin typeface="Times New Roman"/>
                <a:cs typeface="Times New Roman"/>
              </a:rPr>
              <a:t> </a:t>
            </a:r>
            <a:r>
              <a:rPr sz="1150" dirty="0">
                <a:solidFill>
                  <a:srgbClr val="E1E8EF"/>
                </a:solidFill>
                <a:latin typeface="Times New Roman"/>
                <a:cs typeface="Times New Roman"/>
              </a:rPr>
              <a:t>coordination</a:t>
            </a:r>
            <a:r>
              <a:rPr sz="1150" spc="-30" dirty="0">
                <a:solidFill>
                  <a:srgbClr val="E1E8EF"/>
                </a:solidFill>
                <a:latin typeface="Times New Roman"/>
                <a:cs typeface="Times New Roman"/>
              </a:rPr>
              <a:t> </a:t>
            </a:r>
            <a:r>
              <a:rPr sz="1150" dirty="0">
                <a:solidFill>
                  <a:srgbClr val="E1E8EF"/>
                </a:solidFill>
                <a:latin typeface="Times New Roman"/>
                <a:cs typeface="Times New Roman"/>
              </a:rPr>
              <a:t>to</a:t>
            </a:r>
            <a:r>
              <a:rPr sz="1150" spc="-35" dirty="0">
                <a:solidFill>
                  <a:srgbClr val="E1E8EF"/>
                </a:solidFill>
                <a:latin typeface="Times New Roman"/>
                <a:cs typeface="Times New Roman"/>
              </a:rPr>
              <a:t> </a:t>
            </a:r>
            <a:r>
              <a:rPr sz="1150" dirty="0">
                <a:solidFill>
                  <a:srgbClr val="E1E8EF"/>
                </a:solidFill>
                <a:latin typeface="Times New Roman"/>
                <a:cs typeface="Times New Roman"/>
              </a:rPr>
              <a:t>simulation</a:t>
            </a:r>
            <a:r>
              <a:rPr sz="1150" spc="-35" dirty="0">
                <a:solidFill>
                  <a:srgbClr val="E1E8EF"/>
                </a:solidFill>
                <a:latin typeface="Times New Roman"/>
                <a:cs typeface="Times New Roman"/>
              </a:rPr>
              <a:t> </a:t>
            </a:r>
            <a:r>
              <a:rPr sz="1150" dirty="0">
                <a:solidFill>
                  <a:srgbClr val="E1E8EF"/>
                </a:solidFill>
                <a:latin typeface="Times New Roman"/>
                <a:cs typeface="Times New Roman"/>
              </a:rPr>
              <a:t>testing</a:t>
            </a:r>
            <a:r>
              <a:rPr sz="1150" spc="-40" dirty="0">
                <a:solidFill>
                  <a:srgbClr val="E1E8EF"/>
                </a:solidFill>
                <a:latin typeface="Times New Roman"/>
                <a:cs typeface="Times New Roman"/>
              </a:rPr>
              <a:t> </a:t>
            </a:r>
            <a:r>
              <a:rPr sz="1150" dirty="0">
                <a:solidFill>
                  <a:srgbClr val="E1E8EF"/>
                </a:solidFill>
                <a:latin typeface="Times New Roman"/>
                <a:cs typeface="Times New Roman"/>
              </a:rPr>
              <a:t>and</a:t>
            </a:r>
            <a:r>
              <a:rPr sz="1150" spc="-35" dirty="0">
                <a:solidFill>
                  <a:srgbClr val="E1E8EF"/>
                </a:solidFill>
                <a:latin typeface="Times New Roman"/>
                <a:cs typeface="Times New Roman"/>
              </a:rPr>
              <a:t> </a:t>
            </a:r>
            <a:r>
              <a:rPr sz="1150" dirty="0">
                <a:solidFill>
                  <a:srgbClr val="E1E8EF"/>
                </a:solidFill>
                <a:latin typeface="Times New Roman"/>
                <a:cs typeface="Times New Roman"/>
              </a:rPr>
              <a:t>risk</a:t>
            </a:r>
            <a:r>
              <a:rPr sz="1150" spc="-25" dirty="0">
                <a:solidFill>
                  <a:srgbClr val="E1E8EF"/>
                </a:solidFill>
                <a:latin typeface="Times New Roman"/>
                <a:cs typeface="Times New Roman"/>
              </a:rPr>
              <a:t> </a:t>
            </a:r>
            <a:r>
              <a:rPr sz="1150" dirty="0">
                <a:solidFill>
                  <a:srgbClr val="E1E8EF"/>
                </a:solidFill>
                <a:latin typeface="Times New Roman"/>
                <a:cs typeface="Times New Roman"/>
              </a:rPr>
              <a:t>threshold</a:t>
            </a:r>
            <a:r>
              <a:rPr sz="1150" spc="-30" dirty="0">
                <a:solidFill>
                  <a:srgbClr val="E1E8EF"/>
                </a:solidFill>
                <a:latin typeface="Times New Roman"/>
                <a:cs typeface="Times New Roman"/>
              </a:rPr>
              <a:t> </a:t>
            </a:r>
            <a:r>
              <a:rPr sz="1150" spc="-10" dirty="0">
                <a:solidFill>
                  <a:srgbClr val="E1E8EF"/>
                </a:solidFill>
                <a:latin typeface="Times New Roman"/>
                <a:cs typeface="Times New Roman"/>
              </a:rPr>
              <a:t>monitoring.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89000" y="3821379"/>
            <a:ext cx="816737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200" i="1" dirty="0">
                <a:solidFill>
                  <a:srgbClr val="05B6D3"/>
                </a:solidFill>
                <a:latin typeface="Times New Roman"/>
                <a:cs typeface="Times New Roman"/>
              </a:rPr>
              <a:t>This</a:t>
            </a:r>
            <a:r>
              <a:rPr sz="1200" i="1" spc="-40" dirty="0">
                <a:solidFill>
                  <a:srgbClr val="05B6D3"/>
                </a:solidFill>
                <a:latin typeface="Times New Roman"/>
                <a:cs typeface="Times New Roman"/>
              </a:rPr>
              <a:t> </a:t>
            </a:r>
            <a:r>
              <a:rPr sz="1200" i="1" dirty="0">
                <a:solidFill>
                  <a:srgbClr val="05B6D3"/>
                </a:solidFill>
                <a:latin typeface="Times New Roman"/>
                <a:cs typeface="Times New Roman"/>
              </a:rPr>
              <a:t>project</a:t>
            </a:r>
            <a:r>
              <a:rPr sz="1200" i="1" spc="-10" dirty="0">
                <a:solidFill>
                  <a:srgbClr val="05B6D3"/>
                </a:solidFill>
                <a:latin typeface="Times New Roman"/>
                <a:cs typeface="Times New Roman"/>
              </a:rPr>
              <a:t> </a:t>
            </a:r>
            <a:r>
              <a:rPr sz="1200" i="1" dirty="0">
                <a:solidFill>
                  <a:srgbClr val="05B6D3"/>
                </a:solidFill>
                <a:latin typeface="Times New Roman"/>
                <a:cs typeface="Times New Roman"/>
              </a:rPr>
              <a:t>has</a:t>
            </a:r>
            <a:r>
              <a:rPr sz="1200" i="1" spc="-25" dirty="0">
                <a:solidFill>
                  <a:srgbClr val="05B6D3"/>
                </a:solidFill>
                <a:latin typeface="Times New Roman"/>
                <a:cs typeface="Times New Roman"/>
              </a:rPr>
              <a:t> </a:t>
            </a:r>
            <a:r>
              <a:rPr sz="1200" i="1" dirty="0">
                <a:solidFill>
                  <a:srgbClr val="05B6D3"/>
                </a:solidFill>
                <a:latin typeface="Times New Roman"/>
                <a:cs typeface="Times New Roman"/>
              </a:rPr>
              <a:t>successfully</a:t>
            </a:r>
            <a:r>
              <a:rPr sz="1200" i="1" spc="-5" dirty="0">
                <a:solidFill>
                  <a:srgbClr val="05B6D3"/>
                </a:solidFill>
                <a:latin typeface="Times New Roman"/>
                <a:cs typeface="Times New Roman"/>
              </a:rPr>
              <a:t> </a:t>
            </a:r>
            <a:r>
              <a:rPr sz="1200" i="1" dirty="0">
                <a:solidFill>
                  <a:srgbClr val="05B6D3"/>
                </a:solidFill>
                <a:latin typeface="Times New Roman"/>
                <a:cs typeface="Times New Roman"/>
              </a:rPr>
              <a:t>met</a:t>
            </a:r>
            <a:r>
              <a:rPr sz="1200" i="1" spc="-15" dirty="0">
                <a:solidFill>
                  <a:srgbClr val="05B6D3"/>
                </a:solidFill>
                <a:latin typeface="Times New Roman"/>
                <a:cs typeface="Times New Roman"/>
              </a:rPr>
              <a:t> </a:t>
            </a:r>
            <a:r>
              <a:rPr sz="1200" i="1" dirty="0">
                <a:solidFill>
                  <a:srgbClr val="05B6D3"/>
                </a:solidFill>
                <a:latin typeface="Times New Roman"/>
                <a:cs typeface="Times New Roman"/>
              </a:rPr>
              <a:t>all</a:t>
            </a:r>
            <a:r>
              <a:rPr sz="1200" i="1" spc="-20" dirty="0">
                <a:solidFill>
                  <a:srgbClr val="05B6D3"/>
                </a:solidFill>
                <a:latin typeface="Times New Roman"/>
                <a:cs typeface="Times New Roman"/>
              </a:rPr>
              <a:t> </a:t>
            </a:r>
            <a:r>
              <a:rPr sz="1200" i="1" dirty="0">
                <a:solidFill>
                  <a:srgbClr val="05B6D3"/>
                </a:solidFill>
                <a:latin typeface="Times New Roman"/>
                <a:cs typeface="Times New Roman"/>
              </a:rPr>
              <a:t>academic</a:t>
            </a:r>
            <a:r>
              <a:rPr sz="1200" i="1" spc="-10" dirty="0">
                <a:solidFill>
                  <a:srgbClr val="05B6D3"/>
                </a:solidFill>
                <a:latin typeface="Times New Roman"/>
                <a:cs typeface="Times New Roman"/>
              </a:rPr>
              <a:t> </a:t>
            </a:r>
            <a:r>
              <a:rPr sz="1200" i="1" dirty="0">
                <a:solidFill>
                  <a:srgbClr val="05B6D3"/>
                </a:solidFill>
                <a:latin typeface="Times New Roman"/>
                <a:cs typeface="Times New Roman"/>
              </a:rPr>
              <a:t>objectives</a:t>
            </a:r>
            <a:r>
              <a:rPr sz="1200" i="1" spc="10" dirty="0">
                <a:solidFill>
                  <a:srgbClr val="05B6D3"/>
                </a:solidFill>
                <a:latin typeface="Times New Roman"/>
                <a:cs typeface="Times New Roman"/>
              </a:rPr>
              <a:t> </a:t>
            </a:r>
            <a:r>
              <a:rPr sz="1200" i="1" dirty="0">
                <a:solidFill>
                  <a:srgbClr val="05B6D3"/>
                </a:solidFill>
                <a:latin typeface="Times New Roman"/>
                <a:cs typeface="Times New Roman"/>
              </a:rPr>
              <a:t>while</a:t>
            </a:r>
            <a:r>
              <a:rPr sz="1200" i="1" spc="-25" dirty="0">
                <a:solidFill>
                  <a:srgbClr val="05B6D3"/>
                </a:solidFill>
                <a:latin typeface="Times New Roman"/>
                <a:cs typeface="Times New Roman"/>
              </a:rPr>
              <a:t> </a:t>
            </a:r>
            <a:r>
              <a:rPr sz="1200" i="1" dirty="0">
                <a:solidFill>
                  <a:srgbClr val="05B6D3"/>
                </a:solidFill>
                <a:latin typeface="Times New Roman"/>
                <a:cs typeface="Times New Roman"/>
              </a:rPr>
              <a:t>laying</a:t>
            </a:r>
            <a:r>
              <a:rPr sz="1200" i="1" spc="-10" dirty="0">
                <a:solidFill>
                  <a:srgbClr val="05B6D3"/>
                </a:solidFill>
                <a:latin typeface="Times New Roman"/>
                <a:cs typeface="Times New Roman"/>
              </a:rPr>
              <a:t> </a:t>
            </a:r>
            <a:r>
              <a:rPr sz="1200" i="1" dirty="0">
                <a:solidFill>
                  <a:srgbClr val="05B6D3"/>
                </a:solidFill>
                <a:latin typeface="Times New Roman"/>
                <a:cs typeface="Times New Roman"/>
              </a:rPr>
              <a:t>a</a:t>
            </a:r>
            <a:r>
              <a:rPr sz="1200" i="1" spc="-25" dirty="0">
                <a:solidFill>
                  <a:srgbClr val="05B6D3"/>
                </a:solidFill>
                <a:latin typeface="Times New Roman"/>
                <a:cs typeface="Times New Roman"/>
              </a:rPr>
              <a:t> </a:t>
            </a:r>
            <a:r>
              <a:rPr sz="1200" i="1" dirty="0">
                <a:solidFill>
                  <a:srgbClr val="05B6D3"/>
                </a:solidFill>
                <a:latin typeface="Times New Roman"/>
                <a:cs typeface="Times New Roman"/>
              </a:rPr>
              <a:t>strong</a:t>
            </a:r>
            <a:r>
              <a:rPr sz="1200" i="1" spc="-35" dirty="0">
                <a:solidFill>
                  <a:srgbClr val="05B6D3"/>
                </a:solidFill>
                <a:latin typeface="Times New Roman"/>
                <a:cs typeface="Times New Roman"/>
              </a:rPr>
              <a:t> </a:t>
            </a:r>
            <a:r>
              <a:rPr sz="1200" i="1" dirty="0">
                <a:solidFill>
                  <a:srgbClr val="05B6D3"/>
                </a:solidFill>
                <a:latin typeface="Times New Roman"/>
                <a:cs typeface="Times New Roman"/>
              </a:rPr>
              <a:t>foundation</a:t>
            </a:r>
            <a:r>
              <a:rPr sz="1200" i="1" spc="-10" dirty="0">
                <a:solidFill>
                  <a:srgbClr val="05B6D3"/>
                </a:solidFill>
                <a:latin typeface="Times New Roman"/>
                <a:cs typeface="Times New Roman"/>
              </a:rPr>
              <a:t> </a:t>
            </a:r>
            <a:r>
              <a:rPr sz="1200" i="1" dirty="0">
                <a:solidFill>
                  <a:srgbClr val="05B6D3"/>
                </a:solidFill>
                <a:latin typeface="Times New Roman"/>
                <a:cs typeface="Times New Roman"/>
              </a:rPr>
              <a:t>for</a:t>
            </a:r>
            <a:r>
              <a:rPr sz="1200" i="1" spc="-40" dirty="0">
                <a:solidFill>
                  <a:srgbClr val="05B6D3"/>
                </a:solidFill>
                <a:latin typeface="Times New Roman"/>
                <a:cs typeface="Times New Roman"/>
              </a:rPr>
              <a:t> </a:t>
            </a:r>
            <a:r>
              <a:rPr sz="1200" i="1" spc="-10" dirty="0">
                <a:solidFill>
                  <a:srgbClr val="05B6D3"/>
                </a:solidFill>
                <a:latin typeface="Times New Roman"/>
                <a:cs typeface="Times New Roman"/>
              </a:rPr>
              <a:t>real-</a:t>
            </a:r>
            <a:r>
              <a:rPr sz="1200" i="1" dirty="0">
                <a:solidFill>
                  <a:srgbClr val="05B6D3"/>
                </a:solidFill>
                <a:latin typeface="Times New Roman"/>
                <a:cs typeface="Times New Roman"/>
              </a:rPr>
              <a:t>world</a:t>
            </a:r>
            <a:r>
              <a:rPr sz="1200" i="1" spc="-10" dirty="0">
                <a:solidFill>
                  <a:srgbClr val="05B6D3"/>
                </a:solidFill>
                <a:latin typeface="Times New Roman"/>
                <a:cs typeface="Times New Roman"/>
              </a:rPr>
              <a:t> </a:t>
            </a:r>
            <a:r>
              <a:rPr sz="1200" i="1" dirty="0">
                <a:solidFill>
                  <a:srgbClr val="05B6D3"/>
                </a:solidFill>
                <a:latin typeface="Times New Roman"/>
                <a:cs typeface="Times New Roman"/>
              </a:rPr>
              <a:t>enterprise</a:t>
            </a:r>
            <a:r>
              <a:rPr sz="1200" i="1" spc="-20" dirty="0">
                <a:solidFill>
                  <a:srgbClr val="05B6D3"/>
                </a:solidFill>
                <a:latin typeface="Times New Roman"/>
                <a:cs typeface="Times New Roman"/>
              </a:rPr>
              <a:t> </a:t>
            </a:r>
            <a:r>
              <a:rPr sz="1200" i="1" dirty="0">
                <a:solidFill>
                  <a:srgbClr val="05B6D3"/>
                </a:solidFill>
                <a:latin typeface="Times New Roman"/>
                <a:cs typeface="Times New Roman"/>
              </a:rPr>
              <a:t>inventory</a:t>
            </a:r>
            <a:r>
              <a:rPr sz="1200" i="1" spc="-5" dirty="0">
                <a:solidFill>
                  <a:srgbClr val="05B6D3"/>
                </a:solidFill>
                <a:latin typeface="Times New Roman"/>
                <a:cs typeface="Times New Roman"/>
              </a:rPr>
              <a:t> </a:t>
            </a:r>
            <a:r>
              <a:rPr sz="1200" i="1" spc="-10" dirty="0">
                <a:solidFill>
                  <a:srgbClr val="05B6D3"/>
                </a:solidFill>
                <a:latin typeface="Times New Roman"/>
                <a:cs typeface="Times New Roman"/>
              </a:rPr>
              <a:t>system</a:t>
            </a:r>
            <a:endParaRPr sz="12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sz="1200" i="1" spc="-10" dirty="0">
                <a:solidFill>
                  <a:srgbClr val="05B6D3"/>
                </a:solidFill>
                <a:latin typeface="Times New Roman"/>
                <a:cs typeface="Times New Roman"/>
              </a:rPr>
              <a:t>deployment.</a:t>
            </a:r>
            <a:endParaRPr sz="1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6350" y="5063997"/>
            <a:ext cx="9156700" cy="86360"/>
            <a:chOff x="-6350" y="5063997"/>
            <a:chExt cx="9156700" cy="86360"/>
          </a:xfrm>
        </p:grpSpPr>
        <p:sp>
          <p:nvSpPr>
            <p:cNvPr id="3" name="object 3"/>
            <p:cNvSpPr/>
            <p:nvPr/>
          </p:nvSpPr>
          <p:spPr>
            <a:xfrm>
              <a:off x="0" y="5070347"/>
              <a:ext cx="9144000" cy="73660"/>
            </a:xfrm>
            <a:custGeom>
              <a:avLst/>
              <a:gdLst/>
              <a:ahLst/>
              <a:cxnLst/>
              <a:rect l="l" t="t" r="r" b="b"/>
              <a:pathLst>
                <a:path w="9144000" h="73660">
                  <a:moveTo>
                    <a:pt x="9144000" y="0"/>
                  </a:moveTo>
                  <a:lnTo>
                    <a:pt x="0" y="0"/>
                  </a:lnTo>
                  <a:lnTo>
                    <a:pt x="0" y="73151"/>
                  </a:lnTo>
                  <a:lnTo>
                    <a:pt x="9144000" y="73151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0891B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5070347"/>
              <a:ext cx="9144000" cy="73660"/>
            </a:xfrm>
            <a:custGeom>
              <a:avLst/>
              <a:gdLst/>
              <a:ahLst/>
              <a:cxnLst/>
              <a:rect l="l" t="t" r="r" b="b"/>
              <a:pathLst>
                <a:path w="9144000" h="73660">
                  <a:moveTo>
                    <a:pt x="0" y="73151"/>
                  </a:moveTo>
                  <a:lnTo>
                    <a:pt x="9144000" y="73151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73151"/>
                  </a:lnTo>
                  <a:close/>
                </a:path>
              </a:pathLst>
            </a:custGeom>
            <a:ln w="12700">
              <a:solidFill>
                <a:srgbClr val="0891B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" name="object 5"/>
          <p:cNvGrpSpPr/>
          <p:nvPr/>
        </p:nvGrpSpPr>
        <p:grpSpPr>
          <a:xfrm>
            <a:off x="2553970" y="335788"/>
            <a:ext cx="4036060" cy="4036060"/>
            <a:chOff x="2553970" y="335788"/>
            <a:chExt cx="4036060" cy="4036060"/>
          </a:xfrm>
        </p:grpSpPr>
        <p:sp>
          <p:nvSpPr>
            <p:cNvPr id="6" name="object 6"/>
            <p:cNvSpPr/>
            <p:nvPr/>
          </p:nvSpPr>
          <p:spPr>
            <a:xfrm>
              <a:off x="2560320" y="342138"/>
              <a:ext cx="4023360" cy="4023360"/>
            </a:xfrm>
            <a:custGeom>
              <a:avLst/>
              <a:gdLst/>
              <a:ahLst/>
              <a:cxnLst/>
              <a:rect l="l" t="t" r="r" b="b"/>
              <a:pathLst>
                <a:path w="4023359" h="4023360">
                  <a:moveTo>
                    <a:pt x="2011680" y="0"/>
                  </a:moveTo>
                  <a:lnTo>
                    <a:pt x="1963510" y="565"/>
                  </a:lnTo>
                  <a:lnTo>
                    <a:pt x="1915618" y="2253"/>
                  </a:lnTo>
                  <a:lnTo>
                    <a:pt x="1868016" y="5051"/>
                  </a:lnTo>
                  <a:lnTo>
                    <a:pt x="1820718" y="8946"/>
                  </a:lnTo>
                  <a:lnTo>
                    <a:pt x="1773734" y="13925"/>
                  </a:lnTo>
                  <a:lnTo>
                    <a:pt x="1727079" y="19977"/>
                  </a:lnTo>
                  <a:lnTo>
                    <a:pt x="1680765" y="27088"/>
                  </a:lnTo>
                  <a:lnTo>
                    <a:pt x="1634803" y="35246"/>
                  </a:lnTo>
                  <a:lnTo>
                    <a:pt x="1589208" y="44438"/>
                  </a:lnTo>
                  <a:lnTo>
                    <a:pt x="1543991" y="54652"/>
                  </a:lnTo>
                  <a:lnTo>
                    <a:pt x="1499166" y="65875"/>
                  </a:lnTo>
                  <a:lnTo>
                    <a:pt x="1454744" y="78094"/>
                  </a:lnTo>
                  <a:lnTo>
                    <a:pt x="1410738" y="91296"/>
                  </a:lnTo>
                  <a:lnTo>
                    <a:pt x="1367162" y="105470"/>
                  </a:lnTo>
                  <a:lnTo>
                    <a:pt x="1324027" y="120603"/>
                  </a:lnTo>
                  <a:lnTo>
                    <a:pt x="1281346" y="136682"/>
                  </a:lnTo>
                  <a:lnTo>
                    <a:pt x="1239132" y="153693"/>
                  </a:lnTo>
                  <a:lnTo>
                    <a:pt x="1197398" y="171626"/>
                  </a:lnTo>
                  <a:lnTo>
                    <a:pt x="1156155" y="190467"/>
                  </a:lnTo>
                  <a:lnTo>
                    <a:pt x="1115417" y="210203"/>
                  </a:lnTo>
                  <a:lnTo>
                    <a:pt x="1075196" y="230822"/>
                  </a:lnTo>
                  <a:lnTo>
                    <a:pt x="1035505" y="252311"/>
                  </a:lnTo>
                  <a:lnTo>
                    <a:pt x="996357" y="274658"/>
                  </a:lnTo>
                  <a:lnTo>
                    <a:pt x="957763" y="297850"/>
                  </a:lnTo>
                  <a:lnTo>
                    <a:pt x="919738" y="321875"/>
                  </a:lnTo>
                  <a:lnTo>
                    <a:pt x="882292" y="346719"/>
                  </a:lnTo>
                  <a:lnTo>
                    <a:pt x="845440" y="372371"/>
                  </a:lnTo>
                  <a:lnTo>
                    <a:pt x="809192" y="398817"/>
                  </a:lnTo>
                  <a:lnTo>
                    <a:pt x="773563" y="426045"/>
                  </a:lnTo>
                  <a:lnTo>
                    <a:pt x="738565" y="454043"/>
                  </a:lnTo>
                  <a:lnTo>
                    <a:pt x="704210" y="482798"/>
                  </a:lnTo>
                  <a:lnTo>
                    <a:pt x="670511" y="512296"/>
                  </a:lnTo>
                  <a:lnTo>
                    <a:pt x="637481" y="542526"/>
                  </a:lnTo>
                  <a:lnTo>
                    <a:pt x="605131" y="573476"/>
                  </a:lnTo>
                  <a:lnTo>
                    <a:pt x="573476" y="605131"/>
                  </a:lnTo>
                  <a:lnTo>
                    <a:pt x="542526" y="637481"/>
                  </a:lnTo>
                  <a:lnTo>
                    <a:pt x="512296" y="670511"/>
                  </a:lnTo>
                  <a:lnTo>
                    <a:pt x="482798" y="704210"/>
                  </a:lnTo>
                  <a:lnTo>
                    <a:pt x="454043" y="738565"/>
                  </a:lnTo>
                  <a:lnTo>
                    <a:pt x="426045" y="773563"/>
                  </a:lnTo>
                  <a:lnTo>
                    <a:pt x="398817" y="809192"/>
                  </a:lnTo>
                  <a:lnTo>
                    <a:pt x="372371" y="845440"/>
                  </a:lnTo>
                  <a:lnTo>
                    <a:pt x="346719" y="882292"/>
                  </a:lnTo>
                  <a:lnTo>
                    <a:pt x="321875" y="919738"/>
                  </a:lnTo>
                  <a:lnTo>
                    <a:pt x="297850" y="957763"/>
                  </a:lnTo>
                  <a:lnTo>
                    <a:pt x="274658" y="996357"/>
                  </a:lnTo>
                  <a:lnTo>
                    <a:pt x="252311" y="1035505"/>
                  </a:lnTo>
                  <a:lnTo>
                    <a:pt x="230822" y="1075196"/>
                  </a:lnTo>
                  <a:lnTo>
                    <a:pt x="210203" y="1115417"/>
                  </a:lnTo>
                  <a:lnTo>
                    <a:pt x="190467" y="1156155"/>
                  </a:lnTo>
                  <a:lnTo>
                    <a:pt x="171626" y="1197398"/>
                  </a:lnTo>
                  <a:lnTo>
                    <a:pt x="153693" y="1239132"/>
                  </a:lnTo>
                  <a:lnTo>
                    <a:pt x="136682" y="1281346"/>
                  </a:lnTo>
                  <a:lnTo>
                    <a:pt x="120603" y="1324027"/>
                  </a:lnTo>
                  <a:lnTo>
                    <a:pt x="105470" y="1367162"/>
                  </a:lnTo>
                  <a:lnTo>
                    <a:pt x="91296" y="1410738"/>
                  </a:lnTo>
                  <a:lnTo>
                    <a:pt x="78094" y="1454744"/>
                  </a:lnTo>
                  <a:lnTo>
                    <a:pt x="65875" y="1499166"/>
                  </a:lnTo>
                  <a:lnTo>
                    <a:pt x="54652" y="1543991"/>
                  </a:lnTo>
                  <a:lnTo>
                    <a:pt x="44438" y="1589208"/>
                  </a:lnTo>
                  <a:lnTo>
                    <a:pt x="35246" y="1634803"/>
                  </a:lnTo>
                  <a:lnTo>
                    <a:pt x="27088" y="1680765"/>
                  </a:lnTo>
                  <a:lnTo>
                    <a:pt x="19977" y="1727079"/>
                  </a:lnTo>
                  <a:lnTo>
                    <a:pt x="13925" y="1773734"/>
                  </a:lnTo>
                  <a:lnTo>
                    <a:pt x="8946" y="1820718"/>
                  </a:lnTo>
                  <a:lnTo>
                    <a:pt x="5051" y="1868016"/>
                  </a:lnTo>
                  <a:lnTo>
                    <a:pt x="2253" y="1915618"/>
                  </a:lnTo>
                  <a:lnTo>
                    <a:pt x="565" y="1963510"/>
                  </a:lnTo>
                  <a:lnTo>
                    <a:pt x="0" y="2011680"/>
                  </a:lnTo>
                  <a:lnTo>
                    <a:pt x="565" y="2059849"/>
                  </a:lnTo>
                  <a:lnTo>
                    <a:pt x="2253" y="2107741"/>
                  </a:lnTo>
                  <a:lnTo>
                    <a:pt x="5051" y="2155343"/>
                  </a:lnTo>
                  <a:lnTo>
                    <a:pt x="8946" y="2202641"/>
                  </a:lnTo>
                  <a:lnTo>
                    <a:pt x="13925" y="2249625"/>
                  </a:lnTo>
                  <a:lnTo>
                    <a:pt x="19977" y="2296280"/>
                  </a:lnTo>
                  <a:lnTo>
                    <a:pt x="27088" y="2342594"/>
                  </a:lnTo>
                  <a:lnTo>
                    <a:pt x="35246" y="2388556"/>
                  </a:lnTo>
                  <a:lnTo>
                    <a:pt x="44438" y="2434151"/>
                  </a:lnTo>
                  <a:lnTo>
                    <a:pt x="54652" y="2479368"/>
                  </a:lnTo>
                  <a:lnTo>
                    <a:pt x="65875" y="2524193"/>
                  </a:lnTo>
                  <a:lnTo>
                    <a:pt x="78094" y="2568615"/>
                  </a:lnTo>
                  <a:lnTo>
                    <a:pt x="91296" y="2612621"/>
                  </a:lnTo>
                  <a:lnTo>
                    <a:pt x="105470" y="2656197"/>
                  </a:lnTo>
                  <a:lnTo>
                    <a:pt x="120603" y="2699332"/>
                  </a:lnTo>
                  <a:lnTo>
                    <a:pt x="136682" y="2742013"/>
                  </a:lnTo>
                  <a:lnTo>
                    <a:pt x="153693" y="2784227"/>
                  </a:lnTo>
                  <a:lnTo>
                    <a:pt x="171626" y="2825961"/>
                  </a:lnTo>
                  <a:lnTo>
                    <a:pt x="190467" y="2867204"/>
                  </a:lnTo>
                  <a:lnTo>
                    <a:pt x="210203" y="2907942"/>
                  </a:lnTo>
                  <a:lnTo>
                    <a:pt x="230822" y="2948163"/>
                  </a:lnTo>
                  <a:lnTo>
                    <a:pt x="252311" y="2987854"/>
                  </a:lnTo>
                  <a:lnTo>
                    <a:pt x="274658" y="3027002"/>
                  </a:lnTo>
                  <a:lnTo>
                    <a:pt x="297850" y="3065596"/>
                  </a:lnTo>
                  <a:lnTo>
                    <a:pt x="321875" y="3103621"/>
                  </a:lnTo>
                  <a:lnTo>
                    <a:pt x="346719" y="3141067"/>
                  </a:lnTo>
                  <a:lnTo>
                    <a:pt x="372371" y="3177919"/>
                  </a:lnTo>
                  <a:lnTo>
                    <a:pt x="398817" y="3214167"/>
                  </a:lnTo>
                  <a:lnTo>
                    <a:pt x="426045" y="3249796"/>
                  </a:lnTo>
                  <a:lnTo>
                    <a:pt x="454043" y="3284794"/>
                  </a:lnTo>
                  <a:lnTo>
                    <a:pt x="482798" y="3319149"/>
                  </a:lnTo>
                  <a:lnTo>
                    <a:pt x="512296" y="3352848"/>
                  </a:lnTo>
                  <a:lnTo>
                    <a:pt x="542526" y="3385878"/>
                  </a:lnTo>
                  <a:lnTo>
                    <a:pt x="573476" y="3418228"/>
                  </a:lnTo>
                  <a:lnTo>
                    <a:pt x="605131" y="3449883"/>
                  </a:lnTo>
                  <a:lnTo>
                    <a:pt x="637481" y="3480833"/>
                  </a:lnTo>
                  <a:lnTo>
                    <a:pt x="670511" y="3511063"/>
                  </a:lnTo>
                  <a:lnTo>
                    <a:pt x="704210" y="3540561"/>
                  </a:lnTo>
                  <a:lnTo>
                    <a:pt x="738565" y="3569316"/>
                  </a:lnTo>
                  <a:lnTo>
                    <a:pt x="773563" y="3597314"/>
                  </a:lnTo>
                  <a:lnTo>
                    <a:pt x="809192" y="3624542"/>
                  </a:lnTo>
                  <a:lnTo>
                    <a:pt x="845440" y="3650988"/>
                  </a:lnTo>
                  <a:lnTo>
                    <a:pt x="882292" y="3676640"/>
                  </a:lnTo>
                  <a:lnTo>
                    <a:pt x="919738" y="3701484"/>
                  </a:lnTo>
                  <a:lnTo>
                    <a:pt x="957763" y="3725509"/>
                  </a:lnTo>
                  <a:lnTo>
                    <a:pt x="996357" y="3748701"/>
                  </a:lnTo>
                  <a:lnTo>
                    <a:pt x="1035505" y="3771048"/>
                  </a:lnTo>
                  <a:lnTo>
                    <a:pt x="1075196" y="3792537"/>
                  </a:lnTo>
                  <a:lnTo>
                    <a:pt x="1115417" y="3813156"/>
                  </a:lnTo>
                  <a:lnTo>
                    <a:pt x="1156155" y="3832892"/>
                  </a:lnTo>
                  <a:lnTo>
                    <a:pt x="1197398" y="3851733"/>
                  </a:lnTo>
                  <a:lnTo>
                    <a:pt x="1239132" y="3869666"/>
                  </a:lnTo>
                  <a:lnTo>
                    <a:pt x="1281346" y="3886677"/>
                  </a:lnTo>
                  <a:lnTo>
                    <a:pt x="1324027" y="3902756"/>
                  </a:lnTo>
                  <a:lnTo>
                    <a:pt x="1367162" y="3917889"/>
                  </a:lnTo>
                  <a:lnTo>
                    <a:pt x="1410738" y="3932063"/>
                  </a:lnTo>
                  <a:lnTo>
                    <a:pt x="1454744" y="3945265"/>
                  </a:lnTo>
                  <a:lnTo>
                    <a:pt x="1499166" y="3957484"/>
                  </a:lnTo>
                  <a:lnTo>
                    <a:pt x="1543991" y="3968707"/>
                  </a:lnTo>
                  <a:lnTo>
                    <a:pt x="1589208" y="3978921"/>
                  </a:lnTo>
                  <a:lnTo>
                    <a:pt x="1634803" y="3988113"/>
                  </a:lnTo>
                  <a:lnTo>
                    <a:pt x="1680765" y="3996271"/>
                  </a:lnTo>
                  <a:lnTo>
                    <a:pt x="1727079" y="4003382"/>
                  </a:lnTo>
                  <a:lnTo>
                    <a:pt x="1773734" y="4009434"/>
                  </a:lnTo>
                  <a:lnTo>
                    <a:pt x="1820718" y="4014413"/>
                  </a:lnTo>
                  <a:lnTo>
                    <a:pt x="1868016" y="4018308"/>
                  </a:lnTo>
                  <a:lnTo>
                    <a:pt x="1915618" y="4021106"/>
                  </a:lnTo>
                  <a:lnTo>
                    <a:pt x="1963510" y="4022794"/>
                  </a:lnTo>
                  <a:lnTo>
                    <a:pt x="2011680" y="4023360"/>
                  </a:lnTo>
                  <a:lnTo>
                    <a:pt x="2059849" y="4022794"/>
                  </a:lnTo>
                  <a:lnTo>
                    <a:pt x="2107741" y="4021106"/>
                  </a:lnTo>
                  <a:lnTo>
                    <a:pt x="2155343" y="4018308"/>
                  </a:lnTo>
                  <a:lnTo>
                    <a:pt x="2202641" y="4014413"/>
                  </a:lnTo>
                  <a:lnTo>
                    <a:pt x="2249625" y="4009434"/>
                  </a:lnTo>
                  <a:lnTo>
                    <a:pt x="2296280" y="4003382"/>
                  </a:lnTo>
                  <a:lnTo>
                    <a:pt x="2342594" y="3996271"/>
                  </a:lnTo>
                  <a:lnTo>
                    <a:pt x="2388556" y="3988113"/>
                  </a:lnTo>
                  <a:lnTo>
                    <a:pt x="2434151" y="3978921"/>
                  </a:lnTo>
                  <a:lnTo>
                    <a:pt x="2479368" y="3968707"/>
                  </a:lnTo>
                  <a:lnTo>
                    <a:pt x="2524193" y="3957484"/>
                  </a:lnTo>
                  <a:lnTo>
                    <a:pt x="2568615" y="3945265"/>
                  </a:lnTo>
                  <a:lnTo>
                    <a:pt x="2612621" y="3932063"/>
                  </a:lnTo>
                  <a:lnTo>
                    <a:pt x="2656197" y="3917889"/>
                  </a:lnTo>
                  <a:lnTo>
                    <a:pt x="2699332" y="3902756"/>
                  </a:lnTo>
                  <a:lnTo>
                    <a:pt x="2742013" y="3886677"/>
                  </a:lnTo>
                  <a:lnTo>
                    <a:pt x="2784227" y="3869666"/>
                  </a:lnTo>
                  <a:lnTo>
                    <a:pt x="2825961" y="3851733"/>
                  </a:lnTo>
                  <a:lnTo>
                    <a:pt x="2867204" y="3832892"/>
                  </a:lnTo>
                  <a:lnTo>
                    <a:pt x="2907942" y="3813156"/>
                  </a:lnTo>
                  <a:lnTo>
                    <a:pt x="2948163" y="3792537"/>
                  </a:lnTo>
                  <a:lnTo>
                    <a:pt x="2987854" y="3771048"/>
                  </a:lnTo>
                  <a:lnTo>
                    <a:pt x="3027002" y="3748701"/>
                  </a:lnTo>
                  <a:lnTo>
                    <a:pt x="3065596" y="3725509"/>
                  </a:lnTo>
                  <a:lnTo>
                    <a:pt x="3103621" y="3701484"/>
                  </a:lnTo>
                  <a:lnTo>
                    <a:pt x="3141067" y="3676640"/>
                  </a:lnTo>
                  <a:lnTo>
                    <a:pt x="3177919" y="3650988"/>
                  </a:lnTo>
                  <a:lnTo>
                    <a:pt x="3214167" y="3624542"/>
                  </a:lnTo>
                  <a:lnTo>
                    <a:pt x="3249796" y="3597314"/>
                  </a:lnTo>
                  <a:lnTo>
                    <a:pt x="3284794" y="3569316"/>
                  </a:lnTo>
                  <a:lnTo>
                    <a:pt x="3319149" y="3540561"/>
                  </a:lnTo>
                  <a:lnTo>
                    <a:pt x="3352848" y="3511063"/>
                  </a:lnTo>
                  <a:lnTo>
                    <a:pt x="3385878" y="3480833"/>
                  </a:lnTo>
                  <a:lnTo>
                    <a:pt x="3418228" y="3449883"/>
                  </a:lnTo>
                  <a:lnTo>
                    <a:pt x="3449883" y="3418228"/>
                  </a:lnTo>
                  <a:lnTo>
                    <a:pt x="3480833" y="3385878"/>
                  </a:lnTo>
                  <a:lnTo>
                    <a:pt x="3511063" y="3352848"/>
                  </a:lnTo>
                  <a:lnTo>
                    <a:pt x="3540561" y="3319149"/>
                  </a:lnTo>
                  <a:lnTo>
                    <a:pt x="3569316" y="3284794"/>
                  </a:lnTo>
                  <a:lnTo>
                    <a:pt x="3597314" y="3249796"/>
                  </a:lnTo>
                  <a:lnTo>
                    <a:pt x="3624542" y="3214167"/>
                  </a:lnTo>
                  <a:lnTo>
                    <a:pt x="3650988" y="3177919"/>
                  </a:lnTo>
                  <a:lnTo>
                    <a:pt x="3676640" y="3141067"/>
                  </a:lnTo>
                  <a:lnTo>
                    <a:pt x="3701484" y="3103621"/>
                  </a:lnTo>
                  <a:lnTo>
                    <a:pt x="3725509" y="3065596"/>
                  </a:lnTo>
                  <a:lnTo>
                    <a:pt x="3748701" y="3027002"/>
                  </a:lnTo>
                  <a:lnTo>
                    <a:pt x="3771048" y="2987854"/>
                  </a:lnTo>
                  <a:lnTo>
                    <a:pt x="3792537" y="2948163"/>
                  </a:lnTo>
                  <a:lnTo>
                    <a:pt x="3813156" y="2907942"/>
                  </a:lnTo>
                  <a:lnTo>
                    <a:pt x="3832892" y="2867204"/>
                  </a:lnTo>
                  <a:lnTo>
                    <a:pt x="3851733" y="2825961"/>
                  </a:lnTo>
                  <a:lnTo>
                    <a:pt x="3869666" y="2784227"/>
                  </a:lnTo>
                  <a:lnTo>
                    <a:pt x="3886677" y="2742013"/>
                  </a:lnTo>
                  <a:lnTo>
                    <a:pt x="3902756" y="2699332"/>
                  </a:lnTo>
                  <a:lnTo>
                    <a:pt x="3917889" y="2656197"/>
                  </a:lnTo>
                  <a:lnTo>
                    <a:pt x="3932063" y="2612621"/>
                  </a:lnTo>
                  <a:lnTo>
                    <a:pt x="3945265" y="2568615"/>
                  </a:lnTo>
                  <a:lnTo>
                    <a:pt x="3957484" y="2524193"/>
                  </a:lnTo>
                  <a:lnTo>
                    <a:pt x="3968707" y="2479368"/>
                  </a:lnTo>
                  <a:lnTo>
                    <a:pt x="3978921" y="2434151"/>
                  </a:lnTo>
                  <a:lnTo>
                    <a:pt x="3988113" y="2388556"/>
                  </a:lnTo>
                  <a:lnTo>
                    <a:pt x="3996271" y="2342594"/>
                  </a:lnTo>
                  <a:lnTo>
                    <a:pt x="4003382" y="2296280"/>
                  </a:lnTo>
                  <a:lnTo>
                    <a:pt x="4009434" y="2249625"/>
                  </a:lnTo>
                  <a:lnTo>
                    <a:pt x="4014413" y="2202641"/>
                  </a:lnTo>
                  <a:lnTo>
                    <a:pt x="4018308" y="2155343"/>
                  </a:lnTo>
                  <a:lnTo>
                    <a:pt x="4021106" y="2107741"/>
                  </a:lnTo>
                  <a:lnTo>
                    <a:pt x="4022794" y="2059849"/>
                  </a:lnTo>
                  <a:lnTo>
                    <a:pt x="4023359" y="2011680"/>
                  </a:lnTo>
                  <a:lnTo>
                    <a:pt x="4022794" y="1963510"/>
                  </a:lnTo>
                  <a:lnTo>
                    <a:pt x="4021106" y="1915618"/>
                  </a:lnTo>
                  <a:lnTo>
                    <a:pt x="4018308" y="1868016"/>
                  </a:lnTo>
                  <a:lnTo>
                    <a:pt x="4014413" y="1820718"/>
                  </a:lnTo>
                  <a:lnTo>
                    <a:pt x="4009434" y="1773734"/>
                  </a:lnTo>
                  <a:lnTo>
                    <a:pt x="4003382" y="1727079"/>
                  </a:lnTo>
                  <a:lnTo>
                    <a:pt x="3996271" y="1680765"/>
                  </a:lnTo>
                  <a:lnTo>
                    <a:pt x="3988113" y="1634803"/>
                  </a:lnTo>
                  <a:lnTo>
                    <a:pt x="3978921" y="1589208"/>
                  </a:lnTo>
                  <a:lnTo>
                    <a:pt x="3968707" y="1543991"/>
                  </a:lnTo>
                  <a:lnTo>
                    <a:pt x="3957484" y="1499166"/>
                  </a:lnTo>
                  <a:lnTo>
                    <a:pt x="3945265" y="1454744"/>
                  </a:lnTo>
                  <a:lnTo>
                    <a:pt x="3932063" y="1410738"/>
                  </a:lnTo>
                  <a:lnTo>
                    <a:pt x="3917889" y="1367162"/>
                  </a:lnTo>
                  <a:lnTo>
                    <a:pt x="3902756" y="1324027"/>
                  </a:lnTo>
                  <a:lnTo>
                    <a:pt x="3886677" y="1281346"/>
                  </a:lnTo>
                  <a:lnTo>
                    <a:pt x="3869666" y="1239132"/>
                  </a:lnTo>
                  <a:lnTo>
                    <a:pt x="3851733" y="1197398"/>
                  </a:lnTo>
                  <a:lnTo>
                    <a:pt x="3832892" y="1156155"/>
                  </a:lnTo>
                  <a:lnTo>
                    <a:pt x="3813156" y="1115417"/>
                  </a:lnTo>
                  <a:lnTo>
                    <a:pt x="3792537" y="1075196"/>
                  </a:lnTo>
                  <a:lnTo>
                    <a:pt x="3771048" y="1035505"/>
                  </a:lnTo>
                  <a:lnTo>
                    <a:pt x="3748701" y="996357"/>
                  </a:lnTo>
                  <a:lnTo>
                    <a:pt x="3725509" y="957763"/>
                  </a:lnTo>
                  <a:lnTo>
                    <a:pt x="3701484" y="919738"/>
                  </a:lnTo>
                  <a:lnTo>
                    <a:pt x="3676640" y="882292"/>
                  </a:lnTo>
                  <a:lnTo>
                    <a:pt x="3650988" y="845440"/>
                  </a:lnTo>
                  <a:lnTo>
                    <a:pt x="3624542" y="809192"/>
                  </a:lnTo>
                  <a:lnTo>
                    <a:pt x="3597314" y="773563"/>
                  </a:lnTo>
                  <a:lnTo>
                    <a:pt x="3569316" y="738565"/>
                  </a:lnTo>
                  <a:lnTo>
                    <a:pt x="3540561" y="704210"/>
                  </a:lnTo>
                  <a:lnTo>
                    <a:pt x="3511063" y="670511"/>
                  </a:lnTo>
                  <a:lnTo>
                    <a:pt x="3480833" y="637481"/>
                  </a:lnTo>
                  <a:lnTo>
                    <a:pt x="3449883" y="605131"/>
                  </a:lnTo>
                  <a:lnTo>
                    <a:pt x="3418228" y="573476"/>
                  </a:lnTo>
                  <a:lnTo>
                    <a:pt x="3385878" y="542526"/>
                  </a:lnTo>
                  <a:lnTo>
                    <a:pt x="3352848" y="512296"/>
                  </a:lnTo>
                  <a:lnTo>
                    <a:pt x="3319149" y="482798"/>
                  </a:lnTo>
                  <a:lnTo>
                    <a:pt x="3284794" y="454043"/>
                  </a:lnTo>
                  <a:lnTo>
                    <a:pt x="3249796" y="426045"/>
                  </a:lnTo>
                  <a:lnTo>
                    <a:pt x="3214167" y="398817"/>
                  </a:lnTo>
                  <a:lnTo>
                    <a:pt x="3177919" y="372371"/>
                  </a:lnTo>
                  <a:lnTo>
                    <a:pt x="3141067" y="346719"/>
                  </a:lnTo>
                  <a:lnTo>
                    <a:pt x="3103621" y="321875"/>
                  </a:lnTo>
                  <a:lnTo>
                    <a:pt x="3065596" y="297850"/>
                  </a:lnTo>
                  <a:lnTo>
                    <a:pt x="3027002" y="274658"/>
                  </a:lnTo>
                  <a:lnTo>
                    <a:pt x="2987854" y="252311"/>
                  </a:lnTo>
                  <a:lnTo>
                    <a:pt x="2948163" y="230822"/>
                  </a:lnTo>
                  <a:lnTo>
                    <a:pt x="2907942" y="210203"/>
                  </a:lnTo>
                  <a:lnTo>
                    <a:pt x="2867204" y="190467"/>
                  </a:lnTo>
                  <a:lnTo>
                    <a:pt x="2825961" y="171626"/>
                  </a:lnTo>
                  <a:lnTo>
                    <a:pt x="2784227" y="153693"/>
                  </a:lnTo>
                  <a:lnTo>
                    <a:pt x="2742013" y="136682"/>
                  </a:lnTo>
                  <a:lnTo>
                    <a:pt x="2699332" y="120603"/>
                  </a:lnTo>
                  <a:lnTo>
                    <a:pt x="2656197" y="105470"/>
                  </a:lnTo>
                  <a:lnTo>
                    <a:pt x="2612621" y="91296"/>
                  </a:lnTo>
                  <a:lnTo>
                    <a:pt x="2568615" y="78094"/>
                  </a:lnTo>
                  <a:lnTo>
                    <a:pt x="2524193" y="65875"/>
                  </a:lnTo>
                  <a:lnTo>
                    <a:pt x="2479368" y="54652"/>
                  </a:lnTo>
                  <a:lnTo>
                    <a:pt x="2434151" y="44438"/>
                  </a:lnTo>
                  <a:lnTo>
                    <a:pt x="2388556" y="35246"/>
                  </a:lnTo>
                  <a:lnTo>
                    <a:pt x="2342594" y="27088"/>
                  </a:lnTo>
                  <a:lnTo>
                    <a:pt x="2296280" y="19977"/>
                  </a:lnTo>
                  <a:lnTo>
                    <a:pt x="2249625" y="13925"/>
                  </a:lnTo>
                  <a:lnTo>
                    <a:pt x="2202641" y="8946"/>
                  </a:lnTo>
                  <a:lnTo>
                    <a:pt x="2155343" y="5051"/>
                  </a:lnTo>
                  <a:lnTo>
                    <a:pt x="2107741" y="2253"/>
                  </a:lnTo>
                  <a:lnTo>
                    <a:pt x="2059849" y="565"/>
                  </a:lnTo>
                  <a:lnTo>
                    <a:pt x="2011680" y="0"/>
                  </a:lnTo>
                  <a:close/>
                </a:path>
              </a:pathLst>
            </a:custGeom>
            <a:solidFill>
              <a:srgbClr val="1B2A3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560320" y="342138"/>
              <a:ext cx="4023360" cy="4023360"/>
            </a:xfrm>
            <a:custGeom>
              <a:avLst/>
              <a:gdLst/>
              <a:ahLst/>
              <a:cxnLst/>
              <a:rect l="l" t="t" r="r" b="b"/>
              <a:pathLst>
                <a:path w="4023359" h="4023360">
                  <a:moveTo>
                    <a:pt x="0" y="2011680"/>
                  </a:moveTo>
                  <a:lnTo>
                    <a:pt x="565" y="1963510"/>
                  </a:lnTo>
                  <a:lnTo>
                    <a:pt x="2253" y="1915618"/>
                  </a:lnTo>
                  <a:lnTo>
                    <a:pt x="5051" y="1868016"/>
                  </a:lnTo>
                  <a:lnTo>
                    <a:pt x="8946" y="1820718"/>
                  </a:lnTo>
                  <a:lnTo>
                    <a:pt x="13925" y="1773734"/>
                  </a:lnTo>
                  <a:lnTo>
                    <a:pt x="19977" y="1727079"/>
                  </a:lnTo>
                  <a:lnTo>
                    <a:pt x="27088" y="1680765"/>
                  </a:lnTo>
                  <a:lnTo>
                    <a:pt x="35246" y="1634803"/>
                  </a:lnTo>
                  <a:lnTo>
                    <a:pt x="44438" y="1589208"/>
                  </a:lnTo>
                  <a:lnTo>
                    <a:pt x="54652" y="1543991"/>
                  </a:lnTo>
                  <a:lnTo>
                    <a:pt x="65875" y="1499166"/>
                  </a:lnTo>
                  <a:lnTo>
                    <a:pt x="78094" y="1454744"/>
                  </a:lnTo>
                  <a:lnTo>
                    <a:pt x="91296" y="1410738"/>
                  </a:lnTo>
                  <a:lnTo>
                    <a:pt x="105470" y="1367162"/>
                  </a:lnTo>
                  <a:lnTo>
                    <a:pt x="120603" y="1324027"/>
                  </a:lnTo>
                  <a:lnTo>
                    <a:pt x="136682" y="1281346"/>
                  </a:lnTo>
                  <a:lnTo>
                    <a:pt x="153693" y="1239132"/>
                  </a:lnTo>
                  <a:lnTo>
                    <a:pt x="171626" y="1197398"/>
                  </a:lnTo>
                  <a:lnTo>
                    <a:pt x="190467" y="1156155"/>
                  </a:lnTo>
                  <a:lnTo>
                    <a:pt x="210203" y="1115417"/>
                  </a:lnTo>
                  <a:lnTo>
                    <a:pt x="230822" y="1075196"/>
                  </a:lnTo>
                  <a:lnTo>
                    <a:pt x="252311" y="1035505"/>
                  </a:lnTo>
                  <a:lnTo>
                    <a:pt x="274658" y="996357"/>
                  </a:lnTo>
                  <a:lnTo>
                    <a:pt x="297850" y="957763"/>
                  </a:lnTo>
                  <a:lnTo>
                    <a:pt x="321875" y="919738"/>
                  </a:lnTo>
                  <a:lnTo>
                    <a:pt x="346719" y="882292"/>
                  </a:lnTo>
                  <a:lnTo>
                    <a:pt x="372371" y="845440"/>
                  </a:lnTo>
                  <a:lnTo>
                    <a:pt x="398817" y="809192"/>
                  </a:lnTo>
                  <a:lnTo>
                    <a:pt x="426045" y="773563"/>
                  </a:lnTo>
                  <a:lnTo>
                    <a:pt x="454043" y="738565"/>
                  </a:lnTo>
                  <a:lnTo>
                    <a:pt x="482798" y="704210"/>
                  </a:lnTo>
                  <a:lnTo>
                    <a:pt x="512296" y="670511"/>
                  </a:lnTo>
                  <a:lnTo>
                    <a:pt x="542526" y="637481"/>
                  </a:lnTo>
                  <a:lnTo>
                    <a:pt x="573476" y="605131"/>
                  </a:lnTo>
                  <a:lnTo>
                    <a:pt x="605131" y="573476"/>
                  </a:lnTo>
                  <a:lnTo>
                    <a:pt x="637481" y="542526"/>
                  </a:lnTo>
                  <a:lnTo>
                    <a:pt x="670511" y="512296"/>
                  </a:lnTo>
                  <a:lnTo>
                    <a:pt x="704210" y="482798"/>
                  </a:lnTo>
                  <a:lnTo>
                    <a:pt x="738565" y="454043"/>
                  </a:lnTo>
                  <a:lnTo>
                    <a:pt x="773563" y="426045"/>
                  </a:lnTo>
                  <a:lnTo>
                    <a:pt x="809192" y="398817"/>
                  </a:lnTo>
                  <a:lnTo>
                    <a:pt x="845440" y="372371"/>
                  </a:lnTo>
                  <a:lnTo>
                    <a:pt x="882292" y="346719"/>
                  </a:lnTo>
                  <a:lnTo>
                    <a:pt x="919738" y="321875"/>
                  </a:lnTo>
                  <a:lnTo>
                    <a:pt x="957763" y="297850"/>
                  </a:lnTo>
                  <a:lnTo>
                    <a:pt x="996357" y="274658"/>
                  </a:lnTo>
                  <a:lnTo>
                    <a:pt x="1035505" y="252311"/>
                  </a:lnTo>
                  <a:lnTo>
                    <a:pt x="1075196" y="230822"/>
                  </a:lnTo>
                  <a:lnTo>
                    <a:pt x="1115417" y="210203"/>
                  </a:lnTo>
                  <a:lnTo>
                    <a:pt x="1156155" y="190467"/>
                  </a:lnTo>
                  <a:lnTo>
                    <a:pt x="1197398" y="171626"/>
                  </a:lnTo>
                  <a:lnTo>
                    <a:pt x="1239132" y="153693"/>
                  </a:lnTo>
                  <a:lnTo>
                    <a:pt x="1281346" y="136682"/>
                  </a:lnTo>
                  <a:lnTo>
                    <a:pt x="1324027" y="120603"/>
                  </a:lnTo>
                  <a:lnTo>
                    <a:pt x="1367162" y="105470"/>
                  </a:lnTo>
                  <a:lnTo>
                    <a:pt x="1410738" y="91296"/>
                  </a:lnTo>
                  <a:lnTo>
                    <a:pt x="1454744" y="78094"/>
                  </a:lnTo>
                  <a:lnTo>
                    <a:pt x="1499166" y="65875"/>
                  </a:lnTo>
                  <a:lnTo>
                    <a:pt x="1543991" y="54652"/>
                  </a:lnTo>
                  <a:lnTo>
                    <a:pt x="1589208" y="44438"/>
                  </a:lnTo>
                  <a:lnTo>
                    <a:pt x="1634803" y="35246"/>
                  </a:lnTo>
                  <a:lnTo>
                    <a:pt x="1680765" y="27088"/>
                  </a:lnTo>
                  <a:lnTo>
                    <a:pt x="1727079" y="19977"/>
                  </a:lnTo>
                  <a:lnTo>
                    <a:pt x="1773734" y="13925"/>
                  </a:lnTo>
                  <a:lnTo>
                    <a:pt x="1820718" y="8946"/>
                  </a:lnTo>
                  <a:lnTo>
                    <a:pt x="1868016" y="5051"/>
                  </a:lnTo>
                  <a:lnTo>
                    <a:pt x="1915618" y="2253"/>
                  </a:lnTo>
                  <a:lnTo>
                    <a:pt x="1963510" y="565"/>
                  </a:lnTo>
                  <a:lnTo>
                    <a:pt x="2011680" y="0"/>
                  </a:lnTo>
                  <a:lnTo>
                    <a:pt x="2059849" y="565"/>
                  </a:lnTo>
                  <a:lnTo>
                    <a:pt x="2107741" y="2253"/>
                  </a:lnTo>
                  <a:lnTo>
                    <a:pt x="2155343" y="5051"/>
                  </a:lnTo>
                  <a:lnTo>
                    <a:pt x="2202641" y="8946"/>
                  </a:lnTo>
                  <a:lnTo>
                    <a:pt x="2249625" y="13925"/>
                  </a:lnTo>
                  <a:lnTo>
                    <a:pt x="2296280" y="19977"/>
                  </a:lnTo>
                  <a:lnTo>
                    <a:pt x="2342594" y="27088"/>
                  </a:lnTo>
                  <a:lnTo>
                    <a:pt x="2388556" y="35246"/>
                  </a:lnTo>
                  <a:lnTo>
                    <a:pt x="2434151" y="44438"/>
                  </a:lnTo>
                  <a:lnTo>
                    <a:pt x="2479368" y="54652"/>
                  </a:lnTo>
                  <a:lnTo>
                    <a:pt x="2524193" y="65875"/>
                  </a:lnTo>
                  <a:lnTo>
                    <a:pt x="2568615" y="78094"/>
                  </a:lnTo>
                  <a:lnTo>
                    <a:pt x="2612621" y="91296"/>
                  </a:lnTo>
                  <a:lnTo>
                    <a:pt x="2656197" y="105470"/>
                  </a:lnTo>
                  <a:lnTo>
                    <a:pt x="2699332" y="120603"/>
                  </a:lnTo>
                  <a:lnTo>
                    <a:pt x="2742013" y="136682"/>
                  </a:lnTo>
                  <a:lnTo>
                    <a:pt x="2784227" y="153693"/>
                  </a:lnTo>
                  <a:lnTo>
                    <a:pt x="2825961" y="171626"/>
                  </a:lnTo>
                  <a:lnTo>
                    <a:pt x="2867204" y="190467"/>
                  </a:lnTo>
                  <a:lnTo>
                    <a:pt x="2907942" y="210203"/>
                  </a:lnTo>
                  <a:lnTo>
                    <a:pt x="2948163" y="230822"/>
                  </a:lnTo>
                  <a:lnTo>
                    <a:pt x="2987854" y="252311"/>
                  </a:lnTo>
                  <a:lnTo>
                    <a:pt x="3027002" y="274658"/>
                  </a:lnTo>
                  <a:lnTo>
                    <a:pt x="3065596" y="297850"/>
                  </a:lnTo>
                  <a:lnTo>
                    <a:pt x="3103621" y="321875"/>
                  </a:lnTo>
                  <a:lnTo>
                    <a:pt x="3141067" y="346719"/>
                  </a:lnTo>
                  <a:lnTo>
                    <a:pt x="3177919" y="372371"/>
                  </a:lnTo>
                  <a:lnTo>
                    <a:pt x="3214167" y="398817"/>
                  </a:lnTo>
                  <a:lnTo>
                    <a:pt x="3249796" y="426045"/>
                  </a:lnTo>
                  <a:lnTo>
                    <a:pt x="3284794" y="454043"/>
                  </a:lnTo>
                  <a:lnTo>
                    <a:pt x="3319149" y="482798"/>
                  </a:lnTo>
                  <a:lnTo>
                    <a:pt x="3352848" y="512296"/>
                  </a:lnTo>
                  <a:lnTo>
                    <a:pt x="3385878" y="542526"/>
                  </a:lnTo>
                  <a:lnTo>
                    <a:pt x="3418228" y="573476"/>
                  </a:lnTo>
                  <a:lnTo>
                    <a:pt x="3449883" y="605131"/>
                  </a:lnTo>
                  <a:lnTo>
                    <a:pt x="3480833" y="637481"/>
                  </a:lnTo>
                  <a:lnTo>
                    <a:pt x="3511063" y="670511"/>
                  </a:lnTo>
                  <a:lnTo>
                    <a:pt x="3540561" y="704210"/>
                  </a:lnTo>
                  <a:lnTo>
                    <a:pt x="3569316" y="738565"/>
                  </a:lnTo>
                  <a:lnTo>
                    <a:pt x="3597314" y="773563"/>
                  </a:lnTo>
                  <a:lnTo>
                    <a:pt x="3624542" y="809192"/>
                  </a:lnTo>
                  <a:lnTo>
                    <a:pt x="3650988" y="845440"/>
                  </a:lnTo>
                  <a:lnTo>
                    <a:pt x="3676640" y="882292"/>
                  </a:lnTo>
                  <a:lnTo>
                    <a:pt x="3701484" y="919738"/>
                  </a:lnTo>
                  <a:lnTo>
                    <a:pt x="3725509" y="957763"/>
                  </a:lnTo>
                  <a:lnTo>
                    <a:pt x="3748701" y="996357"/>
                  </a:lnTo>
                  <a:lnTo>
                    <a:pt x="3771048" y="1035505"/>
                  </a:lnTo>
                  <a:lnTo>
                    <a:pt x="3792537" y="1075196"/>
                  </a:lnTo>
                  <a:lnTo>
                    <a:pt x="3813156" y="1115417"/>
                  </a:lnTo>
                  <a:lnTo>
                    <a:pt x="3832892" y="1156155"/>
                  </a:lnTo>
                  <a:lnTo>
                    <a:pt x="3851733" y="1197398"/>
                  </a:lnTo>
                  <a:lnTo>
                    <a:pt x="3869666" y="1239132"/>
                  </a:lnTo>
                  <a:lnTo>
                    <a:pt x="3886677" y="1281346"/>
                  </a:lnTo>
                  <a:lnTo>
                    <a:pt x="3902756" y="1324027"/>
                  </a:lnTo>
                  <a:lnTo>
                    <a:pt x="3917889" y="1367162"/>
                  </a:lnTo>
                  <a:lnTo>
                    <a:pt x="3932063" y="1410738"/>
                  </a:lnTo>
                  <a:lnTo>
                    <a:pt x="3945265" y="1454744"/>
                  </a:lnTo>
                  <a:lnTo>
                    <a:pt x="3957484" y="1499166"/>
                  </a:lnTo>
                  <a:lnTo>
                    <a:pt x="3968707" y="1543991"/>
                  </a:lnTo>
                  <a:lnTo>
                    <a:pt x="3978921" y="1589208"/>
                  </a:lnTo>
                  <a:lnTo>
                    <a:pt x="3988113" y="1634803"/>
                  </a:lnTo>
                  <a:lnTo>
                    <a:pt x="3996271" y="1680765"/>
                  </a:lnTo>
                  <a:lnTo>
                    <a:pt x="4003382" y="1727079"/>
                  </a:lnTo>
                  <a:lnTo>
                    <a:pt x="4009434" y="1773734"/>
                  </a:lnTo>
                  <a:lnTo>
                    <a:pt x="4014413" y="1820718"/>
                  </a:lnTo>
                  <a:lnTo>
                    <a:pt x="4018308" y="1868016"/>
                  </a:lnTo>
                  <a:lnTo>
                    <a:pt x="4021106" y="1915618"/>
                  </a:lnTo>
                  <a:lnTo>
                    <a:pt x="4022794" y="1963510"/>
                  </a:lnTo>
                  <a:lnTo>
                    <a:pt x="4023359" y="2011680"/>
                  </a:lnTo>
                  <a:lnTo>
                    <a:pt x="4022794" y="2059849"/>
                  </a:lnTo>
                  <a:lnTo>
                    <a:pt x="4021106" y="2107741"/>
                  </a:lnTo>
                  <a:lnTo>
                    <a:pt x="4018308" y="2155343"/>
                  </a:lnTo>
                  <a:lnTo>
                    <a:pt x="4014413" y="2202641"/>
                  </a:lnTo>
                  <a:lnTo>
                    <a:pt x="4009434" y="2249625"/>
                  </a:lnTo>
                  <a:lnTo>
                    <a:pt x="4003382" y="2296280"/>
                  </a:lnTo>
                  <a:lnTo>
                    <a:pt x="3996271" y="2342594"/>
                  </a:lnTo>
                  <a:lnTo>
                    <a:pt x="3988113" y="2388556"/>
                  </a:lnTo>
                  <a:lnTo>
                    <a:pt x="3978921" y="2434151"/>
                  </a:lnTo>
                  <a:lnTo>
                    <a:pt x="3968707" y="2479368"/>
                  </a:lnTo>
                  <a:lnTo>
                    <a:pt x="3957484" y="2524193"/>
                  </a:lnTo>
                  <a:lnTo>
                    <a:pt x="3945265" y="2568615"/>
                  </a:lnTo>
                  <a:lnTo>
                    <a:pt x="3932063" y="2612621"/>
                  </a:lnTo>
                  <a:lnTo>
                    <a:pt x="3917889" y="2656197"/>
                  </a:lnTo>
                  <a:lnTo>
                    <a:pt x="3902756" y="2699332"/>
                  </a:lnTo>
                  <a:lnTo>
                    <a:pt x="3886677" y="2742013"/>
                  </a:lnTo>
                  <a:lnTo>
                    <a:pt x="3869666" y="2784227"/>
                  </a:lnTo>
                  <a:lnTo>
                    <a:pt x="3851733" y="2825961"/>
                  </a:lnTo>
                  <a:lnTo>
                    <a:pt x="3832892" y="2867204"/>
                  </a:lnTo>
                  <a:lnTo>
                    <a:pt x="3813156" y="2907942"/>
                  </a:lnTo>
                  <a:lnTo>
                    <a:pt x="3792537" y="2948163"/>
                  </a:lnTo>
                  <a:lnTo>
                    <a:pt x="3771048" y="2987854"/>
                  </a:lnTo>
                  <a:lnTo>
                    <a:pt x="3748701" y="3027002"/>
                  </a:lnTo>
                  <a:lnTo>
                    <a:pt x="3725509" y="3065596"/>
                  </a:lnTo>
                  <a:lnTo>
                    <a:pt x="3701484" y="3103621"/>
                  </a:lnTo>
                  <a:lnTo>
                    <a:pt x="3676640" y="3141067"/>
                  </a:lnTo>
                  <a:lnTo>
                    <a:pt x="3650988" y="3177919"/>
                  </a:lnTo>
                  <a:lnTo>
                    <a:pt x="3624542" y="3214167"/>
                  </a:lnTo>
                  <a:lnTo>
                    <a:pt x="3597314" y="3249796"/>
                  </a:lnTo>
                  <a:lnTo>
                    <a:pt x="3569316" y="3284794"/>
                  </a:lnTo>
                  <a:lnTo>
                    <a:pt x="3540561" y="3319149"/>
                  </a:lnTo>
                  <a:lnTo>
                    <a:pt x="3511063" y="3352848"/>
                  </a:lnTo>
                  <a:lnTo>
                    <a:pt x="3480833" y="3385878"/>
                  </a:lnTo>
                  <a:lnTo>
                    <a:pt x="3449883" y="3418228"/>
                  </a:lnTo>
                  <a:lnTo>
                    <a:pt x="3418228" y="3449883"/>
                  </a:lnTo>
                  <a:lnTo>
                    <a:pt x="3385878" y="3480833"/>
                  </a:lnTo>
                  <a:lnTo>
                    <a:pt x="3352848" y="3511063"/>
                  </a:lnTo>
                  <a:lnTo>
                    <a:pt x="3319149" y="3540561"/>
                  </a:lnTo>
                  <a:lnTo>
                    <a:pt x="3284794" y="3569316"/>
                  </a:lnTo>
                  <a:lnTo>
                    <a:pt x="3249796" y="3597314"/>
                  </a:lnTo>
                  <a:lnTo>
                    <a:pt x="3214167" y="3624542"/>
                  </a:lnTo>
                  <a:lnTo>
                    <a:pt x="3177919" y="3650988"/>
                  </a:lnTo>
                  <a:lnTo>
                    <a:pt x="3141067" y="3676640"/>
                  </a:lnTo>
                  <a:lnTo>
                    <a:pt x="3103621" y="3701484"/>
                  </a:lnTo>
                  <a:lnTo>
                    <a:pt x="3065596" y="3725509"/>
                  </a:lnTo>
                  <a:lnTo>
                    <a:pt x="3027002" y="3748701"/>
                  </a:lnTo>
                  <a:lnTo>
                    <a:pt x="2987854" y="3771048"/>
                  </a:lnTo>
                  <a:lnTo>
                    <a:pt x="2948163" y="3792537"/>
                  </a:lnTo>
                  <a:lnTo>
                    <a:pt x="2907942" y="3813156"/>
                  </a:lnTo>
                  <a:lnTo>
                    <a:pt x="2867204" y="3832892"/>
                  </a:lnTo>
                  <a:lnTo>
                    <a:pt x="2825961" y="3851733"/>
                  </a:lnTo>
                  <a:lnTo>
                    <a:pt x="2784227" y="3869666"/>
                  </a:lnTo>
                  <a:lnTo>
                    <a:pt x="2742013" y="3886677"/>
                  </a:lnTo>
                  <a:lnTo>
                    <a:pt x="2699332" y="3902756"/>
                  </a:lnTo>
                  <a:lnTo>
                    <a:pt x="2656197" y="3917889"/>
                  </a:lnTo>
                  <a:lnTo>
                    <a:pt x="2612621" y="3932063"/>
                  </a:lnTo>
                  <a:lnTo>
                    <a:pt x="2568615" y="3945265"/>
                  </a:lnTo>
                  <a:lnTo>
                    <a:pt x="2524193" y="3957484"/>
                  </a:lnTo>
                  <a:lnTo>
                    <a:pt x="2479368" y="3968707"/>
                  </a:lnTo>
                  <a:lnTo>
                    <a:pt x="2434151" y="3978921"/>
                  </a:lnTo>
                  <a:lnTo>
                    <a:pt x="2388556" y="3988113"/>
                  </a:lnTo>
                  <a:lnTo>
                    <a:pt x="2342594" y="3996271"/>
                  </a:lnTo>
                  <a:lnTo>
                    <a:pt x="2296280" y="4003382"/>
                  </a:lnTo>
                  <a:lnTo>
                    <a:pt x="2249625" y="4009434"/>
                  </a:lnTo>
                  <a:lnTo>
                    <a:pt x="2202641" y="4014413"/>
                  </a:lnTo>
                  <a:lnTo>
                    <a:pt x="2155343" y="4018308"/>
                  </a:lnTo>
                  <a:lnTo>
                    <a:pt x="2107741" y="4021106"/>
                  </a:lnTo>
                  <a:lnTo>
                    <a:pt x="2059849" y="4022794"/>
                  </a:lnTo>
                  <a:lnTo>
                    <a:pt x="2011680" y="4023360"/>
                  </a:lnTo>
                  <a:lnTo>
                    <a:pt x="1963510" y="4022794"/>
                  </a:lnTo>
                  <a:lnTo>
                    <a:pt x="1915618" y="4021106"/>
                  </a:lnTo>
                  <a:lnTo>
                    <a:pt x="1868016" y="4018308"/>
                  </a:lnTo>
                  <a:lnTo>
                    <a:pt x="1820718" y="4014413"/>
                  </a:lnTo>
                  <a:lnTo>
                    <a:pt x="1773734" y="4009434"/>
                  </a:lnTo>
                  <a:lnTo>
                    <a:pt x="1727079" y="4003382"/>
                  </a:lnTo>
                  <a:lnTo>
                    <a:pt x="1680765" y="3996271"/>
                  </a:lnTo>
                  <a:lnTo>
                    <a:pt x="1634803" y="3988113"/>
                  </a:lnTo>
                  <a:lnTo>
                    <a:pt x="1589208" y="3978921"/>
                  </a:lnTo>
                  <a:lnTo>
                    <a:pt x="1543991" y="3968707"/>
                  </a:lnTo>
                  <a:lnTo>
                    <a:pt x="1499166" y="3957484"/>
                  </a:lnTo>
                  <a:lnTo>
                    <a:pt x="1454744" y="3945265"/>
                  </a:lnTo>
                  <a:lnTo>
                    <a:pt x="1410738" y="3932063"/>
                  </a:lnTo>
                  <a:lnTo>
                    <a:pt x="1367162" y="3917889"/>
                  </a:lnTo>
                  <a:lnTo>
                    <a:pt x="1324027" y="3902756"/>
                  </a:lnTo>
                  <a:lnTo>
                    <a:pt x="1281346" y="3886677"/>
                  </a:lnTo>
                  <a:lnTo>
                    <a:pt x="1239132" y="3869666"/>
                  </a:lnTo>
                  <a:lnTo>
                    <a:pt x="1197398" y="3851733"/>
                  </a:lnTo>
                  <a:lnTo>
                    <a:pt x="1156155" y="3832892"/>
                  </a:lnTo>
                  <a:lnTo>
                    <a:pt x="1115417" y="3813156"/>
                  </a:lnTo>
                  <a:lnTo>
                    <a:pt x="1075196" y="3792537"/>
                  </a:lnTo>
                  <a:lnTo>
                    <a:pt x="1035505" y="3771048"/>
                  </a:lnTo>
                  <a:lnTo>
                    <a:pt x="996357" y="3748701"/>
                  </a:lnTo>
                  <a:lnTo>
                    <a:pt x="957763" y="3725509"/>
                  </a:lnTo>
                  <a:lnTo>
                    <a:pt x="919738" y="3701484"/>
                  </a:lnTo>
                  <a:lnTo>
                    <a:pt x="882292" y="3676640"/>
                  </a:lnTo>
                  <a:lnTo>
                    <a:pt x="845440" y="3650988"/>
                  </a:lnTo>
                  <a:lnTo>
                    <a:pt x="809192" y="3624542"/>
                  </a:lnTo>
                  <a:lnTo>
                    <a:pt x="773563" y="3597314"/>
                  </a:lnTo>
                  <a:lnTo>
                    <a:pt x="738565" y="3569316"/>
                  </a:lnTo>
                  <a:lnTo>
                    <a:pt x="704210" y="3540561"/>
                  </a:lnTo>
                  <a:lnTo>
                    <a:pt x="670511" y="3511063"/>
                  </a:lnTo>
                  <a:lnTo>
                    <a:pt x="637481" y="3480833"/>
                  </a:lnTo>
                  <a:lnTo>
                    <a:pt x="605131" y="3449883"/>
                  </a:lnTo>
                  <a:lnTo>
                    <a:pt x="573476" y="3418228"/>
                  </a:lnTo>
                  <a:lnTo>
                    <a:pt x="542526" y="3385878"/>
                  </a:lnTo>
                  <a:lnTo>
                    <a:pt x="512296" y="3352848"/>
                  </a:lnTo>
                  <a:lnTo>
                    <a:pt x="482798" y="3319149"/>
                  </a:lnTo>
                  <a:lnTo>
                    <a:pt x="454043" y="3284794"/>
                  </a:lnTo>
                  <a:lnTo>
                    <a:pt x="426045" y="3249796"/>
                  </a:lnTo>
                  <a:lnTo>
                    <a:pt x="398817" y="3214167"/>
                  </a:lnTo>
                  <a:lnTo>
                    <a:pt x="372371" y="3177919"/>
                  </a:lnTo>
                  <a:lnTo>
                    <a:pt x="346719" y="3141067"/>
                  </a:lnTo>
                  <a:lnTo>
                    <a:pt x="321875" y="3103621"/>
                  </a:lnTo>
                  <a:lnTo>
                    <a:pt x="297850" y="3065596"/>
                  </a:lnTo>
                  <a:lnTo>
                    <a:pt x="274658" y="3027002"/>
                  </a:lnTo>
                  <a:lnTo>
                    <a:pt x="252311" y="2987854"/>
                  </a:lnTo>
                  <a:lnTo>
                    <a:pt x="230822" y="2948163"/>
                  </a:lnTo>
                  <a:lnTo>
                    <a:pt x="210203" y="2907942"/>
                  </a:lnTo>
                  <a:lnTo>
                    <a:pt x="190467" y="2867204"/>
                  </a:lnTo>
                  <a:lnTo>
                    <a:pt x="171626" y="2825961"/>
                  </a:lnTo>
                  <a:lnTo>
                    <a:pt x="153693" y="2784227"/>
                  </a:lnTo>
                  <a:lnTo>
                    <a:pt x="136682" y="2742013"/>
                  </a:lnTo>
                  <a:lnTo>
                    <a:pt x="120603" y="2699332"/>
                  </a:lnTo>
                  <a:lnTo>
                    <a:pt x="105470" y="2656197"/>
                  </a:lnTo>
                  <a:lnTo>
                    <a:pt x="91296" y="2612621"/>
                  </a:lnTo>
                  <a:lnTo>
                    <a:pt x="78094" y="2568615"/>
                  </a:lnTo>
                  <a:lnTo>
                    <a:pt x="65875" y="2524193"/>
                  </a:lnTo>
                  <a:lnTo>
                    <a:pt x="54652" y="2479368"/>
                  </a:lnTo>
                  <a:lnTo>
                    <a:pt x="44438" y="2434151"/>
                  </a:lnTo>
                  <a:lnTo>
                    <a:pt x="35246" y="2388556"/>
                  </a:lnTo>
                  <a:lnTo>
                    <a:pt x="27088" y="2342594"/>
                  </a:lnTo>
                  <a:lnTo>
                    <a:pt x="19977" y="2296280"/>
                  </a:lnTo>
                  <a:lnTo>
                    <a:pt x="13925" y="2249625"/>
                  </a:lnTo>
                  <a:lnTo>
                    <a:pt x="8946" y="2202641"/>
                  </a:lnTo>
                  <a:lnTo>
                    <a:pt x="5051" y="2155343"/>
                  </a:lnTo>
                  <a:lnTo>
                    <a:pt x="2253" y="2107741"/>
                  </a:lnTo>
                  <a:lnTo>
                    <a:pt x="565" y="2059849"/>
                  </a:lnTo>
                  <a:lnTo>
                    <a:pt x="0" y="2011680"/>
                  </a:lnTo>
                  <a:close/>
                </a:path>
              </a:pathLst>
            </a:custGeom>
            <a:ln w="12700">
              <a:solidFill>
                <a:srgbClr val="0891B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2845054" y="1260475"/>
            <a:ext cx="3456304" cy="8178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200" dirty="0">
                <a:solidFill>
                  <a:srgbClr val="FFFFFF"/>
                </a:solidFill>
              </a:rPr>
              <a:t>Thank</a:t>
            </a:r>
            <a:r>
              <a:rPr sz="5200" spc="-10" dirty="0">
                <a:solidFill>
                  <a:srgbClr val="FFFFFF"/>
                </a:solidFill>
              </a:rPr>
              <a:t> </a:t>
            </a:r>
            <a:r>
              <a:rPr sz="5200" spc="-20" dirty="0">
                <a:solidFill>
                  <a:srgbClr val="FFFFFF"/>
                </a:solidFill>
              </a:rPr>
              <a:t>You!</a:t>
            </a:r>
            <a:endParaRPr sz="5200"/>
          </a:p>
        </p:txBody>
      </p:sp>
      <p:sp>
        <p:nvSpPr>
          <p:cNvPr id="9" name="object 9"/>
          <p:cNvSpPr txBox="1"/>
          <p:nvPr/>
        </p:nvSpPr>
        <p:spPr>
          <a:xfrm>
            <a:off x="2839339" y="2282774"/>
            <a:ext cx="346837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05B6D3"/>
                </a:solidFill>
                <a:latin typeface="Times New Roman"/>
                <a:cs typeface="Times New Roman"/>
              </a:rPr>
              <a:t>Enterprise</a:t>
            </a:r>
            <a:r>
              <a:rPr sz="1600" spc="-65" dirty="0">
                <a:solidFill>
                  <a:srgbClr val="05B6D3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05B6D3"/>
                </a:solidFill>
                <a:latin typeface="Times New Roman"/>
                <a:cs typeface="Times New Roman"/>
              </a:rPr>
              <a:t>Inventory</a:t>
            </a:r>
            <a:r>
              <a:rPr sz="1600" spc="-75" dirty="0">
                <a:solidFill>
                  <a:srgbClr val="05B6D3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05B6D3"/>
                </a:solidFill>
                <a:latin typeface="Times New Roman"/>
                <a:cs typeface="Times New Roman"/>
              </a:rPr>
              <a:t>Management</a:t>
            </a:r>
            <a:r>
              <a:rPr sz="1600" spc="-25" dirty="0">
                <a:solidFill>
                  <a:srgbClr val="05B6D3"/>
                </a:solidFill>
                <a:latin typeface="Times New Roman"/>
                <a:cs typeface="Times New Roman"/>
              </a:rPr>
              <a:t> </a:t>
            </a:r>
            <a:r>
              <a:rPr sz="1600" spc="-10" dirty="0">
                <a:solidFill>
                  <a:srgbClr val="05B6D3"/>
                </a:solidFill>
                <a:latin typeface="Times New Roman"/>
                <a:cs typeface="Times New Roman"/>
              </a:rPr>
              <a:t>System</a:t>
            </a:r>
            <a:endParaRPr sz="1600">
              <a:latin typeface="Times New Roman"/>
              <a:cs typeface="Times New Roman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3194050" y="2874010"/>
            <a:ext cx="2755900" cy="58419"/>
            <a:chOff x="3194050" y="2874010"/>
            <a:chExt cx="2755900" cy="58419"/>
          </a:xfrm>
        </p:grpSpPr>
        <p:sp>
          <p:nvSpPr>
            <p:cNvPr id="11" name="object 11"/>
            <p:cNvSpPr/>
            <p:nvPr/>
          </p:nvSpPr>
          <p:spPr>
            <a:xfrm>
              <a:off x="3200400" y="2880360"/>
              <a:ext cx="2743200" cy="45720"/>
            </a:xfrm>
            <a:custGeom>
              <a:avLst/>
              <a:gdLst/>
              <a:ahLst/>
              <a:cxnLst/>
              <a:rect l="l" t="t" r="r" b="b"/>
              <a:pathLst>
                <a:path w="2743200" h="45719">
                  <a:moveTo>
                    <a:pt x="2743200" y="0"/>
                  </a:moveTo>
                  <a:lnTo>
                    <a:pt x="0" y="0"/>
                  </a:lnTo>
                  <a:lnTo>
                    <a:pt x="0" y="45719"/>
                  </a:lnTo>
                  <a:lnTo>
                    <a:pt x="2743200" y="45719"/>
                  </a:lnTo>
                  <a:lnTo>
                    <a:pt x="2743200" y="0"/>
                  </a:lnTo>
                  <a:close/>
                </a:path>
              </a:pathLst>
            </a:custGeom>
            <a:solidFill>
              <a:srgbClr val="F59E0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200400" y="2880360"/>
              <a:ext cx="2743200" cy="45720"/>
            </a:xfrm>
            <a:custGeom>
              <a:avLst/>
              <a:gdLst/>
              <a:ahLst/>
              <a:cxnLst/>
              <a:rect l="l" t="t" r="r" b="b"/>
              <a:pathLst>
                <a:path w="2743200" h="45719">
                  <a:moveTo>
                    <a:pt x="0" y="45719"/>
                  </a:moveTo>
                  <a:lnTo>
                    <a:pt x="2743200" y="45719"/>
                  </a:lnTo>
                  <a:lnTo>
                    <a:pt x="2743200" y="0"/>
                  </a:lnTo>
                  <a:lnTo>
                    <a:pt x="0" y="0"/>
                  </a:lnTo>
                  <a:lnTo>
                    <a:pt x="0" y="45719"/>
                  </a:lnTo>
                  <a:close/>
                </a:path>
              </a:pathLst>
            </a:custGeom>
            <a:ln w="12700">
              <a:solidFill>
                <a:srgbClr val="F59E0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3203575" y="3251073"/>
            <a:ext cx="2737485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dirty="0">
                <a:solidFill>
                  <a:srgbClr val="F59E0A"/>
                </a:solidFill>
                <a:latin typeface="Times New Roman"/>
                <a:cs typeface="Times New Roman"/>
              </a:rPr>
              <a:t>Questions</a:t>
            </a:r>
            <a:r>
              <a:rPr sz="1500" b="1" spc="-55" dirty="0">
                <a:solidFill>
                  <a:srgbClr val="F59E0A"/>
                </a:solidFill>
                <a:latin typeface="Times New Roman"/>
                <a:cs typeface="Times New Roman"/>
              </a:rPr>
              <a:t> </a:t>
            </a:r>
            <a:r>
              <a:rPr sz="1500" b="1" dirty="0">
                <a:solidFill>
                  <a:srgbClr val="F59E0A"/>
                </a:solidFill>
                <a:latin typeface="Times New Roman"/>
                <a:cs typeface="Times New Roman"/>
              </a:rPr>
              <a:t>&amp;</a:t>
            </a:r>
            <a:r>
              <a:rPr sz="1500" b="1" spc="-25" dirty="0">
                <a:solidFill>
                  <a:srgbClr val="F59E0A"/>
                </a:solidFill>
                <a:latin typeface="Times New Roman"/>
                <a:cs typeface="Times New Roman"/>
              </a:rPr>
              <a:t> </a:t>
            </a:r>
            <a:r>
              <a:rPr sz="1500" b="1" dirty="0">
                <a:solidFill>
                  <a:srgbClr val="F59E0A"/>
                </a:solidFill>
                <a:latin typeface="Times New Roman"/>
                <a:cs typeface="Times New Roman"/>
              </a:rPr>
              <a:t>Discussion</a:t>
            </a:r>
            <a:r>
              <a:rPr sz="1500" b="1" spc="-45" dirty="0">
                <a:solidFill>
                  <a:srgbClr val="F59E0A"/>
                </a:solidFill>
                <a:latin typeface="Times New Roman"/>
                <a:cs typeface="Times New Roman"/>
              </a:rPr>
              <a:t> </a:t>
            </a:r>
            <a:r>
              <a:rPr sz="1500" b="1" spc="-10" dirty="0">
                <a:solidFill>
                  <a:srgbClr val="F59E0A"/>
                </a:solidFill>
                <a:latin typeface="Times New Roman"/>
                <a:cs typeface="Times New Roman"/>
              </a:rPr>
              <a:t>Welcome</a:t>
            </a:r>
            <a:endParaRPr sz="15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</TotalTime>
  <Words>2191</Words>
  <Application>Microsoft Office PowerPoint</Application>
  <PresentationFormat>On-screen Show (16:9)</PresentationFormat>
  <Paragraphs>431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Calibri</vt:lpstr>
      <vt:lpstr>Times New Roman</vt:lpstr>
      <vt:lpstr>Office Theme</vt:lpstr>
      <vt:lpstr>Inventory Management System</vt:lpstr>
      <vt:lpstr>Table of Contents</vt:lpstr>
      <vt:lpstr>Introduction</vt:lpstr>
      <vt:lpstr>Problem Statement</vt:lpstr>
      <vt:lpstr>Why Build This Project?</vt:lpstr>
      <vt:lpstr>Technology Stack Tools, Frameworks &amp; Libraries Used</vt:lpstr>
      <vt:lpstr>Role of Each Technology</vt:lpstr>
      <vt:lpstr>Architecture Type</vt:lpstr>
      <vt:lpstr>System Architecture Diagram End-to-End System Communication Flow</vt:lpstr>
      <vt:lpstr>Layered Architecture</vt:lpstr>
      <vt:lpstr>Controller Layer</vt:lpstr>
      <vt:lpstr>Service Layer</vt:lpstr>
      <vt:lpstr>Transaction Service Module ACID Compliance, @Transactional Behavior &amp; Rollback Strategy</vt:lpstr>
      <vt:lpstr>Execution Flow Step-by-Step Request → Response Journey Through the System</vt:lpstr>
      <vt:lpstr>Why This Approach?</vt:lpstr>
      <vt:lpstr>Project Achievements &amp; Outcomes What Was Delivered &amp; What Was Learned</vt:lpstr>
      <vt:lpstr>Real-World Applications</vt:lpstr>
      <vt:lpstr>Conclusion Summary, Learnings &amp; Future Roadmap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Enterprise Inventory Management System</dc:title>
  <dc:subject>Inventory Presentation</dc:subject>
  <dc:creator>Vikram Kumar</dc:creator>
  <cp:lastModifiedBy>Indhu Ponnurangam</cp:lastModifiedBy>
  <cp:revision>1</cp:revision>
  <dcterms:created xsi:type="dcterms:W3CDTF">2026-03-21T15:05:35Z</dcterms:created>
  <dcterms:modified xsi:type="dcterms:W3CDTF">2026-03-26T12:57:32Z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2026-03-17T00:00:00Z</vt:filetime>
  </property>
  <property fmtid="{D5CDD505-2E9C-101B-9397-08002B2CF9AE}" pid="3" name="Creator">
    <vt:lpwstr>Microsoft® PowerPoint® 2021</vt:lpwstr>
  </property>
  <property fmtid="{D5CDD505-2E9C-101B-9397-08002B2CF9AE}" pid="4" name="LastSaved">
    <vt:filetime>2026-03-21T00:00:00Z</vt:filetime>
  </property>
  <property fmtid="{D5CDD505-2E9C-101B-9397-08002B2CF9AE}" pid="5" name="Producer">
    <vt:lpwstr>Microsoft® PowerPoint® 2021</vt:lpwstr>
  </property>
</Properties>
</file>